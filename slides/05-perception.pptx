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67"/>
  </p:notesMasterIdLst>
  <p:sldIdLst>
    <p:sldId id="256" r:id="rId2"/>
    <p:sldId id="324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70" r:id="rId12"/>
    <p:sldId id="371" r:id="rId13"/>
    <p:sldId id="372" r:id="rId14"/>
    <p:sldId id="318" r:id="rId15"/>
    <p:sldId id="272" r:id="rId16"/>
    <p:sldId id="319" r:id="rId17"/>
    <p:sldId id="273" r:id="rId18"/>
    <p:sldId id="373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53" r:id="rId34"/>
    <p:sldId id="390" r:id="rId35"/>
    <p:sldId id="389" r:id="rId36"/>
    <p:sldId id="354" r:id="rId37"/>
    <p:sldId id="355" r:id="rId38"/>
    <p:sldId id="356" r:id="rId39"/>
    <p:sldId id="348" r:id="rId40"/>
    <p:sldId id="357" r:id="rId41"/>
    <p:sldId id="358" r:id="rId42"/>
    <p:sldId id="359" r:id="rId43"/>
    <p:sldId id="360" r:id="rId44"/>
    <p:sldId id="361" r:id="rId45"/>
    <p:sldId id="391" r:id="rId46"/>
    <p:sldId id="362" r:id="rId47"/>
    <p:sldId id="392" r:id="rId48"/>
    <p:sldId id="363" r:id="rId49"/>
    <p:sldId id="364" r:id="rId50"/>
    <p:sldId id="365" r:id="rId51"/>
    <p:sldId id="366" r:id="rId52"/>
    <p:sldId id="367" r:id="rId53"/>
    <p:sldId id="368" r:id="rId54"/>
    <p:sldId id="369" r:id="rId55"/>
    <p:sldId id="327" r:id="rId56"/>
    <p:sldId id="336" r:id="rId57"/>
    <p:sldId id="337" r:id="rId58"/>
    <p:sldId id="338" r:id="rId59"/>
    <p:sldId id="339" r:id="rId60"/>
    <p:sldId id="340" r:id="rId61"/>
    <p:sldId id="341" r:id="rId62"/>
    <p:sldId id="282" r:id="rId63"/>
    <p:sldId id="283" r:id="rId64"/>
    <p:sldId id="351" r:id="rId65"/>
    <p:sldId id="352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10"/>
    <p:restoredTop sz="83143"/>
  </p:normalViewPr>
  <p:slideViewPr>
    <p:cSldViewPr snapToGrid="0">
      <p:cViewPr varScale="1">
        <p:scale>
          <a:sx n="87" d="100"/>
          <a:sy n="87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 hue</a:t>
            </a:r>
            <a:endParaRPr dirty="0"/>
          </a:p>
        </p:txBody>
      </p:sp>
      <p:sp>
        <p:nvSpPr>
          <p:cNvPr id="156" name="Google Shape;1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26DEF9F-697D-7A79-A9DE-84BD0503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>
            <a:extLst>
              <a:ext uri="{FF2B5EF4-FFF2-40B4-BE49-F238E27FC236}">
                <a16:creationId xmlns:a16="http://schemas.microsoft.com/office/drawing/2014/main" id="{DC5822E0-3C29-C94E-7502-F05905732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 curvature</a:t>
            </a:r>
            <a:endParaRPr dirty="0"/>
          </a:p>
        </p:txBody>
      </p:sp>
      <p:sp>
        <p:nvSpPr>
          <p:cNvPr id="156" name="Google Shape;156;p16:notes">
            <a:extLst>
              <a:ext uri="{FF2B5EF4-FFF2-40B4-BE49-F238E27FC236}">
                <a16:creationId xmlns:a16="http://schemas.microsoft.com/office/drawing/2014/main" id="{A157CE9C-7D04-FDD9-E690-835DB981C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1372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A909E5-C249-3529-48A3-B24ACB4C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3606A946-2AD3-6479-51F0-025AB7F29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FD38FB5B-11B1-16A4-2CD1-B98F7327C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3542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C988F4-A803-989A-90F9-6991D3F7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964CEFB4-1D63-2158-B947-0A8CC4AED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7EECE39B-B519-3065-6CAD-5B386DFBC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0339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I’m going to flash an image on the screen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142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Same on next slide but threes </a:t>
            </a:r>
            <a:endParaRPr dirty="0"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Same on next slide but threes </a:t>
            </a:r>
            <a:endParaRPr dirty="0"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8189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27EB9A-9285-BAE2-B668-436296D2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2DBDCD01-B84D-41CA-AEA6-7A3B15AC0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71BE21D-FA5A-EAF1-5174-2671A2CEB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36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D93E22-74C6-2684-FFD7-3EF8B24E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76EFCE27-D2F2-9641-A737-00110BB5D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A91AB70-73C8-5ABE-A21A-205224E66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970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F49E8D-3C38-F4E3-954E-E6642415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119E53A6-D685-EA1B-94AE-3C2FE07C5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DE6F457-3663-C6CE-0E06-23372A071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9560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BB6960-9031-94DD-BD55-329282D7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93DC2D55-07EA-65C4-8D5B-F08D578E4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A96527F-8EF4-25FB-DE4F-94AD37306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069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308B28-CAA3-0167-C051-8FBDD6C9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A33EA943-5B9A-20C1-59C0-4523A858E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F3305A3B-A9E5-53B7-2200-33CD8C1B6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2022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548FE7-8923-09D4-775B-A458AA0C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C3FE1429-728C-AA2C-74ED-575A15B60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9057B7E-BA0D-D9FB-06FE-7EC16600F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6028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1327EC-7D7B-C701-DCAC-5BBAA8BC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FD732664-FF96-589E-33EF-644EDCD28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EE1D036C-9BE0-E327-4978-DD7DFD0BD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583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C2EC0B-D2F3-D7A2-4185-1753CBFE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238D88F-7F72-92F4-E3E2-EB4DF464D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A9228E22-C7CE-8CDB-5DC6-5D651DC5F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662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2ABC36-2DC2-9586-1A44-54CD4863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08FF247-69D9-9B2F-3ABD-95D71E886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CB3024C0-80B1-91C2-1D98-8B4751451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0550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DBD602-520C-5457-BD67-4DF3472F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72BC7420-F76F-2EE3-AB49-AFD3D2807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added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F61162B-FAD1-1A1F-043E-A581A1792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162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4CF4EF-3D39-0DBA-47D4-9BEF75CD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1FD52FC-623C-5FE0-BBFD-EFE28B011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 change;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0358F0E6-01CA-4DC9-0A77-318109085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8926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2FAE3A-65B1-5EB6-09CF-6EBEA1825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4A22728-2F5A-9D29-192A-4EA1F1314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luminance</a:t>
            </a: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7DBE59D-2344-4545-5A70-FFA0370DC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4818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F769A2-D53E-E27F-6836-41A3D386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CB1E299-807C-3ED7-1431-58AA2B6AB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4C85745-8172-EADF-5E37-006514F88B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351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BC1961-1409-6FFF-DB77-ECB1426C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55D2684-72F7-3E18-1BE8-D60B8B01C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DA4D6C58-6A49-D318-0351-D63C812EB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305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F4FF6A9-62E3-6B86-0D39-8E57CC44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6E5BAAF2-141A-080A-D2C3-AAADE4B0F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changes in the data may be missed if attention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deployed or focused on a specific location in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visualization. Attending to data elements in one frame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animation may render us temporarily blind to what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follows at that location. These issues must be considered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visualization design.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A5B506D3-8F45-2342-BE81-1824EF712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9873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97674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D8552E46-889C-F12E-1534-44D040AB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80CB1F66-66A4-0275-7991-A09B71252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9E5546F6-881C-B19F-8820-27CFD9BE4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3726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9CF4B471-F89E-D61E-48B6-1CC0A80A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3E66B9B6-DD03-E4B6-3548-1B30ACF4E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7A10DB03-858B-32BE-AE5C-ACE0A37FE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1783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2043144B-9772-13A4-FDB7-5C530C40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230B3C16-5FA8-6747-EE4E-5BBCB95C8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3FCB217D-02C1-2237-98DF-4216165CB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086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C0C20524-7BAA-D0BD-7D67-B922425B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DF9527D2-41E4-5368-7BEA-11AD23C65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BF7D25BD-6B13-9391-CE84-BB6DD64CA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9119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many groups and what are they?</a:t>
            </a:r>
            <a:endParaRPr dirty="0"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3" name="Google Shape;3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Lines seem different sizes </a:t>
            </a:r>
            <a:endParaRPr dirty="0"/>
          </a:p>
        </p:txBody>
      </p:sp>
      <p:sp>
        <p:nvSpPr>
          <p:cNvPr id="465" name="Google Shape;46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right angles </a:t>
            </a:r>
            <a:endParaRPr dirty="0"/>
          </a:p>
        </p:txBody>
      </p:sp>
      <p:sp>
        <p:nvSpPr>
          <p:cNvPr id="472" name="Google Shape;47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3AD8D80E-B740-5242-984F-D487CDD4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:notes">
            <a:extLst>
              <a:ext uri="{FF2B5EF4-FFF2-40B4-BE49-F238E27FC236}">
                <a16:creationId xmlns:a16="http://schemas.microsoft.com/office/drawing/2014/main" id="{4571CA48-EAED-E42D-3EB8-97DB99B4F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same length or different?</a:t>
            </a:r>
            <a:endParaRPr dirty="0"/>
          </a:p>
        </p:txBody>
      </p:sp>
      <p:sp>
        <p:nvSpPr>
          <p:cNvPr id="472" name="Google Shape;472;p39:notes">
            <a:extLst>
              <a:ext uri="{FF2B5EF4-FFF2-40B4-BE49-F238E27FC236}">
                <a16:creationId xmlns:a16="http://schemas.microsoft.com/office/drawing/2014/main" id="{FD70CB9E-66A4-D2AC-0428-759BEA163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0233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B698F6AA-EE64-2618-179C-E52E2074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4:notes">
            <a:extLst>
              <a:ext uri="{FF2B5EF4-FFF2-40B4-BE49-F238E27FC236}">
                <a16:creationId xmlns:a16="http://schemas.microsoft.com/office/drawing/2014/main" id="{72875117-D80A-E526-D29A-D02EA409F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you see all 12 black dots? </a:t>
            </a:r>
            <a:endParaRPr dirty="0"/>
          </a:p>
        </p:txBody>
      </p:sp>
      <p:sp>
        <p:nvSpPr>
          <p:cNvPr id="542" name="Google Shape;542;p44:notes">
            <a:extLst>
              <a:ext uri="{FF2B5EF4-FFF2-40B4-BE49-F238E27FC236}">
                <a16:creationId xmlns:a16="http://schemas.microsoft.com/office/drawing/2014/main" id="{2549E6DB-0529-301B-FAD3-67FE96CAE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76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JG698U2Mv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VvzpviOB7o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Perception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What is perception?</a:t>
            </a:r>
            <a:endParaRPr lang="en-US" sz="2400" kern="0" dirty="0"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Pre-attentive processing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Using perception to rank visual channels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"/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Takeaways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722EF7-01B8-5B77-7435-E385ECDDC94D}"/>
              </a:ext>
            </a:extLst>
          </p:cNvPr>
          <p:cNvSpPr/>
          <p:nvPr/>
        </p:nvSpPr>
        <p:spPr>
          <a:xfrm>
            <a:off x="9296400" y="1701135"/>
            <a:ext cx="2895600" cy="34465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Note: I’m going to flash a bunch of slides quickly today. If that doesn’t work for you, you are welcome to step out, close your eyes, etc.. (none of us will be offended and I will fill you in on anything crucial you missed!) </a:t>
            </a:r>
          </a:p>
        </p:txBody>
      </p:sp>
    </p:spTree>
    <p:extLst>
      <p:ext uri="{BB962C8B-B14F-4D97-AF65-F5344CB8AC3E}">
        <p14:creationId xmlns:p14="http://schemas.microsoft.com/office/powerpoint/2010/main" val="106670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790" t="5541" r="1131" b="6845"/>
          <a:stretch/>
        </p:blipFill>
        <p:spPr>
          <a:xfrm>
            <a:off x="3552092" y="986028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A05F76-64CB-CE56-8CE4-21DD79766A9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perception?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0152" t="742" r="10791" b="1382"/>
          <a:stretch/>
        </p:blipFill>
        <p:spPr>
          <a:xfrm>
            <a:off x="3686035" y="955431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121" name="Google Shape;121;p17"/>
          <p:cNvSpPr txBox="1"/>
          <p:nvPr/>
        </p:nvSpPr>
        <p:spPr>
          <a:xfrm>
            <a:off x="5904338" y="4155831"/>
            <a:ext cx="377088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(sometimes imperfect) </a:t>
            </a:r>
            <a:endParaRPr dirty="0"/>
          </a:p>
          <a:p>
            <a:pPr algn="ctr"/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by which we </a:t>
            </a:r>
            <a:endParaRPr dirty="0"/>
          </a:p>
          <a:p>
            <a:pPr algn="ctr"/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 signals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2D5B-5E26-9DB3-A274-946A8239BD9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 (def.)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6308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344019-F336-662C-0F33-5E41416E8C1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 you see movement?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descr="Pages from lecture2-perceptionandprinciples-140227091630-phpapp01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5081" y="-457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B8D7F3-EB9B-7D23-7D4B-FE77786B36E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 you see movement?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3709481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 things are processed slowly</a:t>
            </a:r>
            <a:endParaRPr sz="2400" dirty="0">
              <a:solidFill>
                <a:schemeClr val="dk2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0494" b="10493"/>
          <a:stretch/>
        </p:blipFill>
        <p:spPr>
          <a:xfrm>
            <a:off x="3709481" y="1219200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80FD2-B704-8190-A365-FDCEDEFF7BB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3493477" y="216877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cs typeface="Arial"/>
                <a:sym typeface="Arial"/>
              </a:rPr>
              <a:t>Others are incredibly fast</a:t>
            </a:r>
            <a:endParaRPr sz="2400" dirty="0">
              <a:solidFill>
                <a:schemeClr val="dk2"/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E6256-D495-FD14-0A25-46B45278125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</a:t>
            </a:r>
          </a:p>
        </p:txBody>
      </p:sp>
      <p:pic>
        <p:nvPicPr>
          <p:cNvPr id="3" name="Google Shape;139;p20">
            <a:extLst>
              <a:ext uri="{FF2B5EF4-FFF2-40B4-BE49-F238E27FC236}">
                <a16:creationId xmlns:a16="http://schemas.microsoft.com/office/drawing/2014/main" id="{0F3D0DFC-8916-80DD-2AFD-5753CF36626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0494" b="10493"/>
          <a:stretch/>
        </p:blipFill>
        <p:spPr>
          <a:xfrm>
            <a:off x="3709481" y="1219200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146" name="Google Shape;146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l="48255" t="34045" r="48797" b="59096"/>
          <a:stretch/>
        </p:blipFill>
        <p:spPr>
          <a:xfrm>
            <a:off x="7679541" y="2666954"/>
            <a:ext cx="242587" cy="423348"/>
          </a:xfrm>
          <a:prstGeom prst="roundRect">
            <a:avLst>
              <a:gd name="adj" fmla="val 42157"/>
            </a:avLst>
          </a:prstGeom>
          <a:noFill/>
          <a:ln w="63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516923" y="310661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Fast = “pre-attentive processing”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3516923" y="1682261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Things that happen in &lt;200ms of visual stimulation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Performed in parallel across the entire visual field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Example… 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FA268-3636-06E9-A9CA-4084342E066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9EDF2-0241-9B51-F75E-185935F63677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 descr="http://www.csc.ncsu.edu/faculty/healey/PP/figs/tg_hue.gif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36802C-A746-80BB-073E-274A7E1CFCA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5AED8-8620-D16F-D32D-5415DD7F9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276211"/>
            <a:ext cx="5571715" cy="5448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6649CA-E786-2D47-C851-C4EBB1C4DC0F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A1675D5F-969A-EDAB-C2C8-014434EC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 descr="http://www.csc.ncsu.edu/faculty/healey/PP/figs/tg_hue.gif">
            <a:extLst>
              <a:ext uri="{FF2B5EF4-FFF2-40B4-BE49-F238E27FC236}">
                <a16:creationId xmlns:a16="http://schemas.microsoft.com/office/drawing/2014/main" id="{1E9918F7-6417-5CA8-E5B2-DA9ECE58CFB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BC47DC-E4D2-AC9D-CE10-18A76F616D1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40A8A-47C1-DC2D-5C40-85A39D0842D9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5CD4BF-B7DD-9B84-6CEC-35ADFBE7D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383646"/>
            <a:ext cx="5341374" cy="53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83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DFE0A88-7760-C15A-615B-0131B0B7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>
            <a:extLst>
              <a:ext uri="{FF2B5EF4-FFF2-40B4-BE49-F238E27FC236}">
                <a16:creationId xmlns:a16="http://schemas.microsoft.com/office/drawing/2014/main" id="{E8873476-156B-983C-6A6C-F829C1322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6923" y="310661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Fast = “pre-attentive processing”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E195DF37-B2BE-2DEE-6014-9839A7452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1682261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Things that happen in &lt;200ms of visual stimulation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Performed in parallel across the entire visual field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target with a unique visual property (ex. hue, curvature) “pops out” of a display; it can be easily detected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F5554-5282-0925-EF16-40F3658A4F1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5B11D-8441-5595-275C-902669F2CA8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27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5CD12595-EF49-18AE-1CE2-F3B13797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334CBDF-A44F-A614-F2C0-3544118DB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846439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How do you think we as visualization designers can leverage pre-attentive processing?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1C584-C039-219D-D268-C929D5B39BF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17C81-A56F-AA0F-5C72-3DD5C34FFFDE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67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3709481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SzPts val="2040"/>
              <a:buNone/>
            </a:pPr>
            <a:r>
              <a:rPr lang="en-US" sz="2400" dirty="0">
                <a:cs typeface="Arial"/>
                <a:sym typeface="Arial"/>
              </a:rPr>
              <a:t>On the next slide count how many zeros you see as fast as you can. Raise your hand (do not shout the number) when you have the answer.  </a:t>
            </a:r>
            <a:endParaRPr dirty="0"/>
          </a:p>
        </p:txBody>
      </p:sp>
      <p:sp>
        <p:nvSpPr>
          <p:cNvPr id="231" name="Google Shape;231;p28" descr="http://www.csc.ncsu.edu/faculty/healey/PP/figs/tg_hue.gif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EB9EA-CDAE-E4D0-C9B5-3C429EBEFA6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</p:spTree>
    <p:extLst>
      <p:ext uri="{BB962C8B-B14F-4D97-AF65-F5344CB8AC3E}">
        <p14:creationId xmlns:p14="http://schemas.microsoft.com/office/powerpoint/2010/main" val="1650403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3528646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1281768756138976546984506985624982826762 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9809858458224519856458945098459985943585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9891330249945959595772564675750678974567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8845789819821677654876364968560912949686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zeros are there?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C2FB-DD66-5A4D-5927-DD2A7005FD5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counting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3528646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do the same on the next slide for threes.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C2FB-DD66-5A4D-5927-DD2A7005FD5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counting</a:t>
            </a:r>
          </a:p>
        </p:txBody>
      </p:sp>
    </p:spTree>
    <p:extLst>
      <p:ext uri="{BB962C8B-B14F-4D97-AF65-F5344CB8AC3E}">
        <p14:creationId xmlns:p14="http://schemas.microsoft.com/office/powerpoint/2010/main" val="2647059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3493477" y="1041776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12817687561</a:t>
            </a:r>
            <a:r>
              <a:rPr lang="en-US" sz="2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8976546984506985604982826762 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980985845822450985645894509845098094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585 </a:t>
            </a: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90910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0209905959595772564675050678904567 </a:t>
            </a: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8845789809821677654876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64908560912949686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threes are there?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133B8-68C6-EF1B-1F9A-67DD524388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counting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1116042A-AF35-DCCA-339F-3803582F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856CEA3-44FA-C8CE-A778-73B51D185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846439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Can we combine pre-attentive visual features to make something ”pop out” even more?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EEDAD-352F-10B4-4E18-AF5B1935031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65AC0-72FE-F67A-E0C7-2737A9201E5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53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CFFE19B-4DFF-069F-D773-B6A03981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24B7-063A-7C6F-EDE9-1640D722A9E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F82EF-ED7A-4168-0734-D4F401D031F2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4A6CC-EC0D-2372-2FB9-F612F1135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570519"/>
            <a:ext cx="5446046" cy="536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76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884FB9A-7CB7-F2EE-23D1-83209BC0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BDF86258-9A4A-18BC-EBA2-BC3CAAEFD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31672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conjunction search (multiple visual features that are each present in distractors) is not pre-attentive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Hue returns squares and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the red circle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Curvature returns blue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circles and the red circle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In both cases, you have to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search the set returned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DC0D2-ED40-309A-8823-30722285868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15A7B-864B-39B5-79D2-7CEE023D858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EB579-9F0F-7A36-3AFB-DEB753AE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472" y="2150063"/>
            <a:ext cx="3629536" cy="357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6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5D68F7B8-EC32-3BEC-50CA-ABEB73F5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3D342BB5-87F8-1775-01F6-3F80623DE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Some pre-attentive features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0211A-9589-23E9-6D39-A644CCB63D9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0C28C-6ACC-1CE3-BCC3-8FF2D2327A7E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1759E-A6F0-B6BB-5100-0055B7C0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3" y="1138584"/>
            <a:ext cx="8757408" cy="479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78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0415B4F9-F59F-455B-FEC1-4D5F134D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0C6D2BE-17A1-499D-F19D-99BA95C2C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Some pre-attentive features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104A6-1602-7C6B-EC6D-BE14A96331E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3B918-CB2E-F4A5-061D-45788208827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30A0C-5ECF-1B2A-78FB-53D6FF64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2" y="1169631"/>
            <a:ext cx="8675077" cy="47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92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E862DD1-892F-69DE-A282-C7D5C4E3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DA21E40C-7F9E-F673-157B-D59BED068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Pre-attentive features have been shown to support: 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Target detection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detect a target element with a unique visual feature within a field of distractor elements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Boundary detection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detect a texture boundary between two groups of elements, where all of the elements in each group have a common visual property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Region tracking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track one or more elements with a unique visual feature as they move in time and space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Counting and estimation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count the number of elements with a unique visual feature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sz="20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DC5C3-6FB4-F750-E9D3-D77B21D68E5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A713B-6AE3-84AF-4AFE-4E7527DBB7A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651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B418ADB6-6DCA-63E4-1BFC-8C50FF7C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8C65C43-8B47-CE27-1E70-859CEC42E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Pre-attention focuses on what draws the eye.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Visual memory asks, what do people remember from a glance?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E43C6-A697-A0A5-9358-07F001F323B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87712-73C9-9CC4-685C-D6EC9E7C2CC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78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4964C3B-908A-4AAD-7914-79ED7F39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DACDEB9-F976-80AD-9939-D2734E575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Pre-attention focuses on what draws the eye.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Visual memory asks, what do people remember from a glance?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		What are your hypotheses?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7CF9A-90D9-4FEA-E64A-31D7B6766C2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60529-FF80-5CCF-3910-34648DBD3198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421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87F7839-C713-80A5-E107-93B6EDB5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4D70D386-3801-4438-9D31-F39480CFC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Visual processing is a dynamic process.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Your visual system is constantly building short-lived models of the external works that are specifically designed for your current visually guided tasks.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>
                <a:cs typeface="Arial"/>
              </a:rPr>
              <a:t>There does not appear to be any general purpose vision. What we “see” when confronted with a new scene depends as much on our goals and expectations as it does on the light that enters our eyes. 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	</a:t>
            </a:r>
          </a:p>
          <a:p>
            <a:r>
              <a:rPr lang="en-US" sz="2400" dirty="0">
                <a:cs typeface="Arial"/>
              </a:rPr>
              <a:t>What is the implication here for visualization?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4AE6E-4191-D243-D9BB-2BDFBE00428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47531-2D26-0069-EDF3-6C3B46E6214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46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BFDC22C-9EF2-061F-70C4-FDF31E95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F3F6BC11-805B-E0DB-FA7F-C49A4A5C5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BC6F-9A54-FE19-F978-15602F4B117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4201D-4BD1-37A4-C270-5119DA7BC3F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BC013-678F-D2BE-6818-DF3B7A4FE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17" y="2682363"/>
            <a:ext cx="9129283" cy="32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47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3595BB2C-5773-059E-4EEC-E326A48C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88B77DA-66FE-EC96-643E-8D70A0892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46FD0-DEAF-A374-66D7-72B6703E007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6E485-CF2B-68EB-3F2B-85017F968987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82DD7-7A5B-FBFA-0145-5FD6F3CE4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09" y="2794534"/>
            <a:ext cx="8744872" cy="307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43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30D1F32-1157-EC91-8866-1BD9FFF4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D1AD2462-31E8-03A1-F610-FDFC86360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75A6A-9A63-F05A-5544-249A5C7D4D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A0CB1-D35C-6AEB-55EB-503DF7A0D2F8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B002D-57F1-9286-BC4C-7B2C6919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2736592"/>
            <a:ext cx="8738680" cy="313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29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803C2EC-4E82-59D4-0A05-582B7D2E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8A4B114-6C5C-9F2A-AEFD-A12EE293A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Inattentional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Viewers can completely fail to perceive visually salient objects or activities when attending elsewhere</a:t>
            </a:r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https://www.youtube.com/watch?v=vJG698U2Mvo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36A37-A3CA-0A4B-3835-536D03511F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EE6CC-95E1-F020-93E9-AA631C12DB63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56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B963631-2965-1A9A-CAAE-ACBF0E4B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F1FE32AD-44DB-D238-060C-F9FC83576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Attentional Blink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When two targets are presented in rapid succession, the second of the two targets cannot be detected or identified when it appears within approximately 100-500 msec following the first target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hlinkClick r:id="rId3"/>
              </a:rPr>
              <a:t>https://www.youtube.com/watch?v=kVvzpviOB7o</a:t>
            </a:r>
            <a:r>
              <a:rPr lang="en-US" sz="2400" dirty="0"/>
              <a:t> </a:t>
            </a: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DE4CB-6133-D293-2466-5F0A3ACB921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A1AE6-6C58-64E8-09C0-A70AC02E77E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77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7994A0AE-439F-B560-5A3E-00EB1A09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5749B28-AC99-91A0-13C0-1D2819455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212257"/>
            <a:ext cx="8229600" cy="43468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What are the implications of Change blindness, Inattentional Blindness, and Attentional Blink for visualization?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85DF9-674D-0651-B3C2-CA005059C89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49791-BA76-3BBB-EEBB-E7A04AEC32FA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54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/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4C5CC-C890-5257-8493-134AA9AA8F18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D59949-73F2-8B32-148D-A1036926F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r>
              <a:rPr lang="en-US" sz="2600" dirty="0"/>
              <a:t>Leveraging the perceptual system for visualization goes beyond understanding pre-attention and visual memory</a:t>
            </a:r>
          </a:p>
          <a:p>
            <a:r>
              <a:rPr lang="en-US" sz="2600" dirty="0"/>
              <a:t>It is also a means for ranking visual channels.   </a:t>
            </a:r>
          </a:p>
          <a:p>
            <a:pPr marL="0" indent="0">
              <a:buNone/>
            </a:pPr>
            <a:endParaRPr lang="en-US" sz="2600" b="1" dirty="0"/>
          </a:p>
          <a:p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845752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1C7443E3-BDE3-B445-19CE-880044A0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3C121FED-B270-21BA-585C-69724C44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Recall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CD7AA-72A6-24AF-0B27-5656BFFC920E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6EA4D7-51C9-94E6-CBB5-2D4E39C2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600" dirty="0"/>
              <a:t>Flashback– 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What three types of data do we use in visualization?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What two major categories do we use for visual channels?</a:t>
            </a:r>
          </a:p>
          <a:p>
            <a:endParaRPr lang="en-US" sz="2600" dirty="0"/>
          </a:p>
          <a:p>
            <a:r>
              <a:rPr lang="en-US" sz="2600" dirty="0"/>
              <a:t>Name 7 visual channels. </a:t>
            </a:r>
          </a:p>
          <a:p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2174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D4F60B65-8807-8AE4-B7BE-8BA7726D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9EBE85F2-25E1-DD8D-2F60-08597E0E1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7F9FC0-58D9-F95A-2617-707C9EC06D24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F8F8ADA-659D-E257-0DB9-BA8865D1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endParaRPr lang="en-US" sz="2600" dirty="0"/>
          </a:p>
          <a:p>
            <a:r>
              <a:rPr lang="en-US" sz="2600" dirty="0"/>
              <a:t>Using the correct visual channel type for the correct variable type is called </a:t>
            </a:r>
            <a:r>
              <a:rPr lang="en-US" sz="2600" b="1" dirty="0"/>
              <a:t>expressiveness</a:t>
            </a:r>
          </a:p>
          <a:p>
            <a:pPr lvl="1"/>
            <a:r>
              <a:rPr lang="en-US" sz="2400" dirty="0"/>
              <a:t>Ex. A Magnitude channel, like luminance, for a quantitative or ordinal variable</a:t>
            </a:r>
          </a:p>
          <a:p>
            <a:pPr lvl="1"/>
            <a:r>
              <a:rPr lang="en-US" sz="2400" dirty="0"/>
              <a:t>Ex. An identity channel, like shape, for a nominal variable</a:t>
            </a:r>
          </a:p>
          <a:p>
            <a:pPr marL="502920" lvl="1" indent="0">
              <a:buNone/>
            </a:pPr>
            <a:r>
              <a:rPr lang="en-US" sz="2400" dirty="0"/>
              <a:t> </a:t>
            </a:r>
          </a:p>
          <a:p>
            <a:r>
              <a:rPr lang="en-US" sz="2600" dirty="0"/>
              <a:t>We also consider </a:t>
            </a:r>
            <a:r>
              <a:rPr lang="en-US" sz="2600" b="1" dirty="0"/>
              <a:t>effectiveness</a:t>
            </a:r>
            <a:r>
              <a:rPr lang="en-US" sz="2600" dirty="0"/>
              <a:t> to choose visual channels</a:t>
            </a:r>
          </a:p>
          <a:p>
            <a:endParaRPr lang="en-US" sz="2600" b="1" dirty="0"/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5F49A-E0F9-A80D-C299-C6B64478663D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F7B502-8516-6350-D1E0-9BEE8FF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4FDE467F-5B61-97B3-0845-E3B6AD92A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0A227-2C4A-1BDB-2970-9217976F4F65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BC6E16-6964-3922-C0A7-74721CE9C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8103" y="766916"/>
            <a:ext cx="8020557" cy="5938683"/>
          </a:xfrm>
        </p:spPr>
        <p:txBody>
          <a:bodyPr anchor="t">
            <a:normAutofit/>
          </a:bodyPr>
          <a:lstStyle/>
          <a:p>
            <a:pPr lvl="0">
              <a:defRPr sz="6400"/>
            </a:pPr>
            <a:r>
              <a:rPr lang="en-US" sz="2600" dirty="0"/>
              <a:t>More important attributes should be encoded with more </a:t>
            </a:r>
            <a:r>
              <a:rPr lang="en-US" sz="2600" b="1" dirty="0"/>
              <a:t>effective</a:t>
            </a:r>
            <a:r>
              <a:rPr lang="en-US" sz="2600" dirty="0"/>
              <a:t> channels.   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b="1" dirty="0"/>
              <a:t>Effectiveness</a:t>
            </a:r>
            <a:r>
              <a:rPr lang="en-US" sz="2800" dirty="0"/>
              <a:t> refers to how well a channel supports:</a:t>
            </a:r>
          </a:p>
          <a:p>
            <a:pPr lvl="1">
              <a:defRPr/>
            </a:pPr>
            <a:r>
              <a:rPr lang="en-US" sz="2600" dirty="0"/>
              <a:t>Accuracy</a:t>
            </a:r>
          </a:p>
          <a:p>
            <a:pPr lvl="1">
              <a:defRPr/>
            </a:pPr>
            <a:r>
              <a:rPr lang="en-US" sz="2600" dirty="0"/>
              <a:t>Discriminability</a:t>
            </a:r>
          </a:p>
          <a:p>
            <a:pPr lvl="1">
              <a:defRPr/>
            </a:pPr>
            <a:r>
              <a:rPr lang="en-US" sz="2600" dirty="0"/>
              <a:t>Separability </a:t>
            </a:r>
          </a:p>
          <a:p>
            <a:pPr lvl="1">
              <a:defRPr/>
            </a:pPr>
            <a:r>
              <a:rPr lang="en-US" sz="2600" dirty="0"/>
              <a:t>Visual popout</a:t>
            </a:r>
          </a:p>
          <a:p>
            <a:pPr lvl="1">
              <a:defRPr/>
            </a:pPr>
            <a:r>
              <a:rPr lang="en-US" sz="2600" dirty="0"/>
              <a:t>Grouping</a:t>
            </a:r>
          </a:p>
          <a:p>
            <a:endParaRPr lang="en-US" sz="2600" dirty="0"/>
          </a:p>
          <a:p>
            <a:endParaRPr lang="en-US" sz="2600" b="1" dirty="0"/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A4BAE-B42E-44A1-A755-084203731B2A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68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632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3935529" y="2698872"/>
            <a:ext cx="36576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3935529" y="3616253"/>
            <a:ext cx="73152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longer is the second bar?</a:t>
            </a:r>
          </a:p>
        </p:txBody>
      </p:sp>
    </p:spTree>
    <p:extLst>
      <p:ext uri="{BB962C8B-B14F-4D97-AF65-F5344CB8AC3E}">
        <p14:creationId xmlns:p14="http://schemas.microsoft.com/office/powerpoint/2010/main" val="1034056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3935529" y="2698872"/>
            <a:ext cx="36576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3935529" y="3616253"/>
            <a:ext cx="73152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longer is the second bar?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2X</a:t>
            </a:r>
          </a:p>
        </p:txBody>
      </p:sp>
    </p:spTree>
    <p:extLst>
      <p:ext uri="{BB962C8B-B14F-4D97-AF65-F5344CB8AC3E}">
        <p14:creationId xmlns:p14="http://schemas.microsoft.com/office/powerpoint/2010/main" val="257951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7593128" y="2368759"/>
            <a:ext cx="1828800" cy="18288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square?</a:t>
            </a:r>
          </a:p>
        </p:txBody>
      </p:sp>
    </p:spTree>
    <p:extLst>
      <p:ext uri="{BB962C8B-B14F-4D97-AF65-F5344CB8AC3E}">
        <p14:creationId xmlns:p14="http://schemas.microsoft.com/office/powerpoint/2010/main" val="3393536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square?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4X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79FB3-8739-3535-13E1-2E6DA51310E6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5E2C5-7B26-5D35-BCD5-125B17241819}"/>
              </a:ext>
            </a:extLst>
          </p:cNvPr>
          <p:cNvSpPr/>
          <p:nvPr/>
        </p:nvSpPr>
        <p:spPr>
          <a:xfrm>
            <a:off x="7593128" y="2368759"/>
            <a:ext cx="1828800" cy="18288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507070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box?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605B615D-DF08-56CE-7221-686C4347C930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216E6D83-8D61-BAA7-5DF4-5A6189586BE8}"/>
              </a:ext>
            </a:extLst>
          </p:cNvPr>
          <p:cNvSpPr/>
          <p:nvPr/>
        </p:nvSpPr>
        <p:spPr>
          <a:xfrm>
            <a:off x="7248571" y="1798916"/>
            <a:ext cx="2743200" cy="27432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83611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box?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27X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E7079FB3-8739-3535-13E1-2E6DA51310E6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45E2C5-7B26-5D35-BCD5-125B17241819}"/>
              </a:ext>
            </a:extLst>
          </p:cNvPr>
          <p:cNvSpPr/>
          <p:nvPr/>
        </p:nvSpPr>
        <p:spPr>
          <a:xfrm>
            <a:off x="7248571" y="1798916"/>
            <a:ext cx="2743200" cy="27432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68812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D3DC8321-2BAA-29F2-B7CF-529E1539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6" y="2062295"/>
            <a:ext cx="7116418" cy="46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976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7AD6-EC98-5062-AB9B-60D09A9F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EB87-CE22-8D5A-9A7C-413D6C00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5CE0-6287-0ECE-6271-973F0F6E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816942"/>
            <a:ext cx="7315200" cy="31678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Will a 2D or 3D bar chart result in better perceptual judgements? Why?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08854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8"/>
            <a:ext cx="3086629" cy="4601183"/>
          </a:xfrm>
        </p:spPr>
        <p:txBody>
          <a:bodyPr/>
          <a:lstStyle/>
          <a:p>
            <a:r>
              <a:rPr lang="en-US" dirty="0"/>
              <a:t>Discriminability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3200" dirty="0"/>
              <a:t>how differentiable levels of the channel are  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84F2F-45C4-A970-322D-FAC2538F1F78}"/>
              </a:ext>
            </a:extLst>
          </p:cNvPr>
          <p:cNvSpPr txBox="1"/>
          <p:nvPr/>
        </p:nvSpPr>
        <p:spPr>
          <a:xfrm>
            <a:off x="9139767" y="5416811"/>
            <a:ext cx="2574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2750" hangingPunct="0"/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https://</a:t>
            </a:r>
            <a:r>
              <a:rPr lang="en-US" kern="0" dirty="0" err="1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web.cse.ohio-state.edu</a:t>
            </a:r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/~shen.94/Melbourne/Slides/TamaraChp5.pdf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5683CBF-F83F-CF0A-9154-42D8D2AC0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313" y="1703494"/>
            <a:ext cx="5617521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12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611D-E305-98DA-9EC6-4971C8B4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D30D-4BED-799D-BB86-7C716FB2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8"/>
            <a:ext cx="3086629" cy="4601183"/>
          </a:xfrm>
        </p:spPr>
        <p:txBody>
          <a:bodyPr/>
          <a:lstStyle/>
          <a:p>
            <a:r>
              <a:rPr lang="en-US" dirty="0"/>
              <a:t>Discriminability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10FC-3C48-B2D1-1B44-13A35C82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dirty="0"/>
              <a:t>Could a different visual encoding make differences more clear? What might you try?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48339-1656-8A87-9C61-E8FF07EEF121}"/>
              </a:ext>
            </a:extLst>
          </p:cNvPr>
          <p:cNvSpPr txBox="1"/>
          <p:nvPr/>
        </p:nvSpPr>
        <p:spPr>
          <a:xfrm>
            <a:off x="9139767" y="5416811"/>
            <a:ext cx="2574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2750" hangingPunct="0"/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https://</a:t>
            </a:r>
            <a:r>
              <a:rPr lang="en-US" kern="0" dirty="0" err="1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web.cse.ohio-state.edu</a:t>
            </a:r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/~shen.94/Melbourne/Slides/TamaraChp5.pdf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06F2581-B8FF-DD9B-BD96-B96AC4564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121" y="2323248"/>
            <a:ext cx="4541646" cy="41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620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whether channels exist independently or integrally with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3DA2-0AE7-64C7-FE07-0F7D6DA0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566" y="2250571"/>
            <a:ext cx="8272303" cy="2665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09A26-A654-2735-FC47-FAC5C415D81B}"/>
              </a:ext>
            </a:extLst>
          </p:cNvPr>
          <p:cNvSpPr txBox="1"/>
          <p:nvPr/>
        </p:nvSpPr>
        <p:spPr>
          <a:xfrm>
            <a:off x="10348984" y="2607735"/>
            <a:ext cx="1422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12750" hangingPunct="0"/>
            <a:r>
              <a:rPr lang="en-US" sz="2000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(saturation)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7FE17-AE41-E9A7-F994-2C3D344628B7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92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 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EE368640-223C-28A7-C806-E59C6E468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65373"/>
          <a:stretch/>
        </p:blipFill>
        <p:spPr>
          <a:xfrm>
            <a:off x="5234609" y="2073661"/>
            <a:ext cx="4572000" cy="2986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17E83B-D1DB-85D6-A8EB-EE024DA560DE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593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Color is a good channel for this 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EE368640-223C-28A7-C806-E59C6E468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65373"/>
          <a:stretch/>
        </p:blipFill>
        <p:spPr>
          <a:xfrm>
            <a:off x="5240868" y="1676096"/>
            <a:ext cx="4572000" cy="2986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BB62A8-11BC-CEFE-4E5E-2C6CE4A8B758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49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 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FCC9DA4-5058-BED3-BA5C-13A20C326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1" r="33152"/>
          <a:stretch/>
        </p:blipFill>
        <p:spPr>
          <a:xfrm>
            <a:off x="5227616" y="2086914"/>
            <a:ext cx="4598504" cy="298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C0D48F-2403-E17E-EB1A-387473FBC267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359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Shape is not as helpful 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FCC9DA4-5058-BED3-BA5C-13A20C326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1" r="33152"/>
          <a:stretch/>
        </p:blipFill>
        <p:spPr>
          <a:xfrm>
            <a:off x="5227616" y="2086914"/>
            <a:ext cx="4598504" cy="298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D00C28-9952-6142-0277-530EB9EF76B4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220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likely people are to infer differences as representing distinct groups 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CA5CD4B-ECDD-D97B-5C0F-6EE9BAD2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95" y="2267226"/>
            <a:ext cx="7086600" cy="264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798E33-AA3F-4C9F-6E5F-E64B8B202EE8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320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6F52069A-CC74-7BB4-0F23-7B421B5D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2A43F835-A05A-F7E8-D654-A2629DAF1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pic>
        <p:nvPicPr>
          <p:cNvPr id="10" name="Picture 2" descr="Figure Showing the effectiveness of channels that modify the appearance of marks depends on matching the expressiveness of channels with the attributes being encoded.">
            <a:extLst>
              <a:ext uri="{FF2B5EF4-FFF2-40B4-BE49-F238E27FC236}">
                <a16:creationId xmlns:a16="http://schemas.microsoft.com/office/drawing/2014/main" id="{9CB0C88F-9E1A-26A9-AEE6-26A2DBFCB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4"/>
          <a:stretch/>
        </p:blipFill>
        <p:spPr bwMode="auto">
          <a:xfrm>
            <a:off x="3730156" y="1342617"/>
            <a:ext cx="7620000" cy="493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B554FB-C0DB-3FDC-C2AE-561B77C8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156" y="361336"/>
            <a:ext cx="8083302" cy="1334729"/>
          </a:xfrm>
        </p:spPr>
        <p:txBody>
          <a:bodyPr anchor="t">
            <a:normAutofit/>
          </a:bodyPr>
          <a:lstStyle/>
          <a:p>
            <a:r>
              <a:rPr lang="en-US" sz="2600" b="1" dirty="0"/>
              <a:t>Design takeaway</a:t>
            </a:r>
            <a:r>
              <a:rPr lang="en-US" sz="2600" dirty="0"/>
              <a:t>: Prioritize most effective channels for most important data</a:t>
            </a:r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8F0BF-31D3-8E4C-1808-9881ECE5E42D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838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B386-7114-281E-65BC-9E5FCD4653E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“gestalt effect”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211D76-E901-8BC9-5621-B5680D512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4921456"/>
            <a:ext cx="7779393" cy="8035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Our brain’s ability to generate whole forms, instead of just collections of unrelated elements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62960CD-B1AC-217D-B790-1C4462D1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172" y="1423554"/>
            <a:ext cx="7772400" cy="31135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>
            <a:spLocks noGrp="1"/>
          </p:cNvSpPr>
          <p:nvPr>
            <p:ph type="body" idx="1"/>
          </p:nvPr>
        </p:nvSpPr>
        <p:spPr>
          <a:xfrm>
            <a:off x="3817489" y="955964"/>
            <a:ext cx="72667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interpret objects that are </a:t>
            </a:r>
            <a:r>
              <a:rPr lang="en-US" sz="2400" b="1" dirty="0">
                <a:ea typeface="Arial"/>
                <a:cs typeface="Arial"/>
                <a:sym typeface="Arial"/>
              </a:rPr>
              <a:t>close</a:t>
            </a:r>
            <a:r>
              <a:rPr lang="en-US" sz="2400" dirty="0">
                <a:ea typeface="Arial"/>
                <a:cs typeface="Arial"/>
                <a:sym typeface="Arial"/>
              </a:rPr>
              <a:t> to each other as a group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B0622-6EFF-7BBD-7FF9-EC20E56223F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Proximity</a:t>
            </a:r>
          </a:p>
        </p:txBody>
      </p:sp>
      <p:pic>
        <p:nvPicPr>
          <p:cNvPr id="4" name="Picture 3" descr="A close-up of a pill&#10;&#10;Description automatically generated">
            <a:extLst>
              <a:ext uri="{FF2B5EF4-FFF2-40B4-BE49-F238E27FC236}">
                <a16:creationId xmlns:a16="http://schemas.microsoft.com/office/drawing/2014/main" id="{F0954E6C-37A4-68CE-416C-523A186F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85" y="2085363"/>
            <a:ext cx="7772400" cy="3119416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D33700A2-DD81-090A-F4A9-58D6EFC200F4}"/>
              </a:ext>
            </a:extLst>
          </p:cNvPr>
          <p:cNvSpPr/>
          <p:nvPr/>
        </p:nvSpPr>
        <p:spPr>
          <a:xfrm>
            <a:off x="3817489" y="2145323"/>
            <a:ext cx="3181188" cy="3037792"/>
          </a:xfrm>
          <a:prstGeom prst="frame">
            <a:avLst>
              <a:gd name="adj1" fmla="val 73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8E1E5D00-F3B5-FCA9-40CD-4110E71B6814}"/>
              </a:ext>
            </a:extLst>
          </p:cNvPr>
          <p:cNvSpPr/>
          <p:nvPr/>
        </p:nvSpPr>
        <p:spPr>
          <a:xfrm>
            <a:off x="7592319" y="2152161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CD5773CA-B186-D4EF-5591-F10DEFEC997B}"/>
              </a:ext>
            </a:extLst>
          </p:cNvPr>
          <p:cNvSpPr/>
          <p:nvPr/>
        </p:nvSpPr>
        <p:spPr>
          <a:xfrm>
            <a:off x="8874369" y="2152161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E4993BDE-BAB6-A2CB-0DF6-BB09C325C0D1}"/>
              </a:ext>
            </a:extLst>
          </p:cNvPr>
          <p:cNvSpPr/>
          <p:nvPr/>
        </p:nvSpPr>
        <p:spPr>
          <a:xfrm>
            <a:off x="10210797" y="2152162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8B2BF-854E-F736-85FE-653E60FA515E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>
            <a:spLocks noGrp="1"/>
          </p:cNvSpPr>
          <p:nvPr>
            <p:ph type="body" idx="1"/>
          </p:nvPr>
        </p:nvSpPr>
        <p:spPr>
          <a:xfrm>
            <a:off x="3505206" y="893612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interpret objects that are </a:t>
            </a:r>
            <a:r>
              <a:rPr lang="en-US" sz="2400" b="1" dirty="0">
                <a:ea typeface="Arial"/>
                <a:cs typeface="Arial"/>
                <a:sym typeface="Arial"/>
              </a:rPr>
              <a:t>visually similar </a:t>
            </a:r>
            <a:r>
              <a:rPr lang="en-US" sz="2400" dirty="0">
                <a:ea typeface="Arial"/>
                <a:cs typeface="Arial"/>
                <a:sym typeface="Arial"/>
              </a:rPr>
              <a:t>to each other as a group</a:t>
            </a:r>
            <a:endParaRPr sz="2400" dirty="0"/>
          </a:p>
          <a:p>
            <a:pPr indent="-53339">
              <a:lnSpc>
                <a:spcPct val="100000"/>
              </a:lnSpc>
              <a:buSzPts val="2040"/>
              <a:buNone/>
            </a:pP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5216245" y="1738743"/>
            <a:ext cx="4994558" cy="487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48" name="Google Shape;348;p34"/>
          <p:cNvGrpSpPr/>
          <p:nvPr/>
        </p:nvGrpSpPr>
        <p:grpSpPr>
          <a:xfrm>
            <a:off x="3463645" y="2653143"/>
            <a:ext cx="2171547" cy="2615096"/>
            <a:chOff x="152400" y="2819400"/>
            <a:chExt cx="2286000" cy="2819400"/>
          </a:xfrm>
        </p:grpSpPr>
        <p:grpSp>
          <p:nvGrpSpPr>
            <p:cNvPr id="349" name="Google Shape;349;p34"/>
            <p:cNvGrpSpPr/>
            <p:nvPr/>
          </p:nvGrpSpPr>
          <p:grpSpPr>
            <a:xfrm>
              <a:off x="1828800" y="2819400"/>
              <a:ext cx="609600" cy="2819400"/>
              <a:chOff x="1828800" y="2819400"/>
              <a:chExt cx="609600" cy="2819400"/>
            </a:xfrm>
          </p:grpSpPr>
          <p:cxnSp>
            <p:nvCxnSpPr>
              <p:cNvPr id="350" name="Google Shape;350;p34"/>
              <p:cNvCxnSpPr/>
              <p:nvPr/>
            </p:nvCxnSpPr>
            <p:spPr>
              <a:xfrm>
                <a:off x="1828800" y="28194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1" name="Google Shape;351;p34"/>
              <p:cNvCxnSpPr/>
              <p:nvPr/>
            </p:nvCxnSpPr>
            <p:spPr>
              <a:xfrm>
                <a:off x="1828800" y="41910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2" name="Google Shape;352;p34"/>
              <p:cNvCxnSpPr/>
              <p:nvPr/>
            </p:nvCxnSpPr>
            <p:spPr>
              <a:xfrm>
                <a:off x="1828800" y="56388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3" name="Google Shape;353;p34"/>
              <p:cNvCxnSpPr/>
              <p:nvPr/>
            </p:nvCxnSpPr>
            <p:spPr>
              <a:xfrm>
                <a:off x="1828800" y="2819400"/>
                <a:ext cx="0" cy="281940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54" name="Google Shape;354;p34"/>
            <p:cNvSpPr txBox="1"/>
            <p:nvPr/>
          </p:nvSpPr>
          <p:spPr>
            <a:xfrm>
              <a:off x="152400" y="3962400"/>
              <a:ext cx="16556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“grey dots”</a:t>
              </a:r>
              <a:endParaRPr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34"/>
          <p:cNvGrpSpPr/>
          <p:nvPr/>
        </p:nvGrpSpPr>
        <p:grpSpPr>
          <a:xfrm>
            <a:off x="9864445" y="3338943"/>
            <a:ext cx="2316317" cy="2615096"/>
            <a:chOff x="6553200" y="3505200"/>
            <a:chExt cx="2438400" cy="2819400"/>
          </a:xfrm>
        </p:grpSpPr>
        <p:grpSp>
          <p:nvGrpSpPr>
            <p:cNvPr id="356" name="Google Shape;356;p34"/>
            <p:cNvGrpSpPr/>
            <p:nvPr/>
          </p:nvGrpSpPr>
          <p:grpSpPr>
            <a:xfrm flipH="1">
              <a:off x="6553200" y="3505200"/>
              <a:ext cx="609600" cy="2819400"/>
              <a:chOff x="1828800" y="2819400"/>
              <a:chExt cx="609600" cy="2819400"/>
            </a:xfrm>
          </p:grpSpPr>
          <p:cxnSp>
            <p:nvCxnSpPr>
              <p:cNvPr id="357" name="Google Shape;357;p34"/>
              <p:cNvCxnSpPr/>
              <p:nvPr/>
            </p:nvCxnSpPr>
            <p:spPr>
              <a:xfrm>
                <a:off x="1828800" y="28194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8" name="Google Shape;358;p34"/>
              <p:cNvCxnSpPr/>
              <p:nvPr/>
            </p:nvCxnSpPr>
            <p:spPr>
              <a:xfrm>
                <a:off x="1828800" y="41910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9" name="Google Shape;359;p34"/>
              <p:cNvCxnSpPr/>
              <p:nvPr/>
            </p:nvCxnSpPr>
            <p:spPr>
              <a:xfrm>
                <a:off x="1828800" y="56388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0" name="Google Shape;360;p34"/>
              <p:cNvCxnSpPr/>
              <p:nvPr/>
            </p:nvCxnSpPr>
            <p:spPr>
              <a:xfrm>
                <a:off x="1828800" y="2819400"/>
                <a:ext cx="0" cy="281940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61" name="Google Shape;361;p34"/>
            <p:cNvSpPr txBox="1"/>
            <p:nvPr/>
          </p:nvSpPr>
          <p:spPr>
            <a:xfrm>
              <a:off x="7216204" y="4619266"/>
              <a:ext cx="17753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“black dots”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28518-8AEC-E7A5-4C37-92FF30B4C2F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Similarity</a:t>
            </a:r>
          </a:p>
        </p:txBody>
      </p:sp>
      <p:pic>
        <p:nvPicPr>
          <p:cNvPr id="4" name="Picture 3" descr="A black and white circle pattern&#10;&#10;Description automatically generated">
            <a:extLst>
              <a:ext uri="{FF2B5EF4-FFF2-40B4-BE49-F238E27FC236}">
                <a16:creationId xmlns:a16="http://schemas.microsoft.com/office/drawing/2014/main" id="{65E81FB3-CB3A-AE0A-3175-89990C80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32" y="2451528"/>
            <a:ext cx="3688379" cy="3741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0C2B4-C875-FFF1-3AC4-62FB6AEA3B29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>
            <a:spLocks noGrp="1"/>
          </p:cNvSpPr>
          <p:nvPr>
            <p:ph type="body" idx="1"/>
          </p:nvPr>
        </p:nvSpPr>
        <p:spPr>
          <a:xfrm>
            <a:off x="3534229" y="90526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When parts of a picture are missing, we fill in the visual gap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386A4-30FF-E185-C12E-37B84C3D1FE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Closure</a:t>
            </a:r>
          </a:p>
        </p:txBody>
      </p:sp>
      <p:pic>
        <p:nvPicPr>
          <p:cNvPr id="2052" name="Picture 4" descr="WWF logo">
            <a:extLst>
              <a:ext uri="{FF2B5EF4-FFF2-40B4-BE49-F238E27FC236}">
                <a16:creationId xmlns:a16="http://schemas.microsoft.com/office/drawing/2014/main" id="{90FFF0CB-712A-D938-AB70-F52A1948F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06" y="1652815"/>
            <a:ext cx="2985407" cy="444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20B4FB92-1BD7-B37D-59BC-ABB801CC1CD6}"/>
              </a:ext>
            </a:extLst>
          </p:cNvPr>
          <p:cNvSpPr/>
          <p:nvPr/>
        </p:nvSpPr>
        <p:spPr>
          <a:xfrm rot="16515343">
            <a:off x="6505974" y="1814287"/>
            <a:ext cx="798286" cy="1436914"/>
          </a:xfrm>
          <a:prstGeom prst="arc">
            <a:avLst>
              <a:gd name="adj1" fmla="val 19082292"/>
              <a:gd name="adj2" fmla="val 0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9F318F8-268D-2004-5487-1ABC13E4D3AD}"/>
              </a:ext>
            </a:extLst>
          </p:cNvPr>
          <p:cNvSpPr/>
          <p:nvPr/>
        </p:nvSpPr>
        <p:spPr>
          <a:xfrm rot="16515343">
            <a:off x="7330489" y="1716804"/>
            <a:ext cx="798286" cy="1436914"/>
          </a:xfrm>
          <a:prstGeom prst="arc">
            <a:avLst>
              <a:gd name="adj1" fmla="val 19082292"/>
              <a:gd name="adj2" fmla="val 3247823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A8DD5DE6-973D-0A8D-52E3-F5F07A0EA74F}"/>
              </a:ext>
            </a:extLst>
          </p:cNvPr>
          <p:cNvSpPr/>
          <p:nvPr/>
        </p:nvSpPr>
        <p:spPr>
          <a:xfrm rot="19498122">
            <a:off x="7851599" y="1942944"/>
            <a:ext cx="798286" cy="1436914"/>
          </a:xfrm>
          <a:prstGeom prst="arc">
            <a:avLst>
              <a:gd name="adj1" fmla="val 674605"/>
              <a:gd name="adj2" fmla="val 3247823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4F82-E976-CACB-2796-0DA070013E14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>
            <a:spLocks noGrp="1"/>
          </p:cNvSpPr>
          <p:nvPr>
            <p:ph type="body" idx="1"/>
          </p:nvPr>
        </p:nvSpPr>
        <p:spPr>
          <a:xfrm>
            <a:off x="3477500" y="990596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perceive objects as being symmetrical, arranged around a center point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4010431" y="2438396"/>
            <a:ext cx="716374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9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 ] {    } [    ]</a:t>
            </a:r>
            <a:endParaRPr sz="9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36"/>
          <p:cNvGrpSpPr/>
          <p:nvPr/>
        </p:nvGrpSpPr>
        <p:grpSpPr>
          <a:xfrm>
            <a:off x="5153900" y="2666996"/>
            <a:ext cx="4876800" cy="1447800"/>
            <a:chOff x="2133600" y="3276600"/>
            <a:chExt cx="4876800" cy="1447800"/>
          </a:xfrm>
        </p:grpSpPr>
        <p:cxnSp>
          <p:nvCxnSpPr>
            <p:cNvPr id="380" name="Google Shape;380;p36"/>
            <p:cNvCxnSpPr/>
            <p:nvPr/>
          </p:nvCxnSpPr>
          <p:spPr>
            <a:xfrm>
              <a:off x="21336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36"/>
            <p:cNvCxnSpPr/>
            <p:nvPr/>
          </p:nvCxnSpPr>
          <p:spPr>
            <a:xfrm>
              <a:off x="70104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36"/>
            <p:cNvCxnSpPr/>
            <p:nvPr/>
          </p:nvCxnSpPr>
          <p:spPr>
            <a:xfrm>
              <a:off x="45720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383" name="Google Shape;383;p36"/>
          <p:cNvSpPr/>
          <p:nvPr/>
        </p:nvSpPr>
        <p:spPr>
          <a:xfrm>
            <a:off x="4126724" y="2743196"/>
            <a:ext cx="20574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6449300" y="2743196"/>
            <a:ext cx="22860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9009620" y="2743196"/>
            <a:ext cx="20574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36"/>
          <p:cNvGrpSpPr/>
          <p:nvPr/>
        </p:nvGrpSpPr>
        <p:grpSpPr>
          <a:xfrm>
            <a:off x="5992100" y="1904997"/>
            <a:ext cx="3200400" cy="762001"/>
            <a:chOff x="2971800" y="2514600"/>
            <a:chExt cx="3200400" cy="762001"/>
          </a:xfrm>
        </p:grpSpPr>
        <p:grpSp>
          <p:nvGrpSpPr>
            <p:cNvPr id="387" name="Google Shape;387;p36"/>
            <p:cNvGrpSpPr/>
            <p:nvPr/>
          </p:nvGrpSpPr>
          <p:grpSpPr>
            <a:xfrm rot="10800000" flipH="1">
              <a:off x="2971800" y="3124200"/>
              <a:ext cx="3200400" cy="152401"/>
              <a:chOff x="2971800" y="4724400"/>
              <a:chExt cx="3200400" cy="152401"/>
            </a:xfrm>
          </p:grpSpPr>
          <p:sp>
            <p:nvSpPr>
              <p:cNvPr id="388" name="Google Shape;388;p36"/>
              <p:cNvSpPr/>
              <p:nvPr/>
            </p:nvSpPr>
            <p:spPr>
              <a:xfrm rot="-5400000">
                <a:off x="3276600" y="4419600"/>
                <a:ext cx="152400" cy="7620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6"/>
              <p:cNvSpPr/>
              <p:nvPr/>
            </p:nvSpPr>
            <p:spPr>
              <a:xfrm rot="-5400000">
                <a:off x="5715000" y="4419601"/>
                <a:ext cx="152400" cy="7620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" name="Google Shape;390;p36"/>
            <p:cNvSpPr txBox="1"/>
            <p:nvPr/>
          </p:nvSpPr>
          <p:spPr>
            <a:xfrm>
              <a:off x="3429000" y="2514600"/>
              <a:ext cx="230543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law of proximity</a:t>
              </a:r>
              <a:endParaRPr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36"/>
          <p:cNvGrpSpPr/>
          <p:nvPr/>
        </p:nvGrpSpPr>
        <p:grpSpPr>
          <a:xfrm>
            <a:off x="4315700" y="4114797"/>
            <a:ext cx="6553200" cy="766465"/>
            <a:chOff x="1295400" y="4724400"/>
            <a:chExt cx="6553200" cy="766465"/>
          </a:xfrm>
        </p:grpSpPr>
        <p:grpSp>
          <p:nvGrpSpPr>
            <p:cNvPr id="392" name="Google Shape;392;p36"/>
            <p:cNvGrpSpPr/>
            <p:nvPr/>
          </p:nvGrpSpPr>
          <p:grpSpPr>
            <a:xfrm rot="10800000" flipH="1">
              <a:off x="1295400" y="4724400"/>
              <a:ext cx="6553200" cy="152401"/>
              <a:chOff x="1295400" y="3124200"/>
              <a:chExt cx="6553200" cy="152401"/>
            </a:xfrm>
          </p:grpSpPr>
          <p:sp>
            <p:nvSpPr>
              <p:cNvPr id="393" name="Google Shape;393;p36"/>
              <p:cNvSpPr/>
              <p:nvPr/>
            </p:nvSpPr>
            <p:spPr>
              <a:xfrm rot="-5400000" flipH="1">
                <a:off x="2057400" y="2362200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6"/>
              <p:cNvSpPr/>
              <p:nvPr/>
            </p:nvSpPr>
            <p:spPr>
              <a:xfrm rot="-5400000" flipH="1">
                <a:off x="4495800" y="2362201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6"/>
              <p:cNvSpPr/>
              <p:nvPr/>
            </p:nvSpPr>
            <p:spPr>
              <a:xfrm rot="-5400000" flipH="1">
                <a:off x="6934200" y="2362201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" name="Google Shape;396;p36"/>
            <p:cNvSpPr txBox="1"/>
            <p:nvPr/>
          </p:nvSpPr>
          <p:spPr>
            <a:xfrm>
              <a:off x="2149552" y="5029200"/>
              <a:ext cx="48448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law of symmetry + law of similarity</a:t>
              </a:r>
              <a:endParaRPr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46EC14-962D-0F61-D7AB-FCA6D023DDC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Symmetry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D3369-6BB7-7C89-711A-0BDD44E94EC2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532910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group objects that we perceive to be moving along the same path</a:t>
            </a:r>
            <a:endParaRPr sz="2400" dirty="0"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37"/>
          <p:cNvGrpSpPr/>
          <p:nvPr/>
        </p:nvGrpSpPr>
        <p:grpSpPr>
          <a:xfrm>
            <a:off x="5361710" y="2448420"/>
            <a:ext cx="4343400" cy="3048000"/>
            <a:chOff x="2286000" y="3200400"/>
            <a:chExt cx="4343400" cy="3048000"/>
          </a:xfrm>
        </p:grpSpPr>
        <p:grpSp>
          <p:nvGrpSpPr>
            <p:cNvPr id="404" name="Google Shape;404;p37"/>
            <p:cNvGrpSpPr/>
            <p:nvPr/>
          </p:nvGrpSpPr>
          <p:grpSpPr>
            <a:xfrm>
              <a:off x="2286000" y="3200400"/>
              <a:ext cx="4343400" cy="3048000"/>
              <a:chOff x="2286000" y="3200400"/>
              <a:chExt cx="4343400" cy="3048000"/>
            </a:xfrm>
          </p:grpSpPr>
          <p:sp>
            <p:nvSpPr>
              <p:cNvPr id="405" name="Google Shape;405;p37"/>
              <p:cNvSpPr/>
              <p:nvPr/>
            </p:nvSpPr>
            <p:spPr>
              <a:xfrm>
                <a:off x="2286000" y="56388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7"/>
              <p:cNvSpPr/>
              <p:nvPr/>
            </p:nvSpPr>
            <p:spPr>
              <a:xfrm>
                <a:off x="2286000" y="44196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7"/>
              <p:cNvSpPr/>
              <p:nvPr/>
            </p:nvSpPr>
            <p:spPr>
              <a:xfrm>
                <a:off x="2286000" y="32004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37"/>
            <p:cNvGrpSpPr/>
            <p:nvPr/>
          </p:nvGrpSpPr>
          <p:grpSpPr>
            <a:xfrm>
              <a:off x="2286000" y="3200400"/>
              <a:ext cx="4343400" cy="2438400"/>
              <a:chOff x="1066800" y="3581400"/>
              <a:chExt cx="2438400" cy="1219200"/>
            </a:xfrm>
          </p:grpSpPr>
          <p:cxnSp>
            <p:nvCxnSpPr>
              <p:cNvPr id="409" name="Google Shape;409;p37"/>
              <p:cNvCxnSpPr/>
              <p:nvPr/>
            </p:nvCxnSpPr>
            <p:spPr>
              <a:xfrm rot="10800000" flipH="1">
                <a:off x="1066800" y="3581400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0" name="Google Shape;410;p37"/>
              <p:cNvCxnSpPr/>
              <p:nvPr/>
            </p:nvCxnSpPr>
            <p:spPr>
              <a:xfrm rot="10800000" flipH="1">
                <a:off x="1066800" y="3886200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1" name="Google Shape;411;p37"/>
              <p:cNvCxnSpPr/>
              <p:nvPr/>
            </p:nvCxnSpPr>
            <p:spPr>
              <a:xfrm rot="10800000" flipH="1">
                <a:off x="1066800" y="41909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2" name="Google Shape;412;p37"/>
              <p:cNvCxnSpPr/>
              <p:nvPr/>
            </p:nvCxnSpPr>
            <p:spPr>
              <a:xfrm rot="10800000" flipH="1">
                <a:off x="1066800" y="44957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3" name="Google Shape;413;p37"/>
              <p:cNvCxnSpPr/>
              <p:nvPr/>
            </p:nvCxnSpPr>
            <p:spPr>
              <a:xfrm rot="10800000" flipH="1">
                <a:off x="1066800" y="48005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414" name="Google Shape;414;p37"/>
          <p:cNvGrpSpPr/>
          <p:nvPr/>
        </p:nvGrpSpPr>
        <p:grpSpPr>
          <a:xfrm>
            <a:off x="5836772" y="2143620"/>
            <a:ext cx="3334939" cy="3048000"/>
            <a:chOff x="2761061" y="2895600"/>
            <a:chExt cx="5163739" cy="3048000"/>
          </a:xfrm>
        </p:grpSpPr>
        <p:grpSp>
          <p:nvGrpSpPr>
            <p:cNvPr id="415" name="Google Shape;415;p37"/>
            <p:cNvGrpSpPr/>
            <p:nvPr/>
          </p:nvGrpSpPr>
          <p:grpSpPr>
            <a:xfrm>
              <a:off x="2761061" y="2895600"/>
              <a:ext cx="3393279" cy="3048000"/>
              <a:chOff x="1295401" y="3429000"/>
              <a:chExt cx="1904999" cy="1524000"/>
            </a:xfrm>
          </p:grpSpPr>
          <p:cxnSp>
            <p:nvCxnSpPr>
              <p:cNvPr id="416" name="Google Shape;416;p37"/>
              <p:cNvCxnSpPr/>
              <p:nvPr/>
            </p:nvCxnSpPr>
            <p:spPr>
              <a:xfrm>
                <a:off x="2286000" y="3429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7" name="Google Shape;417;p37"/>
              <p:cNvCxnSpPr/>
              <p:nvPr/>
            </p:nvCxnSpPr>
            <p:spPr>
              <a:xfrm rot="10800000">
                <a:off x="2286000" y="37338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8" name="Google Shape;418;p37"/>
              <p:cNvCxnSpPr/>
              <p:nvPr/>
            </p:nvCxnSpPr>
            <p:spPr>
              <a:xfrm>
                <a:off x="2286000" y="40386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9" name="Google Shape;419;p37"/>
              <p:cNvCxnSpPr/>
              <p:nvPr/>
            </p:nvCxnSpPr>
            <p:spPr>
              <a:xfrm rot="10800000">
                <a:off x="2286000" y="43434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0" name="Google Shape;420;p37"/>
              <p:cNvCxnSpPr/>
              <p:nvPr/>
            </p:nvCxnSpPr>
            <p:spPr>
              <a:xfrm>
                <a:off x="2286000" y="46482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1" name="Google Shape;421;p37"/>
              <p:cNvCxnSpPr/>
              <p:nvPr/>
            </p:nvCxnSpPr>
            <p:spPr>
              <a:xfrm rot="10800000">
                <a:off x="2286000" y="4953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2" name="Google Shape;422;p37"/>
              <p:cNvCxnSpPr/>
              <p:nvPr/>
            </p:nvCxnSpPr>
            <p:spPr>
              <a:xfrm>
                <a:off x="1295401" y="3429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3" name="Google Shape;423;p37"/>
              <p:cNvCxnSpPr/>
              <p:nvPr/>
            </p:nvCxnSpPr>
            <p:spPr>
              <a:xfrm rot="10800000">
                <a:off x="1295401" y="37338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4" name="Google Shape;424;p37"/>
              <p:cNvCxnSpPr/>
              <p:nvPr/>
            </p:nvCxnSpPr>
            <p:spPr>
              <a:xfrm>
                <a:off x="1295401" y="40386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5" name="Google Shape;425;p37"/>
              <p:cNvCxnSpPr/>
              <p:nvPr/>
            </p:nvCxnSpPr>
            <p:spPr>
              <a:xfrm rot="10800000">
                <a:off x="1295401" y="43434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6" name="Google Shape;426;p37"/>
              <p:cNvCxnSpPr/>
              <p:nvPr/>
            </p:nvCxnSpPr>
            <p:spPr>
              <a:xfrm>
                <a:off x="1295401" y="46482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7" name="Google Shape;427;p37"/>
              <p:cNvCxnSpPr/>
              <p:nvPr/>
            </p:nvCxnSpPr>
            <p:spPr>
              <a:xfrm rot="10800000">
                <a:off x="1295401" y="4953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428" name="Google Shape;428;p37"/>
            <p:cNvCxnSpPr/>
            <p:nvPr/>
          </p:nvCxnSpPr>
          <p:spPr>
            <a:xfrm>
              <a:off x="6296025" y="28956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9" name="Google Shape;429;p37"/>
            <p:cNvCxnSpPr/>
            <p:nvPr/>
          </p:nvCxnSpPr>
          <p:spPr>
            <a:xfrm rot="10800000">
              <a:off x="6296025" y="35052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0" name="Google Shape;430;p37"/>
            <p:cNvCxnSpPr/>
            <p:nvPr/>
          </p:nvCxnSpPr>
          <p:spPr>
            <a:xfrm>
              <a:off x="6296025" y="41148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1" name="Google Shape;431;p37"/>
            <p:cNvCxnSpPr/>
            <p:nvPr/>
          </p:nvCxnSpPr>
          <p:spPr>
            <a:xfrm rot="10800000">
              <a:off x="6296025" y="47244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2" name="Google Shape;432;p37"/>
            <p:cNvCxnSpPr/>
            <p:nvPr/>
          </p:nvCxnSpPr>
          <p:spPr>
            <a:xfrm>
              <a:off x="6296025" y="53340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3" name="Google Shape;433;p37"/>
            <p:cNvCxnSpPr/>
            <p:nvPr/>
          </p:nvCxnSpPr>
          <p:spPr>
            <a:xfrm rot="10800000">
              <a:off x="6296025" y="59436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B582E1-C8F7-1066-D16A-616C4A2B599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Common Fate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9F7CE-B4F5-6A37-084B-48D7D6D1BD6F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 txBox="1">
            <a:spLocks noGrp="1"/>
          </p:cNvSpPr>
          <p:nvPr>
            <p:ph type="body" idx="1"/>
          </p:nvPr>
        </p:nvSpPr>
        <p:spPr>
          <a:xfrm>
            <a:off x="3491346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tend to group objects along the </a:t>
            </a:r>
            <a:r>
              <a:rPr lang="en-US" sz="2400" b="1" dirty="0">
                <a:ea typeface="Arial"/>
                <a:cs typeface="Arial"/>
                <a:sym typeface="Arial"/>
              </a:rPr>
              <a:t>smoothest path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881C9-DE12-20B9-7872-DCE2EACC4D8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Continuity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6D029BFD-F072-BE31-3819-6175DB37AD9B}"/>
              </a:ext>
            </a:extLst>
          </p:cNvPr>
          <p:cNvCxnSpPr>
            <a:cxnSpLocks/>
          </p:cNvCxnSpPr>
          <p:nvPr/>
        </p:nvCxnSpPr>
        <p:spPr>
          <a:xfrm flipV="1">
            <a:off x="6096000" y="2424546"/>
            <a:ext cx="2493816" cy="2382983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70D709E-1255-D7C4-1016-247098E39D4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45199" y="2082800"/>
            <a:ext cx="2946400" cy="2757714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9E7C712-7BEF-C68F-E9B2-9751037E80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45196" y="2082797"/>
            <a:ext cx="2946400" cy="2757714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C6F482-7235-8DA0-7BAE-F859899A99D8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 txBox="1">
            <a:spLocks noGrp="1"/>
          </p:cNvSpPr>
          <p:nvPr>
            <p:ph type="title"/>
          </p:nvPr>
        </p:nvSpPr>
        <p:spPr>
          <a:xfrm>
            <a:off x="3581400" y="81502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sz="2400" dirty="0">
              <a:latin typeface="+mn-lt"/>
            </a:endParaRPr>
          </a:p>
        </p:txBody>
      </p:sp>
      <p:pic>
        <p:nvPicPr>
          <p:cNvPr id="468" name="Google Shape;468;p39"/>
          <p:cNvPicPr preferRelativeResize="0"/>
          <p:nvPr/>
        </p:nvPicPr>
        <p:blipFill rotWithShape="1">
          <a:blip r:embed="rId3">
            <a:alphaModFix/>
          </a:blip>
          <a:srcRect b="55199"/>
          <a:stretch/>
        </p:blipFill>
        <p:spPr>
          <a:xfrm>
            <a:off x="4747846" y="1957755"/>
            <a:ext cx="5334000" cy="2617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9"/>
          <p:cNvPicPr preferRelativeResize="0"/>
          <p:nvPr/>
        </p:nvPicPr>
        <p:blipFill rotWithShape="1">
          <a:blip r:embed="rId3">
            <a:alphaModFix/>
          </a:blip>
          <a:srcRect l="2035" t="56487" r="-2034" b="-1287"/>
          <a:stretch/>
        </p:blipFill>
        <p:spPr>
          <a:xfrm>
            <a:off x="4857574" y="2083710"/>
            <a:ext cx="5334000" cy="26172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175F080-0CB1-1443-CB6C-8D0DAC93141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4E76-86A1-AB62-6985-50483F48BF44}"/>
              </a:ext>
            </a:extLst>
          </p:cNvPr>
          <p:cNvSpPr txBox="1"/>
          <p:nvPr/>
        </p:nvSpPr>
        <p:spPr>
          <a:xfrm>
            <a:off x="870155" y="6182173"/>
            <a:ext cx="1132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Gregory R. L. (1997). Knowledge in perception and illusion.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Philosophical transactions of the Royal Society of London. Series B, Biological sciences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352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(1358), 1121–1127.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/10.1098/rstb.1997.0095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212" r="-1211"/>
          <a:stretch/>
        </p:blipFill>
        <p:spPr>
          <a:xfrm>
            <a:off x="3581400" y="1318847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3EFB6D7-97C2-A03D-587D-B1B63941156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6" name="Google Shape;467;p39">
            <a:extLst>
              <a:ext uri="{FF2B5EF4-FFF2-40B4-BE49-F238E27FC236}">
                <a16:creationId xmlns:a16="http://schemas.microsoft.com/office/drawing/2014/main" id="{D640D403-2570-AA4F-4866-53D25670D323}"/>
              </a:ext>
            </a:extLst>
          </p:cNvPr>
          <p:cNvSpPr txBox="1">
            <a:spLocks/>
          </p:cNvSpPr>
          <p:nvPr/>
        </p:nvSpPr>
        <p:spPr>
          <a:xfrm>
            <a:off x="3581400" y="58056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00F19-6F2B-3654-9AA8-66581C2A2F87}"/>
              </a:ext>
            </a:extLst>
          </p:cNvPr>
          <p:cNvSpPr txBox="1"/>
          <p:nvPr/>
        </p:nvSpPr>
        <p:spPr>
          <a:xfrm>
            <a:off x="870155" y="6182173"/>
            <a:ext cx="1132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Gregory R. L. (1997). Knowledge in perception and illusion.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Philosophical transactions of the Royal Society of London. Series B, Biological sciences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352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(1358), 1121–1127.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/10.1098/rstb.1997.0095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70BEC088-B1F9-407C-CD42-D7FD6B9A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9B27DB-CEF4-C4ED-6D77-22B9117A145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6" name="Google Shape;467;p39">
            <a:extLst>
              <a:ext uri="{FF2B5EF4-FFF2-40B4-BE49-F238E27FC236}">
                <a16:creationId xmlns:a16="http://schemas.microsoft.com/office/drawing/2014/main" id="{39919B1C-2A47-77E1-CD28-430C52F7BCFB}"/>
              </a:ext>
            </a:extLst>
          </p:cNvPr>
          <p:cNvSpPr txBox="1">
            <a:spLocks/>
          </p:cNvSpPr>
          <p:nvPr/>
        </p:nvSpPr>
        <p:spPr>
          <a:xfrm>
            <a:off x="3581400" y="58056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lang="en-US" sz="2400" dirty="0">
              <a:latin typeface="+mn-lt"/>
            </a:endParaRPr>
          </a:p>
        </p:txBody>
      </p:sp>
      <p:pic>
        <p:nvPicPr>
          <p:cNvPr id="7" name="Content Placeholder 6" descr="A graph of a function&#10;&#10;AI-generated content may be incorrect.">
            <a:extLst>
              <a:ext uri="{FF2B5EF4-FFF2-40B4-BE49-F238E27FC236}">
                <a16:creationId xmlns:a16="http://schemas.microsoft.com/office/drawing/2014/main" id="{10BDAC6D-EAA5-D9BD-1CC9-766267BD3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8238" y="1571167"/>
            <a:ext cx="7315200" cy="4763911"/>
          </a:xfrm>
        </p:spPr>
      </p:pic>
    </p:spTree>
    <p:extLst>
      <p:ext uri="{BB962C8B-B14F-4D97-AF65-F5344CB8AC3E}">
        <p14:creationId xmlns:p14="http://schemas.microsoft.com/office/powerpoint/2010/main" val="4354108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>
          <a:extLst>
            <a:ext uri="{FF2B5EF4-FFF2-40B4-BE49-F238E27FC236}">
              <a16:creationId xmlns:a16="http://schemas.microsoft.com/office/drawing/2014/main" id="{7798C3CC-4A5F-E5D6-EB02-106F1B53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>
            <a:extLst>
              <a:ext uri="{FF2B5EF4-FFF2-40B4-BE49-F238E27FC236}">
                <a16:creationId xmlns:a16="http://schemas.microsoft.com/office/drawing/2014/main" id="{2E516E9D-17EB-ED35-B609-15023B445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22431" y="240323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Short term “working” memory is limited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546" name="Google Shape;546;p45">
            <a:extLst>
              <a:ext uri="{FF2B5EF4-FFF2-40B4-BE49-F238E27FC236}">
                <a16:creationId xmlns:a16="http://schemas.microsoft.com/office/drawing/2014/main" id="{32241B3D-AEA1-C993-78D4-61C3A1A7BFEF}"/>
              </a:ext>
            </a:extLst>
          </p:cNvPr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homepage.divms.uiowa.edu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/~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luke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/classes/STAT4580/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percep.html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57B33C-5D47-8664-CBE3-EF1C59D1838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processing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BE38B8-D9FF-5BB0-16E1-CE06B7851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11"/>
          <a:stretch/>
        </p:blipFill>
        <p:spPr bwMode="auto">
          <a:xfrm>
            <a:off x="3932238" y="1230923"/>
            <a:ext cx="7094537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31651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</TotalTime>
  <Words>3594</Words>
  <Application>Microsoft Macintosh PowerPoint</Application>
  <PresentationFormat>Widescreen</PresentationFormat>
  <Paragraphs>323</Paragraphs>
  <Slides>65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Corbel</vt:lpstr>
      <vt:lpstr>Wingdings 2</vt:lpstr>
      <vt:lpstr>Frame</vt:lpstr>
      <vt:lpstr>Communicating with Data – Perception</vt:lpstr>
      <vt:lpstr>Plan for Today</vt:lpstr>
      <vt:lpstr>PowerPoint Presentation</vt:lpstr>
      <vt:lpstr>PowerPoint Presentation</vt:lpstr>
      <vt:lpstr>PowerPoint Presentation</vt:lpstr>
      <vt:lpstr>PowerPoint Presentation</vt:lpstr>
      <vt:lpstr>Some things are processed slowly</vt:lpstr>
      <vt:lpstr>Others are incredibly fast</vt:lpstr>
      <vt:lpstr>Fast = “pre-attentive processing”</vt:lpstr>
      <vt:lpstr>PowerPoint Presentation</vt:lpstr>
      <vt:lpstr>PowerPoint Presentation</vt:lpstr>
      <vt:lpstr>Fast = “pre-attentive processing”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Ranking Visual Channels</vt:lpstr>
      <vt:lpstr>Recall</vt:lpstr>
      <vt:lpstr>Ranking Visual Channels</vt:lpstr>
      <vt:lpstr>Ranking Visual Channels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Discriminability</vt:lpstr>
      <vt:lpstr>Discriminability</vt:lpstr>
      <vt:lpstr>Separability</vt:lpstr>
      <vt:lpstr>Visual Popout</vt:lpstr>
      <vt:lpstr>Visual Popout</vt:lpstr>
      <vt:lpstr>Visual Popout</vt:lpstr>
      <vt:lpstr>Visual Popout</vt:lpstr>
      <vt:lpstr>Grouping</vt:lpstr>
      <vt:lpstr>Ranking Visual Channels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Sometimes gestalt &amp; pre-attention compete</vt:lpstr>
      <vt:lpstr>PowerPoint Presentation</vt:lpstr>
      <vt:lpstr>PowerPoint Presentation</vt:lpstr>
      <vt:lpstr>Short term “working” memory is limited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39</cp:revision>
  <dcterms:created xsi:type="dcterms:W3CDTF">2023-08-03T18:49:17Z</dcterms:created>
  <dcterms:modified xsi:type="dcterms:W3CDTF">2026-09-03T18:50:18Z</dcterms:modified>
</cp:coreProperties>
</file>