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31"/>
  </p:notesMasterIdLst>
  <p:sldIdLst>
    <p:sldId id="256" r:id="rId2"/>
    <p:sldId id="257" r:id="rId3"/>
    <p:sldId id="258" r:id="rId4"/>
    <p:sldId id="259" r:id="rId5"/>
    <p:sldId id="260" r:id="rId6"/>
    <p:sldId id="261" r:id="rId7"/>
    <p:sldId id="262" r:id="rId8"/>
    <p:sldId id="263" r:id="rId9"/>
    <p:sldId id="265" r:id="rId10"/>
    <p:sldId id="264" r:id="rId11"/>
    <p:sldId id="266" r:id="rId12"/>
    <p:sldId id="270" r:id="rId13"/>
    <p:sldId id="273" r:id="rId14"/>
    <p:sldId id="267" r:id="rId15"/>
    <p:sldId id="271" r:id="rId16"/>
    <p:sldId id="268" r:id="rId17"/>
    <p:sldId id="272" r:id="rId18"/>
    <p:sldId id="269"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519"/>
    <p:restoredTop sz="83020"/>
  </p:normalViewPr>
  <p:slideViewPr>
    <p:cSldViewPr snapToGrid="0">
      <p:cViewPr varScale="1">
        <p:scale>
          <a:sx n="81" d="100"/>
          <a:sy n="81"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6</a:t>
            </a:fld>
            <a:endParaRPr lang="en-US"/>
          </a:p>
        </p:txBody>
      </p:sp>
    </p:spTree>
    <p:extLst>
      <p:ext uri="{BB962C8B-B14F-4D97-AF65-F5344CB8AC3E}">
        <p14:creationId xmlns:p14="http://schemas.microsoft.com/office/powerpoint/2010/main" val="3781143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C649-FE3E-0671-D20B-1CAFC8489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5CDFF-F937-5069-93F7-68395FCA1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AAA64-63B4-BDC4-B623-7CB8224175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5D5BBF-C456-23DB-A41D-B09FEBC578F7}"/>
              </a:ext>
            </a:extLst>
          </p:cNvPr>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2764544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A67A-C0C8-363B-9851-BCD411B6D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E37CF-EFFC-17F9-8B25-22F0AA650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3ABF4-0ADB-BB18-4A25-56F6C68ED79C}"/>
              </a:ext>
            </a:extLst>
          </p:cNvPr>
          <p:cNvSpPr>
            <a:spLocks noGrp="1"/>
          </p:cNvSpPr>
          <p:nvPr>
            <p:ph type="body" idx="1"/>
          </p:nvPr>
        </p:nvSpPr>
        <p:spPr/>
        <p:txBody>
          <a:bodyPr/>
          <a:lstStyle/>
          <a:p>
            <a:r>
              <a:rPr lang="en-US" dirty="0"/>
              <a:t>Spatial perception: Since physical objects give rich cues of shape and volume, 3D data can be perceived with less effort and more accuracy on </a:t>
            </a:r>
            <a:r>
              <a:rPr lang="en-US" dirty="0" err="1"/>
              <a:t>physicalizations</a:t>
            </a:r>
            <a:r>
              <a:rPr lang="en-US" dirty="0"/>
              <a:t> than on computer displays </a:t>
            </a:r>
          </a:p>
          <a:p>
            <a:endParaRPr lang="en-US" dirty="0"/>
          </a:p>
          <a:p>
            <a:r>
              <a:rPr lang="en-US" dirty="0"/>
              <a:t>All senses: data </a:t>
            </a:r>
            <a:r>
              <a:rPr lang="en-US" dirty="0" err="1"/>
              <a:t>physicalization</a:t>
            </a:r>
            <a:r>
              <a:rPr lang="en-US" dirty="0"/>
              <a:t> follows an intermodal approach that guarantees cohesive and realistic multisensory experiences</a:t>
            </a:r>
          </a:p>
          <a:p>
            <a:endParaRPr lang="en-US" dirty="0"/>
          </a:p>
        </p:txBody>
      </p:sp>
      <p:sp>
        <p:nvSpPr>
          <p:cNvPr id="4" name="Slide Number Placeholder 3">
            <a:extLst>
              <a:ext uri="{FF2B5EF4-FFF2-40B4-BE49-F238E27FC236}">
                <a16:creationId xmlns:a16="http://schemas.microsoft.com/office/drawing/2014/main" id="{18FD7D40-58CD-0E03-FDBF-CADCE8867EAB}"/>
              </a:ext>
            </a:extLst>
          </p:cNvPr>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2173798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CCD2-C6C4-C6D6-C09A-EAC101657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225BC-A0A5-C6D3-9786-172D01B46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4D623-91FE-D056-857A-06CB900BDECC}"/>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7B5E5083-C1BD-7C9C-0F55-3ACCC71D97FB}"/>
              </a:ext>
            </a:extLst>
          </p:cNvPr>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2407877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F98C4-F414-2BFF-F835-31353C501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8AE70-3E1E-F101-E971-610352C09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7AE13-41E8-5FD5-B569-B862BA1C58DD}"/>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F816BE3A-C27D-5170-373B-3B2BD05C37D0}"/>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3389598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3DE-1710-967A-FF5A-4A4A60D1E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4DB1F-FC1C-4C6E-CDC9-8E77107AC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24E30-0190-F6A4-03F0-52D60DE38172}"/>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0CAFCD7F-2F73-29D3-65AC-93CFBD81ED68}"/>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2195311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0F78-DA98-AE81-7ADE-D26FD6698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D45BF-C072-6F97-4E21-A4206022E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843C7-FD46-AB7A-2A3B-D9C2E68F608D}"/>
              </a:ext>
            </a:extLst>
          </p:cNvPr>
          <p:cNvSpPr>
            <a:spLocks noGrp="1"/>
          </p:cNvSpPr>
          <p:nvPr>
            <p:ph type="body" idx="1"/>
          </p:nvPr>
        </p:nvSpPr>
        <p:spPr/>
        <p:txBody>
          <a:bodyPr/>
          <a:lstStyle/>
          <a:p>
            <a:r>
              <a:rPr lang="en-US" dirty="0"/>
              <a:t>Adds sonification to enable comparison, “hearing the data” etc.. </a:t>
            </a:r>
          </a:p>
        </p:txBody>
      </p:sp>
      <p:sp>
        <p:nvSpPr>
          <p:cNvPr id="4" name="Slide Number Placeholder 3">
            <a:extLst>
              <a:ext uri="{FF2B5EF4-FFF2-40B4-BE49-F238E27FC236}">
                <a16:creationId xmlns:a16="http://schemas.microsoft.com/office/drawing/2014/main" id="{D07CB5DE-9917-57E4-EA14-2E8F966536C1}"/>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2664343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88010-DF98-C012-B7DB-CFB6D70BB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F886A-94AD-44F8-1C48-160B1CF60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E6391-EF17-1698-57FC-1FBF0599792E}"/>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22F1F07F-AB94-9515-A5BF-7FA58E52ADBE}"/>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1827750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C9439-9776-9422-D498-B908B48B4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5743A-59F6-5B91-7A88-562A4428D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F3B11-3E89-8584-67F4-73297CA4A2C9}"/>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CD85ED81-42B9-22C8-758F-EAAF321E8862}"/>
              </a:ext>
            </a:extLst>
          </p:cNvPr>
          <p:cNvSpPr>
            <a:spLocks noGrp="1"/>
          </p:cNvSpPr>
          <p:nvPr>
            <p:ph type="sldNum" sz="quarter" idx="5"/>
          </p:nvPr>
        </p:nvSpPr>
        <p:spPr/>
        <p:txBody>
          <a:bodyPr/>
          <a:lstStyle/>
          <a:p>
            <a:fld id="{E666506D-5C9B-294C-B2AE-15ACE8B5B9F7}" type="slidenum">
              <a:rPr lang="en-US" smtClean="0"/>
              <a:t>15</a:t>
            </a:fld>
            <a:endParaRPr lang="en-US"/>
          </a:p>
        </p:txBody>
      </p:sp>
    </p:spTree>
    <p:extLst>
      <p:ext uri="{BB962C8B-B14F-4D97-AF65-F5344CB8AC3E}">
        <p14:creationId xmlns:p14="http://schemas.microsoft.com/office/powerpoint/2010/main" val="2961078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DAC9A-F45C-5784-1A6E-9DD0161CC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43AF6-F6B7-82BA-8E3C-F18F7785C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6B133-8C03-B1D5-F2E7-FBEC57CD1D8F}"/>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A1CECED2-7423-2A42-7EE0-32D663CA6E9A}"/>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1608910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748D9-1AE9-A7B0-7E56-A11BA45F2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C9D0F-00A2-1F64-8C00-E7E1A3D66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B0102-1085-9CDE-BFB4-76E17DBBD241}"/>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F255DF74-8FDD-ADD1-6C45-1E0E0C6DA96F}"/>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4176027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4E65-7B7F-0F9A-E331-FAD23F1D4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46D40-FF6A-B5EC-6541-381216428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13443-204F-0ED8-CF07-89DCC5282EFA}"/>
              </a:ext>
            </a:extLst>
          </p:cNvPr>
          <p:cNvSpPr>
            <a:spLocks noGrp="1"/>
          </p:cNvSpPr>
          <p:nvPr>
            <p:ph type="body" idx="1"/>
          </p:nvPr>
        </p:nvSpPr>
        <p:spPr/>
        <p:txBody>
          <a:bodyPr/>
          <a:lstStyle/>
          <a:p>
            <a:endParaRPr lang="en-US" dirty="0"/>
          </a:p>
          <a:p>
            <a:pPr marL="228600" indent="-228600">
              <a:buAutoNum type="arabicParenBoth"/>
            </a:pPr>
            <a:r>
              <a:rPr lang="en-US" dirty="0"/>
              <a:t>Avoid pie charts: Experts consistently indicated that they avoid pie charts when designing accessible materials. Our results directly support this intuition: people with IDD struggled to estimate quantities with pie charts and were more than twice as accurate with stacked bar charts and </a:t>
            </a:r>
            <a:r>
              <a:rPr lang="en-US" dirty="0" err="1"/>
              <a:t>treemaps</a:t>
            </a:r>
            <a:r>
              <a:rPr lang="en-US" dirty="0"/>
              <a:t>. </a:t>
            </a:r>
          </a:p>
          <a:p>
            <a:pPr marL="228600" indent="-228600">
              <a:buAutoNum type="arabicParenBoth"/>
            </a:pPr>
            <a:endParaRPr lang="en-US" dirty="0"/>
          </a:p>
          <a:p>
            <a:pPr marL="228600" indent="-228600">
              <a:buAutoNum type="arabicParenBoth"/>
            </a:pPr>
            <a:r>
              <a:rPr lang="en-US" dirty="0"/>
              <a:t>Use familiar metaphors: People with IDD often mentally reasoned about data through analogs to real world objects, such as stairs and pizzas. They preferred using chart types whose structures evoked real world shapes, and, for time series, these structures appear to scaffold reasoning about data in ways that significantly improve performance.</a:t>
            </a:r>
          </a:p>
          <a:p>
            <a:pPr marL="228600" indent="-228600">
              <a:buAutoNum type="arabicParenBoth"/>
            </a:pPr>
            <a:endParaRPr lang="en-US" dirty="0"/>
          </a:p>
          <a:p>
            <a:pPr marL="228600" indent="-228600">
              <a:buAutoNum type="arabicParenBoth"/>
            </a:pPr>
            <a:r>
              <a:rPr lang="en-US" dirty="0"/>
              <a:t> Manage visual complexity: while icons were quicker to use, they introduced performance gaps over other methods in identifying extrema. Participants noted that while visual embellishments could add interest and increase engagement, that they could also overwhelm. Collectively, these observations suggest that simple, meaningful imagery has the potential to support data access; however, such additions should be used intentionally and sparingly and in consultation with the target user group.</a:t>
            </a:r>
          </a:p>
          <a:p>
            <a:pPr marL="228600" indent="-228600">
              <a:buAutoNum type="arabicParenBoth"/>
            </a:pPr>
            <a:endParaRPr lang="en-US" dirty="0"/>
          </a:p>
          <a:p>
            <a:pPr marL="228600" indent="-228600">
              <a:buAutoNum type="arabicParenBoth"/>
            </a:pPr>
            <a:r>
              <a:rPr lang="en-US" dirty="0"/>
              <a:t>Use discrete encodings for axis-aligned representations: Despite a preference for continuous encodings for proportion data, discrete encodings improved accuracy and response times for people with IDD, </a:t>
            </a:r>
            <a:r>
              <a:rPr lang="en-US" dirty="0" err="1"/>
              <a:t>signifcantly</a:t>
            </a:r>
            <a:r>
              <a:rPr lang="en-US" dirty="0"/>
              <a:t> reducing disparities with the control group. Unlike the control group, participants strongly preferred discrete bar charts, especially abstract bars. They found that being able to count the points in bars with close values helped them com-pare values that were further apart.  </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9515A07-2329-037C-E2F3-0855879A3E7D}"/>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912736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218C-7A4F-7E75-1C7E-F52FE92F4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94B1B-34F5-C6CD-D72B-4ABB08067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66E14-D569-3454-D805-FDFA20B1F11A}"/>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E6A1658D-AF53-CB0A-365B-AEB5377A2A49}"/>
              </a:ext>
            </a:extLst>
          </p:cNvPr>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2845000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CD51-A771-87A1-0A14-375C9F149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ECE73-5BC5-FB35-DE1C-E886C1371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B32B0-00AA-F194-0AFA-3EF86181B27A}"/>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72E25BC6-908C-51E4-A36A-DCEA8E9CD471}"/>
              </a:ext>
            </a:extLst>
          </p:cNvPr>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3737292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9791C-BB66-3D77-396C-887AF8EF4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7987A-D34B-B3DE-357F-D8ECF7629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935E2-50B8-BE6B-1B87-4D5C8AC58017}"/>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A5C855E7-180F-7C57-B1C7-8DB0CEC7ACFD}"/>
              </a:ext>
            </a:extLst>
          </p:cNvPr>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3429118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E296-4828-0687-05C3-2A7AD1F57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17603-E920-2036-98C3-81C80D42E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4338E-A34A-3E59-4AE2-0FC24F67C748}"/>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144DDBDB-2D83-12D4-EDE4-FD6A743D8FFE}"/>
              </a:ext>
            </a:extLst>
          </p:cNvPr>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4167110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9190D-C6E8-ACEA-A28E-17998F0ED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C3D0A-6678-425D-8505-21F83B453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AC381-F3C0-1D20-D45B-B3717E4B1093}"/>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76221088-A358-1A49-51CF-F3B71D3916D4}"/>
              </a:ext>
            </a:extLst>
          </p:cNvPr>
          <p:cNvSpPr>
            <a:spLocks noGrp="1"/>
          </p:cNvSpPr>
          <p:nvPr>
            <p:ph type="sldNum" sz="quarter" idx="5"/>
          </p:nvPr>
        </p:nvSpPr>
        <p:spPr/>
        <p:txBody>
          <a:bodyPr/>
          <a:lstStyle/>
          <a:p>
            <a:fld id="{E666506D-5C9B-294C-B2AE-15ACE8B5B9F7}" type="slidenum">
              <a:rPr lang="en-US" smtClean="0"/>
              <a:t>23</a:t>
            </a:fld>
            <a:endParaRPr lang="en-US"/>
          </a:p>
        </p:txBody>
      </p:sp>
    </p:spTree>
    <p:extLst>
      <p:ext uri="{BB962C8B-B14F-4D97-AF65-F5344CB8AC3E}">
        <p14:creationId xmlns:p14="http://schemas.microsoft.com/office/powerpoint/2010/main" val="2700175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29DB5-D8DD-2A22-9216-2E51968C2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02576-0058-2050-72C0-67122E5D2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54A3B-472A-B97C-463D-632196DEB761}"/>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B5D53077-D91E-0EEA-FEA4-8F98CA270327}"/>
              </a:ext>
            </a:extLst>
          </p:cNvPr>
          <p:cNvSpPr>
            <a:spLocks noGrp="1"/>
          </p:cNvSpPr>
          <p:nvPr>
            <p:ph type="sldNum" sz="quarter" idx="5"/>
          </p:nvPr>
        </p:nvSpPr>
        <p:spPr/>
        <p:txBody>
          <a:bodyPr/>
          <a:lstStyle/>
          <a:p>
            <a:fld id="{E666506D-5C9B-294C-B2AE-15ACE8B5B9F7}" type="slidenum">
              <a:rPr lang="en-US" smtClean="0"/>
              <a:t>24</a:t>
            </a:fld>
            <a:endParaRPr lang="en-US"/>
          </a:p>
        </p:txBody>
      </p:sp>
    </p:spTree>
    <p:extLst>
      <p:ext uri="{BB962C8B-B14F-4D97-AF65-F5344CB8AC3E}">
        <p14:creationId xmlns:p14="http://schemas.microsoft.com/office/powerpoint/2010/main" val="26455608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880C1-A02B-2A2C-C286-C68D7EE8B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BF1BD-295C-C17C-899C-524C60899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16EC7-0006-E480-C02D-34D6030AEAAC}"/>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8119E89E-181D-5A7E-73B7-0C48F208BAD4}"/>
              </a:ext>
            </a:extLst>
          </p:cNvPr>
          <p:cNvSpPr>
            <a:spLocks noGrp="1"/>
          </p:cNvSpPr>
          <p:nvPr>
            <p:ph type="sldNum" sz="quarter" idx="5"/>
          </p:nvPr>
        </p:nvSpPr>
        <p:spPr/>
        <p:txBody>
          <a:bodyPr/>
          <a:lstStyle/>
          <a:p>
            <a:fld id="{E666506D-5C9B-294C-B2AE-15ACE8B5B9F7}" type="slidenum">
              <a:rPr lang="en-US" smtClean="0"/>
              <a:t>25</a:t>
            </a:fld>
            <a:endParaRPr lang="en-US"/>
          </a:p>
        </p:txBody>
      </p:sp>
    </p:spTree>
    <p:extLst>
      <p:ext uri="{BB962C8B-B14F-4D97-AF65-F5344CB8AC3E}">
        <p14:creationId xmlns:p14="http://schemas.microsoft.com/office/powerpoint/2010/main" val="1196530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C3350-86E3-FF96-F3DE-3501FD281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DB391-4FA7-333B-EE9B-383C3A3B3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7DA00-0633-C199-8377-16704C46DEF8}"/>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215132F3-6E62-67FD-DAB7-D0399FBB8740}"/>
              </a:ext>
            </a:extLst>
          </p:cNvPr>
          <p:cNvSpPr>
            <a:spLocks noGrp="1"/>
          </p:cNvSpPr>
          <p:nvPr>
            <p:ph type="sldNum" sz="quarter" idx="5"/>
          </p:nvPr>
        </p:nvSpPr>
        <p:spPr/>
        <p:txBody>
          <a:bodyPr/>
          <a:lstStyle/>
          <a:p>
            <a:fld id="{E666506D-5C9B-294C-B2AE-15ACE8B5B9F7}" type="slidenum">
              <a:rPr lang="en-US" smtClean="0"/>
              <a:t>26</a:t>
            </a:fld>
            <a:endParaRPr lang="en-US"/>
          </a:p>
        </p:txBody>
      </p:sp>
    </p:spTree>
    <p:extLst>
      <p:ext uri="{BB962C8B-B14F-4D97-AF65-F5344CB8AC3E}">
        <p14:creationId xmlns:p14="http://schemas.microsoft.com/office/powerpoint/2010/main" val="32584924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28DA-D816-A0E5-28D9-9F76ACD1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F9713-2E4F-F52B-A3A5-19484AB3F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6D74E-0542-E232-013A-28C71FAEFF0D}"/>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AA306845-E2E4-07EF-9960-2201EF264080}"/>
              </a:ext>
            </a:extLst>
          </p:cNvPr>
          <p:cNvSpPr>
            <a:spLocks noGrp="1"/>
          </p:cNvSpPr>
          <p:nvPr>
            <p:ph type="sldNum" sz="quarter" idx="5"/>
          </p:nvPr>
        </p:nvSpPr>
        <p:spPr/>
        <p:txBody>
          <a:bodyPr/>
          <a:lstStyle/>
          <a:p>
            <a:fld id="{E666506D-5C9B-294C-B2AE-15ACE8B5B9F7}" type="slidenum">
              <a:rPr lang="en-US" smtClean="0"/>
              <a:t>27</a:t>
            </a:fld>
            <a:endParaRPr lang="en-US"/>
          </a:p>
        </p:txBody>
      </p:sp>
    </p:spTree>
    <p:extLst>
      <p:ext uri="{BB962C8B-B14F-4D97-AF65-F5344CB8AC3E}">
        <p14:creationId xmlns:p14="http://schemas.microsoft.com/office/powerpoint/2010/main" val="2297411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06DBB-8C04-6FEE-8D69-F59A0A06E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93D0E-975C-B06E-67B2-37E037B0A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6829C-DE08-0985-CB90-BAF00323A040}"/>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C519D102-C800-232A-9BCD-2D4E9C734D54}"/>
              </a:ext>
            </a:extLst>
          </p:cNvPr>
          <p:cNvSpPr>
            <a:spLocks noGrp="1"/>
          </p:cNvSpPr>
          <p:nvPr>
            <p:ph type="sldNum" sz="quarter" idx="5"/>
          </p:nvPr>
        </p:nvSpPr>
        <p:spPr/>
        <p:txBody>
          <a:bodyPr/>
          <a:lstStyle/>
          <a:p>
            <a:fld id="{E666506D-5C9B-294C-B2AE-15ACE8B5B9F7}" type="slidenum">
              <a:rPr lang="en-US" smtClean="0"/>
              <a:t>28</a:t>
            </a:fld>
            <a:endParaRPr lang="en-US"/>
          </a:p>
        </p:txBody>
      </p:sp>
    </p:spTree>
    <p:extLst>
      <p:ext uri="{BB962C8B-B14F-4D97-AF65-F5344CB8AC3E}">
        <p14:creationId xmlns:p14="http://schemas.microsoft.com/office/powerpoint/2010/main" val="3280021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FE47-C34F-9D14-0D48-FDC203D34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FE2AB-0864-C4F0-3516-527F5DE26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186FD-03A3-4871-B74B-E06DDFCB3226}"/>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33341D34-0B1D-B129-C6B1-38B00FB3671F}"/>
              </a:ext>
            </a:extLst>
          </p:cNvPr>
          <p:cNvSpPr>
            <a:spLocks noGrp="1"/>
          </p:cNvSpPr>
          <p:nvPr>
            <p:ph type="sldNum" sz="quarter" idx="5"/>
          </p:nvPr>
        </p:nvSpPr>
        <p:spPr/>
        <p:txBody>
          <a:bodyPr/>
          <a:lstStyle/>
          <a:p>
            <a:fld id="{E666506D-5C9B-294C-B2AE-15ACE8B5B9F7}" type="slidenum">
              <a:rPr lang="en-US" smtClean="0"/>
              <a:t>29</a:t>
            </a:fld>
            <a:endParaRPr lang="en-US"/>
          </a:p>
        </p:txBody>
      </p:sp>
    </p:spTree>
    <p:extLst>
      <p:ext uri="{BB962C8B-B14F-4D97-AF65-F5344CB8AC3E}">
        <p14:creationId xmlns:p14="http://schemas.microsoft.com/office/powerpoint/2010/main" val="273239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instagram.com/p/C8ckPxkP8V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atavisualizationstudio.com/climaticbracelet/e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vimeo.com/818729202?fl=pl&amp;fe=sh"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youtube.com/shorts/25mtFbsQsbU?si=HbXA46ZjfkPZY5d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datavandals.com/" TargetMode="Externa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doi.org/10.1111/cgf.1429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perkins.org/resource/tactile-models-tactile-graphics/" TargetMode="External"/><Relationship Id="rId5" Type="http://schemas.openxmlformats.org/officeDocument/2006/relationships/image" Target="../media/image9.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fontScale="90000"/>
          </a:bodyPr>
          <a:lstStyle/>
          <a:p>
            <a:r>
              <a:rPr lang="en-US" dirty="0"/>
              <a:t>Communicating with Data – Physical Visualizations &amp; Visualization Accessibility</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cs typeface="Arial"/>
                <a:sym typeface="Arial"/>
              </a:rPr>
              <a:t>Intro to physical visualization</a:t>
            </a:r>
          </a:p>
          <a:p>
            <a:pPr lvl="1">
              <a:spcBef>
                <a:spcPts val="0"/>
              </a:spcBef>
              <a:buSzPts val="2040"/>
              <a:buFont typeface="Arial"/>
              <a:buChar char="•"/>
            </a:pPr>
            <a:r>
              <a:rPr lang="en-US" sz="2200" dirty="0">
                <a:cs typeface="Arial"/>
                <a:sym typeface="Arial"/>
              </a:rPr>
              <a:t>Examples</a:t>
            </a:r>
          </a:p>
          <a:p>
            <a:pPr lvl="1">
              <a:spcBef>
                <a:spcPts val="0"/>
              </a:spcBef>
              <a:buSzPts val="2040"/>
              <a:buFont typeface="Arial"/>
              <a:buChar char="•"/>
            </a:pPr>
            <a:r>
              <a:rPr lang="en-US" sz="2200" dirty="0">
                <a:cs typeface="Arial"/>
                <a:sym typeface="Arial"/>
              </a:rPr>
              <a:t>Benefits</a:t>
            </a:r>
          </a:p>
          <a:p>
            <a:pPr>
              <a:spcBef>
                <a:spcPts val="0"/>
              </a:spcBef>
              <a:buSzPts val="2040"/>
              <a:buFont typeface="Arial"/>
              <a:buChar char="•"/>
            </a:pPr>
            <a:r>
              <a:rPr lang="en-US" sz="2400" dirty="0">
                <a:cs typeface="Arial"/>
                <a:sym typeface="Arial"/>
              </a:rPr>
              <a:t>Visualization accessibility </a:t>
            </a:r>
          </a:p>
          <a:p>
            <a:pPr lvl="1">
              <a:spcBef>
                <a:spcPts val="0"/>
              </a:spcBef>
              <a:buSzPts val="2040"/>
              <a:buFont typeface="Arial"/>
              <a:buChar char="•"/>
            </a:pPr>
            <a:r>
              <a:rPr lang="en-US" sz="2200" dirty="0">
                <a:cs typeface="Arial"/>
                <a:sym typeface="Arial"/>
              </a:rPr>
              <a:t>For various groups</a:t>
            </a:r>
          </a:p>
          <a:p>
            <a:pPr lvl="1">
              <a:spcBef>
                <a:spcPts val="0"/>
              </a:spcBef>
              <a:buSzPts val="2040"/>
              <a:buFont typeface="Arial"/>
              <a:buChar char="•"/>
            </a:pPr>
            <a:r>
              <a:rPr lang="en-US" sz="2200" dirty="0">
                <a:cs typeface="Arial"/>
                <a:sym typeface="Arial"/>
              </a:rPr>
              <a:t>Assessing accessibility</a:t>
            </a:r>
            <a:endParaRPr lang="en-US" sz="2200" dirty="0"/>
          </a:p>
        </p:txBody>
      </p:sp>
    </p:spTree>
    <p:extLst>
      <p:ext uri="{BB962C8B-B14F-4D97-AF65-F5344CB8AC3E}">
        <p14:creationId xmlns:p14="http://schemas.microsoft.com/office/powerpoint/2010/main" val="108554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77622-497E-5912-D756-21636D7A0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4CE52-DDF4-C3F7-E9E0-3B1310572BE2}"/>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C3506577-5B41-FF73-3974-6D9D121D58E4}"/>
              </a:ext>
            </a:extLst>
          </p:cNvPr>
          <p:cNvSpPr>
            <a:spLocks noGrp="1"/>
          </p:cNvSpPr>
          <p:nvPr>
            <p:ph idx="1"/>
          </p:nvPr>
        </p:nvSpPr>
        <p:spPr/>
        <p:txBody>
          <a:bodyPr>
            <a:normAutofit/>
          </a:bodyPr>
          <a:lstStyle/>
          <a:p>
            <a:pPr>
              <a:spcBef>
                <a:spcPts val="0"/>
              </a:spcBef>
              <a:buSzPts val="2040"/>
              <a:buFont typeface="Arial"/>
              <a:buChar char="•"/>
            </a:pPr>
            <a:r>
              <a:rPr lang="en-US" sz="2400" dirty="0">
                <a:cs typeface="Arial"/>
                <a:sym typeface="Arial"/>
              </a:rPr>
              <a:t>Have you ever encountered a physical visualization? What was it?</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might be the benefits of a physical visualization?</a:t>
            </a:r>
            <a:endParaRPr lang="en-US" sz="2400" dirty="0"/>
          </a:p>
        </p:txBody>
      </p:sp>
    </p:spTree>
    <p:extLst>
      <p:ext uri="{BB962C8B-B14F-4D97-AF65-F5344CB8AC3E}">
        <p14:creationId xmlns:p14="http://schemas.microsoft.com/office/powerpoint/2010/main" val="4138789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0292D-A382-32CF-05D2-5C9B56C92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F5603-5B4B-215B-78C4-0CFFE401C14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7D3AD9F-3E67-A665-A8A5-38857FA34849}"/>
              </a:ext>
            </a:extLst>
          </p:cNvPr>
          <p:cNvSpPr>
            <a:spLocks noGrp="1"/>
          </p:cNvSpPr>
          <p:nvPr>
            <p:ph idx="1"/>
          </p:nvPr>
        </p:nvSpPr>
        <p:spPr>
          <a:xfrm>
            <a:off x="3869268" y="5230368"/>
            <a:ext cx="7030380" cy="754380"/>
          </a:xfrm>
        </p:spPr>
        <p:txBody>
          <a:bodyPr>
            <a:normAutofit/>
          </a:bodyPr>
          <a:lstStyle/>
          <a:p>
            <a:pPr marL="0" indent="0">
              <a:spcBef>
                <a:spcPts val="0"/>
              </a:spcBef>
              <a:buSzPts val="2040"/>
              <a:buNone/>
            </a:pPr>
            <a:r>
              <a:rPr lang="en-US" sz="2400" dirty="0">
                <a:cs typeface="Arial"/>
                <a:sym typeface="Arial"/>
                <a:hlinkClick r:id="rId2"/>
              </a:rPr>
              <a:t>https://www.instagram.com/p/C8ckPxkP8VK/</a:t>
            </a:r>
            <a:r>
              <a:rPr lang="en-US" sz="2400" dirty="0">
                <a:cs typeface="Arial"/>
                <a:sym typeface="Arial"/>
              </a:rPr>
              <a:t> </a:t>
            </a:r>
          </a:p>
        </p:txBody>
      </p:sp>
      <p:pic>
        <p:nvPicPr>
          <p:cNvPr id="5" name="Picture 4">
            <a:extLst>
              <a:ext uri="{FF2B5EF4-FFF2-40B4-BE49-F238E27FC236}">
                <a16:creationId xmlns:a16="http://schemas.microsoft.com/office/drawing/2014/main" id="{BA4DD1A9-83F6-4240-823C-7F8C0629D85C}"/>
              </a:ext>
            </a:extLst>
          </p:cNvPr>
          <p:cNvPicPr>
            <a:picLocks noChangeAspect="1"/>
          </p:cNvPicPr>
          <p:nvPr/>
        </p:nvPicPr>
        <p:blipFill>
          <a:blip r:embed="rId3"/>
          <a:stretch>
            <a:fillRect/>
          </a:stretch>
        </p:blipFill>
        <p:spPr>
          <a:xfrm>
            <a:off x="3581400" y="546099"/>
            <a:ext cx="7318248" cy="4851112"/>
          </a:xfrm>
          <a:prstGeom prst="rect">
            <a:avLst/>
          </a:prstGeom>
        </p:spPr>
      </p:pic>
    </p:spTree>
    <p:extLst>
      <p:ext uri="{BB962C8B-B14F-4D97-AF65-F5344CB8AC3E}">
        <p14:creationId xmlns:p14="http://schemas.microsoft.com/office/powerpoint/2010/main" val="130848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2463-ECC4-9D02-9E20-38216BA19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A82D5-DEF7-4E40-B6A0-246094EB691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93B0A45-C13A-02EC-D703-FE877A2D1116}"/>
              </a:ext>
            </a:extLst>
          </p:cNvPr>
          <p:cNvSpPr>
            <a:spLocks noGrp="1"/>
          </p:cNvSpPr>
          <p:nvPr>
            <p:ph idx="1"/>
          </p:nvPr>
        </p:nvSpPr>
        <p:spPr>
          <a:xfrm>
            <a:off x="3869268" y="5230368"/>
            <a:ext cx="7541682" cy="754380"/>
          </a:xfrm>
        </p:spPr>
        <p:txBody>
          <a:bodyPr>
            <a:normAutofit/>
          </a:bodyPr>
          <a:lstStyle/>
          <a:p>
            <a:pPr marL="0" indent="0">
              <a:spcBef>
                <a:spcPts val="0"/>
              </a:spcBef>
              <a:buSzPts val="2040"/>
              <a:buNone/>
            </a:pPr>
            <a:r>
              <a:rPr lang="en-US" sz="2400" dirty="0">
                <a:cs typeface="Arial"/>
                <a:sym typeface="Arial"/>
                <a:hlinkClick r:id="rId2"/>
              </a:rPr>
              <a:t>https://datavisualizationstudio.com/climaticbracelet/en</a:t>
            </a:r>
            <a:r>
              <a:rPr lang="en-US" sz="2400" dirty="0">
                <a:cs typeface="Arial"/>
                <a:sym typeface="Arial"/>
              </a:rPr>
              <a:t> </a:t>
            </a:r>
          </a:p>
        </p:txBody>
      </p:sp>
      <p:pic>
        <p:nvPicPr>
          <p:cNvPr id="4" name="Picture 3">
            <a:extLst>
              <a:ext uri="{FF2B5EF4-FFF2-40B4-BE49-F238E27FC236}">
                <a16:creationId xmlns:a16="http://schemas.microsoft.com/office/drawing/2014/main" id="{04436ACB-4BAE-8F8F-97FF-1BD75FE9E24F}"/>
              </a:ext>
            </a:extLst>
          </p:cNvPr>
          <p:cNvPicPr>
            <a:picLocks noChangeAspect="1"/>
          </p:cNvPicPr>
          <p:nvPr/>
        </p:nvPicPr>
        <p:blipFill>
          <a:blip r:embed="rId3"/>
          <a:stretch>
            <a:fillRect/>
          </a:stretch>
        </p:blipFill>
        <p:spPr>
          <a:xfrm>
            <a:off x="6044119" y="1123837"/>
            <a:ext cx="2947482" cy="3929976"/>
          </a:xfrm>
          <a:prstGeom prst="rect">
            <a:avLst/>
          </a:prstGeom>
        </p:spPr>
      </p:pic>
    </p:spTree>
    <p:extLst>
      <p:ext uri="{BB962C8B-B14F-4D97-AF65-F5344CB8AC3E}">
        <p14:creationId xmlns:p14="http://schemas.microsoft.com/office/powerpoint/2010/main" val="520420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E37D2-2D41-0C89-EE71-818676AC4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55D2B-E172-C3B8-9A96-3DBADB4E93C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129AFF6-AAF6-CE38-562B-908FE8215A0F}"/>
              </a:ext>
            </a:extLst>
          </p:cNvPr>
          <p:cNvSpPr>
            <a:spLocks noGrp="1"/>
          </p:cNvSpPr>
          <p:nvPr>
            <p:ph idx="1"/>
          </p:nvPr>
        </p:nvSpPr>
        <p:spPr>
          <a:xfrm>
            <a:off x="213785" y="6096000"/>
            <a:ext cx="2986616" cy="762000"/>
          </a:xfrm>
        </p:spPr>
        <p:txBody>
          <a:bodyPr>
            <a:normAutofit/>
          </a:bodyPr>
          <a:lstStyle/>
          <a:p>
            <a:pPr marL="0" indent="0">
              <a:spcBef>
                <a:spcPts val="0"/>
              </a:spcBef>
              <a:buSzPts val="2040"/>
              <a:buNone/>
            </a:pPr>
            <a:r>
              <a:rPr lang="en-US" sz="2400" dirty="0">
                <a:cs typeface="Arial"/>
                <a:sym typeface="Arial"/>
                <a:hlinkClick r:id="rId3"/>
              </a:rPr>
              <a:t>https://vimeo.com/818729202?fl=pl&amp;fe=sh</a:t>
            </a:r>
            <a:r>
              <a:rPr lang="en-US" sz="2400" dirty="0">
                <a:cs typeface="Arial"/>
                <a:sym typeface="Arial"/>
              </a:rPr>
              <a:t> </a:t>
            </a:r>
          </a:p>
        </p:txBody>
      </p:sp>
      <p:pic>
        <p:nvPicPr>
          <p:cNvPr id="10" name="Picture 9">
            <a:extLst>
              <a:ext uri="{FF2B5EF4-FFF2-40B4-BE49-F238E27FC236}">
                <a16:creationId xmlns:a16="http://schemas.microsoft.com/office/drawing/2014/main" id="{0647DDEA-FC20-F17F-CDAD-DE953FC7B84C}"/>
              </a:ext>
            </a:extLst>
          </p:cNvPr>
          <p:cNvPicPr>
            <a:picLocks noChangeAspect="1"/>
          </p:cNvPicPr>
          <p:nvPr/>
        </p:nvPicPr>
        <p:blipFill>
          <a:blip r:embed="rId4"/>
          <a:stretch>
            <a:fillRect/>
          </a:stretch>
        </p:blipFill>
        <p:spPr>
          <a:xfrm>
            <a:off x="3526367" y="137682"/>
            <a:ext cx="8458199" cy="6573492"/>
          </a:xfrm>
          <a:prstGeom prst="rect">
            <a:avLst/>
          </a:prstGeom>
        </p:spPr>
      </p:pic>
    </p:spTree>
    <p:extLst>
      <p:ext uri="{BB962C8B-B14F-4D97-AF65-F5344CB8AC3E}">
        <p14:creationId xmlns:p14="http://schemas.microsoft.com/office/powerpoint/2010/main" val="1387605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FD1B-82A3-12B8-6938-DB4D416C2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419F6-0557-3F3E-0CC5-91B533EC4CE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212F6DA-6CE1-9D75-538F-34B77D134655}"/>
              </a:ext>
            </a:extLst>
          </p:cNvPr>
          <p:cNvSpPr>
            <a:spLocks noGrp="1"/>
          </p:cNvSpPr>
          <p:nvPr>
            <p:ph idx="1"/>
          </p:nvPr>
        </p:nvSpPr>
        <p:spPr>
          <a:xfrm>
            <a:off x="3452283" y="5107178"/>
            <a:ext cx="9673165" cy="762000"/>
          </a:xfrm>
        </p:spPr>
        <p:txBody>
          <a:bodyPr>
            <a:normAutofit/>
          </a:bodyPr>
          <a:lstStyle/>
          <a:p>
            <a:pPr marL="0" indent="0">
              <a:spcBef>
                <a:spcPts val="0"/>
              </a:spcBef>
              <a:buSzPts val="2040"/>
              <a:buNone/>
            </a:pPr>
            <a:r>
              <a:rPr lang="en-US" sz="2400" dirty="0">
                <a:cs typeface="Arial"/>
                <a:sym typeface="Arial"/>
                <a:hlinkClick r:id="rId3"/>
              </a:rPr>
              <a:t>https://youtube.com/shorts/25mtFbsQsbU?si=HbXA46ZjfkPZY5dG</a:t>
            </a:r>
            <a:r>
              <a:rPr lang="en-US" sz="2400" dirty="0">
                <a:cs typeface="Arial"/>
                <a:sym typeface="Arial"/>
              </a:rPr>
              <a:t> </a:t>
            </a:r>
          </a:p>
        </p:txBody>
      </p:sp>
      <p:pic>
        <p:nvPicPr>
          <p:cNvPr id="4" name="Graphic 3">
            <a:extLst>
              <a:ext uri="{FF2B5EF4-FFF2-40B4-BE49-F238E27FC236}">
                <a16:creationId xmlns:a16="http://schemas.microsoft.com/office/drawing/2014/main" id="{48F8E197-28E5-23A6-B974-0DDA37C93D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8100" y="2160778"/>
            <a:ext cx="5003800" cy="2527300"/>
          </a:xfrm>
          <a:prstGeom prst="rect">
            <a:avLst/>
          </a:prstGeom>
        </p:spPr>
      </p:pic>
      <p:sp>
        <p:nvSpPr>
          <p:cNvPr id="6" name="TextBox 5">
            <a:extLst>
              <a:ext uri="{FF2B5EF4-FFF2-40B4-BE49-F238E27FC236}">
                <a16:creationId xmlns:a16="http://schemas.microsoft.com/office/drawing/2014/main" id="{7590FB6F-3CD7-BB4A-61CE-D79CE5CF12D3}"/>
              </a:ext>
            </a:extLst>
          </p:cNvPr>
          <p:cNvSpPr txBox="1"/>
          <p:nvPr/>
        </p:nvSpPr>
        <p:spPr>
          <a:xfrm>
            <a:off x="5007504" y="4515080"/>
            <a:ext cx="6562724" cy="369332"/>
          </a:xfrm>
          <a:prstGeom prst="rect">
            <a:avLst/>
          </a:prstGeom>
          <a:noFill/>
        </p:spPr>
        <p:txBody>
          <a:bodyPr wrap="square">
            <a:spAutoFit/>
          </a:bodyPr>
          <a:lstStyle/>
          <a:p>
            <a:r>
              <a:rPr lang="en-US" dirty="0">
                <a:hlinkClick r:id="rId5"/>
              </a:rPr>
              <a:t>https://datavandals.com/</a:t>
            </a:r>
            <a:r>
              <a:rPr lang="en-US" dirty="0"/>
              <a:t> </a:t>
            </a:r>
          </a:p>
        </p:txBody>
      </p:sp>
    </p:spTree>
    <p:extLst>
      <p:ext uri="{BB962C8B-B14F-4D97-AF65-F5344CB8AC3E}">
        <p14:creationId xmlns:p14="http://schemas.microsoft.com/office/powerpoint/2010/main" val="11812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F235-EBF2-939C-D3ED-70503EA5F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D48A7-1E38-53B7-7CEB-A53E73C1A7BC}"/>
              </a:ext>
            </a:extLst>
          </p:cNvPr>
          <p:cNvSpPr>
            <a:spLocks noGrp="1"/>
          </p:cNvSpPr>
          <p:nvPr>
            <p:ph type="title"/>
          </p:nvPr>
        </p:nvSpPr>
        <p:spPr/>
        <p:txBody>
          <a:bodyPr/>
          <a:lstStyle/>
          <a:p>
            <a:r>
              <a:rPr lang="en-US" dirty="0"/>
              <a:t>Physical Visualization</a:t>
            </a:r>
          </a:p>
        </p:txBody>
      </p:sp>
      <p:sp>
        <p:nvSpPr>
          <p:cNvPr id="7" name="Content Placeholder 6">
            <a:extLst>
              <a:ext uri="{FF2B5EF4-FFF2-40B4-BE49-F238E27FC236}">
                <a16:creationId xmlns:a16="http://schemas.microsoft.com/office/drawing/2014/main" id="{8F4BD234-2E54-786C-E64C-F4639C0A6F19}"/>
              </a:ext>
            </a:extLst>
          </p:cNvPr>
          <p:cNvSpPr>
            <a:spLocks noGrp="1"/>
          </p:cNvSpPr>
          <p:nvPr>
            <p:ph idx="1"/>
          </p:nvPr>
        </p:nvSpPr>
        <p:spPr>
          <a:xfrm>
            <a:off x="3486151" y="304800"/>
            <a:ext cx="8248649" cy="5863590"/>
          </a:xfrm>
        </p:spPr>
        <p:txBody>
          <a:bodyPr>
            <a:normAutofit/>
          </a:bodyPr>
          <a:lstStyle/>
          <a:p>
            <a:pPr marL="0" indent="0">
              <a:buNone/>
            </a:pPr>
            <a:r>
              <a:rPr lang="en-US" sz="2400" dirty="0"/>
              <a:t>A data </a:t>
            </a:r>
            <a:r>
              <a:rPr lang="en-US" sz="2400" dirty="0" err="1"/>
              <a:t>physicalization</a:t>
            </a:r>
            <a:r>
              <a:rPr lang="en-US" sz="2400" dirty="0"/>
              <a:t> is </a:t>
            </a:r>
            <a:r>
              <a:rPr lang="en-US" sz="2400" i="1" dirty="0"/>
              <a:t>a physical artifact whose geometry or material properties encode data</a:t>
            </a:r>
          </a:p>
          <a:p>
            <a:pPr marL="0" indent="0">
              <a:buNone/>
            </a:pPr>
            <a:r>
              <a:rPr lang="en-US" sz="2400" dirty="0"/>
              <a:t>Benefits:</a:t>
            </a:r>
          </a:p>
          <a:p>
            <a:r>
              <a:rPr lang="en-US" sz="2400" dirty="0"/>
              <a:t>Exploit active perception skills  (perception related to movement) </a:t>
            </a:r>
          </a:p>
          <a:p>
            <a:r>
              <a:rPr lang="en-US" sz="2400" dirty="0"/>
              <a:t>Leverage spatial perception skills </a:t>
            </a:r>
          </a:p>
          <a:p>
            <a:r>
              <a:rPr lang="en-US" sz="2400" dirty="0"/>
              <a:t>All senses can participate in information gathering</a:t>
            </a:r>
          </a:p>
          <a:p>
            <a:r>
              <a:rPr lang="en-US" sz="2400" dirty="0"/>
              <a:t>Increased accessibility for visually-impaired people</a:t>
            </a:r>
          </a:p>
          <a:p>
            <a:r>
              <a:rPr lang="en-US" sz="2400" dirty="0"/>
              <a:t>A large body of evidence from educational psychology suggests manipulable physical representations facilitate understanding and learning</a:t>
            </a:r>
          </a:p>
          <a:p>
            <a:r>
              <a:rPr lang="en-US" sz="2400" dirty="0"/>
              <a:t>Anecdotal evidence suggests </a:t>
            </a:r>
            <a:r>
              <a:rPr lang="en-US" sz="2400" dirty="0" err="1"/>
              <a:t>physicalizations</a:t>
            </a:r>
            <a:r>
              <a:rPr lang="en-US" sz="2400" dirty="0"/>
              <a:t> may aid individuals in engaging with and communicating information to others more effectively than with digital representations</a:t>
            </a:r>
          </a:p>
        </p:txBody>
      </p:sp>
      <p:sp>
        <p:nvSpPr>
          <p:cNvPr id="9" name="TextBox 8">
            <a:extLst>
              <a:ext uri="{FF2B5EF4-FFF2-40B4-BE49-F238E27FC236}">
                <a16:creationId xmlns:a16="http://schemas.microsoft.com/office/drawing/2014/main" id="{9A0907E1-E467-18B7-5B65-C66CB3F45712}"/>
              </a:ext>
            </a:extLst>
          </p:cNvPr>
          <p:cNvSpPr txBox="1"/>
          <p:nvPr/>
        </p:nvSpPr>
        <p:spPr>
          <a:xfrm>
            <a:off x="57150" y="6168390"/>
            <a:ext cx="12201261" cy="646331"/>
          </a:xfrm>
          <a:prstGeom prst="rect">
            <a:avLst/>
          </a:prstGeom>
          <a:noFill/>
        </p:spPr>
        <p:txBody>
          <a:bodyPr wrap="square">
            <a:spAutoFit/>
          </a:bodyPr>
          <a:lstStyle/>
          <a:p>
            <a:r>
              <a:rPr lang="en-US" dirty="0"/>
              <a:t>Yvonne Jansen, et al.. 2015. Opportunities and Challenges for Data </a:t>
            </a:r>
            <a:r>
              <a:rPr lang="en-US" dirty="0" err="1"/>
              <a:t>Physicalization</a:t>
            </a:r>
            <a:r>
              <a:rPr lang="en-US" dirty="0"/>
              <a:t>. In Proceedings of the 33rd Annual ACM CHI '15. Association for Computing Machinery, New York, NY, USA, 3227–3236. https://</a:t>
            </a:r>
            <a:r>
              <a:rPr lang="en-US" dirty="0" err="1"/>
              <a:t>doi.org</a:t>
            </a:r>
            <a:r>
              <a:rPr lang="en-US" dirty="0"/>
              <a:t>/10.1145/2702123.2702180</a:t>
            </a:r>
            <a:endParaRPr lang="en-US" sz="825" dirty="0">
              <a:effectLst/>
              <a:latin typeface="Helvetica" pitchFamily="2" charset="0"/>
            </a:endParaRPr>
          </a:p>
        </p:txBody>
      </p:sp>
    </p:spTree>
    <p:extLst>
      <p:ext uri="{BB962C8B-B14F-4D97-AF65-F5344CB8AC3E}">
        <p14:creationId xmlns:p14="http://schemas.microsoft.com/office/powerpoint/2010/main" val="3164397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56DE4-E3BE-6D9E-A8BD-CE7775B977D2}"/>
              </a:ext>
            </a:extLst>
          </p:cNvPr>
          <p:cNvSpPr>
            <a:spLocks noGrp="1"/>
          </p:cNvSpPr>
          <p:nvPr>
            <p:ph type="title"/>
          </p:nvPr>
        </p:nvSpPr>
        <p:spPr/>
        <p:txBody>
          <a:bodyPr/>
          <a:lstStyle/>
          <a:p>
            <a:r>
              <a:rPr lang="en-US" dirty="0"/>
              <a:t>Accessible Visualization</a:t>
            </a:r>
          </a:p>
        </p:txBody>
      </p:sp>
      <p:sp>
        <p:nvSpPr>
          <p:cNvPr id="3" name="Text Placeholder 2">
            <a:extLst>
              <a:ext uri="{FF2B5EF4-FFF2-40B4-BE49-F238E27FC236}">
                <a16:creationId xmlns:a16="http://schemas.microsoft.com/office/drawing/2014/main" id="{ABFCBD17-2BD6-A624-CAC1-205BAD7B3F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9875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CA87-AFA9-230B-C48B-C837D0742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A30A4-2DE0-56C9-EDC4-CC5C050073E0}"/>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C395FBA3-D814-5F73-AA2D-5E8E2ECA8141}"/>
              </a:ext>
            </a:extLst>
          </p:cNvPr>
          <p:cNvSpPr>
            <a:spLocks noGrp="1"/>
          </p:cNvSpPr>
          <p:nvPr>
            <p:ph idx="1"/>
          </p:nvPr>
        </p:nvSpPr>
        <p:spPr>
          <a:xfrm>
            <a:off x="3486151" y="800100"/>
            <a:ext cx="8248649" cy="5368290"/>
          </a:xfrm>
        </p:spPr>
        <p:txBody>
          <a:bodyPr anchor="t">
            <a:normAutofit/>
          </a:bodyPr>
          <a:lstStyle/>
          <a:p>
            <a:r>
              <a:rPr lang="en-US" sz="2400" dirty="0"/>
              <a:t>Efforts to augment accessibility in data representations have been predominately directed towards individuals from blind or low-vision (BLV) communities</a:t>
            </a:r>
          </a:p>
          <a:p>
            <a:endParaRPr lang="en-US" sz="2400" dirty="0"/>
          </a:p>
          <a:p>
            <a:pPr marL="0" indent="0">
              <a:buNone/>
            </a:pPr>
            <a:endParaRPr lang="en-US" sz="2400" dirty="0"/>
          </a:p>
        </p:txBody>
      </p:sp>
      <p:sp>
        <p:nvSpPr>
          <p:cNvPr id="9" name="TextBox 8">
            <a:extLst>
              <a:ext uri="{FF2B5EF4-FFF2-40B4-BE49-F238E27FC236}">
                <a16:creationId xmlns:a16="http://schemas.microsoft.com/office/drawing/2014/main" id="{7D6DBE9D-19DD-0114-0C2D-3689A20C74D2}"/>
              </a:ext>
            </a:extLst>
          </p:cNvPr>
          <p:cNvSpPr txBox="1"/>
          <p:nvPr/>
        </p:nvSpPr>
        <p:spPr>
          <a:xfrm>
            <a:off x="0" y="6168390"/>
            <a:ext cx="12258411" cy="646331"/>
          </a:xfrm>
          <a:prstGeom prst="rect">
            <a:avLst/>
          </a:prstGeom>
          <a:noFill/>
        </p:spPr>
        <p:txBody>
          <a:bodyPr wrap="square">
            <a:spAutoFit/>
          </a:bodyPr>
          <a:lstStyle/>
          <a:p>
            <a:r>
              <a:rPr lang="en-US" dirty="0"/>
              <a:t>B. L. Wimer, et al., "Beyond Vision Impairments: Redefining the Scope of Accessible Data Representations," in </a:t>
            </a:r>
            <a:r>
              <a:rPr lang="en-US" i="1" dirty="0"/>
              <a:t>IEEE Transactions on Visualization and Computer Graphics</a:t>
            </a:r>
            <a:r>
              <a:rPr lang="en-US" dirty="0"/>
              <a:t>, vol. 30, no. 12, pp. 7619-7636, Dec. 2024, </a:t>
            </a:r>
            <a:r>
              <a:rPr lang="en-US" dirty="0" err="1"/>
              <a:t>doi</a:t>
            </a:r>
            <a:r>
              <a:rPr lang="en-US" dirty="0"/>
              <a:t>: 10.1109/TVCG.2024.3356566</a:t>
            </a:r>
            <a:endParaRPr lang="en-US" sz="825" dirty="0">
              <a:effectLst/>
              <a:latin typeface="Helvetica" pitchFamily="2" charset="0"/>
            </a:endParaRPr>
          </a:p>
        </p:txBody>
      </p:sp>
      <p:pic>
        <p:nvPicPr>
          <p:cNvPr id="4" name="Picture 3">
            <a:extLst>
              <a:ext uri="{FF2B5EF4-FFF2-40B4-BE49-F238E27FC236}">
                <a16:creationId xmlns:a16="http://schemas.microsoft.com/office/drawing/2014/main" id="{8859252B-FC0C-E20E-33CC-DC8A962CD116}"/>
              </a:ext>
            </a:extLst>
          </p:cNvPr>
          <p:cNvPicPr>
            <a:picLocks noChangeAspect="1"/>
          </p:cNvPicPr>
          <p:nvPr/>
        </p:nvPicPr>
        <p:blipFill>
          <a:blip r:embed="rId3"/>
          <a:srcRect t="1984" b="1"/>
          <a:stretch>
            <a:fillRect/>
          </a:stretch>
        </p:blipFill>
        <p:spPr>
          <a:xfrm>
            <a:off x="4838700" y="1973366"/>
            <a:ext cx="5276850" cy="4084534"/>
          </a:xfrm>
          <a:prstGeom prst="rect">
            <a:avLst/>
          </a:prstGeom>
        </p:spPr>
      </p:pic>
    </p:spTree>
    <p:extLst>
      <p:ext uri="{BB962C8B-B14F-4D97-AF65-F5344CB8AC3E}">
        <p14:creationId xmlns:p14="http://schemas.microsoft.com/office/powerpoint/2010/main" val="24251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4343F-5FC1-96ED-5033-64D6EA5C9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13FDE-B367-4531-BA86-42843077330E}"/>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C253A372-728B-D917-4BEF-F05FC2A2D027}"/>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BVL Accessibility</a:t>
            </a:r>
          </a:p>
          <a:p>
            <a:r>
              <a:rPr lang="en-US" sz="2400" dirty="0"/>
              <a:t>Design space</a:t>
            </a:r>
          </a:p>
          <a:p>
            <a:endParaRPr lang="en-US" sz="2400" dirty="0"/>
          </a:p>
          <a:p>
            <a:pPr lvl="1"/>
            <a:endParaRPr lang="en-US" sz="2200" dirty="0"/>
          </a:p>
          <a:p>
            <a:pPr lvl="1"/>
            <a:endParaRPr lang="en-US" sz="2200" dirty="0"/>
          </a:p>
          <a:p>
            <a:pPr lvl="1"/>
            <a:endParaRPr lang="en-US" sz="2200" dirty="0"/>
          </a:p>
          <a:p>
            <a:endParaRPr lang="en-US" sz="2400" dirty="0"/>
          </a:p>
          <a:p>
            <a:pPr marL="0" indent="0">
              <a:buNone/>
            </a:pPr>
            <a:endParaRPr lang="en-US" sz="2400" dirty="0"/>
          </a:p>
        </p:txBody>
      </p:sp>
      <p:pic>
        <p:nvPicPr>
          <p:cNvPr id="5" name="Picture 4">
            <a:extLst>
              <a:ext uri="{FF2B5EF4-FFF2-40B4-BE49-F238E27FC236}">
                <a16:creationId xmlns:a16="http://schemas.microsoft.com/office/drawing/2014/main" id="{6D8C1B38-F8DC-68B6-D37B-0AE73C9F67D9}"/>
              </a:ext>
            </a:extLst>
          </p:cNvPr>
          <p:cNvPicPr>
            <a:picLocks noChangeAspect="1"/>
          </p:cNvPicPr>
          <p:nvPr/>
        </p:nvPicPr>
        <p:blipFill>
          <a:blip r:embed="rId3"/>
          <a:stretch>
            <a:fillRect/>
          </a:stretch>
        </p:blipFill>
        <p:spPr>
          <a:xfrm>
            <a:off x="3584575" y="1656454"/>
            <a:ext cx="8354506" cy="5094211"/>
          </a:xfrm>
          <a:prstGeom prst="rect">
            <a:avLst/>
          </a:prstGeom>
        </p:spPr>
      </p:pic>
      <p:sp>
        <p:nvSpPr>
          <p:cNvPr id="9" name="TextBox 8">
            <a:extLst>
              <a:ext uri="{FF2B5EF4-FFF2-40B4-BE49-F238E27FC236}">
                <a16:creationId xmlns:a16="http://schemas.microsoft.com/office/drawing/2014/main" id="{9B3F3F7E-76FD-A3E4-4647-3E6633532746}"/>
              </a:ext>
            </a:extLst>
          </p:cNvPr>
          <p:cNvSpPr txBox="1"/>
          <p:nvPr/>
        </p:nvSpPr>
        <p:spPr>
          <a:xfrm>
            <a:off x="129094" y="5677013"/>
            <a:ext cx="5319206" cy="1200329"/>
          </a:xfrm>
          <a:prstGeom prst="rect">
            <a:avLst/>
          </a:prstGeom>
          <a:noFill/>
        </p:spPr>
        <p:txBody>
          <a:bodyPr wrap="square">
            <a:spAutoFit/>
          </a:bodyPr>
          <a:lstStyle/>
          <a:p>
            <a:r>
              <a:rPr lang="en-US" dirty="0"/>
              <a:t>Kim, N.W., Joyner, S.C., </a:t>
            </a:r>
            <a:r>
              <a:rPr lang="en-US" dirty="0" err="1"/>
              <a:t>Riegelhuth</a:t>
            </a:r>
            <a:r>
              <a:rPr lang="en-US" dirty="0"/>
              <a:t>, A. and Kim, Y. (2021), Accessible Visualization: Design Space, Opportunities, and Challenges. Computer Graphics Forum, 40: 173-188. </a:t>
            </a:r>
            <a:r>
              <a:rPr lang="en-US" dirty="0">
                <a:hlinkClick r:id="rId4"/>
              </a:rPr>
              <a:t>https://doi.org/10.1111/cgf.14298</a:t>
            </a:r>
            <a:endParaRPr lang="en-US" sz="825" dirty="0">
              <a:effectLst/>
              <a:latin typeface="Helvetica" pitchFamily="2" charset="0"/>
            </a:endParaRPr>
          </a:p>
        </p:txBody>
      </p:sp>
    </p:spTree>
    <p:extLst>
      <p:ext uri="{BB962C8B-B14F-4D97-AF65-F5344CB8AC3E}">
        <p14:creationId xmlns:p14="http://schemas.microsoft.com/office/powerpoint/2010/main" val="2731171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4C3C-3700-2CD7-5B8A-3ED0316AA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06A57-3B7E-EAE0-E5C9-ECE9ECF840AA}"/>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11813D37-801F-60CB-C45C-BFF430CAC537}"/>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BVL Accessibility</a:t>
            </a:r>
          </a:p>
          <a:p>
            <a:r>
              <a:rPr lang="en-US" sz="2400" dirty="0"/>
              <a:t>Convert visual encoding into auditory or tactile encoding </a:t>
            </a:r>
          </a:p>
          <a:p>
            <a:pPr marL="502920" lvl="1" indent="0">
              <a:buNone/>
            </a:pPr>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pPr lvl="1"/>
            <a:endParaRPr lang="en-US" sz="2200" dirty="0"/>
          </a:p>
          <a:p>
            <a:endParaRPr lang="en-US" sz="2400" dirty="0"/>
          </a:p>
          <a:p>
            <a:pPr lvl="1"/>
            <a:endParaRPr lang="en-US" sz="2200" dirty="0"/>
          </a:p>
          <a:p>
            <a:pPr lvl="1"/>
            <a:endParaRPr lang="en-US" sz="2200" dirty="0"/>
          </a:p>
          <a:p>
            <a:pPr lvl="1"/>
            <a:endParaRPr lang="en-US" sz="2200" dirty="0"/>
          </a:p>
          <a:p>
            <a:endParaRPr lang="en-US" sz="2400" dirty="0"/>
          </a:p>
          <a:p>
            <a:pPr marL="0" indent="0">
              <a:buNone/>
            </a:pPr>
            <a:endParaRPr lang="en-US" sz="2400" dirty="0"/>
          </a:p>
        </p:txBody>
      </p:sp>
      <p:pic>
        <p:nvPicPr>
          <p:cNvPr id="4" name="Picture 3" descr="3-D Tactile Maps – Perkins School for the Blind">
            <a:extLst>
              <a:ext uri="{FF2B5EF4-FFF2-40B4-BE49-F238E27FC236}">
                <a16:creationId xmlns:a16="http://schemas.microsoft.com/office/drawing/2014/main" id="{6DD4864C-8E6F-4898-271D-684C67A40E65}"/>
              </a:ext>
            </a:extLst>
          </p:cNvPr>
          <p:cNvPicPr>
            <a:picLocks noChangeAspect="1"/>
          </p:cNvPicPr>
          <p:nvPr/>
        </p:nvPicPr>
        <p:blipFill>
          <a:blip r:embed="rId3"/>
          <a:stretch>
            <a:fillRect/>
          </a:stretch>
        </p:blipFill>
        <p:spPr>
          <a:xfrm>
            <a:off x="3607156" y="1829314"/>
            <a:ext cx="3205360" cy="2404020"/>
          </a:xfrm>
          <a:prstGeom prst="rect">
            <a:avLst/>
          </a:prstGeom>
        </p:spPr>
      </p:pic>
      <p:pic>
        <p:nvPicPr>
          <p:cNvPr id="5" name="Picture 4" descr="knitted model of digestive system">
            <a:extLst>
              <a:ext uri="{FF2B5EF4-FFF2-40B4-BE49-F238E27FC236}">
                <a16:creationId xmlns:a16="http://schemas.microsoft.com/office/drawing/2014/main" id="{26F9ED6E-A532-A168-FA57-4A48D3501383}"/>
              </a:ext>
            </a:extLst>
          </p:cNvPr>
          <p:cNvPicPr>
            <a:picLocks noChangeAspect="1"/>
          </p:cNvPicPr>
          <p:nvPr/>
        </p:nvPicPr>
        <p:blipFill>
          <a:blip r:embed="rId4"/>
          <a:stretch>
            <a:fillRect/>
          </a:stretch>
        </p:blipFill>
        <p:spPr>
          <a:xfrm>
            <a:off x="9174990" y="1808268"/>
            <a:ext cx="2235959" cy="4360122"/>
          </a:xfrm>
          <a:prstGeom prst="rect">
            <a:avLst/>
          </a:prstGeom>
        </p:spPr>
      </p:pic>
      <p:pic>
        <p:nvPicPr>
          <p:cNvPr id="6" name="Picture 5" descr="Cardiac cycle tactile model">
            <a:extLst>
              <a:ext uri="{FF2B5EF4-FFF2-40B4-BE49-F238E27FC236}">
                <a16:creationId xmlns:a16="http://schemas.microsoft.com/office/drawing/2014/main" id="{2A2BC6BE-38B6-A801-65E5-D70893E1A600}"/>
              </a:ext>
            </a:extLst>
          </p:cNvPr>
          <p:cNvPicPr>
            <a:picLocks noChangeAspect="1"/>
          </p:cNvPicPr>
          <p:nvPr/>
        </p:nvPicPr>
        <p:blipFill>
          <a:blip r:embed="rId5"/>
          <a:stretch>
            <a:fillRect/>
          </a:stretch>
        </p:blipFill>
        <p:spPr>
          <a:xfrm>
            <a:off x="5874461" y="3712021"/>
            <a:ext cx="3205360" cy="2408762"/>
          </a:xfrm>
          <a:prstGeom prst="rect">
            <a:avLst/>
          </a:prstGeom>
        </p:spPr>
      </p:pic>
      <p:sp>
        <p:nvSpPr>
          <p:cNvPr id="10" name="TextBox 9">
            <a:extLst>
              <a:ext uri="{FF2B5EF4-FFF2-40B4-BE49-F238E27FC236}">
                <a16:creationId xmlns:a16="http://schemas.microsoft.com/office/drawing/2014/main" id="{357B6307-4D22-411C-785A-5330F0F82DA3}"/>
              </a:ext>
            </a:extLst>
          </p:cNvPr>
          <p:cNvSpPr txBox="1"/>
          <p:nvPr/>
        </p:nvSpPr>
        <p:spPr>
          <a:xfrm>
            <a:off x="2901569" y="6323216"/>
            <a:ext cx="7391400" cy="369332"/>
          </a:xfrm>
          <a:prstGeom prst="rect">
            <a:avLst/>
          </a:prstGeom>
          <a:noFill/>
        </p:spPr>
        <p:txBody>
          <a:bodyPr wrap="square">
            <a:spAutoFit/>
          </a:bodyPr>
          <a:lstStyle/>
          <a:p>
            <a:r>
              <a:rPr lang="en-US" dirty="0">
                <a:hlinkClick r:id="rId6"/>
              </a:rPr>
              <a:t>https://www.perkins.org/resource/tactile-models-tactile-graphics/</a:t>
            </a:r>
            <a:r>
              <a:rPr lang="en-US" dirty="0"/>
              <a:t> </a:t>
            </a:r>
          </a:p>
        </p:txBody>
      </p:sp>
    </p:spTree>
    <p:extLst>
      <p:ext uri="{BB962C8B-B14F-4D97-AF65-F5344CB8AC3E}">
        <p14:creationId xmlns:p14="http://schemas.microsoft.com/office/powerpoint/2010/main" val="3844907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BC4C-5251-F2B3-33D0-A205A32ED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8B75A-67D5-7179-AC6F-15550CD7661C}"/>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B56DA494-9007-1DC6-688A-0B20E0FF27D3}"/>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BVL Accessibility</a:t>
            </a:r>
          </a:p>
          <a:p>
            <a:r>
              <a:rPr lang="en-US" sz="2400" dirty="0"/>
              <a:t>Enhance visualization compatibility with screen readers </a:t>
            </a:r>
          </a:p>
          <a:p>
            <a:pPr lvl="1"/>
            <a:r>
              <a:rPr lang="en-US" sz="2200" dirty="0"/>
              <a:t>Ex. Chart Reader </a:t>
            </a:r>
          </a:p>
          <a:p>
            <a:pPr lvl="1"/>
            <a:endParaRPr lang="en-US" sz="2200" dirty="0"/>
          </a:p>
          <a:p>
            <a:pPr lvl="1"/>
            <a:endParaRPr lang="en-US" sz="2200" dirty="0"/>
          </a:p>
          <a:p>
            <a:pPr lvl="1"/>
            <a:endParaRPr lang="en-US" sz="2200" dirty="0"/>
          </a:p>
          <a:p>
            <a:endParaRPr lang="en-US" sz="2400" dirty="0"/>
          </a:p>
          <a:p>
            <a:pPr marL="0" indent="0">
              <a:buNone/>
            </a:pPr>
            <a:endParaRPr lang="en-US" sz="2400" dirty="0"/>
          </a:p>
        </p:txBody>
      </p:sp>
      <p:sp>
        <p:nvSpPr>
          <p:cNvPr id="9" name="TextBox 8">
            <a:extLst>
              <a:ext uri="{FF2B5EF4-FFF2-40B4-BE49-F238E27FC236}">
                <a16:creationId xmlns:a16="http://schemas.microsoft.com/office/drawing/2014/main" id="{493AF094-0DBC-3473-996A-DEE5A07DA233}"/>
              </a:ext>
            </a:extLst>
          </p:cNvPr>
          <p:cNvSpPr txBox="1"/>
          <p:nvPr/>
        </p:nvSpPr>
        <p:spPr>
          <a:xfrm>
            <a:off x="134388" y="5973235"/>
            <a:ext cx="11939081" cy="923330"/>
          </a:xfrm>
          <a:prstGeom prst="rect">
            <a:avLst/>
          </a:prstGeom>
          <a:noFill/>
        </p:spPr>
        <p:txBody>
          <a:bodyPr wrap="square">
            <a:spAutoFit/>
          </a:bodyPr>
          <a:lstStyle/>
          <a:p>
            <a:r>
              <a:rPr lang="en-US" dirty="0"/>
              <a:t>John R Thompson, et al.. 2023. Chart Reader: Accessible Visualization Experiences Designed with Screen Reader Users. In Proceedings of the 2023 CHI Conference on Human Factors in Computing Systems (CHI '23). Association for Computing Machinery, New York, NY, USA, Article 802, 1–18. https://</a:t>
            </a:r>
            <a:r>
              <a:rPr lang="en-US" dirty="0" err="1"/>
              <a:t>doi.org</a:t>
            </a:r>
            <a:r>
              <a:rPr lang="en-US" dirty="0"/>
              <a:t>/10.1145/3544548.3581186</a:t>
            </a:r>
            <a:endParaRPr lang="en-US" sz="825" dirty="0">
              <a:effectLst/>
              <a:latin typeface="Helvetica" pitchFamily="2" charset="0"/>
            </a:endParaRPr>
          </a:p>
        </p:txBody>
      </p:sp>
      <p:pic>
        <p:nvPicPr>
          <p:cNvPr id="8" name="Picture 7">
            <a:extLst>
              <a:ext uri="{FF2B5EF4-FFF2-40B4-BE49-F238E27FC236}">
                <a16:creationId xmlns:a16="http://schemas.microsoft.com/office/drawing/2014/main" id="{D350FD8B-37B3-16B7-81FD-6EC423B7EB46}"/>
              </a:ext>
            </a:extLst>
          </p:cNvPr>
          <p:cNvPicPr>
            <a:picLocks noChangeAspect="1"/>
          </p:cNvPicPr>
          <p:nvPr/>
        </p:nvPicPr>
        <p:blipFill>
          <a:blip r:embed="rId3"/>
          <a:stretch>
            <a:fillRect/>
          </a:stretch>
        </p:blipFill>
        <p:spPr>
          <a:xfrm>
            <a:off x="3996267" y="1962188"/>
            <a:ext cx="6908799" cy="3881167"/>
          </a:xfrm>
          <a:prstGeom prst="rect">
            <a:avLst/>
          </a:prstGeom>
        </p:spPr>
      </p:pic>
    </p:spTree>
    <p:extLst>
      <p:ext uri="{BB962C8B-B14F-4D97-AF65-F5344CB8AC3E}">
        <p14:creationId xmlns:p14="http://schemas.microsoft.com/office/powerpoint/2010/main" val="2917323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288B-1B3D-4DD4-CCEC-0D5839096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89AC7-C0F4-BD22-BE12-19EFC694D59D}"/>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A9AE4A46-0E67-7AE3-0ED9-2D5DD93A20A7}"/>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Motor Disability Accessibility</a:t>
            </a:r>
          </a:p>
          <a:p>
            <a:r>
              <a:rPr lang="en-US" sz="2400" dirty="0"/>
              <a:t>Gaze-based input</a:t>
            </a:r>
          </a:p>
        </p:txBody>
      </p:sp>
      <p:sp>
        <p:nvSpPr>
          <p:cNvPr id="9" name="TextBox 8">
            <a:extLst>
              <a:ext uri="{FF2B5EF4-FFF2-40B4-BE49-F238E27FC236}">
                <a16:creationId xmlns:a16="http://schemas.microsoft.com/office/drawing/2014/main" id="{00D54992-DDE1-2342-FDE5-6F554437E82F}"/>
              </a:ext>
            </a:extLst>
          </p:cNvPr>
          <p:cNvSpPr txBox="1"/>
          <p:nvPr/>
        </p:nvSpPr>
        <p:spPr>
          <a:xfrm>
            <a:off x="0" y="6168390"/>
            <a:ext cx="12258411" cy="646331"/>
          </a:xfrm>
          <a:prstGeom prst="rect">
            <a:avLst/>
          </a:prstGeom>
          <a:noFill/>
        </p:spPr>
        <p:txBody>
          <a:bodyPr wrap="square">
            <a:spAutoFit/>
          </a:bodyPr>
          <a:lstStyle/>
          <a:p>
            <a:r>
              <a:rPr lang="en-US" dirty="0"/>
              <a:t>Y. Xie, et al., “</a:t>
            </a:r>
            <a:r>
              <a:rPr lang="en-US" dirty="0" err="1"/>
              <a:t>GazeMetro</a:t>
            </a:r>
            <a:r>
              <a:rPr lang="en-US" dirty="0"/>
              <a:t>: A gaze-based interactive system for metro map,” in Proc. 23rd Int. ACM SIGACCESS Conf. </a:t>
            </a:r>
            <a:r>
              <a:rPr lang="en-US" dirty="0" err="1"/>
              <a:t>Comput</a:t>
            </a:r>
            <a:r>
              <a:rPr lang="en-US" dirty="0"/>
              <a:t>. Accessibility, New York, NY, USA: Association for Computing Machinery, 2021, </a:t>
            </a:r>
            <a:r>
              <a:rPr lang="en-US" dirty="0" err="1"/>
              <a:t>doi</a:t>
            </a:r>
            <a:r>
              <a:rPr lang="en-US" dirty="0"/>
              <a:t>: 10.1145/3441852.3476569.</a:t>
            </a:r>
            <a:endParaRPr lang="en-US" sz="825" dirty="0">
              <a:effectLst/>
              <a:latin typeface="Helvetica" pitchFamily="2" charset="0"/>
            </a:endParaRPr>
          </a:p>
        </p:txBody>
      </p:sp>
      <p:pic>
        <p:nvPicPr>
          <p:cNvPr id="4" name="Picture 3">
            <a:extLst>
              <a:ext uri="{FF2B5EF4-FFF2-40B4-BE49-F238E27FC236}">
                <a16:creationId xmlns:a16="http://schemas.microsoft.com/office/drawing/2014/main" id="{8641A35A-83A4-8919-9533-AD71C752995A}"/>
              </a:ext>
            </a:extLst>
          </p:cNvPr>
          <p:cNvPicPr>
            <a:picLocks noChangeAspect="1"/>
          </p:cNvPicPr>
          <p:nvPr/>
        </p:nvPicPr>
        <p:blipFill>
          <a:blip r:embed="rId3"/>
          <a:stretch>
            <a:fillRect/>
          </a:stretch>
        </p:blipFill>
        <p:spPr>
          <a:xfrm>
            <a:off x="4032250" y="1822727"/>
            <a:ext cx="6597650" cy="4235173"/>
          </a:xfrm>
          <a:prstGeom prst="rect">
            <a:avLst/>
          </a:prstGeom>
        </p:spPr>
      </p:pic>
    </p:spTree>
    <p:extLst>
      <p:ext uri="{BB962C8B-B14F-4D97-AF65-F5344CB8AC3E}">
        <p14:creationId xmlns:p14="http://schemas.microsoft.com/office/powerpoint/2010/main" val="406256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D8F2C-993C-FDCC-B3FB-DEA8FAB38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F28B8-30AA-D150-EC9D-6CB234FDDAD0}"/>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2247FA5A-A1CE-E5D1-59FD-8A5AD74ED793}"/>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Motor Disability Accessibility</a:t>
            </a:r>
          </a:p>
          <a:p>
            <a:r>
              <a:rPr lang="en-US" sz="2400" dirty="0"/>
              <a:t>Voice-activated conversational user interfaces </a:t>
            </a:r>
          </a:p>
          <a:p>
            <a:pPr marL="0" indent="0">
              <a:buNone/>
            </a:pPr>
            <a:endParaRPr lang="en-US" sz="2400" dirty="0"/>
          </a:p>
        </p:txBody>
      </p:sp>
      <p:sp>
        <p:nvSpPr>
          <p:cNvPr id="9" name="TextBox 8">
            <a:extLst>
              <a:ext uri="{FF2B5EF4-FFF2-40B4-BE49-F238E27FC236}">
                <a16:creationId xmlns:a16="http://schemas.microsoft.com/office/drawing/2014/main" id="{FF5D5101-3148-3570-9E88-42E79440F7B7}"/>
              </a:ext>
            </a:extLst>
          </p:cNvPr>
          <p:cNvSpPr txBox="1"/>
          <p:nvPr/>
        </p:nvSpPr>
        <p:spPr>
          <a:xfrm>
            <a:off x="3486151" y="5151548"/>
            <a:ext cx="8410311" cy="1881284"/>
          </a:xfrm>
          <a:prstGeom prst="rect">
            <a:avLst/>
          </a:prstGeom>
          <a:noFill/>
        </p:spPr>
        <p:txBody>
          <a:bodyPr wrap="square">
            <a:spAutoFit/>
          </a:bodyPr>
          <a:lstStyle/>
          <a:p>
            <a:r>
              <a:rPr lang="en-US" dirty="0"/>
              <a:t>Yichen </a:t>
            </a:r>
            <a:r>
              <a:rPr lang="en-US" dirty="0" err="1"/>
              <a:t>Han,et</a:t>
            </a:r>
            <a:r>
              <a:rPr lang="en-US" dirty="0"/>
              <a:t> al. 2022. Towards Visualization of Time–Series Ecological Momentary Assessment (EMA) Data on Standalone Voice–First Virtual Assistants. In Proceedings of the 24th International ACM SIGACCESS Conference on Computers and Accessibility (ASSETS '22). Association for Computing Machinery, New York, NY, USA, Article 60, 1–4. https://</a:t>
            </a:r>
            <a:r>
              <a:rPr lang="en-US" dirty="0" err="1"/>
              <a:t>doi.org</a:t>
            </a:r>
            <a:r>
              <a:rPr lang="en-US" dirty="0"/>
              <a:t>/10.1145/3517428.3550398</a:t>
            </a:r>
          </a:p>
          <a:p>
            <a:br>
              <a:rPr lang="en-US" dirty="0"/>
            </a:br>
            <a:endParaRPr lang="en-US" sz="825" dirty="0">
              <a:effectLst/>
              <a:latin typeface="Helvetica" pitchFamily="2" charset="0"/>
            </a:endParaRPr>
          </a:p>
        </p:txBody>
      </p:sp>
      <p:pic>
        <p:nvPicPr>
          <p:cNvPr id="4" name="Picture 3">
            <a:extLst>
              <a:ext uri="{FF2B5EF4-FFF2-40B4-BE49-F238E27FC236}">
                <a16:creationId xmlns:a16="http://schemas.microsoft.com/office/drawing/2014/main" id="{21C8A51F-AC14-D463-2B2D-50B3FCF8FC92}"/>
              </a:ext>
            </a:extLst>
          </p:cNvPr>
          <p:cNvPicPr>
            <a:picLocks noChangeAspect="1"/>
          </p:cNvPicPr>
          <p:nvPr/>
        </p:nvPicPr>
        <p:blipFill>
          <a:blip r:embed="rId3"/>
          <a:stretch>
            <a:fillRect/>
          </a:stretch>
        </p:blipFill>
        <p:spPr>
          <a:xfrm>
            <a:off x="3200401" y="2148085"/>
            <a:ext cx="9058010" cy="2522206"/>
          </a:xfrm>
          <a:prstGeom prst="rect">
            <a:avLst/>
          </a:prstGeom>
        </p:spPr>
      </p:pic>
    </p:spTree>
    <p:extLst>
      <p:ext uri="{BB962C8B-B14F-4D97-AF65-F5344CB8AC3E}">
        <p14:creationId xmlns:p14="http://schemas.microsoft.com/office/powerpoint/2010/main" val="4029888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72B8E-1E81-95AE-9605-B11AE81C8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41494-1181-9516-FD81-0AA19C651EFC}"/>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C3EA718A-C583-E444-F62F-83E06A5DA45F}"/>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Neurodiverse Accessibility </a:t>
            </a:r>
          </a:p>
          <a:p>
            <a:r>
              <a:rPr lang="en-US" sz="2400" dirty="0"/>
              <a:t>Very little research on ADHD accessibility in visualization</a:t>
            </a:r>
          </a:p>
          <a:p>
            <a:pPr lvl="1"/>
            <a:r>
              <a:rPr lang="en-US" sz="2200" dirty="0"/>
              <a:t>So far, no solid design guidelines</a:t>
            </a:r>
          </a:p>
          <a:p>
            <a:pPr lvl="1"/>
            <a:endParaRPr lang="en-US" sz="2200" dirty="0"/>
          </a:p>
          <a:p>
            <a:pPr marL="0" indent="0">
              <a:buNone/>
            </a:pPr>
            <a:endParaRPr lang="en-US" sz="2400" dirty="0"/>
          </a:p>
        </p:txBody>
      </p:sp>
      <p:sp>
        <p:nvSpPr>
          <p:cNvPr id="9" name="TextBox 8">
            <a:extLst>
              <a:ext uri="{FF2B5EF4-FFF2-40B4-BE49-F238E27FC236}">
                <a16:creationId xmlns:a16="http://schemas.microsoft.com/office/drawing/2014/main" id="{2072BCA9-F92E-3DE1-FEC4-FF19EA0E6A57}"/>
              </a:ext>
            </a:extLst>
          </p:cNvPr>
          <p:cNvSpPr txBox="1"/>
          <p:nvPr/>
        </p:nvSpPr>
        <p:spPr>
          <a:xfrm>
            <a:off x="3486151" y="5725020"/>
            <a:ext cx="8772260" cy="923330"/>
          </a:xfrm>
          <a:prstGeom prst="rect">
            <a:avLst/>
          </a:prstGeom>
          <a:noFill/>
        </p:spPr>
        <p:txBody>
          <a:bodyPr wrap="square">
            <a:spAutoFit/>
          </a:bodyPr>
          <a:lstStyle/>
          <a:p>
            <a:r>
              <a:rPr lang="en-US" dirty="0"/>
              <a:t>B. L. Wimer, et al., "Beyond Vision Impairments: Redefining the Scope of Accessible Data Representations," in </a:t>
            </a:r>
            <a:r>
              <a:rPr lang="en-US" i="1" dirty="0"/>
              <a:t>IEEE Transactions on Visualization and Computer Graphics</a:t>
            </a:r>
            <a:r>
              <a:rPr lang="en-US" dirty="0"/>
              <a:t>, vol. 30, no. 12, pp. 7619-7636, Dec. 2024, </a:t>
            </a:r>
            <a:r>
              <a:rPr lang="en-US" dirty="0" err="1"/>
              <a:t>doi</a:t>
            </a:r>
            <a:r>
              <a:rPr lang="en-US" dirty="0"/>
              <a:t>: 10.1109/TVCG.2024.3356566</a:t>
            </a:r>
            <a:endParaRPr lang="en-US" sz="825" dirty="0">
              <a:effectLst/>
              <a:latin typeface="Helvetica" pitchFamily="2" charset="0"/>
            </a:endParaRPr>
          </a:p>
        </p:txBody>
      </p:sp>
    </p:spTree>
    <p:extLst>
      <p:ext uri="{BB962C8B-B14F-4D97-AF65-F5344CB8AC3E}">
        <p14:creationId xmlns:p14="http://schemas.microsoft.com/office/powerpoint/2010/main" val="123568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AF50-44D4-15E3-8468-46AF10936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58ED3-DDFA-E926-3A20-307C7F279C0E}"/>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FB1A3413-A40D-5746-14A9-E4DEE6917FE6}"/>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Neurodiverse Accessibility </a:t>
            </a:r>
          </a:p>
          <a:p>
            <a:r>
              <a:rPr lang="en-US" sz="2400" dirty="0"/>
              <a:t>Little, but some research on accessibility to autistic users</a:t>
            </a:r>
          </a:p>
          <a:p>
            <a:pPr lvl="1"/>
            <a:endParaRPr lang="en-US" sz="2200" dirty="0"/>
          </a:p>
          <a:p>
            <a:pPr marL="0" indent="0">
              <a:buNone/>
            </a:pPr>
            <a:endParaRPr lang="en-US" sz="2400" dirty="0"/>
          </a:p>
        </p:txBody>
      </p:sp>
      <p:sp>
        <p:nvSpPr>
          <p:cNvPr id="9" name="TextBox 8">
            <a:extLst>
              <a:ext uri="{FF2B5EF4-FFF2-40B4-BE49-F238E27FC236}">
                <a16:creationId xmlns:a16="http://schemas.microsoft.com/office/drawing/2014/main" id="{416FFBBA-1D1D-CD52-6EFA-11F6AABADC64}"/>
              </a:ext>
            </a:extLst>
          </p:cNvPr>
          <p:cNvSpPr txBox="1"/>
          <p:nvPr/>
        </p:nvSpPr>
        <p:spPr>
          <a:xfrm>
            <a:off x="252919" y="6168390"/>
            <a:ext cx="12005492" cy="646331"/>
          </a:xfrm>
          <a:prstGeom prst="rect">
            <a:avLst/>
          </a:prstGeom>
          <a:noFill/>
        </p:spPr>
        <p:txBody>
          <a:bodyPr wrap="square">
            <a:spAutoFit/>
          </a:bodyPr>
          <a:lstStyle/>
          <a:p>
            <a:r>
              <a:rPr lang="en-US" dirty="0"/>
              <a:t>M. Alzahrani, et al., "Exploring Data </a:t>
            </a:r>
            <a:r>
              <a:rPr lang="en-US" dirty="0" err="1"/>
              <a:t>Visualisation</a:t>
            </a:r>
            <a:r>
              <a:rPr lang="en-US" dirty="0"/>
              <a:t> Barriers and Needs of Autistic Adults," </a:t>
            </a:r>
            <a:r>
              <a:rPr lang="en-US" i="1" dirty="0"/>
              <a:t>2025 IEEE Workshop on Accessible Data Visualization (</a:t>
            </a:r>
            <a:r>
              <a:rPr lang="en-US" i="1" dirty="0" err="1"/>
              <a:t>AccessViz</a:t>
            </a:r>
            <a:r>
              <a:rPr lang="en-US" i="1" dirty="0"/>
              <a:t>)</a:t>
            </a:r>
            <a:r>
              <a:rPr lang="en-US" dirty="0"/>
              <a:t>, Vienna, Austria, 2025, pp. 10-13, </a:t>
            </a:r>
            <a:r>
              <a:rPr lang="en-US" dirty="0" err="1"/>
              <a:t>doi</a:t>
            </a:r>
            <a:r>
              <a:rPr lang="en-US" dirty="0"/>
              <a:t>: 10.1109/AccessViz68666.2025.00007</a:t>
            </a:r>
            <a:endParaRPr lang="en-US" sz="825" dirty="0">
              <a:effectLst/>
              <a:latin typeface="Helvetica" pitchFamily="2" charset="0"/>
            </a:endParaRPr>
          </a:p>
        </p:txBody>
      </p:sp>
      <p:pic>
        <p:nvPicPr>
          <p:cNvPr id="4" name="Picture 3">
            <a:extLst>
              <a:ext uri="{FF2B5EF4-FFF2-40B4-BE49-F238E27FC236}">
                <a16:creationId xmlns:a16="http://schemas.microsoft.com/office/drawing/2014/main" id="{182DEA2D-4FD0-5567-561E-B66661BC5341}"/>
              </a:ext>
            </a:extLst>
          </p:cNvPr>
          <p:cNvPicPr>
            <a:picLocks noChangeAspect="1"/>
          </p:cNvPicPr>
          <p:nvPr/>
        </p:nvPicPr>
        <p:blipFill>
          <a:blip r:embed="rId3"/>
          <a:stretch>
            <a:fillRect/>
          </a:stretch>
        </p:blipFill>
        <p:spPr>
          <a:xfrm>
            <a:off x="2771514" y="1828912"/>
            <a:ext cx="9420486" cy="4076701"/>
          </a:xfrm>
          <a:prstGeom prst="rect">
            <a:avLst/>
          </a:prstGeom>
        </p:spPr>
      </p:pic>
    </p:spTree>
    <p:extLst>
      <p:ext uri="{BB962C8B-B14F-4D97-AF65-F5344CB8AC3E}">
        <p14:creationId xmlns:p14="http://schemas.microsoft.com/office/powerpoint/2010/main" val="169711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8117-8B22-C78C-546D-DDB1F8C52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310AF-64AF-2192-E2A1-13C83D345C42}"/>
              </a:ext>
            </a:extLst>
          </p:cNvPr>
          <p:cNvSpPr>
            <a:spLocks noGrp="1"/>
          </p:cNvSpPr>
          <p:nvPr>
            <p:ph type="title"/>
          </p:nvPr>
        </p:nvSpPr>
        <p:spPr/>
        <p:txBody>
          <a:bodyPr/>
          <a:lstStyle/>
          <a:p>
            <a:r>
              <a:rPr lang="en-US" dirty="0"/>
              <a:t>Accessible  Visualization</a:t>
            </a:r>
          </a:p>
        </p:txBody>
      </p:sp>
      <p:sp>
        <p:nvSpPr>
          <p:cNvPr id="7" name="Content Placeholder 6">
            <a:extLst>
              <a:ext uri="{FF2B5EF4-FFF2-40B4-BE49-F238E27FC236}">
                <a16:creationId xmlns:a16="http://schemas.microsoft.com/office/drawing/2014/main" id="{41D3BDA0-342C-6ABC-ABD9-7AF9C237AFBB}"/>
              </a:ext>
            </a:extLst>
          </p:cNvPr>
          <p:cNvSpPr>
            <a:spLocks noGrp="1"/>
          </p:cNvSpPr>
          <p:nvPr>
            <p:ph idx="1"/>
          </p:nvPr>
        </p:nvSpPr>
        <p:spPr>
          <a:xfrm>
            <a:off x="3486151" y="800100"/>
            <a:ext cx="8248649" cy="5368290"/>
          </a:xfrm>
        </p:spPr>
        <p:txBody>
          <a:bodyPr anchor="t">
            <a:normAutofit/>
          </a:bodyPr>
          <a:lstStyle/>
          <a:p>
            <a:pPr marL="0" indent="0">
              <a:buNone/>
            </a:pPr>
            <a:r>
              <a:rPr lang="en-US" sz="2400" b="1" dirty="0"/>
              <a:t>IDD Accessibility </a:t>
            </a:r>
          </a:p>
          <a:p>
            <a:r>
              <a:rPr lang="en-US" sz="2400" dirty="0"/>
              <a:t>Avoid pie charts, use familiar metaphors, manage visual complexity, use discrete encodings for axis-aligned representations</a:t>
            </a:r>
          </a:p>
        </p:txBody>
      </p:sp>
      <p:sp>
        <p:nvSpPr>
          <p:cNvPr id="9" name="TextBox 8">
            <a:extLst>
              <a:ext uri="{FF2B5EF4-FFF2-40B4-BE49-F238E27FC236}">
                <a16:creationId xmlns:a16="http://schemas.microsoft.com/office/drawing/2014/main" id="{B25712EE-3B5C-797D-5A39-8A6E9D292A20}"/>
              </a:ext>
            </a:extLst>
          </p:cNvPr>
          <p:cNvSpPr txBox="1"/>
          <p:nvPr/>
        </p:nvSpPr>
        <p:spPr>
          <a:xfrm>
            <a:off x="3486151" y="5725020"/>
            <a:ext cx="8739054" cy="1200329"/>
          </a:xfrm>
          <a:prstGeom prst="rect">
            <a:avLst/>
          </a:prstGeom>
          <a:noFill/>
        </p:spPr>
        <p:txBody>
          <a:bodyPr wrap="square">
            <a:spAutoFit/>
          </a:bodyPr>
          <a:lstStyle/>
          <a:p>
            <a:r>
              <a:rPr lang="en-US" dirty="0"/>
              <a:t>K. Wu, et al.. Understanding Data Accessibility for People with Intellectual and Developmental Disabilities. In Proceedings of the 2021 CHI Conference on Human Factors in Computing Systems, pp. 1–16. ACM, Yokohama Japan, May 2021. </a:t>
            </a:r>
            <a:r>
              <a:rPr lang="en-US" dirty="0" err="1"/>
              <a:t>doi</a:t>
            </a:r>
            <a:r>
              <a:rPr lang="en-US" dirty="0"/>
              <a:t>: 10.1145/3411764.3445743 1</a:t>
            </a:r>
          </a:p>
        </p:txBody>
      </p:sp>
      <p:pic>
        <p:nvPicPr>
          <p:cNvPr id="4" name="Picture 3">
            <a:extLst>
              <a:ext uri="{FF2B5EF4-FFF2-40B4-BE49-F238E27FC236}">
                <a16:creationId xmlns:a16="http://schemas.microsoft.com/office/drawing/2014/main" id="{B1D159D2-735B-477D-F40C-E527CB93287B}"/>
              </a:ext>
            </a:extLst>
          </p:cNvPr>
          <p:cNvPicPr>
            <a:picLocks noChangeAspect="1"/>
          </p:cNvPicPr>
          <p:nvPr/>
        </p:nvPicPr>
        <p:blipFill>
          <a:blip r:embed="rId3"/>
          <a:srcRect b="21791"/>
          <a:stretch>
            <a:fillRect/>
          </a:stretch>
        </p:blipFill>
        <p:spPr>
          <a:xfrm>
            <a:off x="2883525" y="2650819"/>
            <a:ext cx="9453900" cy="2597367"/>
          </a:xfrm>
          <a:prstGeom prst="rect">
            <a:avLst/>
          </a:prstGeom>
        </p:spPr>
      </p:pic>
    </p:spTree>
    <p:extLst>
      <p:ext uri="{BB962C8B-B14F-4D97-AF65-F5344CB8AC3E}">
        <p14:creationId xmlns:p14="http://schemas.microsoft.com/office/powerpoint/2010/main" val="255306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9455D-2589-228E-7851-B89D49FAA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514DD-5E0F-56AC-C22E-5E3D31912BC9}"/>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6EBBFDA2-85DF-E5B6-F52A-0093F4A1546E}"/>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a:p>
            <a:r>
              <a:rPr lang="en-US" dirty="0"/>
              <a:t>An accessibility evaluation system specific to data visualizations and interfaces which aims to help practitioners answer the question, “how accessible is my data visualization?”</a:t>
            </a:r>
          </a:p>
          <a:p>
            <a:r>
              <a:rPr lang="en-US" dirty="0"/>
              <a:t>Organizes knowledge from disparate bodies of work into testable heuristics based on the functional accessibility principles POUR (Perceivable, Operable, Understandable, and Robust) and 3 novel principles CAF (Compromising, Assistive, and Flexible)</a:t>
            </a:r>
            <a:endParaRPr lang="en-US" sz="2400" dirty="0"/>
          </a:p>
        </p:txBody>
      </p:sp>
      <p:sp>
        <p:nvSpPr>
          <p:cNvPr id="5" name="TextBox 4">
            <a:extLst>
              <a:ext uri="{FF2B5EF4-FFF2-40B4-BE49-F238E27FC236}">
                <a16:creationId xmlns:a16="http://schemas.microsoft.com/office/drawing/2014/main" id="{39672F1F-63D0-A22D-CA16-5395520DB3DD}"/>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spTree>
    <p:extLst>
      <p:ext uri="{BB962C8B-B14F-4D97-AF65-F5344CB8AC3E}">
        <p14:creationId xmlns:p14="http://schemas.microsoft.com/office/powerpoint/2010/main" val="1361235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E34CB-C31E-3DAA-3272-B57EAB872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12954-B6F7-F5E1-71BC-51442A9A54D7}"/>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0D06E2BD-65C0-5B63-7B51-B465D317F152}"/>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a:p>
            <a:r>
              <a:rPr lang="en-US" sz="2400" dirty="0"/>
              <a:t>Critical heuristics</a:t>
            </a:r>
          </a:p>
        </p:txBody>
      </p:sp>
      <p:pic>
        <p:nvPicPr>
          <p:cNvPr id="4" name="Picture 3">
            <a:extLst>
              <a:ext uri="{FF2B5EF4-FFF2-40B4-BE49-F238E27FC236}">
                <a16:creationId xmlns:a16="http://schemas.microsoft.com/office/drawing/2014/main" id="{B7943B69-1074-E2EA-7FB4-39AE8AD259F8}"/>
              </a:ext>
            </a:extLst>
          </p:cNvPr>
          <p:cNvPicPr>
            <a:picLocks noChangeAspect="1"/>
          </p:cNvPicPr>
          <p:nvPr/>
        </p:nvPicPr>
        <p:blipFill>
          <a:blip r:embed="rId3"/>
          <a:stretch>
            <a:fillRect/>
          </a:stretch>
        </p:blipFill>
        <p:spPr>
          <a:xfrm>
            <a:off x="6096000" y="1147068"/>
            <a:ext cx="5287736" cy="4799637"/>
          </a:xfrm>
          <a:prstGeom prst="rect">
            <a:avLst/>
          </a:prstGeom>
        </p:spPr>
      </p:pic>
      <p:sp>
        <p:nvSpPr>
          <p:cNvPr id="5" name="TextBox 4">
            <a:extLst>
              <a:ext uri="{FF2B5EF4-FFF2-40B4-BE49-F238E27FC236}">
                <a16:creationId xmlns:a16="http://schemas.microsoft.com/office/drawing/2014/main" id="{FD19E705-C8D5-DE9C-33B0-544C198D83D3}"/>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spTree>
    <p:extLst>
      <p:ext uri="{BB962C8B-B14F-4D97-AF65-F5344CB8AC3E}">
        <p14:creationId xmlns:p14="http://schemas.microsoft.com/office/powerpoint/2010/main" val="2883505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052C-EB7D-D15D-473D-0215E32BB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5976D-7CA4-E7B1-B6F4-C7A34C50F0B9}"/>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4D98C0ED-A7B5-C470-8542-3CB1F68E83D2}"/>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3C1DAA73-2DFA-92BE-6115-552655FA2F88}"/>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6" name="Picture 5">
            <a:extLst>
              <a:ext uri="{FF2B5EF4-FFF2-40B4-BE49-F238E27FC236}">
                <a16:creationId xmlns:a16="http://schemas.microsoft.com/office/drawing/2014/main" id="{08368CFA-5A4C-218F-274F-B9AAF229B344}"/>
              </a:ext>
            </a:extLst>
          </p:cNvPr>
          <p:cNvPicPr>
            <a:picLocks noChangeAspect="1"/>
          </p:cNvPicPr>
          <p:nvPr/>
        </p:nvPicPr>
        <p:blipFill>
          <a:blip r:embed="rId3"/>
          <a:stretch>
            <a:fillRect/>
          </a:stretch>
        </p:blipFill>
        <p:spPr>
          <a:xfrm>
            <a:off x="3803650" y="1471010"/>
            <a:ext cx="7389867" cy="4380697"/>
          </a:xfrm>
          <a:prstGeom prst="rect">
            <a:avLst/>
          </a:prstGeom>
        </p:spPr>
      </p:pic>
    </p:spTree>
    <p:extLst>
      <p:ext uri="{BB962C8B-B14F-4D97-AF65-F5344CB8AC3E}">
        <p14:creationId xmlns:p14="http://schemas.microsoft.com/office/powerpoint/2010/main" val="2080441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F4818-A58E-1CF5-D253-59E909754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15DD9-B11F-BC0B-76C2-5D35795C63CA}"/>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BC4B9C18-2AD7-21EE-D708-8931CEE33562}"/>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354A3380-2E14-3EAE-2C7F-AEA820054700}"/>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40773381-160D-95F3-10D7-E2801D8722F6}"/>
              </a:ext>
            </a:extLst>
          </p:cNvPr>
          <p:cNvPicPr>
            <a:picLocks noChangeAspect="1"/>
          </p:cNvPicPr>
          <p:nvPr/>
        </p:nvPicPr>
        <p:blipFill>
          <a:blip r:embed="rId3"/>
          <a:stretch>
            <a:fillRect/>
          </a:stretch>
        </p:blipFill>
        <p:spPr>
          <a:xfrm>
            <a:off x="3670300" y="1652095"/>
            <a:ext cx="8064500" cy="3863360"/>
          </a:xfrm>
          <a:prstGeom prst="rect">
            <a:avLst/>
          </a:prstGeom>
        </p:spPr>
      </p:pic>
    </p:spTree>
    <p:extLst>
      <p:ext uri="{BB962C8B-B14F-4D97-AF65-F5344CB8AC3E}">
        <p14:creationId xmlns:p14="http://schemas.microsoft.com/office/powerpoint/2010/main" val="2957896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90BF8-11C7-D4AD-8B9A-8F2AE6837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5F0DF-166D-D999-5383-3488DCE837D5}"/>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B7829CFD-58EE-140F-7D6D-A22A9C5B7384}"/>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0A813AA1-D7C3-7DD7-7271-F6AB0172C415}"/>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B0D89C42-AF72-15E7-AEC6-84D5A581A3CF}"/>
              </a:ext>
            </a:extLst>
          </p:cNvPr>
          <p:cNvPicPr>
            <a:picLocks noChangeAspect="1"/>
          </p:cNvPicPr>
          <p:nvPr/>
        </p:nvPicPr>
        <p:blipFill>
          <a:blip r:embed="rId3"/>
          <a:stretch>
            <a:fillRect/>
          </a:stretch>
        </p:blipFill>
        <p:spPr>
          <a:xfrm>
            <a:off x="4302235" y="1345212"/>
            <a:ext cx="5929586" cy="4379808"/>
          </a:xfrm>
          <a:prstGeom prst="rect">
            <a:avLst/>
          </a:prstGeom>
        </p:spPr>
      </p:pic>
    </p:spTree>
    <p:extLst>
      <p:ext uri="{BB962C8B-B14F-4D97-AF65-F5344CB8AC3E}">
        <p14:creationId xmlns:p14="http://schemas.microsoft.com/office/powerpoint/2010/main" val="602914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D2DC-F894-D725-A5FD-556A4CA7D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C8300-11D4-9FC1-9FFD-E487007D749C}"/>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94A40559-A5BF-6187-4472-30662758586F}"/>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D9C70B7E-5435-499D-A91D-5D1020BCF612}"/>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DFB3068E-0355-6B09-90A4-B54E56352DD8}"/>
              </a:ext>
            </a:extLst>
          </p:cNvPr>
          <p:cNvPicPr>
            <a:picLocks noChangeAspect="1"/>
          </p:cNvPicPr>
          <p:nvPr/>
        </p:nvPicPr>
        <p:blipFill>
          <a:blip r:embed="rId3"/>
          <a:stretch>
            <a:fillRect/>
          </a:stretch>
        </p:blipFill>
        <p:spPr>
          <a:xfrm>
            <a:off x="3617441" y="1493441"/>
            <a:ext cx="7986068" cy="4231579"/>
          </a:xfrm>
          <a:prstGeom prst="rect">
            <a:avLst/>
          </a:prstGeom>
        </p:spPr>
      </p:pic>
    </p:spTree>
    <p:extLst>
      <p:ext uri="{BB962C8B-B14F-4D97-AF65-F5344CB8AC3E}">
        <p14:creationId xmlns:p14="http://schemas.microsoft.com/office/powerpoint/2010/main" val="1987551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32DE5-06E2-967E-2DC0-50D043620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F7C24-EE2D-8565-A00E-9C308A4D7B59}"/>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7220B964-C9B1-AF9A-F490-29D1A4BBE4EC}"/>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C126572D-3711-FB31-E8F2-0361D038AE66}"/>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8253883D-F17B-DEBE-DDA3-45336FD8EC3D}"/>
              </a:ext>
            </a:extLst>
          </p:cNvPr>
          <p:cNvPicPr>
            <a:picLocks noChangeAspect="1"/>
          </p:cNvPicPr>
          <p:nvPr/>
        </p:nvPicPr>
        <p:blipFill>
          <a:blip r:embed="rId3"/>
          <a:stretch>
            <a:fillRect/>
          </a:stretch>
        </p:blipFill>
        <p:spPr>
          <a:xfrm>
            <a:off x="3761608" y="1619942"/>
            <a:ext cx="7274253" cy="4326763"/>
          </a:xfrm>
          <a:prstGeom prst="rect">
            <a:avLst/>
          </a:prstGeom>
        </p:spPr>
      </p:pic>
    </p:spTree>
    <p:extLst>
      <p:ext uri="{BB962C8B-B14F-4D97-AF65-F5344CB8AC3E}">
        <p14:creationId xmlns:p14="http://schemas.microsoft.com/office/powerpoint/2010/main" val="2919252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6EE4-36F9-517E-2128-FF80E50A3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93BAD-AD00-8932-8BA3-09ECEE928794}"/>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81A48867-AEC8-37BD-CB18-56364251EBFB}"/>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D41CB7C7-EB87-BB58-EB9F-DF234B30D8B3}"/>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6A14DC28-CB1F-B8AA-CE4E-A2E5FF132B12}"/>
              </a:ext>
            </a:extLst>
          </p:cNvPr>
          <p:cNvPicPr>
            <a:picLocks noChangeAspect="1"/>
          </p:cNvPicPr>
          <p:nvPr/>
        </p:nvPicPr>
        <p:blipFill>
          <a:blip r:embed="rId3"/>
          <a:stretch>
            <a:fillRect/>
          </a:stretch>
        </p:blipFill>
        <p:spPr>
          <a:xfrm>
            <a:off x="4143702" y="1252614"/>
            <a:ext cx="6214241" cy="4694091"/>
          </a:xfrm>
          <a:prstGeom prst="rect">
            <a:avLst/>
          </a:prstGeom>
        </p:spPr>
      </p:pic>
    </p:spTree>
    <p:extLst>
      <p:ext uri="{BB962C8B-B14F-4D97-AF65-F5344CB8AC3E}">
        <p14:creationId xmlns:p14="http://schemas.microsoft.com/office/powerpoint/2010/main" val="2556428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EEB58-B3BE-73DC-60AF-419833FD8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33E0F-13B8-88DD-56C6-029B3AE81861}"/>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669F4B90-B814-8F77-1A1D-C0AE36857B4B}"/>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9502C97E-F78B-5976-78A8-72557EDD939E}"/>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8AC33DB0-0A3C-8408-959B-4DB5F08440FE}"/>
              </a:ext>
            </a:extLst>
          </p:cNvPr>
          <p:cNvPicPr>
            <a:picLocks noChangeAspect="1"/>
          </p:cNvPicPr>
          <p:nvPr/>
        </p:nvPicPr>
        <p:blipFill>
          <a:blip r:embed="rId3"/>
          <a:stretch>
            <a:fillRect/>
          </a:stretch>
        </p:blipFill>
        <p:spPr>
          <a:xfrm>
            <a:off x="3799490" y="1410605"/>
            <a:ext cx="7220607" cy="4651196"/>
          </a:xfrm>
          <a:prstGeom prst="rect">
            <a:avLst/>
          </a:prstGeom>
        </p:spPr>
      </p:pic>
    </p:spTree>
    <p:extLst>
      <p:ext uri="{BB962C8B-B14F-4D97-AF65-F5344CB8AC3E}">
        <p14:creationId xmlns:p14="http://schemas.microsoft.com/office/powerpoint/2010/main" val="1691372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195D9-0FBD-392D-4294-649158ADF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4B7CF-2C97-5B60-EB35-4816FC400B57}"/>
              </a:ext>
            </a:extLst>
          </p:cNvPr>
          <p:cNvSpPr>
            <a:spLocks noGrp="1"/>
          </p:cNvSpPr>
          <p:nvPr>
            <p:ph type="title"/>
          </p:nvPr>
        </p:nvSpPr>
        <p:spPr/>
        <p:txBody>
          <a:bodyPr/>
          <a:lstStyle/>
          <a:p>
            <a:r>
              <a:rPr lang="en-US" dirty="0"/>
              <a:t>Evaluating Accessibility</a:t>
            </a:r>
          </a:p>
        </p:txBody>
      </p:sp>
      <p:sp>
        <p:nvSpPr>
          <p:cNvPr id="7" name="Content Placeholder 6">
            <a:extLst>
              <a:ext uri="{FF2B5EF4-FFF2-40B4-BE49-F238E27FC236}">
                <a16:creationId xmlns:a16="http://schemas.microsoft.com/office/drawing/2014/main" id="{DDCB1E04-C9DF-C4E9-28B0-79DBB210251D}"/>
              </a:ext>
            </a:extLst>
          </p:cNvPr>
          <p:cNvSpPr>
            <a:spLocks noGrp="1"/>
          </p:cNvSpPr>
          <p:nvPr>
            <p:ph idx="1"/>
          </p:nvPr>
        </p:nvSpPr>
        <p:spPr>
          <a:xfrm>
            <a:off x="3486151" y="800100"/>
            <a:ext cx="8248649" cy="5368290"/>
          </a:xfrm>
        </p:spPr>
        <p:txBody>
          <a:bodyPr anchor="t">
            <a:normAutofit/>
          </a:bodyPr>
          <a:lstStyle/>
          <a:p>
            <a:pPr marL="0" indent="0">
              <a:buNone/>
            </a:pPr>
            <a:r>
              <a:rPr lang="en-US" sz="2400" dirty="0" err="1"/>
              <a:t>Chartability</a:t>
            </a:r>
            <a:endParaRPr lang="en-US" sz="2400" dirty="0"/>
          </a:p>
        </p:txBody>
      </p:sp>
      <p:sp>
        <p:nvSpPr>
          <p:cNvPr id="3" name="TextBox 2">
            <a:extLst>
              <a:ext uri="{FF2B5EF4-FFF2-40B4-BE49-F238E27FC236}">
                <a16:creationId xmlns:a16="http://schemas.microsoft.com/office/drawing/2014/main" id="{C8BC4002-38FA-A741-73E3-906A8708F054}"/>
              </a:ext>
            </a:extLst>
          </p:cNvPr>
          <p:cNvSpPr txBox="1"/>
          <p:nvPr/>
        </p:nvSpPr>
        <p:spPr>
          <a:xfrm>
            <a:off x="1524001" y="6168390"/>
            <a:ext cx="10858498" cy="646331"/>
          </a:xfrm>
          <a:prstGeom prst="rect">
            <a:avLst/>
          </a:prstGeom>
          <a:noFill/>
        </p:spPr>
        <p:txBody>
          <a:bodyPr wrap="square">
            <a:spAutoFit/>
          </a:bodyPr>
          <a:lstStyle/>
          <a:p>
            <a:r>
              <a:rPr lang="en-US" dirty="0"/>
              <a:t>Elavsky, Frank &amp; Bennett, Cynthia &amp; Moritz, Dominik. (2022). How accessible is my visualization? Evaluating visualization accessibility with </a:t>
            </a:r>
            <a:r>
              <a:rPr lang="en-US" dirty="0" err="1"/>
              <a:t>Chartability</a:t>
            </a:r>
            <a:r>
              <a:rPr lang="en-US" dirty="0"/>
              <a:t>. Computer Graphics Forum. 41. 57-70. 10.1111/cgf.14522. </a:t>
            </a:r>
          </a:p>
        </p:txBody>
      </p:sp>
      <p:pic>
        <p:nvPicPr>
          <p:cNvPr id="5" name="Picture 4">
            <a:extLst>
              <a:ext uri="{FF2B5EF4-FFF2-40B4-BE49-F238E27FC236}">
                <a16:creationId xmlns:a16="http://schemas.microsoft.com/office/drawing/2014/main" id="{D84B9855-0A87-DF04-8AA7-C3BDA24B25B0}"/>
              </a:ext>
            </a:extLst>
          </p:cNvPr>
          <p:cNvPicPr>
            <a:picLocks noChangeAspect="1"/>
          </p:cNvPicPr>
          <p:nvPr/>
        </p:nvPicPr>
        <p:blipFill>
          <a:blip r:embed="rId3"/>
          <a:stretch>
            <a:fillRect/>
          </a:stretch>
        </p:blipFill>
        <p:spPr>
          <a:xfrm>
            <a:off x="3640809" y="1620613"/>
            <a:ext cx="7939332" cy="4104407"/>
          </a:xfrm>
          <a:prstGeom prst="rect">
            <a:avLst/>
          </a:prstGeom>
        </p:spPr>
      </p:pic>
    </p:spTree>
    <p:extLst>
      <p:ext uri="{BB962C8B-B14F-4D97-AF65-F5344CB8AC3E}">
        <p14:creationId xmlns:p14="http://schemas.microsoft.com/office/powerpoint/2010/main" val="3756228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CF3E-2C96-C1B5-7460-35C9A6E8E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11FD4-BEFE-4F2B-6422-E2CF5210358C}"/>
              </a:ext>
            </a:extLst>
          </p:cNvPr>
          <p:cNvSpPr>
            <a:spLocks noGrp="1"/>
          </p:cNvSpPr>
          <p:nvPr>
            <p:ph type="title"/>
          </p:nvPr>
        </p:nvSpPr>
        <p:spPr/>
        <p:txBody>
          <a:bodyPr/>
          <a:lstStyle/>
          <a:p>
            <a:r>
              <a:rPr lang="en-US" dirty="0"/>
              <a:t>Your Turn! </a:t>
            </a:r>
          </a:p>
        </p:txBody>
      </p:sp>
      <p:sp>
        <p:nvSpPr>
          <p:cNvPr id="7" name="Content Placeholder 6">
            <a:extLst>
              <a:ext uri="{FF2B5EF4-FFF2-40B4-BE49-F238E27FC236}">
                <a16:creationId xmlns:a16="http://schemas.microsoft.com/office/drawing/2014/main" id="{211EA762-8552-55C6-810D-DABC512F174E}"/>
              </a:ext>
            </a:extLst>
          </p:cNvPr>
          <p:cNvSpPr>
            <a:spLocks noGrp="1"/>
          </p:cNvSpPr>
          <p:nvPr>
            <p:ph idx="1"/>
          </p:nvPr>
        </p:nvSpPr>
        <p:spPr>
          <a:xfrm>
            <a:off x="3486151" y="800100"/>
            <a:ext cx="8248649" cy="5368290"/>
          </a:xfrm>
        </p:spPr>
        <p:txBody>
          <a:bodyPr anchor="ctr">
            <a:normAutofit/>
          </a:bodyPr>
          <a:lstStyle/>
          <a:p>
            <a:pPr marL="0" indent="0">
              <a:buNone/>
            </a:pPr>
            <a:r>
              <a:rPr lang="en-US" sz="2400" dirty="0"/>
              <a:t>Find a visualization of interest to you. </a:t>
            </a:r>
          </a:p>
          <a:p>
            <a:pPr marL="0" indent="0">
              <a:buNone/>
            </a:pPr>
            <a:r>
              <a:rPr lang="en-US" sz="2400" dirty="0"/>
              <a:t>Evaluate its accessibility via </a:t>
            </a:r>
            <a:r>
              <a:rPr lang="en-US" sz="2400" dirty="0" err="1"/>
              <a:t>Chartability</a:t>
            </a:r>
            <a:r>
              <a:rPr lang="en-US" sz="2400" dirty="0"/>
              <a:t> heuristics. </a:t>
            </a:r>
          </a:p>
          <a:p>
            <a:pPr marL="0" indent="0">
              <a:buNone/>
            </a:pPr>
            <a:r>
              <a:rPr lang="en-US" sz="2400" dirty="0"/>
              <a:t>How would you re-design it to make it more accessible? </a:t>
            </a:r>
          </a:p>
        </p:txBody>
      </p:sp>
    </p:spTree>
    <p:extLst>
      <p:ext uri="{BB962C8B-B14F-4D97-AF65-F5344CB8AC3E}">
        <p14:creationId xmlns:p14="http://schemas.microsoft.com/office/powerpoint/2010/main" val="3752888294"/>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1329</TotalTime>
  <Words>1701</Words>
  <Application>Microsoft Macintosh PowerPoint</Application>
  <PresentationFormat>Widescreen</PresentationFormat>
  <Paragraphs>163</Paragraphs>
  <Slides>29</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Corbel</vt:lpstr>
      <vt:lpstr>Helvetica</vt:lpstr>
      <vt:lpstr>Wingdings 2</vt:lpstr>
      <vt:lpstr>Frame</vt:lpstr>
      <vt:lpstr>Communicating with Data – Physical Visualizations &amp; Visualization Accessibility</vt:lpstr>
      <vt:lpstr>Plan for Today</vt:lpstr>
      <vt:lpstr>Brainstorm</vt:lpstr>
      <vt:lpstr>Example</vt:lpstr>
      <vt:lpstr>Example</vt:lpstr>
      <vt:lpstr>Example</vt:lpstr>
      <vt:lpstr>Example</vt:lpstr>
      <vt:lpstr>Physical Visualization</vt:lpstr>
      <vt:lpstr>Accessible Visualization</vt:lpstr>
      <vt:lpstr>Accessible  Visualization</vt:lpstr>
      <vt:lpstr>Accessible  Visualization</vt:lpstr>
      <vt:lpstr>Accessible  Visualization</vt:lpstr>
      <vt:lpstr>Accessible  Visualization</vt:lpstr>
      <vt:lpstr>Accessible  Visualization</vt:lpstr>
      <vt:lpstr>Accessible  Visualization</vt:lpstr>
      <vt:lpstr>Accessible  Visualization</vt:lpstr>
      <vt:lpstr>Accessible  Visualization</vt:lpstr>
      <vt:lpstr>Accessible  Visualization</vt:lpstr>
      <vt:lpstr>Evaluating Accessibility</vt:lpstr>
      <vt:lpstr>Evaluating Accessibility</vt:lpstr>
      <vt:lpstr>Evaluating Accessibility</vt:lpstr>
      <vt:lpstr>Evaluating Accessibility</vt:lpstr>
      <vt:lpstr>Evaluating Accessibility</vt:lpstr>
      <vt:lpstr>Evaluating Accessibility</vt:lpstr>
      <vt:lpstr>Evaluating Accessibility</vt:lpstr>
      <vt:lpstr>Evaluating Accessibility</vt:lpstr>
      <vt:lpstr>Evaluating Accessibility</vt:lpstr>
      <vt:lpstr>Evaluating Accessibility</vt:lpstr>
      <vt:lpstr>Your Turn!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43</cp:revision>
  <dcterms:created xsi:type="dcterms:W3CDTF">2023-08-03T18:49:17Z</dcterms:created>
  <dcterms:modified xsi:type="dcterms:W3CDTF">2026-09-10T21:47:23Z</dcterms:modified>
</cp:coreProperties>
</file>