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40"/>
  </p:notesMasterIdLst>
  <p:sldIdLst>
    <p:sldId id="256" r:id="rId2"/>
    <p:sldId id="324" r:id="rId3"/>
    <p:sldId id="291" r:id="rId4"/>
    <p:sldId id="292" r:id="rId5"/>
    <p:sldId id="361" r:id="rId6"/>
    <p:sldId id="362" r:id="rId7"/>
    <p:sldId id="363" r:id="rId8"/>
    <p:sldId id="364" r:id="rId9"/>
    <p:sldId id="366" r:id="rId10"/>
    <p:sldId id="365" r:id="rId11"/>
    <p:sldId id="367" r:id="rId12"/>
    <p:sldId id="368" r:id="rId13"/>
    <p:sldId id="369" r:id="rId14"/>
    <p:sldId id="370" r:id="rId15"/>
    <p:sldId id="373" r:id="rId16"/>
    <p:sldId id="375" r:id="rId17"/>
    <p:sldId id="374" r:id="rId18"/>
    <p:sldId id="372" r:id="rId19"/>
    <p:sldId id="295" r:id="rId20"/>
    <p:sldId id="296" r:id="rId21"/>
    <p:sldId id="297" r:id="rId22"/>
    <p:sldId id="356" r:id="rId23"/>
    <p:sldId id="298" r:id="rId24"/>
    <p:sldId id="299" r:id="rId25"/>
    <p:sldId id="322" r:id="rId26"/>
    <p:sldId id="309" r:id="rId27"/>
    <p:sldId id="354" r:id="rId28"/>
    <p:sldId id="355" r:id="rId29"/>
    <p:sldId id="353" r:id="rId30"/>
    <p:sldId id="357" r:id="rId31"/>
    <p:sldId id="312" r:id="rId32"/>
    <p:sldId id="315" r:id="rId33"/>
    <p:sldId id="323" r:id="rId34"/>
    <p:sldId id="358" r:id="rId35"/>
    <p:sldId id="359" r:id="rId36"/>
    <p:sldId id="360" r:id="rId37"/>
    <p:sldId id="300" r:id="rId38"/>
    <p:sldId id="30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21"/>
    <p:restoredTop sz="83143"/>
  </p:normalViewPr>
  <p:slideViewPr>
    <p:cSldViewPr snapToGrid="0">
      <p:cViewPr varScale="1">
        <p:scale>
          <a:sx n="79" d="100"/>
          <a:sy n="79" d="100"/>
        </p:scale>
        <p:origin x="2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0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  <a:t>Rods work at very low levels of light. We use these for night vision because only a few bits of light (photons) can activate a rod. Rods don't help with color vision, which is why at night, we see everything in a gray scale. The human eye has over 100 million rod cells.</a:t>
            </a:r>
          </a:p>
          <a:p>
            <a:pPr algn="l"/>
            <a:endParaRPr lang="en-US" b="0" i="0" dirty="0">
              <a:solidFill>
                <a:srgbClr val="2A2A2A"/>
              </a:solidFill>
              <a:effectLst/>
              <a:latin typeface="Roboto" panose="020F0502020204030204" pitchFamily="34" charset="0"/>
            </a:endParaRPr>
          </a:p>
          <a:p>
            <a:pPr algn="l"/>
            <a:r>
              <a:rPr lang="en-US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Cones require a lot more light and they are used to see color. We have three types of cones: blue, green, and red. The human eye only has about 6 million cones. Many of these are packed into the fovea, a small pit in the back of the eye that helps with the sharpness or detail of images.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ED666028-3CCC-7086-AD68-1DE8ABE1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CDBF325-CA64-A4B7-7013-EF46391BE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Using the correct visual channel type for the correct variable type is called </a:t>
            </a:r>
            <a:r>
              <a:rPr lang="en-US" sz="1200" b="1" dirty="0"/>
              <a:t>expressiveness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defRPr/>
            </a:pPr>
            <a:r>
              <a:rPr lang="en-US" sz="2800" b="1" dirty="0"/>
              <a:t>Effectiveness</a:t>
            </a:r>
            <a:r>
              <a:rPr lang="en-US" sz="2800" dirty="0"/>
              <a:t> refers to how well a channel supports:</a:t>
            </a:r>
          </a:p>
          <a:p>
            <a:pPr lvl="1">
              <a:defRPr/>
            </a:pPr>
            <a:r>
              <a:rPr lang="en-US" sz="2600" dirty="0"/>
              <a:t>Accuracy</a:t>
            </a:r>
          </a:p>
          <a:p>
            <a:pPr lvl="1">
              <a:defRPr/>
            </a:pPr>
            <a:r>
              <a:rPr lang="en-US" sz="2600" dirty="0"/>
              <a:t>Discriminability</a:t>
            </a:r>
          </a:p>
          <a:p>
            <a:pPr lvl="1">
              <a:defRPr/>
            </a:pPr>
            <a:r>
              <a:rPr lang="en-US" sz="2600" dirty="0"/>
              <a:t>Separability </a:t>
            </a:r>
          </a:p>
          <a:p>
            <a:pPr lvl="1">
              <a:defRPr/>
            </a:pPr>
            <a:r>
              <a:rPr lang="en-US" sz="2600" dirty="0"/>
              <a:t>Visual popout</a:t>
            </a:r>
          </a:p>
          <a:p>
            <a:pPr lvl="1">
              <a:defRPr/>
            </a:pPr>
            <a:r>
              <a:rPr lang="en-US" sz="2600" dirty="0"/>
              <a:t>Grouping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389A44FA-555D-4957-7421-874B2F59D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594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BF61308D-C432-3616-630F-A12B4EBF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10E800A0-5B32-2188-04A0-93C9E9CD8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A7091F31-DD4F-7BCD-C9B9-F941E4B2E7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3487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ACB8AAFE-2FC3-858B-E709-3E5E9F87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7FBB107B-24DE-4146-0AE9-1AFEA63CC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393B3091-3771-9D2F-DDEB-E17B30F9E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1194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B6B0B524-225A-540A-DF52-97B4967C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32DE2988-54F6-411E-3EBC-1DF97B22C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9312C80E-86BC-4DA9-FE30-7FF35A722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6615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E6226D9F-7918-2785-B740-93FE47AF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F089F9F0-FE45-48F3-A8C7-D9E2953D4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70CB801B-18AB-4A07-B942-B19ACC32AF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996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8ED05539-E941-716A-074C-ECE9B08A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28E07D0E-D44E-71D2-7007-2A46ADC8F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showed that when the target could be separated by a straight line from its non-targets in </a:t>
            </a:r>
            <a:r>
              <a:rPr lang="en-US" dirty="0" err="1"/>
              <a:t>colour</a:t>
            </a:r>
            <a:r>
              <a:rPr lang="en-US" dirty="0"/>
              <a:t> space (Figure 1, target T and non-targets A and C), the time required to determine the target’s presence or absence was constant, and independent of the total number of elements being displayed.</a:t>
            </a: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CD7AB8F6-7A73-6204-FB13-E0E96A088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247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3C270B76-E491-E763-60CC-43B4D380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87C3DCF2-D0F8-592B-86E9-89D46898D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His results showed that search times decreased dramatically whenever the non-target was moved outside the target’s </a:t>
            </a:r>
            <a:r>
              <a:rPr lang="en-US" dirty="0" err="1"/>
              <a:t>colour</a:t>
            </a:r>
            <a:r>
              <a:rPr lang="en-US" dirty="0"/>
              <a:t> region. For example, finding a target </a:t>
            </a:r>
            <a:r>
              <a:rPr lang="en-US" dirty="0" err="1"/>
              <a:t>coloured</a:t>
            </a:r>
            <a:r>
              <a:rPr lang="en-US" dirty="0"/>
              <a:t> T in a set of non-targets </a:t>
            </a:r>
            <a:r>
              <a:rPr lang="en-US" dirty="0" err="1"/>
              <a:t>coloured</a:t>
            </a:r>
            <a:r>
              <a:rPr lang="en-US" dirty="0"/>
              <a:t> B was significantly more difficult than than finding T in a set of non-targets </a:t>
            </a:r>
            <a:r>
              <a:rPr lang="en-US" dirty="0" err="1"/>
              <a:t>coloured</a:t>
            </a:r>
            <a:r>
              <a:rPr lang="en-US" dirty="0"/>
              <a:t> A</a:t>
            </a: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D30A02DD-85B8-705C-136C-97D75BCBA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3962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C1DC13C2-3093-3768-1A38-357D8F76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62DE26DD-BC99-B1AC-3569-9CF840EBE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FF94CFE4-7C1B-BBEE-E415-AA8F8A330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579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E106314B-F39C-0271-A1EB-E6E94A2A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6F8B372F-6885-40B8-2ACE-91DCFBCD4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0E7533A7-0FAD-2842-E722-448FF7B94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0296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A488B7F4-CB7A-D006-7257-288C8610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6EA4FAC9-0692-AEA1-AE42-7556B0D0C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CC090513-C18A-C8E2-C4C7-C68990563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8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190C2FED-7291-BA31-246B-D20FE170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1E86C508-4477-1965-82BF-9919F5C11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9FD68907-4CCB-A3C0-E684-6F01D2E66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8083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0C0179D4-7B99-FF84-766A-3A861B7B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D4E3AE2-DE18-173F-6185-A74FE30A1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1030F544-D153-6C4C-8385-CEFB5D59C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5339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0F5A1EF1-3759-8325-D82D-587816FC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12A19FC-3904-18BE-6BC0-BB829FE8D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2D80E661-3A2D-BD24-BB7B-91E6D44ED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880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6F92125B-9FB7-FF91-15BC-A3515B46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8D30A62-CCBE-E9BE-7C21-37196CFF4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F9E50E95-0309-7613-33DF-6010622B4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008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 the difference between top and bottom rectangle the same in all cases?</a:t>
            </a:r>
            <a:endParaRPr dirty="0"/>
          </a:p>
        </p:txBody>
      </p:sp>
      <p:sp>
        <p:nvSpPr>
          <p:cNvPr id="728" name="Google Shape;72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28CF4A50-8CFD-2392-5D95-79B3A8EC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A4F58031-922E-9978-C094-231C9D83B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Green and text fade into background; pink pops </a:t>
            </a: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7EF8AFF0-1EAE-FECB-6873-C744CE228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3466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1250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E4652596-81A7-9318-D756-4F0AC9EC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6BBC537C-7F0F-A8CC-051B-525174C12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28642743-6D36-BF8E-6E3A-24A451221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782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BE90F833-7641-5F57-8DCE-61041483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A70909BD-41B7-995B-1FFA-A39A725B4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F0E47851-DD06-A0D8-3BB4-BEF6CA14F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1801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24D2B6EA-6AFE-D005-2A5F-38C473D0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F89E3347-7D3D-D0D0-89B2-5DE59D13A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Similar colors – one jumps out </a:t>
            </a:r>
            <a:r>
              <a:rPr lang="en-US" dirty="0" err="1"/>
              <a:t>bc</a:t>
            </a:r>
            <a:r>
              <a:rPr lang="en-US" dirty="0"/>
              <a:t> most saturated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Hard to distinguish </a:t>
            </a: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55F9C7D6-C2E0-E402-A6BB-9D6AD1CD2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2177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B787F57B-8A86-A4D7-35FD-75824EBC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C3AFFD4D-D55F-6423-6F90-667C868FD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Similar colors – one jumps out </a:t>
            </a:r>
            <a:r>
              <a:rPr lang="en-US" dirty="0" err="1"/>
              <a:t>bc</a:t>
            </a:r>
            <a:r>
              <a:rPr lang="en-US" dirty="0"/>
              <a:t> most saturated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Hard to distinguish </a:t>
            </a: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AE1A4940-9AEE-C409-464C-0B12E19DF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50741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24576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24319AC1-0747-D879-5383-9DD4B242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>
            <a:extLst>
              <a:ext uri="{FF2B5EF4-FFF2-40B4-BE49-F238E27FC236}">
                <a16:creationId xmlns:a16="http://schemas.microsoft.com/office/drawing/2014/main" id="{7D61E9D6-8D0D-C282-23AE-AD387E222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>
            <a:extLst>
              <a:ext uri="{FF2B5EF4-FFF2-40B4-BE49-F238E27FC236}">
                <a16:creationId xmlns:a16="http://schemas.microsoft.com/office/drawing/2014/main" id="{26170C29-A158-29CE-377B-FD93BE3D2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2360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AC065B6F-EF92-45B7-5F84-68EFAEE0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>
            <a:extLst>
              <a:ext uri="{FF2B5EF4-FFF2-40B4-BE49-F238E27FC236}">
                <a16:creationId xmlns:a16="http://schemas.microsoft.com/office/drawing/2014/main" id="{80CFC7FC-2083-1A2B-FD0E-20F81378D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>
            <a:extLst>
              <a:ext uri="{FF2B5EF4-FFF2-40B4-BE49-F238E27FC236}">
                <a16:creationId xmlns:a16="http://schemas.microsoft.com/office/drawing/2014/main" id="{BDEC0CB8-1294-C967-E730-3679107E1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542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BBF4404D-F181-389C-6FB7-D99CF85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>
            <a:extLst>
              <a:ext uri="{FF2B5EF4-FFF2-40B4-BE49-F238E27FC236}">
                <a16:creationId xmlns:a16="http://schemas.microsoft.com/office/drawing/2014/main" id="{D56848E2-34C4-80E1-5DAB-6598D828D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>
            <a:extLst>
              <a:ext uri="{FF2B5EF4-FFF2-40B4-BE49-F238E27FC236}">
                <a16:creationId xmlns:a16="http://schemas.microsoft.com/office/drawing/2014/main" id="{7C0FE8B4-019D-21C7-F526-557686A8E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8887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vrl.cs.brown.edu/colo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orbrewer.or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Color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How we see color</a:t>
            </a:r>
            <a:endParaRPr lang="en-US" sz="2400" kern="0" dirty="0"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Color for visual encoding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More perceptual problems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70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957426"/>
            <a:ext cx="9144000" cy="4767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8"/>
          <p:cNvPicPr preferRelativeResize="0"/>
          <p:nvPr/>
        </p:nvPicPr>
        <p:blipFill rotWithShape="1">
          <a:blip r:embed="rId4">
            <a:alphaModFix/>
          </a:blip>
          <a:srcRect t="34962" b="44573"/>
          <a:stretch/>
        </p:blipFill>
        <p:spPr>
          <a:xfrm>
            <a:off x="2895600" y="2624683"/>
            <a:ext cx="9144000" cy="97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8"/>
          <p:cNvPicPr preferRelativeResize="0"/>
          <p:nvPr/>
        </p:nvPicPr>
        <p:blipFill rotWithShape="1">
          <a:blip r:embed="rId4">
            <a:alphaModFix/>
          </a:blip>
          <a:srcRect t="56026" b="-1"/>
          <a:stretch/>
        </p:blipFill>
        <p:spPr>
          <a:xfrm>
            <a:off x="2895600" y="3585296"/>
            <a:ext cx="9144000" cy="20965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6" name="Google Shape;666;p48"/>
          <p:cNvGrpSpPr/>
          <p:nvPr/>
        </p:nvGrpSpPr>
        <p:grpSpPr>
          <a:xfrm>
            <a:off x="2971800" y="2024227"/>
            <a:ext cx="2066720" cy="2666999"/>
            <a:chOff x="76200" y="2590800"/>
            <a:chExt cx="2066720" cy="2666999"/>
          </a:xfrm>
        </p:grpSpPr>
        <p:pic>
          <p:nvPicPr>
            <p:cNvPr id="667" name="Google Shape;667;p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6200" y="3581398"/>
              <a:ext cx="2066720" cy="1676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48"/>
            <p:cNvSpPr/>
            <p:nvPr/>
          </p:nvSpPr>
          <p:spPr>
            <a:xfrm>
              <a:off x="838200" y="2590800"/>
              <a:ext cx="6096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48"/>
          <p:cNvGrpSpPr/>
          <p:nvPr/>
        </p:nvGrpSpPr>
        <p:grpSpPr>
          <a:xfrm>
            <a:off x="4880394" y="2024227"/>
            <a:ext cx="1215606" cy="2673095"/>
            <a:chOff x="1984794" y="2590800"/>
            <a:chExt cx="1215606" cy="2673095"/>
          </a:xfrm>
        </p:grpSpPr>
        <p:pic>
          <p:nvPicPr>
            <p:cNvPr id="670" name="Google Shape;670;p48"/>
            <p:cNvPicPr preferRelativeResize="0"/>
            <p:nvPr/>
          </p:nvPicPr>
          <p:blipFill rotWithShape="1">
            <a:blip r:embed="rId6">
              <a:alphaModFix/>
            </a:blip>
            <a:srcRect r="6972"/>
            <a:stretch/>
          </p:blipFill>
          <p:spPr>
            <a:xfrm>
              <a:off x="1984794" y="3581399"/>
              <a:ext cx="1215606" cy="1682496"/>
            </a:xfrm>
            <a:prstGeom prst="rect">
              <a:avLst/>
            </a:prstGeom>
            <a:noFill/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45"/>
                </a:srgbClr>
              </a:outerShdw>
            </a:effectLst>
          </p:spPr>
        </p:pic>
        <p:sp>
          <p:nvSpPr>
            <p:cNvPr id="671" name="Google Shape;671;p48"/>
            <p:cNvSpPr/>
            <p:nvPr/>
          </p:nvSpPr>
          <p:spPr>
            <a:xfrm>
              <a:off x="2286000" y="2590800"/>
              <a:ext cx="6096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48"/>
          <p:cNvGrpSpPr/>
          <p:nvPr/>
        </p:nvGrpSpPr>
        <p:grpSpPr>
          <a:xfrm>
            <a:off x="5334001" y="2024227"/>
            <a:ext cx="1798117" cy="2681223"/>
            <a:chOff x="2438400" y="2590800"/>
            <a:chExt cx="1798117" cy="2681223"/>
          </a:xfrm>
        </p:grpSpPr>
        <p:pic>
          <p:nvPicPr>
            <p:cNvPr id="673" name="Google Shape;673;p48"/>
            <p:cNvPicPr preferRelativeResize="0"/>
            <p:nvPr/>
          </p:nvPicPr>
          <p:blipFill rotWithShape="1">
            <a:blip r:embed="rId7">
              <a:alphaModFix/>
            </a:blip>
            <a:srcRect l="16417" r="12335"/>
            <a:stretch/>
          </p:blipFill>
          <p:spPr>
            <a:xfrm>
              <a:off x="2438400" y="3589527"/>
              <a:ext cx="1798117" cy="1682496"/>
            </a:xfrm>
            <a:prstGeom prst="rect">
              <a:avLst/>
            </a:prstGeom>
            <a:noFill/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45"/>
                </a:srgbClr>
              </a:outerShdw>
            </a:effectLst>
          </p:spPr>
        </p:pic>
        <p:sp>
          <p:nvSpPr>
            <p:cNvPr id="674" name="Google Shape;674;p48"/>
            <p:cNvSpPr/>
            <p:nvPr/>
          </p:nvSpPr>
          <p:spPr>
            <a:xfrm>
              <a:off x="3124200" y="2590800"/>
              <a:ext cx="2286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48"/>
          <p:cNvGrpSpPr/>
          <p:nvPr/>
        </p:nvGrpSpPr>
        <p:grpSpPr>
          <a:xfrm>
            <a:off x="6096001" y="2024227"/>
            <a:ext cx="1806191" cy="2673095"/>
            <a:chOff x="3200400" y="2590800"/>
            <a:chExt cx="1806191" cy="2673095"/>
          </a:xfrm>
        </p:grpSpPr>
        <p:pic>
          <p:nvPicPr>
            <p:cNvPr id="676" name="Google Shape;676;p48"/>
            <p:cNvPicPr preferRelativeResize="0"/>
            <p:nvPr/>
          </p:nvPicPr>
          <p:blipFill rotWithShape="1">
            <a:blip r:embed="rId8">
              <a:alphaModFix/>
            </a:blip>
            <a:srcRect l="10534" t="33157" r="55960" b="23094"/>
            <a:stretch/>
          </p:blipFill>
          <p:spPr>
            <a:xfrm>
              <a:off x="3200400" y="3581399"/>
              <a:ext cx="1806191" cy="1682496"/>
            </a:xfrm>
            <a:prstGeom prst="rect">
              <a:avLst/>
            </a:prstGeom>
            <a:noFill/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45"/>
                </a:srgbClr>
              </a:outerShdw>
            </a:effectLst>
          </p:spPr>
        </p:pic>
        <p:sp>
          <p:nvSpPr>
            <p:cNvPr id="677" name="Google Shape;677;p48"/>
            <p:cNvSpPr/>
            <p:nvPr/>
          </p:nvSpPr>
          <p:spPr>
            <a:xfrm>
              <a:off x="3962400" y="2590800"/>
              <a:ext cx="3048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8" name="Google Shape;678;p48"/>
          <p:cNvGrpSpPr/>
          <p:nvPr/>
        </p:nvGrpSpPr>
        <p:grpSpPr>
          <a:xfrm>
            <a:off x="6781800" y="2024227"/>
            <a:ext cx="2362200" cy="2539331"/>
            <a:chOff x="3886200" y="2590800"/>
            <a:chExt cx="2362200" cy="2539331"/>
          </a:xfrm>
        </p:grpSpPr>
        <p:pic>
          <p:nvPicPr>
            <p:cNvPr id="679" name="Google Shape;679;p4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886200" y="3505200"/>
              <a:ext cx="2362200" cy="1624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48"/>
            <p:cNvSpPr/>
            <p:nvPr/>
          </p:nvSpPr>
          <p:spPr>
            <a:xfrm>
              <a:off x="4724400" y="2590800"/>
              <a:ext cx="7620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48"/>
          <p:cNvGrpSpPr/>
          <p:nvPr/>
        </p:nvGrpSpPr>
        <p:grpSpPr>
          <a:xfrm>
            <a:off x="7924800" y="2024227"/>
            <a:ext cx="2057400" cy="2558985"/>
            <a:chOff x="5029200" y="2590800"/>
            <a:chExt cx="2057400" cy="2558985"/>
          </a:xfrm>
        </p:grpSpPr>
        <p:pic>
          <p:nvPicPr>
            <p:cNvPr id="682" name="Google Shape;682;p4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029200" y="3200400"/>
              <a:ext cx="2057400" cy="194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48"/>
            <p:cNvSpPr/>
            <p:nvPr/>
          </p:nvSpPr>
          <p:spPr>
            <a:xfrm>
              <a:off x="5562600" y="2590800"/>
              <a:ext cx="9144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48"/>
          <p:cNvGrpSpPr/>
          <p:nvPr/>
        </p:nvGrpSpPr>
        <p:grpSpPr>
          <a:xfrm>
            <a:off x="9840364" y="2024227"/>
            <a:ext cx="1665837" cy="2673095"/>
            <a:chOff x="6944763" y="2590800"/>
            <a:chExt cx="1665837" cy="2673095"/>
          </a:xfrm>
        </p:grpSpPr>
        <p:pic>
          <p:nvPicPr>
            <p:cNvPr id="685" name="Google Shape;685;p4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944763" y="3581399"/>
              <a:ext cx="1665837" cy="1682496"/>
            </a:xfrm>
            <a:prstGeom prst="rect">
              <a:avLst/>
            </a:prstGeom>
            <a:noFill/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45"/>
                </a:srgbClr>
              </a:outerShdw>
            </a:effectLst>
          </p:spPr>
        </p:pic>
        <p:sp>
          <p:nvSpPr>
            <p:cNvPr id="686" name="Google Shape;686;p48"/>
            <p:cNvSpPr/>
            <p:nvPr/>
          </p:nvSpPr>
          <p:spPr>
            <a:xfrm>
              <a:off x="7086600" y="2590800"/>
              <a:ext cx="1295400" cy="22860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FF00">
                  <a:alpha val="784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7" name="Google Shape;687;p4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44001" y="3395826"/>
            <a:ext cx="270894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48"/>
          <p:cNvSpPr txBox="1"/>
          <p:nvPr/>
        </p:nvSpPr>
        <p:spPr>
          <a:xfrm>
            <a:off x="9601200" y="5681827"/>
            <a:ext cx="20235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Eye diagram courtesy ASU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B1988-43A4-4B77-2A65-6593A8504B2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Kinds of light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DEFF-B0C7-659A-8CC4-EB25202E13A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we see color</a:t>
            </a:r>
          </a:p>
        </p:txBody>
      </p:sp>
      <p:pic>
        <p:nvPicPr>
          <p:cNvPr id="3" name="Picture 2" descr="How Do We See Light? | Ask A Biologist">
            <a:extLst>
              <a:ext uri="{FF2B5EF4-FFF2-40B4-BE49-F238E27FC236}">
                <a16:creationId xmlns:a16="http://schemas.microsoft.com/office/drawing/2014/main" id="{E4E370ED-1A5C-D572-E6F5-F11C8FEDE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923" y="1123837"/>
            <a:ext cx="8725077" cy="449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How Do We See Light? | Ask A Biologist">
            <a:extLst>
              <a:ext uri="{FF2B5EF4-FFF2-40B4-BE49-F238E27FC236}">
                <a16:creationId xmlns:a16="http://schemas.microsoft.com/office/drawing/2014/main" id="{DA71E076-1F5F-9F21-C6DA-7D8FF70DC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57" y="1123837"/>
            <a:ext cx="8725077" cy="449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B84339-2EF5-B569-E168-C91E69D4A6FE}"/>
              </a:ext>
            </a:extLst>
          </p:cNvPr>
          <p:cNvSpPr txBox="1"/>
          <p:nvPr/>
        </p:nvSpPr>
        <p:spPr>
          <a:xfrm>
            <a:off x="7493977" y="6418330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askabiologist.asu.edu</a:t>
            </a:r>
            <a:r>
              <a:rPr lang="en-US" dirty="0"/>
              <a:t>/rods-and-cones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8D0F7A5E-F5CC-3312-AB62-7643AAB1DB84}"/>
              </a:ext>
            </a:extLst>
          </p:cNvPr>
          <p:cNvSpPr/>
          <p:nvPr/>
        </p:nvSpPr>
        <p:spPr>
          <a:xfrm>
            <a:off x="9729216" y="356288"/>
            <a:ext cx="1816608" cy="365760"/>
          </a:xfrm>
          <a:prstGeom prst="wedgeRoundRectCallout">
            <a:avLst>
              <a:gd name="adj1" fmla="val 33567"/>
              <a:gd name="adj2" fmla="val 202499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~ 6 million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C284407A-548E-A552-E359-97DD55CE34FB}"/>
              </a:ext>
            </a:extLst>
          </p:cNvPr>
          <p:cNvSpPr/>
          <p:nvPr/>
        </p:nvSpPr>
        <p:spPr>
          <a:xfrm>
            <a:off x="10251426" y="2361872"/>
            <a:ext cx="1816608" cy="365760"/>
          </a:xfrm>
          <a:prstGeom prst="wedgeRoundRectCallout">
            <a:avLst>
              <a:gd name="adj1" fmla="val 23500"/>
              <a:gd name="adj2" fmla="val -144168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~ 100 million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CAC3634B-6319-4BD3-4852-885D56AB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2DD9-2191-D72E-6C57-C8D1F720961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324EC2-BC6E-EB5D-260E-676E257F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What is expressiveness of a visual channel?</a:t>
            </a:r>
          </a:p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endParaRPr lang="en-US" sz="2400" kern="0" dirty="0">
              <a:cs typeface="Arial"/>
              <a:sym typeface="Arial"/>
            </a:endParaRPr>
          </a:p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What is effectiveness of a visual channel?</a:t>
            </a:r>
          </a:p>
        </p:txBody>
      </p:sp>
    </p:spTree>
    <p:extLst>
      <p:ext uri="{BB962C8B-B14F-4D97-AF65-F5344CB8AC3E}">
        <p14:creationId xmlns:p14="http://schemas.microsoft.com/office/powerpoint/2010/main" val="301746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8AC86DF2-DD13-584A-8FA2-17329499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3010-D60D-CBE8-AA76-8DD06F5DEF4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D4D2D8-38EF-D40D-2B03-B06719659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dirty="0"/>
              <a:t>If we use color to represent our data, an important question to ask is: “How can we choose effective colors that provide good differentiation between data elements during the visualization task?”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64DEB-71B7-1BFB-7247-3A93668E0DF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6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A62F4138-7099-1667-4CA1-5D48D82A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E66C-C161-E64F-747E-AA6ECD7344A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4654DE-DC2C-3773-EFC9-42EB9C25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dirty="0"/>
              <a:t>If we use color to represent our data, an important question to ask is: “How can we choose effective colors that provide good differentiation between data elements during the visualization task?”</a:t>
            </a:r>
          </a:p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r>
              <a:rPr lang="en-US" sz="2400" dirty="0"/>
              <a:t>How can we allow rapid and accurate identification of individual data elements through the use of color? </a:t>
            </a:r>
          </a:p>
          <a:p>
            <a:pPr>
              <a:buClr>
                <a:srgbClr val="93A299"/>
              </a:buClr>
              <a:buSzPts val="2040"/>
              <a:defRPr/>
            </a:pPr>
            <a:r>
              <a:rPr lang="en-US" sz="2400" dirty="0"/>
              <a:t>What factors determine whether a “target” element’s color will make it easy to find, relative to differently colored “nontarget” elements? </a:t>
            </a:r>
          </a:p>
          <a:p>
            <a:pPr>
              <a:buClr>
                <a:srgbClr val="93A299"/>
              </a:buClr>
              <a:buSzPts val="2040"/>
              <a:defRPr/>
            </a:pPr>
            <a:r>
              <a:rPr lang="en-US" sz="2400" dirty="0"/>
              <a:t>How many colors can we display at once, while still allowing for rapid and accurate target identification?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26A27-9B0D-CDA0-8A40-6245B901B075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8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F1D8060E-4459-F1CD-90C9-740A563F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728D-5893-5F9C-C08B-B4656514A07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81F5A8-6961-7D77-5BAB-3D015CAEF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One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Distance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Linear separation of colors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category similarity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10619-EF34-8B10-17A5-3D423E33025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71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A0521297-4424-FF8F-4491-DA939DC6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CF89-7EC5-4BE5-F65F-959D97DEFA5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6D7491-4B16-9786-278E-6E8B155B7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Distance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</a:t>
            </a:r>
            <a:r>
              <a:rPr lang="en-US" sz="2400" dirty="0"/>
              <a:t>the Euclidean distance between different colors as measured in a perceptually balanced color model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F0D8C-8796-53DF-7156-323672F8D729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  <p:pic>
        <p:nvPicPr>
          <p:cNvPr id="4" name="Picture 3" descr="What Is CIE 1976 Lab Color Space? | Konica Minolta Color, Light, and  Display Measuring Instruments">
            <a:extLst>
              <a:ext uri="{FF2B5EF4-FFF2-40B4-BE49-F238E27FC236}">
                <a16:creationId xmlns:a16="http://schemas.microsoft.com/office/drawing/2014/main" id="{52B20A84-6E4B-2BAB-68B3-6C01D087A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868" y="1915020"/>
            <a:ext cx="3810000" cy="3810000"/>
          </a:xfrm>
          <a:prstGeom prst="rect">
            <a:avLst/>
          </a:prstGeom>
        </p:spPr>
      </p:pic>
      <p:pic>
        <p:nvPicPr>
          <p:cNvPr id="6" name="Picture 5" descr="RGB - Glossary | MDN">
            <a:extLst>
              <a:ext uri="{FF2B5EF4-FFF2-40B4-BE49-F238E27FC236}">
                <a16:creationId xmlns:a16="http://schemas.microsoft.com/office/drawing/2014/main" id="{2F168F48-AC19-9796-5B90-D2B34364AE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22" r="9609"/>
          <a:stretch>
            <a:fillRect/>
          </a:stretch>
        </p:blipFill>
        <p:spPr>
          <a:xfrm>
            <a:off x="3652821" y="1932798"/>
            <a:ext cx="3539613" cy="350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9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10C696C4-E9A9-36D3-43BA-DE099C0F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DF26-EA82-48F3-3636-B65CBE2515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200915-9C51-4A07-2949-90CA816B3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L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inear</a:t>
            </a:r>
            <a:r>
              <a:rPr lang="en-US" sz="2400" b="1" kern="0" dirty="0"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Separation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</a:t>
            </a:r>
            <a:r>
              <a:rPr lang="en-US" sz="2400" dirty="0"/>
              <a:t>the ability to linearly separate targets from non-targets in the color model being used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7D801-4696-E38A-0B29-61B81E82EC81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3333A-6E61-F95B-7AA7-6621B6CB2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48" y="1604316"/>
            <a:ext cx="5044973" cy="412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4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371FDD0F-753C-BE6B-C886-4299BF83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A1CA-E602-A5FD-2EEE-56FB42B10EE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76A142-A7D0-FAFD-16FD-BAB34CDFC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Color Category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</a:t>
            </a:r>
            <a:r>
              <a:rPr lang="en-US" sz="2400" dirty="0"/>
              <a:t>the named color regions occupied by both the target and non-target elements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03E41-07AB-2C7E-7C31-6EDBEFC2001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0AF74-680E-0094-CCE3-32024E533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704" y="1727217"/>
            <a:ext cx="4594490" cy="399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311415AF-2C6F-A0CA-4A71-BBCDA337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0C1B-A773-95BB-5982-F1794DC8C46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6D5055-4E9A-4181-6192-F0884FC5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One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Distance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Linear separation of colors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category similarity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endParaRPr lang="en-US" sz="2200" kern="0" dirty="0">
              <a:cs typeface="Arial"/>
              <a:sym typeface="Arial"/>
            </a:endParaRP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endParaRPr lang="en-US" sz="2200" kern="0" dirty="0">
              <a:cs typeface="Arial"/>
              <a:sym typeface="Arial"/>
            </a:endParaRP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kern="0" dirty="0">
                <a:cs typeface="Arial"/>
                <a:sym typeface="Arial"/>
              </a:rPr>
              <a:t>What potential issues or oversights do you see with this approach?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94622-9905-2E50-2F2E-0FAC68ABE3CD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972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5A4B39E8-FF8B-8D95-8BF6-01171D99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A138-1D1A-2710-5707-5D937486307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9C157-0708-C784-F8C8-9F4C3EBA6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Another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Perceptual Distance (CIEDE2000)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Name Difference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Pair Preference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7A09F-7970-60EF-4593-6223ACA2EBC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19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7AA88AD3-7F4E-A50E-16D7-DCFA25CA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3B7B-07F1-B0C1-8FCD-C01C5DCF075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0F77AC-1B99-1F9F-5604-C8696C88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Another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Perceptual Distance (CIEDE2000)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Name Difference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Pair Preference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endParaRPr lang="en-US" sz="2200" kern="0" dirty="0">
              <a:cs typeface="Arial"/>
              <a:sym typeface="Arial"/>
            </a:endParaRP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The idea behind this approach is to prioritize aesthetically pleasing color</a:t>
            </a:r>
            <a:r>
              <a:rPr lang="en-US" sz="2400" kern="0" dirty="0">
                <a:cs typeface="Arial"/>
                <a:sym typeface="Arial"/>
              </a:rPr>
              <a:t>maps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B7044-261D-D3E3-6F1E-9B646EA1092F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</p:spTree>
    <p:extLst>
      <p:ext uri="{BB962C8B-B14F-4D97-AF65-F5344CB8AC3E}">
        <p14:creationId xmlns:p14="http://schemas.microsoft.com/office/powerpoint/2010/main" val="3499112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5E53DC96-1CEA-9CA5-6289-1E646D21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267F-608C-3C8B-9826-233607A5333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B89B60-D7B9-6544-A091-A4C1AB98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Perceptual Distance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 A measure of how perceptually distinct two colors are. They use one based off CIEDE2000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08C7C-9CD3-C6DC-F1BD-44ADB2BA72E2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CA45A-1B27-25B1-B3C3-1D0AA1BF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38" y="2154282"/>
            <a:ext cx="4598850" cy="1518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B9DBB-7AED-2AC5-1CCA-9B6FF43E3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38" y="3916539"/>
            <a:ext cx="4456124" cy="15184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29CD2D-9D8B-42B0-5BF8-8FE5BB82D438}"/>
              </a:ext>
            </a:extLst>
          </p:cNvPr>
          <p:cNvSpPr txBox="1"/>
          <p:nvPr/>
        </p:nvSpPr>
        <p:spPr>
          <a:xfrm>
            <a:off x="8850086" y="2728860"/>
            <a:ext cx="258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Perceptual Distance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9D030-B687-B514-1008-406AE9C56DE1}"/>
              </a:ext>
            </a:extLst>
          </p:cNvPr>
          <p:cNvSpPr txBox="1"/>
          <p:nvPr/>
        </p:nvSpPr>
        <p:spPr>
          <a:xfrm>
            <a:off x="8850086" y="4325713"/>
            <a:ext cx="25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Perceptual Distance</a:t>
            </a:r>
          </a:p>
        </p:txBody>
      </p:sp>
    </p:spTree>
    <p:extLst>
      <p:ext uri="{BB962C8B-B14F-4D97-AF65-F5344CB8AC3E}">
        <p14:creationId xmlns:p14="http://schemas.microsoft.com/office/powerpoint/2010/main" val="839191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D9E9DEA1-7D39-C0EA-0908-00985754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06F6-016B-5315-03B7-9C093825F8C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185592-32F8-BA72-78CC-7C9E23147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Name Difference</a:t>
            </a:r>
            <a:r>
              <a:rPr lang="en-US" sz="2400" kern="0" dirty="0">
                <a:cs typeface="Arial"/>
                <a:sym typeface="Arial"/>
              </a:rPr>
              <a:t>: captures the degree to which two colors have distinct color-name association  frequency distributions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7EE7C-5885-4D98-3A76-708EB3BE3A87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5EB109-B736-2185-C96A-829299F8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68" y="1992618"/>
            <a:ext cx="5374609" cy="1855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DF966D-E0C4-9BED-D57C-547D5C823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68" y="3939263"/>
            <a:ext cx="5357271" cy="17857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2D748F-707B-7E23-20E1-2773F1994D1D}"/>
              </a:ext>
            </a:extLst>
          </p:cNvPr>
          <p:cNvSpPr txBox="1"/>
          <p:nvPr/>
        </p:nvSpPr>
        <p:spPr>
          <a:xfrm>
            <a:off x="9541484" y="2735505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Name Difference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63541-2A6D-A276-B48A-ED1461D385A7}"/>
              </a:ext>
            </a:extLst>
          </p:cNvPr>
          <p:cNvSpPr txBox="1"/>
          <p:nvPr/>
        </p:nvSpPr>
        <p:spPr>
          <a:xfrm>
            <a:off x="9541483" y="4692086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Name Difference</a:t>
            </a:r>
          </a:p>
        </p:txBody>
      </p:sp>
    </p:spTree>
    <p:extLst>
      <p:ext uri="{BB962C8B-B14F-4D97-AF65-F5344CB8AC3E}">
        <p14:creationId xmlns:p14="http://schemas.microsoft.com/office/powerpoint/2010/main" val="1154262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9BD967C8-6773-4E83-7318-9B928132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2424-25E4-BA8E-4EE2-C9F41922299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B91C29-D106-397E-C5FF-786BEF623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Pair Preference</a:t>
            </a:r>
            <a:r>
              <a:rPr lang="en-US" sz="2400" kern="0" dirty="0">
                <a:cs typeface="Arial"/>
                <a:sym typeface="Arial"/>
              </a:rPr>
              <a:t>: reflects people’s preference for color combinations  that  contain cool colors that differ in lightness and are similar in hue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B7C47-0B91-D1DB-068F-C4DB25B21701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FDF8C8-E97D-BC24-1EA4-4AE41920D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568" y="1943684"/>
            <a:ext cx="5228014" cy="1788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FFAB10-565F-A0DF-0963-F754D4B60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68" y="3929313"/>
            <a:ext cx="5210988" cy="17369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2C5AC2-D55B-4053-C17F-42B9FB51F90B}"/>
              </a:ext>
            </a:extLst>
          </p:cNvPr>
          <p:cNvSpPr txBox="1"/>
          <p:nvPr/>
        </p:nvSpPr>
        <p:spPr>
          <a:xfrm>
            <a:off x="9541484" y="2735505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Pair Preference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C53C5-4AB0-DA98-1B07-19073AB471A5}"/>
              </a:ext>
            </a:extLst>
          </p:cNvPr>
          <p:cNvSpPr txBox="1"/>
          <p:nvPr/>
        </p:nvSpPr>
        <p:spPr>
          <a:xfrm>
            <a:off x="9541483" y="4692086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Pair Preference</a:t>
            </a:r>
          </a:p>
        </p:txBody>
      </p:sp>
    </p:spTree>
    <p:extLst>
      <p:ext uri="{BB962C8B-B14F-4D97-AF65-F5344CB8AC3E}">
        <p14:creationId xmlns:p14="http://schemas.microsoft.com/office/powerpoint/2010/main" val="398583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38F715C9-A416-F77D-5521-A20EBDC8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4C20-3B57-22EF-3F3B-C33CB90F089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A8E471-4258-843F-EE05-DCB58011D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Another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Perceptual Distance (CIEDE2000)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Name Difference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Pair Preference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kern="0" dirty="0">
                <a:cs typeface="Arial"/>
                <a:sym typeface="Arial"/>
              </a:rPr>
              <a:t>Try for yourself: </a:t>
            </a:r>
            <a:r>
              <a:rPr lang="en-US" sz="2400" kern="0" dirty="0">
                <a:cs typeface="Arial"/>
                <a:sym typeface="Arial"/>
                <a:hlinkClick r:id="rId3"/>
              </a:rPr>
              <a:t>http://vrl.cs.brown.edu/color</a:t>
            </a:r>
            <a:r>
              <a:rPr lang="en-US" sz="2400" kern="0" dirty="0">
                <a:cs typeface="Arial"/>
                <a:sym typeface="Arial"/>
              </a:rPr>
              <a:t> </a:t>
            </a: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What do you notice?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9BEA7-B2C1-AA46-4408-AB08004DF3A0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</p:spTree>
    <p:extLst>
      <p:ext uri="{BB962C8B-B14F-4D97-AF65-F5344CB8AC3E}">
        <p14:creationId xmlns:p14="http://schemas.microsoft.com/office/powerpoint/2010/main" val="4113228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2281" y="1474147"/>
            <a:ext cx="4876800" cy="3909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52"/>
          <p:cNvPicPr preferRelativeResize="0"/>
          <p:nvPr/>
        </p:nvPicPr>
        <p:blipFill rotWithShape="1">
          <a:blip r:embed="rId4">
            <a:alphaModFix/>
          </a:blip>
          <a:srcRect t="1751"/>
          <a:stretch/>
        </p:blipFill>
        <p:spPr>
          <a:xfrm>
            <a:off x="3633281" y="1232954"/>
            <a:ext cx="3352800" cy="439209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3847B8-9F7E-188B-8BB7-70209991E3A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3"/>
          <p:cNvSpPr txBox="1">
            <a:spLocks noGrp="1"/>
          </p:cNvSpPr>
          <p:nvPr>
            <p:ph type="title"/>
          </p:nvPr>
        </p:nvSpPr>
        <p:spPr>
          <a:xfrm>
            <a:off x="3493477" y="23862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1: color is perceived in context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3569677" y="1007996"/>
            <a:ext cx="4038600" cy="4038600"/>
          </a:xfrm>
          <a:prstGeom prst="rect">
            <a:avLst/>
          </a:prstGeom>
          <a:solidFill>
            <a:srgbClr val="95AA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7608277" y="1007996"/>
            <a:ext cx="4038600" cy="4038600"/>
          </a:xfrm>
          <a:prstGeom prst="rect">
            <a:avLst/>
          </a:prstGeom>
          <a:solidFill>
            <a:srgbClr val="CDDC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/>
          <p:nvPr/>
        </p:nvSpPr>
        <p:spPr>
          <a:xfrm>
            <a:off x="9170377" y="2570096"/>
            <a:ext cx="914400" cy="914400"/>
          </a:xfrm>
          <a:prstGeom prst="rect">
            <a:avLst/>
          </a:prstGeom>
          <a:solidFill>
            <a:srgbClr val="BAC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3"/>
          <p:cNvSpPr/>
          <p:nvPr/>
        </p:nvSpPr>
        <p:spPr>
          <a:xfrm>
            <a:off x="5131777" y="2570096"/>
            <a:ext cx="914400" cy="914400"/>
          </a:xfrm>
          <a:prstGeom prst="rect">
            <a:avLst/>
          </a:prstGeom>
          <a:solidFill>
            <a:srgbClr val="BAC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3"/>
          <p:cNvSpPr txBox="1"/>
          <p:nvPr/>
        </p:nvSpPr>
        <p:spPr>
          <a:xfrm>
            <a:off x="4958680" y="5351397"/>
            <a:ext cx="52991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Which small square is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darker green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?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0489F-62AD-F22A-FFE8-3F823F62049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DB271-F822-0B49-21D5-7BF0A5F933FA}"/>
              </a:ext>
            </a:extLst>
          </p:cNvPr>
          <p:cNvSpPr txBox="1"/>
          <p:nvPr/>
        </p:nvSpPr>
        <p:spPr>
          <a:xfrm>
            <a:off x="6034550" y="5858890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R.B. Lotto, &amp; D. Purves, An empirical explanation of color contrast, Proc. Natl. Acad. Sci. U.S.A. 97 (23) 12834-12839, https://</a:t>
            </a:r>
            <a:r>
              <a:rPr lang="en-US" dirty="0" err="1"/>
              <a:t>doi.org</a:t>
            </a:r>
            <a:r>
              <a:rPr lang="en-US" dirty="0"/>
              <a:t>/10.1073/pnas.210369597 (2000).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" grpId="0" animBg="1"/>
      <p:bldP spid="7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4"/>
          <p:cNvPicPr preferRelativeResize="0"/>
          <p:nvPr/>
        </p:nvPicPr>
        <p:blipFill rotWithShape="1">
          <a:blip r:embed="rId3">
            <a:alphaModFix/>
          </a:blip>
          <a:srcRect l="1055" t="4870" r="1419" b="2684"/>
          <a:stretch/>
        </p:blipFill>
        <p:spPr>
          <a:xfrm>
            <a:off x="3156420" y="1957145"/>
            <a:ext cx="8905864" cy="3376722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4"/>
          <p:cNvSpPr txBox="1">
            <a:spLocks noGrp="1"/>
          </p:cNvSpPr>
          <p:nvPr>
            <p:ph type="title"/>
          </p:nvPr>
        </p:nvSpPr>
        <p:spPr>
          <a:xfrm>
            <a:off x="3505200" y="404446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2: difference is relative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pic>
        <p:nvPicPr>
          <p:cNvPr id="732" name="Google Shape;732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0" y="1776046"/>
            <a:ext cx="9144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4AA5C6-A34C-E16E-18BE-EC974F84F03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CB183-A21F-2046-4CF7-A56C42A7606E}"/>
              </a:ext>
            </a:extLst>
          </p:cNvPr>
          <p:cNvSpPr txBox="1"/>
          <p:nvPr/>
        </p:nvSpPr>
        <p:spPr>
          <a:xfrm>
            <a:off x="6034550" y="5858890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R.B. Lotto, &amp; D. Purves, An empirical explanation of color contrast, Proc. Natl. Acad. Sci. U.S.A. 97 (23) 12834-12839, https://</a:t>
            </a:r>
            <a:r>
              <a:rPr lang="en-US" dirty="0" err="1"/>
              <a:t>doi.org</a:t>
            </a:r>
            <a:r>
              <a:rPr lang="en-US" dirty="0"/>
              <a:t>/10.1073/pnas.210369597 (2000).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C74D9D67-9C48-6E4B-3A7F-030A3516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0356-9955-00CF-7178-5501C0EEA64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phenomenon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0D99AD36-1E26-4D50-11F2-1FC7202C2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7072819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Be careful when layering colors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1F598-B013-F221-3AB7-FAA93A163E59}"/>
              </a:ext>
            </a:extLst>
          </p:cNvPr>
          <p:cNvSpPr txBox="1"/>
          <p:nvPr/>
        </p:nvSpPr>
        <p:spPr>
          <a:xfrm>
            <a:off x="7426325" y="6446183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34F1D05-9972-8670-3683-996490F0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383" y="1689100"/>
            <a:ext cx="7176916" cy="383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90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5"/>
          <p:cNvSpPr txBox="1">
            <a:spLocks noGrp="1"/>
          </p:cNvSpPr>
          <p:nvPr>
            <p:ph type="title"/>
          </p:nvPr>
        </p:nvSpPr>
        <p:spPr>
          <a:xfrm>
            <a:off x="3516407" y="228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2a: so are brightness and contrast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pic>
        <p:nvPicPr>
          <p:cNvPr id="738" name="Google Shape;738;p55"/>
          <p:cNvPicPr preferRelativeResize="0"/>
          <p:nvPr/>
        </p:nvPicPr>
        <p:blipFill rotWithShape="1">
          <a:blip r:embed="rId3"/>
          <a:srcRect t="14282" r="1535"/>
          <a:stretch/>
        </p:blipFill>
        <p:spPr>
          <a:xfrm>
            <a:off x="2895601" y="1219200"/>
            <a:ext cx="9166413" cy="4960414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5"/>
          <p:cNvSpPr/>
          <p:nvPr/>
        </p:nvSpPr>
        <p:spPr>
          <a:xfrm>
            <a:off x="48006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5"/>
          <p:cNvSpPr/>
          <p:nvPr/>
        </p:nvSpPr>
        <p:spPr>
          <a:xfrm>
            <a:off x="64770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5"/>
          <p:cNvSpPr/>
          <p:nvPr/>
        </p:nvSpPr>
        <p:spPr>
          <a:xfrm>
            <a:off x="83058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5"/>
          <p:cNvSpPr/>
          <p:nvPr/>
        </p:nvSpPr>
        <p:spPr>
          <a:xfrm>
            <a:off x="100584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5"/>
          <p:cNvSpPr/>
          <p:nvPr/>
        </p:nvSpPr>
        <p:spPr>
          <a:xfrm>
            <a:off x="2895600" y="3626913"/>
            <a:ext cx="9166413" cy="241701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F06D-A705-C896-50F8-F0CC1352EBA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208F0-8F00-F6DB-4BA5-E6C7BCC03BDA}"/>
              </a:ext>
            </a:extLst>
          </p:cNvPr>
          <p:cNvSpPr txBox="1"/>
          <p:nvPr/>
        </p:nvSpPr>
        <p:spPr>
          <a:xfrm>
            <a:off x="2917693" y="6234188"/>
            <a:ext cx="9308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Ware, Colin. (1988). Color sequences for univariate maps: theory, experiments and principles. IEEE Computer Graphics and Applications. 8. 41-49. 10.1109/38.7760.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56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4038594" y="609601"/>
            <a:ext cx="6858000" cy="5969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6"/>
          <p:cNvPicPr preferRelativeResize="0"/>
          <p:nvPr/>
        </p:nvPicPr>
        <p:blipFill rotWithShape="1">
          <a:blip r:embed="rId3">
            <a:alphaModFix/>
          </a:blip>
          <a:srcRect l="50138" r="-137"/>
          <a:stretch/>
        </p:blipFill>
        <p:spPr>
          <a:xfrm>
            <a:off x="4126985" y="609601"/>
            <a:ext cx="6858000" cy="596995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6"/>
          <p:cNvSpPr txBox="1">
            <a:spLocks noGrp="1"/>
          </p:cNvSpPr>
          <p:nvPr>
            <p:ph type="title"/>
          </p:nvPr>
        </p:nvSpPr>
        <p:spPr>
          <a:xfrm>
            <a:off x="3505193" y="228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3: mental models &gt; perception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E5953-2B00-4290-8928-E65CDF7EF6D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092CA-3898-04A5-632F-6BF87D349016}"/>
              </a:ext>
            </a:extLst>
          </p:cNvPr>
          <p:cNvSpPr txBox="1"/>
          <p:nvPr/>
        </p:nvSpPr>
        <p:spPr>
          <a:xfrm>
            <a:off x="7060790" y="6490900"/>
            <a:ext cx="6098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Adelson, Edward H. 1995. “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Checkershadow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Illusion.”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7"/>
          <p:cNvSpPr txBox="1">
            <a:spLocks noGrp="1"/>
          </p:cNvSpPr>
          <p:nvPr>
            <p:ph type="body" idx="1"/>
          </p:nvPr>
        </p:nvSpPr>
        <p:spPr>
          <a:xfrm>
            <a:off x="3404681" y="1219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Using a poor color scheme can also cause issues with your visualization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A40BA-C8B9-770F-6226-3030FD4E49F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</p:spTree>
    <p:extLst>
      <p:ext uri="{BB962C8B-B14F-4D97-AF65-F5344CB8AC3E}">
        <p14:creationId xmlns:p14="http://schemas.microsoft.com/office/powerpoint/2010/main" val="2057936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A06F-5E37-0DDB-666D-C38C182B806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D0AF24AB-2F75-2C95-6EA8-DFB6D4D83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2309767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Hue mapped to too many categories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13" name="Picture 12" descr="A graph of population growth&#10;&#10;AI-generated content may be incorrect.">
            <a:extLst>
              <a:ext uri="{FF2B5EF4-FFF2-40B4-BE49-F238E27FC236}">
                <a16:creationId xmlns:a16="http://schemas.microsoft.com/office/drawing/2014/main" id="{D9F3011C-15FE-C063-51FC-11793E653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48" y="0"/>
            <a:ext cx="5919833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3ABDD3-4A0E-9F95-1D64-0F932977EB15}"/>
              </a:ext>
            </a:extLst>
          </p:cNvPr>
          <p:cNvSpPr txBox="1"/>
          <p:nvPr/>
        </p:nvSpPr>
        <p:spPr>
          <a:xfrm>
            <a:off x="1419225" y="6475968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A874737B-5459-6072-C4D6-6384ADE4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079D-C6D5-D944-CB9C-2070E8ADBCC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F875E1A7-2556-03AB-0FD4-48A31908A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2309767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Hue not mapped to data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graph of the state&#10;&#10;AI-generated content may be incorrect.">
            <a:extLst>
              <a:ext uri="{FF2B5EF4-FFF2-40B4-BE49-F238E27FC236}">
                <a16:creationId xmlns:a16="http://schemas.microsoft.com/office/drawing/2014/main" id="{39DC3809-01BF-15A2-3308-B771CDA35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48" y="-6350"/>
            <a:ext cx="612801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3BCB9-6107-6CF8-71F7-C323EDF7E13C}"/>
              </a:ext>
            </a:extLst>
          </p:cNvPr>
          <p:cNvSpPr txBox="1"/>
          <p:nvPr/>
        </p:nvSpPr>
        <p:spPr>
          <a:xfrm>
            <a:off x="1343025" y="6482318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50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DC6770E1-5537-41B0-9A29-D846F8CE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4AE3-D200-2670-A3B3-3EB47C95BC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AA8C301F-51A6-502F-7961-AFC0192F8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7072819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Rainbow obscures real patterns (it is not monotonic)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map of the state of texas&#10;&#10;AI-generated content may be incorrect.">
            <a:extLst>
              <a:ext uri="{FF2B5EF4-FFF2-40B4-BE49-F238E27FC236}">
                <a16:creationId xmlns:a16="http://schemas.microsoft.com/office/drawing/2014/main" id="{9979FA83-7BA5-D15A-6F82-31E45C75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1339850"/>
            <a:ext cx="7772400" cy="5192913"/>
          </a:xfrm>
          <a:prstGeom prst="rect">
            <a:avLst/>
          </a:prstGeom>
        </p:spPr>
      </p:pic>
      <p:pic>
        <p:nvPicPr>
          <p:cNvPr id="8" name="Picture 7" descr="A close-up of a color chart&#10;&#10;AI-generated content may be incorrect.">
            <a:extLst>
              <a:ext uri="{FF2B5EF4-FFF2-40B4-BE49-F238E27FC236}">
                <a16:creationId xmlns:a16="http://schemas.microsoft.com/office/drawing/2014/main" id="{505424B7-0FBE-F79A-0D81-CF715AF70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618" y="2463800"/>
            <a:ext cx="7772400" cy="2257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49FFBF-8942-3611-FEE2-06AD0B3D0E1F}"/>
              </a:ext>
            </a:extLst>
          </p:cNvPr>
          <p:cNvSpPr txBox="1"/>
          <p:nvPr/>
        </p:nvSpPr>
        <p:spPr>
          <a:xfrm>
            <a:off x="7426325" y="6446183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33A8ED9A-C015-F71E-889E-87A3E0C0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69AA-6AB1-53B9-B206-57FD2AE5E9D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FAEC0DC0-3060-B7FF-AF09-B33B6FE36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02" y="1759754"/>
            <a:ext cx="8693298" cy="3338491"/>
          </a:xfrm>
          <a:prstGeom prst="rect">
            <a:avLst/>
          </a:prstGeom>
        </p:spPr>
      </p:pic>
      <p:sp>
        <p:nvSpPr>
          <p:cNvPr id="13" name="Google Shape;851;p117">
            <a:extLst>
              <a:ext uri="{FF2B5EF4-FFF2-40B4-BE49-F238E27FC236}">
                <a16:creationId xmlns:a16="http://schemas.microsoft.com/office/drawing/2014/main" id="{BDCB871E-033D-6879-73D9-C7C62F287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8693298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Similar colors are hard to differentiate 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8BAC7D-39A9-8FE4-F33C-09ABD0D02B42}"/>
              </a:ext>
            </a:extLst>
          </p:cNvPr>
          <p:cNvSpPr txBox="1"/>
          <p:nvPr/>
        </p:nvSpPr>
        <p:spPr>
          <a:xfrm>
            <a:off x="6480175" y="6211669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matthewstrom.com</a:t>
            </a:r>
            <a:r>
              <a:rPr lang="en-US" dirty="0"/>
              <a:t>/writing/how-to-pick-the-least-wrong-colors/</a:t>
            </a:r>
          </a:p>
        </p:txBody>
      </p:sp>
    </p:spTree>
    <p:extLst>
      <p:ext uri="{BB962C8B-B14F-4D97-AF65-F5344CB8AC3E}">
        <p14:creationId xmlns:p14="http://schemas.microsoft.com/office/powerpoint/2010/main" val="465422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464C118F-8267-A6D1-F8B7-B6BD0556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DD76-372C-3581-EB82-8D24055EB0E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13" name="Google Shape;851;p117">
            <a:extLst>
              <a:ext uri="{FF2B5EF4-FFF2-40B4-BE49-F238E27FC236}">
                <a16:creationId xmlns:a16="http://schemas.microsoft.com/office/drawing/2014/main" id="{F707394A-83F5-5659-D0A4-1B1E0D80A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8693298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Similar colors imply relationships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comparison of pie charts&#10;&#10;AI-generated content may be incorrect.">
            <a:extLst>
              <a:ext uri="{FF2B5EF4-FFF2-40B4-BE49-F238E27FC236}">
                <a16:creationId xmlns:a16="http://schemas.microsoft.com/office/drawing/2014/main" id="{D497E23C-9E38-03F4-EB36-3B74CA6A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046" y="1492585"/>
            <a:ext cx="8613344" cy="38728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46778-478E-A965-0985-98D8FBD12E27}"/>
              </a:ext>
            </a:extLst>
          </p:cNvPr>
          <p:cNvSpPr txBox="1"/>
          <p:nvPr/>
        </p:nvSpPr>
        <p:spPr>
          <a:xfrm>
            <a:off x="6315075" y="6211669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matthewstrom.com</a:t>
            </a:r>
            <a:r>
              <a:rPr lang="en-US" dirty="0"/>
              <a:t>/writing/how-to-pick-the-least-wrong-colors/</a:t>
            </a:r>
          </a:p>
        </p:txBody>
      </p:sp>
    </p:spTree>
    <p:extLst>
      <p:ext uri="{BB962C8B-B14F-4D97-AF65-F5344CB8AC3E}">
        <p14:creationId xmlns:p14="http://schemas.microsoft.com/office/powerpoint/2010/main" val="3134959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1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3706" r="3706"/>
          <a:stretch/>
        </p:blipFill>
        <p:spPr>
          <a:xfrm>
            <a:off x="3587261" y="1227875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121"/>
          <p:cNvSpPr txBox="1">
            <a:spLocks noGrp="1"/>
          </p:cNvSpPr>
          <p:nvPr>
            <p:ph type="body" idx="2"/>
          </p:nvPr>
        </p:nvSpPr>
        <p:spPr>
          <a:xfrm>
            <a:off x="7778261" y="1227875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out of every 8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people has just 2 types of color receptors (rather than 3)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9" name="Google Shape;889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8261" y="926123"/>
            <a:ext cx="40386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971DA-39AE-063A-68DF-1BBC7277FD8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32171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“colorblindness”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24"/>
          <p:cNvSpPr txBox="1">
            <a:spLocks noGrp="1"/>
          </p:cNvSpPr>
          <p:nvPr>
            <p:ph type="body" idx="1"/>
          </p:nvPr>
        </p:nvSpPr>
        <p:spPr>
          <a:xfrm>
            <a:off x="3511971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Need color scheme that converts well to grey scale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914" name="Google Shape;914;p124"/>
          <p:cNvPicPr preferRelativeResize="0"/>
          <p:nvPr/>
        </p:nvPicPr>
        <p:blipFill rotWithShape="1">
          <a:blip r:embed="rId3">
            <a:alphaModFix/>
          </a:blip>
          <a:srcRect b="52569"/>
          <a:stretch/>
        </p:blipFill>
        <p:spPr>
          <a:xfrm>
            <a:off x="3511971" y="2271520"/>
            <a:ext cx="8169165" cy="37100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C30DC7-FC71-B10D-9FA1-7EE6F2AC324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happens when you print?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7"/>
          <p:cNvSpPr txBox="1">
            <a:spLocks noGrp="1"/>
          </p:cNvSpPr>
          <p:nvPr>
            <p:ph type="body" idx="1"/>
          </p:nvPr>
        </p:nvSpPr>
        <p:spPr>
          <a:xfrm>
            <a:off x="3404681" y="984738"/>
            <a:ext cx="8229600" cy="51112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u="sng" dirty="0"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colorbrewer.org</a:t>
            </a:r>
            <a:r>
              <a:rPr lang="en-US" sz="2400" dirty="0">
                <a:ea typeface="Arial"/>
                <a:cs typeface="Arial"/>
                <a:sym typeface="Arial"/>
              </a:rPr>
              <a:t> provides a whole bunch of palettes that can help us avoid these issues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This makes life a lot easier for us!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117"/>
          <p:cNvPicPr preferRelativeResize="0"/>
          <p:nvPr/>
        </p:nvPicPr>
        <p:blipFill rotWithShape="1">
          <a:blip r:embed="rId4">
            <a:alphaModFix/>
          </a:blip>
          <a:srcRect r="66721"/>
          <a:stretch/>
        </p:blipFill>
        <p:spPr>
          <a:xfrm>
            <a:off x="3099882" y="2819400"/>
            <a:ext cx="2842423" cy="323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117"/>
          <p:cNvPicPr preferRelativeResize="0"/>
          <p:nvPr/>
        </p:nvPicPr>
        <p:blipFill rotWithShape="1">
          <a:blip r:embed="rId4">
            <a:alphaModFix/>
          </a:blip>
          <a:srcRect l="32714" r="33376"/>
          <a:stretch/>
        </p:blipFill>
        <p:spPr>
          <a:xfrm>
            <a:off x="6071682" y="2819400"/>
            <a:ext cx="2896343" cy="323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17"/>
          <p:cNvPicPr preferRelativeResize="0"/>
          <p:nvPr/>
        </p:nvPicPr>
        <p:blipFill rotWithShape="1">
          <a:blip r:embed="rId4">
            <a:alphaModFix/>
          </a:blip>
          <a:srcRect l="67654"/>
          <a:stretch/>
        </p:blipFill>
        <p:spPr>
          <a:xfrm>
            <a:off x="9176327" y="2857244"/>
            <a:ext cx="2762754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4A40BA-C8B9-770F-6226-3030FD4E49F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</p:spTree>
    <p:extLst>
      <p:ext uri="{BB962C8B-B14F-4D97-AF65-F5344CB8AC3E}">
        <p14:creationId xmlns:p14="http://schemas.microsoft.com/office/powerpoint/2010/main" val="75529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>
          <a:extLst>
            <a:ext uri="{FF2B5EF4-FFF2-40B4-BE49-F238E27FC236}">
              <a16:creationId xmlns:a16="http://schemas.microsoft.com/office/drawing/2014/main" id="{F801E831-0885-257B-0349-4D1342F4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7700-6115-617E-1387-D07AA1B26B8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  <p:pic>
        <p:nvPicPr>
          <p:cNvPr id="7" name="Picture 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10A0EB6-179D-B2A9-F6C0-B18B1775B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593" y="1574800"/>
            <a:ext cx="6654800" cy="4940300"/>
          </a:xfrm>
          <a:prstGeom prst="rect">
            <a:avLst/>
          </a:prstGeom>
        </p:spPr>
      </p:pic>
      <p:pic>
        <p:nvPicPr>
          <p:cNvPr id="852" name="Google Shape;852;p117">
            <a:extLst>
              <a:ext uri="{FF2B5EF4-FFF2-40B4-BE49-F238E27FC236}">
                <a16:creationId xmlns:a16="http://schemas.microsoft.com/office/drawing/2014/main" id="{C2BAE4AE-9715-2053-5CF3-D74CCF8A16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6721"/>
          <a:stretch/>
        </p:blipFill>
        <p:spPr>
          <a:xfrm>
            <a:off x="3544382" y="342900"/>
            <a:ext cx="2842423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278FDB87-6CA5-E324-21D1-B2A2A57243A0}"/>
              </a:ext>
            </a:extLst>
          </p:cNvPr>
          <p:cNvSpPr/>
          <p:nvPr/>
        </p:nvSpPr>
        <p:spPr>
          <a:xfrm>
            <a:off x="6730786" y="873901"/>
            <a:ext cx="3413760" cy="499872"/>
          </a:xfrm>
          <a:prstGeom prst="wedgeRoundRectCallout">
            <a:avLst>
              <a:gd name="adj1" fmla="val -74214"/>
              <a:gd name="adj2" fmla="val -105230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Good for nominal data</a:t>
            </a:r>
          </a:p>
        </p:txBody>
      </p:sp>
    </p:spTree>
    <p:extLst>
      <p:ext uri="{BB962C8B-B14F-4D97-AF65-F5344CB8AC3E}">
        <p14:creationId xmlns:p14="http://schemas.microsoft.com/office/powerpoint/2010/main" val="192505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>
          <a:extLst>
            <a:ext uri="{FF2B5EF4-FFF2-40B4-BE49-F238E27FC236}">
              <a16:creationId xmlns:a16="http://schemas.microsoft.com/office/drawing/2014/main" id="{9CFB1529-6EA1-77FF-5A1C-7518F4A0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44ED-14A8-F87D-1A4E-600C5612207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  <p:pic>
        <p:nvPicPr>
          <p:cNvPr id="4" name="Picture 3" descr="A map of the united states of america&#10;&#10;AI-generated content may be incorrect.">
            <a:extLst>
              <a:ext uri="{FF2B5EF4-FFF2-40B4-BE49-F238E27FC236}">
                <a16:creationId xmlns:a16="http://schemas.microsoft.com/office/drawing/2014/main" id="{C61BAF02-A5EF-F408-C41F-9D3EA97B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881" y="1460500"/>
            <a:ext cx="6299200" cy="5219700"/>
          </a:xfrm>
          <a:prstGeom prst="rect">
            <a:avLst/>
          </a:prstGeom>
        </p:spPr>
      </p:pic>
      <p:pic>
        <p:nvPicPr>
          <p:cNvPr id="853" name="Google Shape;853;p117">
            <a:extLst>
              <a:ext uri="{FF2B5EF4-FFF2-40B4-BE49-F238E27FC236}">
                <a16:creationId xmlns:a16="http://schemas.microsoft.com/office/drawing/2014/main" id="{596A5633-7985-0E18-FDE2-4969468AF7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2714" r="33376"/>
          <a:stretch/>
        </p:blipFill>
        <p:spPr>
          <a:xfrm>
            <a:off x="3633282" y="279400"/>
            <a:ext cx="2896343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6C92561F-5EEC-F927-09A3-4E56A2FA8140}"/>
              </a:ext>
            </a:extLst>
          </p:cNvPr>
          <p:cNvSpPr/>
          <p:nvPr/>
        </p:nvSpPr>
        <p:spPr>
          <a:xfrm>
            <a:off x="6730786" y="873900"/>
            <a:ext cx="3778718" cy="808595"/>
          </a:xfrm>
          <a:prstGeom prst="wedgeRoundRectCallout">
            <a:avLst>
              <a:gd name="adj1" fmla="val -74214"/>
              <a:gd name="adj2" fmla="val -105230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Good for sequential ordinal &amp;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194232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>
          <a:extLst>
            <a:ext uri="{FF2B5EF4-FFF2-40B4-BE49-F238E27FC236}">
              <a16:creationId xmlns:a16="http://schemas.microsoft.com/office/drawing/2014/main" id="{9503EC5A-E6BE-A90E-F289-02114847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A5D3-D5EC-C310-087A-67466ADC110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E17245F6-AC0F-5D71-190A-828F7033D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681" y="1274828"/>
            <a:ext cx="6248400" cy="5397500"/>
          </a:xfrm>
          <a:prstGeom prst="rect">
            <a:avLst/>
          </a:prstGeom>
        </p:spPr>
      </p:pic>
      <p:pic>
        <p:nvPicPr>
          <p:cNvPr id="854" name="Google Shape;854;p117">
            <a:extLst>
              <a:ext uri="{FF2B5EF4-FFF2-40B4-BE49-F238E27FC236}">
                <a16:creationId xmlns:a16="http://schemas.microsoft.com/office/drawing/2014/main" id="{981BEF92-7CE3-BCCA-D5BD-4A88408143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7654"/>
          <a:stretch/>
        </p:blipFill>
        <p:spPr>
          <a:xfrm>
            <a:off x="3461327" y="185672"/>
            <a:ext cx="2762754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E257A7E8-B823-F1C7-D926-7AA57546BCAF}"/>
              </a:ext>
            </a:extLst>
          </p:cNvPr>
          <p:cNvSpPr/>
          <p:nvPr/>
        </p:nvSpPr>
        <p:spPr>
          <a:xfrm>
            <a:off x="6718594" y="719539"/>
            <a:ext cx="3778718" cy="808595"/>
          </a:xfrm>
          <a:prstGeom prst="wedgeRoundRectCallout">
            <a:avLst>
              <a:gd name="adj1" fmla="val -73246"/>
              <a:gd name="adj2" fmla="val -79597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Good for diverging ordinal &amp;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275725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7"/>
          <p:cNvSpPr txBox="1">
            <a:spLocks noGrp="1"/>
          </p:cNvSpPr>
          <p:nvPr>
            <p:ph type="body" idx="1"/>
          </p:nvPr>
        </p:nvSpPr>
        <p:spPr>
          <a:xfrm>
            <a:off x="3540370" y="84822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Visualization is about more than just aesthetics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There are compelling </a:t>
            </a:r>
            <a:r>
              <a:rPr lang="en-US" sz="2400" b="1" dirty="0">
                <a:ea typeface="Arial"/>
                <a:cs typeface="Arial"/>
                <a:sym typeface="Arial"/>
              </a:rPr>
              <a:t>cognitive reasons </a:t>
            </a:r>
            <a:r>
              <a:rPr lang="en-US" sz="2400" dirty="0">
                <a:ea typeface="Arial"/>
                <a:cs typeface="Arial"/>
                <a:sym typeface="Arial"/>
              </a:rPr>
              <a:t>why some visualization techniques are helpful and others aren’t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The choices we make about </a:t>
            </a:r>
            <a:r>
              <a:rPr lang="en-US" sz="2400" b="1" dirty="0">
                <a:ea typeface="Arial"/>
                <a:cs typeface="Arial"/>
                <a:sym typeface="Arial"/>
              </a:rPr>
              <a:t>visual mappings </a:t>
            </a:r>
            <a:r>
              <a:rPr lang="en-US" sz="2400" dirty="0">
                <a:ea typeface="Arial"/>
                <a:cs typeface="Arial"/>
                <a:sym typeface="Arial"/>
              </a:rPr>
              <a:t>can have a significant effect on performance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F681F-3A98-220F-577D-FB6DF32413D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Takeaways: Perception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8"/>
          <p:cNvSpPr txBox="1">
            <a:spLocks noGrp="1"/>
          </p:cNvSpPr>
          <p:nvPr>
            <p:ph type="body" idx="1"/>
          </p:nvPr>
        </p:nvSpPr>
        <p:spPr>
          <a:xfrm>
            <a:off x="3540369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Work with a classmate or 2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Find a two visualizations from trusted sources the visually encode data via color. One should use hue and the other saturation.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Assess the use of color: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Is it perceptually accurate and easy to read?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Is it aesthetically pleasing?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Are there any optical illusions?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What would you change if you were to re-design the visualization?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5FC97-22B7-088A-A951-6AF017EB9D5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Your turn!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1156</TotalTime>
  <Words>1994</Words>
  <Application>Microsoft Macintosh PowerPoint</Application>
  <PresentationFormat>Widescreen</PresentationFormat>
  <Paragraphs>169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Corbel</vt:lpstr>
      <vt:lpstr>Roboto</vt:lpstr>
      <vt:lpstr>Wingdings 2</vt:lpstr>
      <vt:lpstr>Frame</vt:lpstr>
      <vt:lpstr>Communicating with Data – Color</vt:lpstr>
      <vt:lpstr>Plan for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Caveat 1: color is perceived in context</vt:lpstr>
      <vt:lpstr>Caveat 2: difference is relative</vt:lpstr>
      <vt:lpstr>PowerPoint Presentation</vt:lpstr>
      <vt:lpstr>Caveat 2a: so are brightness and contrast</vt:lpstr>
      <vt:lpstr>Caveat 3: mental models &gt; perception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39</cp:revision>
  <dcterms:created xsi:type="dcterms:W3CDTF">2023-08-03T18:49:17Z</dcterms:created>
  <dcterms:modified xsi:type="dcterms:W3CDTF">2026-09-03T20:07:49Z</dcterms:modified>
</cp:coreProperties>
</file>