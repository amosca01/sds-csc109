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41"/>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93" r:id="rId30"/>
    <p:sldId id="285" r:id="rId31"/>
    <p:sldId id="286" r:id="rId32"/>
    <p:sldId id="288" r:id="rId33"/>
    <p:sldId id="287" r:id="rId34"/>
    <p:sldId id="289" r:id="rId35"/>
    <p:sldId id="290" r:id="rId36"/>
    <p:sldId id="292" r:id="rId37"/>
    <p:sldId id="291" r:id="rId38"/>
    <p:sldId id="294" r:id="rId39"/>
    <p:sldId id="295"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43"/>
    <p:restoredTop sz="68921"/>
  </p:normalViewPr>
  <p:slideViewPr>
    <p:cSldViewPr snapToGrid="0">
      <p:cViewPr varScale="1">
        <p:scale>
          <a:sx n="90" d="100"/>
          <a:sy n="90" d="100"/>
        </p:scale>
        <p:origin x="116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9/11/26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10</a:t>
            </a:fld>
            <a:endParaRPr lang="en-US"/>
          </a:p>
        </p:txBody>
      </p:sp>
    </p:spTree>
    <p:extLst>
      <p:ext uri="{BB962C8B-B14F-4D97-AF65-F5344CB8AC3E}">
        <p14:creationId xmlns:p14="http://schemas.microsoft.com/office/powerpoint/2010/main" val="1384328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FB29D-EF60-EDA0-B48A-8CB0DBDDEB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51362-7F16-0632-3693-6BBA25EE9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178C6-88D7-0F8E-8E03-FEDCDC7E49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E0C462-39C3-1FD7-0565-C3BCDA9609C3}"/>
              </a:ext>
            </a:extLst>
          </p:cNvPr>
          <p:cNvSpPr>
            <a:spLocks noGrp="1"/>
          </p:cNvSpPr>
          <p:nvPr>
            <p:ph type="sldNum" sz="quarter" idx="5"/>
          </p:nvPr>
        </p:nvSpPr>
        <p:spPr/>
        <p:txBody>
          <a:bodyPr/>
          <a:lstStyle/>
          <a:p>
            <a:fld id="{E666506D-5C9B-294C-B2AE-15ACE8B5B9F7}" type="slidenum">
              <a:rPr lang="en-US" smtClean="0"/>
              <a:t>11</a:t>
            </a:fld>
            <a:endParaRPr lang="en-US"/>
          </a:p>
        </p:txBody>
      </p:sp>
    </p:spTree>
    <p:extLst>
      <p:ext uri="{BB962C8B-B14F-4D97-AF65-F5344CB8AC3E}">
        <p14:creationId xmlns:p14="http://schemas.microsoft.com/office/powerpoint/2010/main" val="2869646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DAB26-E362-705C-F23B-E2E59086A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4E33E-62A0-6BD2-9AFD-5A7CB36FD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B98F0-E659-3816-9923-597644EF1D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9883DC-6E5A-193C-6866-14292A94C235}"/>
              </a:ext>
            </a:extLst>
          </p:cNvPr>
          <p:cNvSpPr>
            <a:spLocks noGrp="1"/>
          </p:cNvSpPr>
          <p:nvPr>
            <p:ph type="sldNum" sz="quarter" idx="5"/>
          </p:nvPr>
        </p:nvSpPr>
        <p:spPr/>
        <p:txBody>
          <a:bodyPr/>
          <a:lstStyle/>
          <a:p>
            <a:fld id="{E666506D-5C9B-294C-B2AE-15ACE8B5B9F7}" type="slidenum">
              <a:rPr lang="en-US" smtClean="0"/>
              <a:t>12</a:t>
            </a:fld>
            <a:endParaRPr lang="en-US"/>
          </a:p>
        </p:txBody>
      </p:sp>
    </p:spTree>
    <p:extLst>
      <p:ext uri="{BB962C8B-B14F-4D97-AF65-F5344CB8AC3E}">
        <p14:creationId xmlns:p14="http://schemas.microsoft.com/office/powerpoint/2010/main" val="2119153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24069-6DCA-D6DC-F911-7B3B8BCAC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0243B-4753-7097-3FBB-49F7BCF35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323562-72CC-0A4B-5FA8-2B3278CCB7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7F4A45-1C9D-7947-8272-5249D9B45F61}"/>
              </a:ext>
            </a:extLst>
          </p:cNvPr>
          <p:cNvSpPr>
            <a:spLocks noGrp="1"/>
          </p:cNvSpPr>
          <p:nvPr>
            <p:ph type="sldNum" sz="quarter" idx="5"/>
          </p:nvPr>
        </p:nvSpPr>
        <p:spPr/>
        <p:txBody>
          <a:bodyPr/>
          <a:lstStyle/>
          <a:p>
            <a:fld id="{E666506D-5C9B-294C-B2AE-15ACE8B5B9F7}" type="slidenum">
              <a:rPr lang="en-US" smtClean="0"/>
              <a:t>13</a:t>
            </a:fld>
            <a:endParaRPr lang="en-US"/>
          </a:p>
        </p:txBody>
      </p:sp>
    </p:spTree>
    <p:extLst>
      <p:ext uri="{BB962C8B-B14F-4D97-AF65-F5344CB8AC3E}">
        <p14:creationId xmlns:p14="http://schemas.microsoft.com/office/powerpoint/2010/main" val="100526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C7B1F-A86E-3BBC-A691-E8BB8BAB3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4235F-DF9D-4068-8B7F-D86E4BA96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BBCCE-9AF6-5EBF-F998-64B34ACC11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86B75D-364F-2DDF-7950-5030ABC525DA}"/>
              </a:ext>
            </a:extLst>
          </p:cNvPr>
          <p:cNvSpPr>
            <a:spLocks noGrp="1"/>
          </p:cNvSpPr>
          <p:nvPr>
            <p:ph type="sldNum" sz="quarter" idx="5"/>
          </p:nvPr>
        </p:nvSpPr>
        <p:spPr/>
        <p:txBody>
          <a:bodyPr/>
          <a:lstStyle/>
          <a:p>
            <a:fld id="{E666506D-5C9B-294C-B2AE-15ACE8B5B9F7}" type="slidenum">
              <a:rPr lang="en-US" smtClean="0"/>
              <a:t>14</a:t>
            </a:fld>
            <a:endParaRPr lang="en-US"/>
          </a:p>
        </p:txBody>
      </p:sp>
    </p:spTree>
    <p:extLst>
      <p:ext uri="{BB962C8B-B14F-4D97-AF65-F5344CB8AC3E}">
        <p14:creationId xmlns:p14="http://schemas.microsoft.com/office/powerpoint/2010/main" val="1431100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6E7C-0B2F-BF60-08BD-6661CAD1F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74156-C1BF-D8BB-3E09-C0FD305972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1EB8C-6834-9BC8-87EA-19C9D1D299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D06660-94D2-4A9C-FDCD-87A302110167}"/>
              </a:ext>
            </a:extLst>
          </p:cNvPr>
          <p:cNvSpPr>
            <a:spLocks noGrp="1"/>
          </p:cNvSpPr>
          <p:nvPr>
            <p:ph type="sldNum" sz="quarter" idx="5"/>
          </p:nvPr>
        </p:nvSpPr>
        <p:spPr/>
        <p:txBody>
          <a:bodyPr/>
          <a:lstStyle/>
          <a:p>
            <a:fld id="{E666506D-5C9B-294C-B2AE-15ACE8B5B9F7}" type="slidenum">
              <a:rPr lang="en-US" smtClean="0"/>
              <a:t>16</a:t>
            </a:fld>
            <a:endParaRPr lang="en-US"/>
          </a:p>
        </p:txBody>
      </p:sp>
    </p:spTree>
    <p:extLst>
      <p:ext uri="{BB962C8B-B14F-4D97-AF65-F5344CB8AC3E}">
        <p14:creationId xmlns:p14="http://schemas.microsoft.com/office/powerpoint/2010/main" val="3568731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EC825-D7AC-3286-F6DD-EF5741DCA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EEFC3-CBB9-7300-6906-4B0009D17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EEC202-5802-BAEB-4755-1D707EB53B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3EE8C4-CB5F-45FA-8DFB-9D562412F10D}"/>
              </a:ext>
            </a:extLst>
          </p:cNvPr>
          <p:cNvSpPr>
            <a:spLocks noGrp="1"/>
          </p:cNvSpPr>
          <p:nvPr>
            <p:ph type="sldNum" sz="quarter" idx="5"/>
          </p:nvPr>
        </p:nvSpPr>
        <p:spPr/>
        <p:txBody>
          <a:bodyPr/>
          <a:lstStyle/>
          <a:p>
            <a:fld id="{E666506D-5C9B-294C-B2AE-15ACE8B5B9F7}" type="slidenum">
              <a:rPr lang="en-US" smtClean="0"/>
              <a:t>17</a:t>
            </a:fld>
            <a:endParaRPr lang="en-US"/>
          </a:p>
        </p:txBody>
      </p:sp>
    </p:spTree>
    <p:extLst>
      <p:ext uri="{BB962C8B-B14F-4D97-AF65-F5344CB8AC3E}">
        <p14:creationId xmlns:p14="http://schemas.microsoft.com/office/powerpoint/2010/main" val="1279061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955DE-F26C-BB73-019D-5BE006D51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8F7F8-4C6D-8A43-B627-8157D02D5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9940A-A0FD-40A8-D87C-FB99B4E092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5E45DC-A824-A11C-9971-5B9EBC608ACF}"/>
              </a:ext>
            </a:extLst>
          </p:cNvPr>
          <p:cNvSpPr>
            <a:spLocks noGrp="1"/>
          </p:cNvSpPr>
          <p:nvPr>
            <p:ph type="sldNum" sz="quarter" idx="5"/>
          </p:nvPr>
        </p:nvSpPr>
        <p:spPr/>
        <p:txBody>
          <a:bodyPr/>
          <a:lstStyle/>
          <a:p>
            <a:fld id="{E666506D-5C9B-294C-B2AE-15ACE8B5B9F7}" type="slidenum">
              <a:rPr lang="en-US" smtClean="0"/>
              <a:t>18</a:t>
            </a:fld>
            <a:endParaRPr lang="en-US"/>
          </a:p>
        </p:txBody>
      </p:sp>
    </p:spTree>
    <p:extLst>
      <p:ext uri="{BB962C8B-B14F-4D97-AF65-F5344CB8AC3E}">
        <p14:creationId xmlns:p14="http://schemas.microsoft.com/office/powerpoint/2010/main" val="3655012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CF7E7-F1BC-7DE8-8286-65DF48852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703F4-B55C-AFC7-93C7-24708E9C9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164B2-7E3D-495E-03C1-5081D0658D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968FA7-ABF4-1718-2EE5-A0CD2D54838B}"/>
              </a:ext>
            </a:extLst>
          </p:cNvPr>
          <p:cNvSpPr>
            <a:spLocks noGrp="1"/>
          </p:cNvSpPr>
          <p:nvPr>
            <p:ph type="sldNum" sz="quarter" idx="5"/>
          </p:nvPr>
        </p:nvSpPr>
        <p:spPr/>
        <p:txBody>
          <a:bodyPr/>
          <a:lstStyle/>
          <a:p>
            <a:fld id="{E666506D-5C9B-294C-B2AE-15ACE8B5B9F7}" type="slidenum">
              <a:rPr lang="en-US" smtClean="0"/>
              <a:t>19</a:t>
            </a:fld>
            <a:endParaRPr lang="en-US"/>
          </a:p>
        </p:txBody>
      </p:sp>
    </p:spTree>
    <p:extLst>
      <p:ext uri="{BB962C8B-B14F-4D97-AF65-F5344CB8AC3E}">
        <p14:creationId xmlns:p14="http://schemas.microsoft.com/office/powerpoint/2010/main" val="4283466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9AADE-582C-6F6C-48C6-B9DB8624F6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2F3B4-E989-1CA1-2095-A93060266C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3B4DB-18DC-94FF-F277-9613FCC5B3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660FC1-0ECB-F71E-696B-9503D9E3E361}"/>
              </a:ext>
            </a:extLst>
          </p:cNvPr>
          <p:cNvSpPr>
            <a:spLocks noGrp="1"/>
          </p:cNvSpPr>
          <p:nvPr>
            <p:ph type="sldNum" sz="quarter" idx="5"/>
          </p:nvPr>
        </p:nvSpPr>
        <p:spPr/>
        <p:txBody>
          <a:bodyPr/>
          <a:lstStyle/>
          <a:p>
            <a:fld id="{E666506D-5C9B-294C-B2AE-15ACE8B5B9F7}" type="slidenum">
              <a:rPr lang="en-US" smtClean="0"/>
              <a:t>20</a:t>
            </a:fld>
            <a:endParaRPr lang="en-US"/>
          </a:p>
        </p:txBody>
      </p:sp>
    </p:spTree>
    <p:extLst>
      <p:ext uri="{BB962C8B-B14F-4D97-AF65-F5344CB8AC3E}">
        <p14:creationId xmlns:p14="http://schemas.microsoft.com/office/powerpoint/2010/main" val="1054153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0D9E5-EEDC-9695-6278-D6452EA41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02A9B-705E-1852-ED66-7117C220C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42236-7B50-5A6E-D112-C35664A97F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D29A4D-14DE-988F-AE66-06A2B482B883}"/>
              </a:ext>
            </a:extLst>
          </p:cNvPr>
          <p:cNvSpPr>
            <a:spLocks noGrp="1"/>
          </p:cNvSpPr>
          <p:nvPr>
            <p:ph type="sldNum" sz="quarter" idx="5"/>
          </p:nvPr>
        </p:nvSpPr>
        <p:spPr/>
        <p:txBody>
          <a:bodyPr/>
          <a:lstStyle/>
          <a:p>
            <a:fld id="{E666506D-5C9B-294C-B2AE-15ACE8B5B9F7}" type="slidenum">
              <a:rPr lang="en-US" smtClean="0"/>
              <a:t>21</a:t>
            </a:fld>
            <a:endParaRPr lang="en-US"/>
          </a:p>
        </p:txBody>
      </p:sp>
    </p:spTree>
    <p:extLst>
      <p:ext uri="{BB962C8B-B14F-4D97-AF65-F5344CB8AC3E}">
        <p14:creationId xmlns:p14="http://schemas.microsoft.com/office/powerpoint/2010/main" val="4264525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86ECB-005C-F0F7-62C7-167C599AB7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C879F-23F8-8180-3789-FD96DFD22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ECB4B-F02F-4831-F229-91F33887A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777327-291E-DFEA-4A78-4E9A8017E157}"/>
              </a:ext>
            </a:extLst>
          </p:cNvPr>
          <p:cNvSpPr>
            <a:spLocks noGrp="1"/>
          </p:cNvSpPr>
          <p:nvPr>
            <p:ph type="sldNum" sz="quarter" idx="5"/>
          </p:nvPr>
        </p:nvSpPr>
        <p:spPr/>
        <p:txBody>
          <a:bodyPr/>
          <a:lstStyle/>
          <a:p>
            <a:fld id="{E666506D-5C9B-294C-B2AE-15ACE8B5B9F7}" type="slidenum">
              <a:rPr lang="en-US" smtClean="0"/>
              <a:t>22</a:t>
            </a:fld>
            <a:endParaRPr lang="en-US"/>
          </a:p>
        </p:txBody>
      </p:sp>
    </p:spTree>
    <p:extLst>
      <p:ext uri="{BB962C8B-B14F-4D97-AF65-F5344CB8AC3E}">
        <p14:creationId xmlns:p14="http://schemas.microsoft.com/office/powerpoint/2010/main" val="2143838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FABB9-DAE2-C45D-C9B6-94E8097D3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AC0F3B-8B4C-DDF9-9CF0-AB8A4CEFEF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87566-9BEC-0B3C-9A99-329EB02DED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6226CF-206D-4CB0-7E45-361D6CD3B023}"/>
              </a:ext>
            </a:extLst>
          </p:cNvPr>
          <p:cNvSpPr>
            <a:spLocks noGrp="1"/>
          </p:cNvSpPr>
          <p:nvPr>
            <p:ph type="sldNum" sz="quarter" idx="5"/>
          </p:nvPr>
        </p:nvSpPr>
        <p:spPr/>
        <p:txBody>
          <a:bodyPr/>
          <a:lstStyle/>
          <a:p>
            <a:fld id="{E666506D-5C9B-294C-B2AE-15ACE8B5B9F7}" type="slidenum">
              <a:rPr lang="en-US" smtClean="0"/>
              <a:t>23</a:t>
            </a:fld>
            <a:endParaRPr lang="en-US"/>
          </a:p>
        </p:txBody>
      </p:sp>
    </p:spTree>
    <p:extLst>
      <p:ext uri="{BB962C8B-B14F-4D97-AF65-F5344CB8AC3E}">
        <p14:creationId xmlns:p14="http://schemas.microsoft.com/office/powerpoint/2010/main" val="15769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5693C-3CA1-B161-64BA-F9DAF25BE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18E1D-1E9C-FCD4-6BDD-0C3AC924CC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F7D23-C7A1-4863-F30F-33DE36471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709CDF-DABA-71D0-5DF1-7CB0DB7F8AD6}"/>
              </a:ext>
            </a:extLst>
          </p:cNvPr>
          <p:cNvSpPr>
            <a:spLocks noGrp="1"/>
          </p:cNvSpPr>
          <p:nvPr>
            <p:ph type="sldNum" sz="quarter" idx="5"/>
          </p:nvPr>
        </p:nvSpPr>
        <p:spPr/>
        <p:txBody>
          <a:bodyPr/>
          <a:lstStyle/>
          <a:p>
            <a:fld id="{E666506D-5C9B-294C-B2AE-15ACE8B5B9F7}" type="slidenum">
              <a:rPr lang="en-US" smtClean="0"/>
              <a:t>24</a:t>
            </a:fld>
            <a:endParaRPr lang="en-US"/>
          </a:p>
        </p:txBody>
      </p:sp>
    </p:spTree>
    <p:extLst>
      <p:ext uri="{BB962C8B-B14F-4D97-AF65-F5344CB8AC3E}">
        <p14:creationId xmlns:p14="http://schemas.microsoft.com/office/powerpoint/2010/main" val="27091487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CBDC2-2518-20D5-F294-9DE231A1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EFE9B-C806-B4A0-B23C-FB93D6525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01B1F-F4D7-00B6-5BFD-CF947D6B17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91C330-8E28-9747-06EA-7DE2881551CA}"/>
              </a:ext>
            </a:extLst>
          </p:cNvPr>
          <p:cNvSpPr>
            <a:spLocks noGrp="1"/>
          </p:cNvSpPr>
          <p:nvPr>
            <p:ph type="sldNum" sz="quarter" idx="5"/>
          </p:nvPr>
        </p:nvSpPr>
        <p:spPr/>
        <p:txBody>
          <a:bodyPr/>
          <a:lstStyle/>
          <a:p>
            <a:fld id="{E666506D-5C9B-294C-B2AE-15ACE8B5B9F7}" type="slidenum">
              <a:rPr lang="en-US" smtClean="0"/>
              <a:t>25</a:t>
            </a:fld>
            <a:endParaRPr lang="en-US"/>
          </a:p>
        </p:txBody>
      </p:sp>
    </p:spTree>
    <p:extLst>
      <p:ext uri="{BB962C8B-B14F-4D97-AF65-F5344CB8AC3E}">
        <p14:creationId xmlns:p14="http://schemas.microsoft.com/office/powerpoint/2010/main" val="1371175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6C0EA-EA95-A0A5-09F5-A7273CBBF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7793F-E7A1-4871-BA45-965E5A08D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762ED-4B39-FF14-EB21-8B216CC9C7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B13749-8095-FA1F-0B11-6EEC808FDB07}"/>
              </a:ext>
            </a:extLst>
          </p:cNvPr>
          <p:cNvSpPr>
            <a:spLocks noGrp="1"/>
          </p:cNvSpPr>
          <p:nvPr>
            <p:ph type="sldNum" sz="quarter" idx="5"/>
          </p:nvPr>
        </p:nvSpPr>
        <p:spPr/>
        <p:txBody>
          <a:bodyPr/>
          <a:lstStyle/>
          <a:p>
            <a:fld id="{E666506D-5C9B-294C-B2AE-15ACE8B5B9F7}" type="slidenum">
              <a:rPr lang="en-US" smtClean="0"/>
              <a:t>26</a:t>
            </a:fld>
            <a:endParaRPr lang="en-US"/>
          </a:p>
        </p:txBody>
      </p:sp>
    </p:spTree>
    <p:extLst>
      <p:ext uri="{BB962C8B-B14F-4D97-AF65-F5344CB8AC3E}">
        <p14:creationId xmlns:p14="http://schemas.microsoft.com/office/powerpoint/2010/main" val="3826230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B76B3-9D92-B2EC-A98B-ADFD52397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E4F5D-E598-5DE9-5161-3B2FDC1F3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6777D-039F-5A22-980A-7A9ED4DA82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01606E-4B8E-FA33-6D09-F828CF8C17A1}"/>
              </a:ext>
            </a:extLst>
          </p:cNvPr>
          <p:cNvSpPr>
            <a:spLocks noGrp="1"/>
          </p:cNvSpPr>
          <p:nvPr>
            <p:ph type="sldNum" sz="quarter" idx="5"/>
          </p:nvPr>
        </p:nvSpPr>
        <p:spPr/>
        <p:txBody>
          <a:bodyPr/>
          <a:lstStyle/>
          <a:p>
            <a:fld id="{E666506D-5C9B-294C-B2AE-15ACE8B5B9F7}" type="slidenum">
              <a:rPr lang="en-US" smtClean="0"/>
              <a:t>27</a:t>
            </a:fld>
            <a:endParaRPr lang="en-US"/>
          </a:p>
        </p:txBody>
      </p:sp>
    </p:spTree>
    <p:extLst>
      <p:ext uri="{BB962C8B-B14F-4D97-AF65-F5344CB8AC3E}">
        <p14:creationId xmlns:p14="http://schemas.microsoft.com/office/powerpoint/2010/main" val="16190675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BE096-183E-540C-DF13-18B2EC079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6058E-E665-1AB9-1AF6-56AE3410C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18458-EB64-E0D5-1E49-83A943525F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58715F-30B8-5D48-164A-1BF416128155}"/>
              </a:ext>
            </a:extLst>
          </p:cNvPr>
          <p:cNvSpPr>
            <a:spLocks noGrp="1"/>
          </p:cNvSpPr>
          <p:nvPr>
            <p:ph type="sldNum" sz="quarter" idx="5"/>
          </p:nvPr>
        </p:nvSpPr>
        <p:spPr/>
        <p:txBody>
          <a:bodyPr/>
          <a:lstStyle/>
          <a:p>
            <a:fld id="{E666506D-5C9B-294C-B2AE-15ACE8B5B9F7}" type="slidenum">
              <a:rPr lang="en-US" smtClean="0"/>
              <a:t>28</a:t>
            </a:fld>
            <a:endParaRPr lang="en-US"/>
          </a:p>
        </p:txBody>
      </p:sp>
    </p:spTree>
    <p:extLst>
      <p:ext uri="{BB962C8B-B14F-4D97-AF65-F5344CB8AC3E}">
        <p14:creationId xmlns:p14="http://schemas.microsoft.com/office/powerpoint/2010/main" val="3003172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7FCF8-F1E9-247B-BB7B-5793CBB86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25086-FE5E-2853-E14E-79C612348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AE6BA-4B8F-4B29-DF2D-24EE68209D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C61E31-E744-C9C4-8385-32A27BED5BE4}"/>
              </a:ext>
            </a:extLst>
          </p:cNvPr>
          <p:cNvSpPr>
            <a:spLocks noGrp="1"/>
          </p:cNvSpPr>
          <p:nvPr>
            <p:ph type="sldNum" sz="quarter" idx="5"/>
          </p:nvPr>
        </p:nvSpPr>
        <p:spPr/>
        <p:txBody>
          <a:bodyPr/>
          <a:lstStyle/>
          <a:p>
            <a:fld id="{E666506D-5C9B-294C-B2AE-15ACE8B5B9F7}" type="slidenum">
              <a:rPr lang="en-US" smtClean="0"/>
              <a:t>29</a:t>
            </a:fld>
            <a:endParaRPr lang="en-US"/>
          </a:p>
        </p:txBody>
      </p:sp>
    </p:spTree>
    <p:extLst>
      <p:ext uri="{BB962C8B-B14F-4D97-AF65-F5344CB8AC3E}">
        <p14:creationId xmlns:p14="http://schemas.microsoft.com/office/powerpoint/2010/main" val="3799872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127B5-3D18-D5D3-34EB-374C8C0CD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BD658-0DD8-5862-6605-5D7F3B393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A07F5-96DF-FA63-956D-25A365596C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882C5F-1C8D-1B18-8C85-F7ECD7F77678}"/>
              </a:ext>
            </a:extLst>
          </p:cNvPr>
          <p:cNvSpPr>
            <a:spLocks noGrp="1"/>
          </p:cNvSpPr>
          <p:nvPr>
            <p:ph type="sldNum" sz="quarter" idx="5"/>
          </p:nvPr>
        </p:nvSpPr>
        <p:spPr/>
        <p:txBody>
          <a:bodyPr/>
          <a:lstStyle/>
          <a:p>
            <a:fld id="{E666506D-5C9B-294C-B2AE-15ACE8B5B9F7}" type="slidenum">
              <a:rPr lang="en-US" smtClean="0"/>
              <a:t>30</a:t>
            </a:fld>
            <a:endParaRPr lang="en-US"/>
          </a:p>
        </p:txBody>
      </p:sp>
    </p:spTree>
    <p:extLst>
      <p:ext uri="{BB962C8B-B14F-4D97-AF65-F5344CB8AC3E}">
        <p14:creationId xmlns:p14="http://schemas.microsoft.com/office/powerpoint/2010/main" val="1298665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E025B-AB8F-D62E-5FAF-6DC591F38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83D53-0D1F-5420-9952-D248E6888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71792C-D657-CBBE-EBCA-ABC944A192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852014-FB7B-0A23-5C14-4A1C3B0E6BA6}"/>
              </a:ext>
            </a:extLst>
          </p:cNvPr>
          <p:cNvSpPr>
            <a:spLocks noGrp="1"/>
          </p:cNvSpPr>
          <p:nvPr>
            <p:ph type="sldNum" sz="quarter" idx="5"/>
          </p:nvPr>
        </p:nvSpPr>
        <p:spPr/>
        <p:txBody>
          <a:bodyPr/>
          <a:lstStyle/>
          <a:p>
            <a:fld id="{E666506D-5C9B-294C-B2AE-15ACE8B5B9F7}" type="slidenum">
              <a:rPr lang="en-US" smtClean="0"/>
              <a:t>31</a:t>
            </a:fld>
            <a:endParaRPr lang="en-US"/>
          </a:p>
        </p:txBody>
      </p:sp>
    </p:spTree>
    <p:extLst>
      <p:ext uri="{BB962C8B-B14F-4D97-AF65-F5344CB8AC3E}">
        <p14:creationId xmlns:p14="http://schemas.microsoft.com/office/powerpoint/2010/main" val="29620425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10B11-2D9A-103F-A426-34CB57E5A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D008C-CA33-BB7E-DE6F-076AF31E3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50A1A-DE9C-965F-B599-E14288B4B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CE1C51-EBA4-2776-7D4D-2681505AE846}"/>
              </a:ext>
            </a:extLst>
          </p:cNvPr>
          <p:cNvSpPr>
            <a:spLocks noGrp="1"/>
          </p:cNvSpPr>
          <p:nvPr>
            <p:ph type="sldNum" sz="quarter" idx="5"/>
          </p:nvPr>
        </p:nvSpPr>
        <p:spPr/>
        <p:txBody>
          <a:bodyPr/>
          <a:lstStyle/>
          <a:p>
            <a:fld id="{E666506D-5C9B-294C-B2AE-15ACE8B5B9F7}" type="slidenum">
              <a:rPr lang="en-US" smtClean="0"/>
              <a:t>32</a:t>
            </a:fld>
            <a:endParaRPr lang="en-US"/>
          </a:p>
        </p:txBody>
      </p:sp>
    </p:spTree>
    <p:extLst>
      <p:ext uri="{BB962C8B-B14F-4D97-AF65-F5344CB8AC3E}">
        <p14:creationId xmlns:p14="http://schemas.microsoft.com/office/powerpoint/2010/main" val="8982733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88AFC-4E41-5908-952B-96FE1EBA2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81025-2B11-E6B9-4152-CE9BAAC2D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4F331-4D20-AC4D-14C9-D70790B8BC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9072CB-B128-AC0A-C6C3-F0E7243EE72E}"/>
              </a:ext>
            </a:extLst>
          </p:cNvPr>
          <p:cNvSpPr>
            <a:spLocks noGrp="1"/>
          </p:cNvSpPr>
          <p:nvPr>
            <p:ph type="sldNum" sz="quarter" idx="5"/>
          </p:nvPr>
        </p:nvSpPr>
        <p:spPr/>
        <p:txBody>
          <a:bodyPr/>
          <a:lstStyle/>
          <a:p>
            <a:fld id="{E666506D-5C9B-294C-B2AE-15ACE8B5B9F7}" type="slidenum">
              <a:rPr lang="en-US" smtClean="0"/>
              <a:t>33</a:t>
            </a:fld>
            <a:endParaRPr lang="en-US"/>
          </a:p>
        </p:txBody>
      </p:sp>
    </p:spTree>
    <p:extLst>
      <p:ext uri="{BB962C8B-B14F-4D97-AF65-F5344CB8AC3E}">
        <p14:creationId xmlns:p14="http://schemas.microsoft.com/office/powerpoint/2010/main" val="15280010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92722-C9F5-417E-F3E1-76F524CEB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D78B6-26C1-1573-2AC5-C524C97EF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564790-DCED-D9B8-C5B2-69D01FD47D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6AA7E2-4932-FCA2-B725-0C999AE52993}"/>
              </a:ext>
            </a:extLst>
          </p:cNvPr>
          <p:cNvSpPr>
            <a:spLocks noGrp="1"/>
          </p:cNvSpPr>
          <p:nvPr>
            <p:ph type="sldNum" sz="quarter" idx="5"/>
          </p:nvPr>
        </p:nvSpPr>
        <p:spPr/>
        <p:txBody>
          <a:bodyPr/>
          <a:lstStyle/>
          <a:p>
            <a:fld id="{E666506D-5C9B-294C-B2AE-15ACE8B5B9F7}" type="slidenum">
              <a:rPr lang="en-US" smtClean="0"/>
              <a:t>34</a:t>
            </a:fld>
            <a:endParaRPr lang="en-US"/>
          </a:p>
        </p:txBody>
      </p:sp>
    </p:spTree>
    <p:extLst>
      <p:ext uri="{BB962C8B-B14F-4D97-AF65-F5344CB8AC3E}">
        <p14:creationId xmlns:p14="http://schemas.microsoft.com/office/powerpoint/2010/main" val="1742877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D0EE0-2FE4-AF8B-B9AE-5EE1E8B6D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89912-ADA6-2E54-E728-5AD16D0BB9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46A92F-E133-C94E-ED71-A9497F70D9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722CFA-A4D3-7CC0-AA91-8515233B7CBE}"/>
              </a:ext>
            </a:extLst>
          </p:cNvPr>
          <p:cNvSpPr>
            <a:spLocks noGrp="1"/>
          </p:cNvSpPr>
          <p:nvPr>
            <p:ph type="sldNum" sz="quarter" idx="5"/>
          </p:nvPr>
        </p:nvSpPr>
        <p:spPr/>
        <p:txBody>
          <a:bodyPr/>
          <a:lstStyle/>
          <a:p>
            <a:fld id="{E666506D-5C9B-294C-B2AE-15ACE8B5B9F7}" type="slidenum">
              <a:rPr lang="en-US" smtClean="0"/>
              <a:t>35</a:t>
            </a:fld>
            <a:endParaRPr lang="en-US"/>
          </a:p>
        </p:txBody>
      </p:sp>
    </p:spTree>
    <p:extLst>
      <p:ext uri="{BB962C8B-B14F-4D97-AF65-F5344CB8AC3E}">
        <p14:creationId xmlns:p14="http://schemas.microsoft.com/office/powerpoint/2010/main" val="10684440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D10ED-0973-774E-0A33-F2D52D5C1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6E6F6-B608-6DCB-D4EA-8A7F6A2EE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ED5674-F1AA-5A7E-71CE-BD0E0134E0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73CE0B-7600-55ED-48A8-3FE477292413}"/>
              </a:ext>
            </a:extLst>
          </p:cNvPr>
          <p:cNvSpPr>
            <a:spLocks noGrp="1"/>
          </p:cNvSpPr>
          <p:nvPr>
            <p:ph type="sldNum" sz="quarter" idx="5"/>
          </p:nvPr>
        </p:nvSpPr>
        <p:spPr/>
        <p:txBody>
          <a:bodyPr/>
          <a:lstStyle/>
          <a:p>
            <a:fld id="{E666506D-5C9B-294C-B2AE-15ACE8B5B9F7}" type="slidenum">
              <a:rPr lang="en-US" smtClean="0"/>
              <a:t>36</a:t>
            </a:fld>
            <a:endParaRPr lang="en-US"/>
          </a:p>
        </p:txBody>
      </p:sp>
    </p:spTree>
    <p:extLst>
      <p:ext uri="{BB962C8B-B14F-4D97-AF65-F5344CB8AC3E}">
        <p14:creationId xmlns:p14="http://schemas.microsoft.com/office/powerpoint/2010/main" val="9820502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B1FE7-7C6F-56A1-79DD-4B7493828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DE907-5E97-7217-9EB8-8840C778A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2578ED-B813-E4DB-C840-BC405CBC5B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5C5754-D1DE-EBB6-5C89-57C92F1431A9}"/>
              </a:ext>
            </a:extLst>
          </p:cNvPr>
          <p:cNvSpPr>
            <a:spLocks noGrp="1"/>
          </p:cNvSpPr>
          <p:nvPr>
            <p:ph type="sldNum" sz="quarter" idx="5"/>
          </p:nvPr>
        </p:nvSpPr>
        <p:spPr/>
        <p:txBody>
          <a:bodyPr/>
          <a:lstStyle/>
          <a:p>
            <a:fld id="{E666506D-5C9B-294C-B2AE-15ACE8B5B9F7}" type="slidenum">
              <a:rPr lang="en-US" smtClean="0"/>
              <a:t>37</a:t>
            </a:fld>
            <a:endParaRPr lang="en-US"/>
          </a:p>
        </p:txBody>
      </p:sp>
    </p:spTree>
    <p:extLst>
      <p:ext uri="{BB962C8B-B14F-4D97-AF65-F5344CB8AC3E}">
        <p14:creationId xmlns:p14="http://schemas.microsoft.com/office/powerpoint/2010/main" val="35849656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4F9D3-3A9F-A70F-BA82-AFA93F67B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A7437-A049-3ACE-03E5-536E888763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FEF8C-0A08-2244-A446-B9F8FFC0C2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1949B9-F17E-17EB-3731-C0F7D6C90660}"/>
              </a:ext>
            </a:extLst>
          </p:cNvPr>
          <p:cNvSpPr>
            <a:spLocks noGrp="1"/>
          </p:cNvSpPr>
          <p:nvPr>
            <p:ph type="sldNum" sz="quarter" idx="5"/>
          </p:nvPr>
        </p:nvSpPr>
        <p:spPr/>
        <p:txBody>
          <a:bodyPr/>
          <a:lstStyle/>
          <a:p>
            <a:fld id="{E666506D-5C9B-294C-B2AE-15ACE8B5B9F7}" type="slidenum">
              <a:rPr lang="en-US" smtClean="0"/>
              <a:t>38</a:t>
            </a:fld>
            <a:endParaRPr lang="en-US"/>
          </a:p>
        </p:txBody>
      </p:sp>
    </p:spTree>
    <p:extLst>
      <p:ext uri="{BB962C8B-B14F-4D97-AF65-F5344CB8AC3E}">
        <p14:creationId xmlns:p14="http://schemas.microsoft.com/office/powerpoint/2010/main" val="8645091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10B4D-7884-6F6A-6C03-7A50F0CF5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BCF9F-85A6-C46A-49EA-D7FB589DA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AAAE6-BD8B-AA38-A536-91D748C1B6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783FA2-EB19-1BCE-A301-038BAE2F763F}"/>
              </a:ext>
            </a:extLst>
          </p:cNvPr>
          <p:cNvSpPr>
            <a:spLocks noGrp="1"/>
          </p:cNvSpPr>
          <p:nvPr>
            <p:ph type="sldNum" sz="quarter" idx="5"/>
          </p:nvPr>
        </p:nvSpPr>
        <p:spPr/>
        <p:txBody>
          <a:bodyPr/>
          <a:lstStyle/>
          <a:p>
            <a:fld id="{E666506D-5C9B-294C-B2AE-15ACE8B5B9F7}" type="slidenum">
              <a:rPr lang="en-US" smtClean="0"/>
              <a:t>39</a:t>
            </a:fld>
            <a:endParaRPr lang="en-US"/>
          </a:p>
        </p:txBody>
      </p:sp>
    </p:spTree>
    <p:extLst>
      <p:ext uri="{BB962C8B-B14F-4D97-AF65-F5344CB8AC3E}">
        <p14:creationId xmlns:p14="http://schemas.microsoft.com/office/powerpoint/2010/main" val="2110005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9/11/26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revisit.dev/study/library-vlat/SURHUmJIblo3Uk4xUUhNUHQ1VTRIQT09"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tools.visualdata.wustl.edu/experiment/#/"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doi.org/10.1111/cgf.14809"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fontScale="90000"/>
          </a:bodyPr>
          <a:lstStyle/>
          <a:p>
            <a:r>
              <a:rPr lang="en-US" dirty="0"/>
              <a:t>Communicating with Data – Physical Visualizations &amp; Visualization Accessibility</a:t>
            </a:r>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cs typeface="Arial"/>
                <a:sym typeface="Arial"/>
              </a:rPr>
              <a:t>Define Visualization Literacy</a:t>
            </a:r>
          </a:p>
          <a:p>
            <a:pPr lvl="1">
              <a:spcBef>
                <a:spcPts val="0"/>
              </a:spcBef>
              <a:buSzPts val="2040"/>
              <a:buFont typeface="Arial"/>
              <a:buChar char="•"/>
            </a:pPr>
            <a:r>
              <a:rPr lang="en-US" sz="2200" dirty="0">
                <a:cs typeface="Arial"/>
                <a:sym typeface="Arial"/>
              </a:rPr>
              <a:t>As a set of skills</a:t>
            </a:r>
          </a:p>
          <a:p>
            <a:pPr lvl="1">
              <a:spcBef>
                <a:spcPts val="0"/>
              </a:spcBef>
              <a:buSzPts val="2040"/>
              <a:buFont typeface="Arial"/>
              <a:buChar char="•"/>
            </a:pPr>
            <a:r>
              <a:rPr lang="en-US" sz="2200" dirty="0">
                <a:cs typeface="Arial"/>
                <a:sym typeface="Arial"/>
              </a:rPr>
              <a:t>As a model / concept </a:t>
            </a:r>
          </a:p>
          <a:p>
            <a:pPr>
              <a:spcBef>
                <a:spcPts val="0"/>
              </a:spcBef>
              <a:buSzPts val="2040"/>
              <a:buFont typeface="Arial"/>
              <a:buChar char="•"/>
            </a:pPr>
            <a:r>
              <a:rPr lang="en-US" sz="2400" dirty="0">
                <a:cs typeface="Arial"/>
                <a:sym typeface="Arial"/>
              </a:rPr>
              <a:t>Testing Visualization Literacy </a:t>
            </a:r>
          </a:p>
          <a:p>
            <a:pPr>
              <a:spcBef>
                <a:spcPts val="0"/>
              </a:spcBef>
              <a:buSzPts val="2040"/>
              <a:buFont typeface="Arial"/>
              <a:buChar char="•"/>
            </a:pPr>
            <a:r>
              <a:rPr lang="en-US" sz="2400" dirty="0">
                <a:cs typeface="Arial"/>
                <a:sym typeface="Arial"/>
              </a:rPr>
              <a:t>Barriers to Visualization Literacy </a:t>
            </a:r>
            <a:endParaRPr lang="en-US" sz="2400" dirty="0"/>
          </a:p>
        </p:txBody>
      </p:sp>
    </p:spTree>
    <p:extLst>
      <p:ext uri="{BB962C8B-B14F-4D97-AF65-F5344CB8AC3E}">
        <p14:creationId xmlns:p14="http://schemas.microsoft.com/office/powerpoint/2010/main" val="1085546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8A295-A009-5592-1290-891F0E347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9EF6A-0791-AEF9-919B-B9E4D6E2192E}"/>
              </a:ext>
            </a:extLst>
          </p:cNvPr>
          <p:cNvSpPr>
            <a:spLocks noGrp="1"/>
          </p:cNvSpPr>
          <p:nvPr>
            <p:ph type="title"/>
          </p:nvPr>
        </p:nvSpPr>
        <p:spPr/>
        <p:txBody>
          <a:bodyPr/>
          <a:lstStyle/>
          <a:p>
            <a:r>
              <a:rPr lang="en-US" dirty="0"/>
              <a:t>Brainstorm</a:t>
            </a:r>
          </a:p>
        </p:txBody>
      </p:sp>
      <p:sp>
        <p:nvSpPr>
          <p:cNvPr id="3" name="Content Placeholder 2">
            <a:extLst>
              <a:ext uri="{FF2B5EF4-FFF2-40B4-BE49-F238E27FC236}">
                <a16:creationId xmlns:a16="http://schemas.microsoft.com/office/drawing/2014/main" id="{A3FFD90E-E844-C3C7-47CC-91EDB1F261D7}"/>
              </a:ext>
            </a:extLst>
          </p:cNvPr>
          <p:cNvSpPr>
            <a:spLocks noGrp="1"/>
          </p:cNvSpPr>
          <p:nvPr>
            <p:ph idx="1"/>
          </p:nvPr>
        </p:nvSpPr>
        <p:spPr/>
        <p:txBody>
          <a:bodyPr>
            <a:normAutofit/>
          </a:bodyPr>
          <a:lstStyle/>
          <a:p>
            <a:pPr>
              <a:spcBef>
                <a:spcPts val="0"/>
              </a:spcBef>
              <a:buSzPts val="2040"/>
              <a:buFont typeface="Arial"/>
              <a:buChar char="•"/>
            </a:pPr>
            <a:r>
              <a:rPr lang="en-US" sz="2400" dirty="0">
                <a:cs typeface="Arial"/>
                <a:sym typeface="Arial"/>
              </a:rPr>
              <a:t>What is visualization literacy?</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How can we measure it?</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Why is it useful?</a:t>
            </a:r>
            <a:endParaRPr lang="en-US" sz="2400" dirty="0"/>
          </a:p>
        </p:txBody>
      </p:sp>
    </p:spTree>
    <p:extLst>
      <p:ext uri="{BB962C8B-B14F-4D97-AF65-F5344CB8AC3E}">
        <p14:creationId xmlns:p14="http://schemas.microsoft.com/office/powerpoint/2010/main" val="2225276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E8C72-F468-E341-B0FB-488CE92E2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BEDBC-1BDB-F4F7-3552-81C1FDE8025A}"/>
              </a:ext>
            </a:extLst>
          </p:cNvPr>
          <p:cNvSpPr>
            <a:spLocks noGrp="1"/>
          </p:cNvSpPr>
          <p:nvPr>
            <p:ph type="title"/>
          </p:nvPr>
        </p:nvSpPr>
        <p:spPr/>
        <p:txBody>
          <a:bodyPr/>
          <a:lstStyle/>
          <a:p>
            <a:r>
              <a:rPr lang="en-US" dirty="0"/>
              <a:t>Exploring Definitions– Visualization Literacy as a Skillset</a:t>
            </a:r>
          </a:p>
        </p:txBody>
      </p:sp>
      <p:sp>
        <p:nvSpPr>
          <p:cNvPr id="3" name="Content Placeholder 2">
            <a:extLst>
              <a:ext uri="{FF2B5EF4-FFF2-40B4-BE49-F238E27FC236}">
                <a16:creationId xmlns:a16="http://schemas.microsoft.com/office/drawing/2014/main" id="{717ED2F8-D375-2674-3115-D026B2EFF209}"/>
              </a:ext>
            </a:extLst>
          </p:cNvPr>
          <p:cNvSpPr>
            <a:spLocks noGrp="1"/>
          </p:cNvSpPr>
          <p:nvPr>
            <p:ph idx="1"/>
          </p:nvPr>
        </p:nvSpPr>
        <p:spPr>
          <a:xfrm>
            <a:off x="3869268" y="864107"/>
            <a:ext cx="7960782" cy="5579555"/>
          </a:xfrm>
        </p:spPr>
        <p:txBody>
          <a:bodyPr anchor="t">
            <a:normAutofit fontScale="92500" lnSpcReduction="20000"/>
          </a:bodyPr>
          <a:lstStyle/>
          <a:p>
            <a:pPr marL="0" indent="0">
              <a:spcBef>
                <a:spcPts val="0"/>
              </a:spcBef>
              <a:buSzPts val="2040"/>
              <a:buNone/>
            </a:pPr>
            <a:r>
              <a:rPr lang="en-US" sz="2400" dirty="0"/>
              <a:t>No agreed upon definition of visualization literacy. Many conceptualizations exist</a:t>
            </a:r>
          </a:p>
          <a:p>
            <a:pPr marL="0" indent="0">
              <a:spcBef>
                <a:spcPts val="0"/>
              </a:spcBef>
              <a:buSzPts val="2040"/>
              <a:buNone/>
            </a:pPr>
            <a:endParaRPr lang="en-US" sz="2400" dirty="0"/>
          </a:p>
          <a:p>
            <a:pPr>
              <a:lnSpc>
                <a:spcPct val="120000"/>
              </a:lnSpc>
              <a:spcBef>
                <a:spcPts val="0"/>
              </a:spcBef>
              <a:spcAft>
                <a:spcPts val="600"/>
              </a:spcAft>
            </a:pPr>
            <a:r>
              <a:rPr lang="en-US" sz="2400" dirty="0"/>
              <a:t>The next 10 slides present proposed definitions for visualization literacy through skill conceptualizations. </a:t>
            </a:r>
          </a:p>
          <a:p>
            <a:pPr>
              <a:lnSpc>
                <a:spcPct val="120000"/>
              </a:lnSpc>
              <a:spcBef>
                <a:spcPts val="0"/>
              </a:spcBef>
              <a:spcAft>
                <a:spcPts val="600"/>
              </a:spcAft>
            </a:pPr>
            <a:r>
              <a:rPr lang="en-US" sz="2400" dirty="0"/>
              <a:t>Make 10 groups and count off, read the definition numbered the same as your group number. </a:t>
            </a:r>
          </a:p>
          <a:p>
            <a:pPr>
              <a:lnSpc>
                <a:spcPct val="120000"/>
              </a:lnSpc>
              <a:spcBef>
                <a:spcPts val="0"/>
              </a:spcBef>
              <a:spcAft>
                <a:spcPts val="600"/>
              </a:spcAft>
              <a:buSzPts val="2040"/>
            </a:pPr>
            <a:r>
              <a:rPr lang="en-US" sz="2400" dirty="0"/>
              <a:t>Pair up: Groups </a:t>
            </a:r>
            <a:r>
              <a:rPr lang="en-US" sz="2400" dirty="0">
                <a:latin typeface="Consolas" panose="020B0609020204030204" pitchFamily="49" charset="0"/>
                <a:cs typeface="Consolas" panose="020B0609020204030204" pitchFamily="49" charset="0"/>
              </a:rPr>
              <a:t>1&amp;6, 2&amp;7, 3&amp;8, 4&amp;9, 5&amp;10 </a:t>
            </a:r>
          </a:p>
          <a:p>
            <a:pPr lvl="1">
              <a:lnSpc>
                <a:spcPct val="120000"/>
              </a:lnSpc>
              <a:spcBef>
                <a:spcPts val="0"/>
              </a:spcBef>
              <a:spcAft>
                <a:spcPts val="600"/>
              </a:spcAft>
              <a:buSzPts val="2040"/>
            </a:pPr>
            <a:r>
              <a:rPr lang="en-US" sz="2200" dirty="0"/>
              <a:t>What are the similarities and differences between your definitions?</a:t>
            </a:r>
          </a:p>
          <a:p>
            <a:pPr>
              <a:lnSpc>
                <a:spcPct val="120000"/>
              </a:lnSpc>
              <a:spcBef>
                <a:spcPts val="0"/>
              </a:spcBef>
              <a:spcAft>
                <a:spcPts val="600"/>
              </a:spcAft>
              <a:buSzPts val="2040"/>
            </a:pPr>
            <a:r>
              <a:rPr lang="en-US" sz="2400" dirty="0"/>
              <a:t>Pair up: Groups </a:t>
            </a:r>
            <a:r>
              <a:rPr lang="en-US" sz="2400" dirty="0">
                <a:latin typeface="Consolas" panose="020B0609020204030204" pitchFamily="49" charset="0"/>
                <a:cs typeface="Consolas" panose="020B0609020204030204" pitchFamily="49" charset="0"/>
              </a:rPr>
              <a:t>1&amp;6&amp;5, 2&amp;7&amp;4, 3&amp;8&amp;9&amp;10 </a:t>
            </a:r>
          </a:p>
          <a:p>
            <a:pPr lvl="1">
              <a:lnSpc>
                <a:spcPct val="120000"/>
              </a:lnSpc>
              <a:spcBef>
                <a:spcPts val="0"/>
              </a:spcBef>
              <a:spcAft>
                <a:spcPts val="600"/>
              </a:spcAft>
              <a:buSzPts val="2040"/>
            </a:pPr>
            <a:r>
              <a:rPr lang="en-US" sz="2200" dirty="0"/>
              <a:t>What are the similarities and differences between your definitions?</a:t>
            </a:r>
            <a:endParaRPr lang="en-US" sz="2200" dirty="0">
              <a:latin typeface="Consolas" panose="020B0609020204030204" pitchFamily="49" charset="0"/>
              <a:cs typeface="Consolas" panose="020B0609020204030204" pitchFamily="49" charset="0"/>
            </a:endParaRPr>
          </a:p>
          <a:p>
            <a:pPr>
              <a:lnSpc>
                <a:spcPct val="120000"/>
              </a:lnSpc>
              <a:spcBef>
                <a:spcPts val="0"/>
              </a:spcBef>
              <a:spcAft>
                <a:spcPts val="600"/>
              </a:spcAft>
              <a:buSzPts val="2040"/>
            </a:pPr>
            <a:r>
              <a:rPr lang="en-US" sz="2400" dirty="0">
                <a:cs typeface="Consolas" panose="020B0609020204030204" pitchFamily="49" charset="0"/>
              </a:rPr>
              <a:t>Whole class: </a:t>
            </a:r>
            <a:r>
              <a:rPr lang="en-US" sz="2400" dirty="0"/>
              <a:t>What are the similarities and differences between your definitions?</a:t>
            </a:r>
          </a:p>
          <a:p>
            <a:pPr>
              <a:lnSpc>
                <a:spcPct val="120000"/>
              </a:lnSpc>
              <a:spcBef>
                <a:spcPts val="0"/>
              </a:spcBef>
              <a:spcAft>
                <a:spcPts val="600"/>
              </a:spcAft>
              <a:buSzPts val="2040"/>
            </a:pPr>
            <a:r>
              <a:rPr lang="en-US" sz="2400" dirty="0"/>
              <a:t>What aspects of these definitions do we like? Which do we disagree with?</a:t>
            </a:r>
          </a:p>
          <a:p>
            <a:pPr>
              <a:spcBef>
                <a:spcPts val="0"/>
              </a:spcBef>
              <a:buSzPts val="2040"/>
            </a:pPr>
            <a:endParaRPr lang="en-US" sz="2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27836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3BF9F-1171-0DA3-C533-E061593CF3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14F11-B4E8-EF75-44EA-53387A2911E8}"/>
              </a:ext>
            </a:extLst>
          </p:cNvPr>
          <p:cNvSpPr>
            <a:spLocks noGrp="1"/>
          </p:cNvSpPr>
          <p:nvPr>
            <p:ph type="title"/>
          </p:nvPr>
        </p:nvSpPr>
        <p:spPr/>
        <p:txBody>
          <a:bodyPr/>
          <a:lstStyle/>
          <a:p>
            <a:r>
              <a:rPr lang="en-US" dirty="0"/>
              <a:t>Skill Definitions (1)</a:t>
            </a:r>
          </a:p>
        </p:txBody>
      </p:sp>
      <p:sp>
        <p:nvSpPr>
          <p:cNvPr id="3" name="Content Placeholder 2">
            <a:extLst>
              <a:ext uri="{FF2B5EF4-FFF2-40B4-BE49-F238E27FC236}">
                <a16:creationId xmlns:a16="http://schemas.microsoft.com/office/drawing/2014/main" id="{0E93AA33-3B2E-9689-68F6-7830FEA610F8}"/>
              </a:ext>
            </a:extLst>
          </p:cNvPr>
          <p:cNvSpPr>
            <a:spLocks noGrp="1"/>
          </p:cNvSpPr>
          <p:nvPr>
            <p:ph idx="1"/>
          </p:nvPr>
        </p:nvSpPr>
        <p:spPr>
          <a:xfrm>
            <a:off x="3486151" y="864108"/>
            <a:ext cx="8329612" cy="5120640"/>
          </a:xfrm>
        </p:spPr>
        <p:txBody>
          <a:bodyPr anchor="t">
            <a:normAutofit/>
          </a:bodyPr>
          <a:lstStyle/>
          <a:p>
            <a:pPr marL="0" indent="0">
              <a:spcBef>
                <a:spcPts val="0"/>
              </a:spcBef>
              <a:buSzPts val="2040"/>
              <a:buNone/>
            </a:pPr>
            <a:r>
              <a:rPr lang="en-US" sz="2400" b="1" dirty="0"/>
              <a:t>Vermeersch &amp; Vandenbroucke define visualization literacy as:</a:t>
            </a:r>
          </a:p>
          <a:p>
            <a:pPr marL="0" indent="0">
              <a:spcBef>
                <a:spcPts val="0"/>
              </a:spcBef>
              <a:buSzPts val="2040"/>
              <a:buNone/>
            </a:pPr>
            <a:endParaRPr lang="en-US" sz="2400" dirty="0"/>
          </a:p>
          <a:p>
            <a:pPr>
              <a:spcBef>
                <a:spcPts val="0"/>
              </a:spcBef>
              <a:buSzPts val="2040"/>
            </a:pPr>
            <a:r>
              <a:rPr lang="en-US" sz="2400" b="1" dirty="0"/>
              <a:t>Perception</a:t>
            </a:r>
          </a:p>
          <a:p>
            <a:pPr lvl="1">
              <a:spcBef>
                <a:spcPts val="0"/>
              </a:spcBef>
              <a:buSzPts val="2040"/>
            </a:pPr>
            <a:r>
              <a:rPr lang="en-US" sz="2400" dirty="0"/>
              <a:t>cultivating a ‘‘good eye’’ in experiencing the visual</a:t>
            </a:r>
          </a:p>
          <a:p>
            <a:pPr lvl="1">
              <a:spcBef>
                <a:spcPts val="0"/>
              </a:spcBef>
              <a:buSzPts val="2040"/>
            </a:pPr>
            <a:r>
              <a:rPr lang="en-US" sz="2400" dirty="0"/>
              <a:t>being curious, sensitive, focused, selective, and deriving pleasure from it</a:t>
            </a:r>
          </a:p>
          <a:p>
            <a:pPr>
              <a:spcBef>
                <a:spcPts val="0"/>
              </a:spcBef>
              <a:buSzPts val="2040"/>
            </a:pPr>
            <a:r>
              <a:rPr lang="en-US" sz="2400" b="1" dirty="0"/>
              <a:t>Imagination and creation, Conceptualization </a:t>
            </a:r>
          </a:p>
          <a:p>
            <a:pPr lvl="1">
              <a:spcBef>
                <a:spcPts val="0"/>
              </a:spcBef>
              <a:buSzPts val="2040"/>
            </a:pPr>
            <a:r>
              <a:rPr lang="en-US" sz="2400" dirty="0"/>
              <a:t>Using perceived images to generate something new, based on the capacity to understand image structure (ex. points, lines, angles, open and closed figures)</a:t>
            </a:r>
          </a:p>
          <a:p>
            <a:pPr lvl="1">
              <a:spcBef>
                <a:spcPts val="0"/>
              </a:spcBef>
              <a:buSzPts val="2040"/>
            </a:pPr>
            <a:r>
              <a:rPr lang="en-US" sz="2400" dirty="0"/>
              <a:t>Transforming concrete perceptions into abstract representations</a:t>
            </a:r>
          </a:p>
          <a:p>
            <a:pPr>
              <a:spcBef>
                <a:spcPts val="0"/>
              </a:spcBef>
              <a:buSzPts val="2040"/>
            </a:pPr>
            <a:r>
              <a:rPr lang="en-US" sz="2400" b="1" dirty="0"/>
              <a:t>Analysis of images</a:t>
            </a:r>
          </a:p>
          <a:p>
            <a:pPr lvl="1">
              <a:spcBef>
                <a:spcPts val="0"/>
              </a:spcBef>
              <a:buSzPts val="2040"/>
            </a:pPr>
            <a:r>
              <a:rPr lang="en-US" sz="2400" dirty="0"/>
              <a:t>identifying structures or patterns within a visualization </a:t>
            </a:r>
          </a:p>
        </p:txBody>
      </p:sp>
      <p:sp>
        <p:nvSpPr>
          <p:cNvPr id="7" name="TextBox 6">
            <a:extLst>
              <a:ext uri="{FF2B5EF4-FFF2-40B4-BE49-F238E27FC236}">
                <a16:creationId xmlns:a16="http://schemas.microsoft.com/office/drawing/2014/main" id="{E148CED0-ED9A-6D3A-165F-EC214D29DE63}"/>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3259841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8BFE0-572E-D8D3-6EA9-F0C999B15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4CC67-03D1-F2CC-4AEC-5DA1488AACE0}"/>
              </a:ext>
            </a:extLst>
          </p:cNvPr>
          <p:cNvSpPr>
            <a:spLocks noGrp="1"/>
          </p:cNvSpPr>
          <p:nvPr>
            <p:ph type="title"/>
          </p:nvPr>
        </p:nvSpPr>
        <p:spPr/>
        <p:txBody>
          <a:bodyPr/>
          <a:lstStyle/>
          <a:p>
            <a:r>
              <a:rPr lang="en-US" dirty="0"/>
              <a:t>Skill Definitions (2)</a:t>
            </a:r>
          </a:p>
        </p:txBody>
      </p:sp>
      <p:sp>
        <p:nvSpPr>
          <p:cNvPr id="3" name="Content Placeholder 2">
            <a:extLst>
              <a:ext uri="{FF2B5EF4-FFF2-40B4-BE49-F238E27FC236}">
                <a16:creationId xmlns:a16="http://schemas.microsoft.com/office/drawing/2014/main" id="{0EE991B5-618E-C038-C6F6-A95296DC0FCF}"/>
              </a:ext>
            </a:extLst>
          </p:cNvPr>
          <p:cNvSpPr>
            <a:spLocks noGrp="1"/>
          </p:cNvSpPr>
          <p:nvPr>
            <p:ph idx="1"/>
          </p:nvPr>
        </p:nvSpPr>
        <p:spPr>
          <a:xfrm>
            <a:off x="3486151" y="864108"/>
            <a:ext cx="8329612" cy="5120640"/>
          </a:xfrm>
        </p:spPr>
        <p:txBody>
          <a:bodyPr anchor="t">
            <a:normAutofit/>
          </a:bodyPr>
          <a:lstStyle/>
          <a:p>
            <a:pPr marL="0" indent="0">
              <a:spcBef>
                <a:spcPts val="0"/>
              </a:spcBef>
              <a:buSzPts val="2040"/>
              <a:buNone/>
            </a:pPr>
            <a:r>
              <a:rPr lang="en-US" sz="2400" b="1" dirty="0"/>
              <a:t>Kendra defines visualization literacy as:</a:t>
            </a:r>
          </a:p>
          <a:p>
            <a:pPr marL="0" indent="0">
              <a:spcBef>
                <a:spcPts val="0"/>
              </a:spcBef>
              <a:buSzPts val="2040"/>
              <a:buNone/>
            </a:pPr>
            <a:endParaRPr lang="en-US" sz="2400" dirty="0"/>
          </a:p>
          <a:p>
            <a:pPr>
              <a:spcBef>
                <a:spcPts val="0"/>
              </a:spcBef>
              <a:buSzPts val="2040"/>
            </a:pPr>
            <a:r>
              <a:rPr lang="en-US" sz="2400" b="1" dirty="0"/>
              <a:t>Visual reading</a:t>
            </a:r>
          </a:p>
          <a:p>
            <a:pPr lvl="1">
              <a:spcBef>
                <a:spcPts val="0"/>
              </a:spcBef>
              <a:buSzPts val="2040"/>
            </a:pPr>
            <a:r>
              <a:rPr lang="en-US" sz="2400" dirty="0"/>
              <a:t>Ability to interpret, analyze, understand, evaluate, and translate visualizations </a:t>
            </a:r>
          </a:p>
          <a:p>
            <a:pPr>
              <a:spcBef>
                <a:spcPts val="0"/>
              </a:spcBef>
              <a:buSzPts val="2040"/>
            </a:pPr>
            <a:r>
              <a:rPr lang="en-US" sz="2400" b="1" dirty="0"/>
              <a:t>Visual writing</a:t>
            </a:r>
          </a:p>
          <a:p>
            <a:pPr lvl="1">
              <a:spcBef>
                <a:spcPts val="0"/>
              </a:spcBef>
              <a:buSzPts val="2040"/>
            </a:pPr>
            <a:r>
              <a:rPr lang="en-US" sz="2400" dirty="0"/>
              <a:t>Ability to create a produce visualizations</a:t>
            </a:r>
          </a:p>
          <a:p>
            <a:pPr>
              <a:spcBef>
                <a:spcPts val="0"/>
              </a:spcBef>
              <a:buSzPts val="2040"/>
            </a:pPr>
            <a:r>
              <a:rPr lang="en-US" sz="2400" b="1" dirty="0"/>
              <a:t>Other visual literacy skills</a:t>
            </a:r>
          </a:p>
          <a:p>
            <a:pPr lvl="1">
              <a:spcBef>
                <a:spcPts val="0"/>
              </a:spcBef>
              <a:buSzPts val="2040"/>
            </a:pPr>
            <a:r>
              <a:rPr lang="en-US" sz="2400" dirty="0"/>
              <a:t>Ability to think visually and learn visually </a:t>
            </a:r>
          </a:p>
        </p:txBody>
      </p:sp>
      <p:sp>
        <p:nvSpPr>
          <p:cNvPr id="4" name="TextBox 3">
            <a:extLst>
              <a:ext uri="{FF2B5EF4-FFF2-40B4-BE49-F238E27FC236}">
                <a16:creationId xmlns:a16="http://schemas.microsoft.com/office/drawing/2014/main" id="{F4BD1949-B7CC-90C5-0EC5-55CD121C1501}"/>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1428473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90733-6ECD-0558-A382-C9DCF43A4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9AC8C-A870-41CD-5F36-BEB215CB5298}"/>
              </a:ext>
            </a:extLst>
          </p:cNvPr>
          <p:cNvSpPr>
            <a:spLocks noGrp="1"/>
          </p:cNvSpPr>
          <p:nvPr>
            <p:ph type="title"/>
          </p:nvPr>
        </p:nvSpPr>
        <p:spPr/>
        <p:txBody>
          <a:bodyPr/>
          <a:lstStyle/>
          <a:p>
            <a:r>
              <a:rPr lang="en-US" dirty="0"/>
              <a:t>Skill Definitions (3)</a:t>
            </a:r>
          </a:p>
        </p:txBody>
      </p:sp>
      <p:sp>
        <p:nvSpPr>
          <p:cNvPr id="3" name="Content Placeholder 2">
            <a:extLst>
              <a:ext uri="{FF2B5EF4-FFF2-40B4-BE49-F238E27FC236}">
                <a16:creationId xmlns:a16="http://schemas.microsoft.com/office/drawing/2014/main" id="{F5B8CAF0-72FE-B96F-F9F0-90D82638F28D}"/>
              </a:ext>
            </a:extLst>
          </p:cNvPr>
          <p:cNvSpPr>
            <a:spLocks noGrp="1"/>
          </p:cNvSpPr>
          <p:nvPr>
            <p:ph idx="1"/>
          </p:nvPr>
        </p:nvSpPr>
        <p:spPr>
          <a:xfrm>
            <a:off x="3486151" y="864108"/>
            <a:ext cx="8329612" cy="5120640"/>
          </a:xfrm>
        </p:spPr>
        <p:txBody>
          <a:bodyPr anchor="t">
            <a:normAutofit/>
          </a:bodyPr>
          <a:lstStyle/>
          <a:p>
            <a:pPr marL="0" indent="0">
              <a:spcBef>
                <a:spcPts val="0"/>
              </a:spcBef>
              <a:buSzPts val="2040"/>
              <a:buNone/>
            </a:pPr>
            <a:r>
              <a:rPr lang="en-US" sz="2400" b="1" dirty="0"/>
              <a:t>Rybarczyk et al. define visualization literacy as:</a:t>
            </a:r>
          </a:p>
          <a:p>
            <a:pPr marL="0" indent="0">
              <a:spcBef>
                <a:spcPts val="0"/>
              </a:spcBef>
              <a:buSzPts val="2040"/>
              <a:buNone/>
            </a:pPr>
            <a:endParaRPr lang="en-US" sz="2400" dirty="0"/>
          </a:p>
          <a:p>
            <a:pPr>
              <a:spcBef>
                <a:spcPts val="0"/>
              </a:spcBef>
              <a:buSzPts val="2040"/>
            </a:pPr>
            <a:r>
              <a:rPr lang="en-US" sz="2400" b="1" dirty="0"/>
              <a:t>Basic</a:t>
            </a:r>
          </a:p>
          <a:p>
            <a:pPr lvl="1">
              <a:spcBef>
                <a:spcPts val="0"/>
              </a:spcBef>
              <a:buSzPts val="2040"/>
            </a:pPr>
            <a:r>
              <a:rPr lang="en-US" sz="2400" dirty="0"/>
              <a:t>Ability to identify patterns and trends in data</a:t>
            </a:r>
          </a:p>
          <a:p>
            <a:pPr lvl="1">
              <a:spcBef>
                <a:spcPts val="0"/>
              </a:spcBef>
              <a:buSzPts val="2040"/>
            </a:pPr>
            <a:r>
              <a:rPr lang="en-US" sz="2400" dirty="0"/>
              <a:t>Ability to connect source of data</a:t>
            </a:r>
          </a:p>
          <a:p>
            <a:pPr>
              <a:spcBef>
                <a:spcPts val="0"/>
              </a:spcBef>
              <a:buSzPts val="2040"/>
            </a:pPr>
            <a:r>
              <a:rPr lang="en-US" sz="2600" b="1" dirty="0"/>
              <a:t>Advanced</a:t>
            </a:r>
          </a:p>
          <a:p>
            <a:pPr lvl="1">
              <a:spcBef>
                <a:spcPts val="0"/>
              </a:spcBef>
              <a:buSzPts val="2040"/>
            </a:pPr>
            <a:r>
              <a:rPr lang="en-US" sz="2400" dirty="0"/>
              <a:t>Ability to synthesize conclusions from data</a:t>
            </a:r>
          </a:p>
          <a:p>
            <a:pPr lvl="1">
              <a:spcBef>
                <a:spcPts val="0"/>
              </a:spcBef>
              <a:buSzPts val="2040"/>
            </a:pPr>
            <a:r>
              <a:rPr lang="en-US" sz="2400" dirty="0"/>
              <a:t>Ability to propose follow up experiments and predict results</a:t>
            </a:r>
          </a:p>
          <a:p>
            <a:pPr lvl="1">
              <a:spcBef>
                <a:spcPts val="0"/>
              </a:spcBef>
              <a:buSzPts val="2040"/>
            </a:pPr>
            <a:endParaRPr lang="en-US" sz="2400" dirty="0"/>
          </a:p>
        </p:txBody>
      </p:sp>
      <p:sp>
        <p:nvSpPr>
          <p:cNvPr id="4" name="TextBox 3">
            <a:extLst>
              <a:ext uri="{FF2B5EF4-FFF2-40B4-BE49-F238E27FC236}">
                <a16:creationId xmlns:a16="http://schemas.microsoft.com/office/drawing/2014/main" id="{1A7A4331-4F1B-5F97-86E2-B43AF5AFB304}"/>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3517780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809EB-FA48-6BB4-2628-13805BDAA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C2827-14BC-ACBD-9D09-FB8E980EE045}"/>
              </a:ext>
            </a:extLst>
          </p:cNvPr>
          <p:cNvSpPr>
            <a:spLocks noGrp="1"/>
          </p:cNvSpPr>
          <p:nvPr>
            <p:ph type="title"/>
          </p:nvPr>
        </p:nvSpPr>
        <p:spPr/>
        <p:txBody>
          <a:bodyPr/>
          <a:lstStyle/>
          <a:p>
            <a:r>
              <a:rPr lang="en-US" dirty="0"/>
              <a:t>Skill Definitions (4)</a:t>
            </a:r>
          </a:p>
        </p:txBody>
      </p:sp>
      <p:sp>
        <p:nvSpPr>
          <p:cNvPr id="3" name="Content Placeholder 2">
            <a:extLst>
              <a:ext uri="{FF2B5EF4-FFF2-40B4-BE49-F238E27FC236}">
                <a16:creationId xmlns:a16="http://schemas.microsoft.com/office/drawing/2014/main" id="{0013D95A-5B66-031E-2683-4E3939D7D094}"/>
              </a:ext>
            </a:extLst>
          </p:cNvPr>
          <p:cNvSpPr>
            <a:spLocks noGrp="1"/>
          </p:cNvSpPr>
          <p:nvPr>
            <p:ph idx="1"/>
          </p:nvPr>
        </p:nvSpPr>
        <p:spPr>
          <a:xfrm>
            <a:off x="3486151" y="864108"/>
            <a:ext cx="8329612" cy="5120640"/>
          </a:xfrm>
        </p:spPr>
        <p:txBody>
          <a:bodyPr anchor="t">
            <a:normAutofit fontScale="92500" lnSpcReduction="20000"/>
          </a:bodyPr>
          <a:lstStyle/>
          <a:p>
            <a:pPr marL="0" indent="0">
              <a:spcBef>
                <a:spcPts val="0"/>
              </a:spcBef>
              <a:buSzPts val="2040"/>
              <a:buNone/>
            </a:pPr>
            <a:r>
              <a:rPr lang="en-US" sz="2600" b="1" dirty="0"/>
              <a:t>Arneson and Offerdahl et al. define visualization literacy as:</a:t>
            </a:r>
          </a:p>
          <a:p>
            <a:pPr marL="0" indent="0">
              <a:spcBef>
                <a:spcPts val="0"/>
              </a:spcBef>
              <a:buSzPts val="2040"/>
              <a:buNone/>
            </a:pPr>
            <a:endParaRPr lang="en-US" sz="2600" dirty="0"/>
          </a:p>
          <a:p>
            <a:pPr>
              <a:spcBef>
                <a:spcPts val="0"/>
              </a:spcBef>
              <a:buSzPts val="2040"/>
            </a:pPr>
            <a:r>
              <a:rPr lang="en-US" sz="2600" b="1" dirty="0"/>
              <a:t>Knowledge </a:t>
            </a:r>
          </a:p>
          <a:p>
            <a:pPr lvl="1">
              <a:spcBef>
                <a:spcPts val="0"/>
              </a:spcBef>
              <a:buSzPts val="2040"/>
            </a:pPr>
            <a:r>
              <a:rPr lang="en-US" sz="2600" dirty="0"/>
              <a:t>Ability to memorize, recognize, recall, and retrieve data</a:t>
            </a:r>
          </a:p>
          <a:p>
            <a:pPr>
              <a:spcBef>
                <a:spcPts val="0"/>
              </a:spcBef>
              <a:buSzPts val="2040"/>
            </a:pPr>
            <a:r>
              <a:rPr lang="en-US" sz="2600" b="1" dirty="0"/>
              <a:t>Comprehension</a:t>
            </a:r>
          </a:p>
          <a:p>
            <a:pPr lvl="1">
              <a:spcBef>
                <a:spcPts val="0"/>
              </a:spcBef>
              <a:buSzPts val="2040"/>
            </a:pPr>
            <a:r>
              <a:rPr lang="en-US" sz="2600" dirty="0"/>
              <a:t>Ability to understand, interpret, infer, exemplify, and classify </a:t>
            </a:r>
          </a:p>
          <a:p>
            <a:pPr>
              <a:spcBef>
                <a:spcPts val="0"/>
              </a:spcBef>
              <a:buSzPts val="2040"/>
            </a:pPr>
            <a:r>
              <a:rPr lang="en-US" sz="2600" b="1" dirty="0"/>
              <a:t>Application</a:t>
            </a:r>
          </a:p>
          <a:p>
            <a:pPr lvl="1">
              <a:spcBef>
                <a:spcPts val="0"/>
              </a:spcBef>
              <a:buSzPts val="2040"/>
            </a:pPr>
            <a:r>
              <a:rPr lang="en-US" sz="2600" dirty="0"/>
              <a:t>Ability to execute, implement, and apply visualization</a:t>
            </a:r>
          </a:p>
          <a:p>
            <a:pPr>
              <a:spcBef>
                <a:spcPts val="0"/>
              </a:spcBef>
              <a:buSzPts val="2040"/>
            </a:pPr>
            <a:r>
              <a:rPr lang="en-US" sz="2600" b="1" dirty="0"/>
              <a:t>Analysis</a:t>
            </a:r>
          </a:p>
          <a:p>
            <a:pPr lvl="1">
              <a:spcBef>
                <a:spcPts val="0"/>
              </a:spcBef>
              <a:buSzPts val="2040"/>
            </a:pPr>
            <a:r>
              <a:rPr lang="en-US" sz="2600" dirty="0"/>
              <a:t>Ability to differentiate, discriminate, organize, integrate, and deconstruct visualization </a:t>
            </a:r>
          </a:p>
          <a:p>
            <a:pPr>
              <a:spcBef>
                <a:spcPts val="0"/>
              </a:spcBef>
              <a:buSzPts val="2040"/>
            </a:pPr>
            <a:r>
              <a:rPr lang="en-US" sz="2600" b="1" dirty="0"/>
              <a:t>Evaluation</a:t>
            </a:r>
          </a:p>
          <a:p>
            <a:pPr lvl="1">
              <a:spcBef>
                <a:spcPts val="0"/>
              </a:spcBef>
              <a:buSzPts val="2040"/>
            </a:pPr>
            <a:r>
              <a:rPr lang="en-US" sz="2600" dirty="0"/>
              <a:t>Ability to check, critique, judge, and test visualization</a:t>
            </a:r>
          </a:p>
          <a:p>
            <a:pPr>
              <a:spcBef>
                <a:spcPts val="0"/>
              </a:spcBef>
              <a:buSzPts val="2040"/>
            </a:pPr>
            <a:r>
              <a:rPr lang="en-US" sz="2600" b="1" dirty="0"/>
              <a:t>Synthesis</a:t>
            </a:r>
          </a:p>
          <a:p>
            <a:pPr lvl="1">
              <a:spcBef>
                <a:spcPts val="0"/>
              </a:spcBef>
              <a:buSzPts val="2040"/>
            </a:pPr>
            <a:r>
              <a:rPr lang="en-US" sz="2600" dirty="0"/>
              <a:t>Ability to generate, hypothesize, plan, design, construct, reorganize, and produce visualization </a:t>
            </a:r>
          </a:p>
          <a:p>
            <a:pPr lvl="1">
              <a:spcBef>
                <a:spcPts val="0"/>
              </a:spcBef>
              <a:buSzPts val="2040"/>
            </a:pPr>
            <a:endParaRPr lang="en-US" sz="2400" dirty="0"/>
          </a:p>
        </p:txBody>
      </p:sp>
      <p:sp>
        <p:nvSpPr>
          <p:cNvPr id="4" name="TextBox 3">
            <a:extLst>
              <a:ext uri="{FF2B5EF4-FFF2-40B4-BE49-F238E27FC236}">
                <a16:creationId xmlns:a16="http://schemas.microsoft.com/office/drawing/2014/main" id="{67C8F583-EC61-DF80-4425-082F36876C79}"/>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2810209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57F7C-43CB-A8F2-50F1-6FB486C73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C9E86-0C4B-4AB7-C7B2-D74D0567CB19}"/>
              </a:ext>
            </a:extLst>
          </p:cNvPr>
          <p:cNvSpPr>
            <a:spLocks noGrp="1"/>
          </p:cNvSpPr>
          <p:nvPr>
            <p:ph type="title"/>
          </p:nvPr>
        </p:nvSpPr>
        <p:spPr/>
        <p:txBody>
          <a:bodyPr/>
          <a:lstStyle/>
          <a:p>
            <a:r>
              <a:rPr lang="en-US" dirty="0"/>
              <a:t>Skill Definitions (5)</a:t>
            </a:r>
          </a:p>
        </p:txBody>
      </p:sp>
      <p:sp>
        <p:nvSpPr>
          <p:cNvPr id="3" name="Content Placeholder 2">
            <a:extLst>
              <a:ext uri="{FF2B5EF4-FFF2-40B4-BE49-F238E27FC236}">
                <a16:creationId xmlns:a16="http://schemas.microsoft.com/office/drawing/2014/main" id="{16EC8830-C067-416E-597E-65A23D03A0F1}"/>
              </a:ext>
            </a:extLst>
          </p:cNvPr>
          <p:cNvSpPr>
            <a:spLocks noGrp="1"/>
          </p:cNvSpPr>
          <p:nvPr>
            <p:ph idx="1"/>
          </p:nvPr>
        </p:nvSpPr>
        <p:spPr>
          <a:xfrm>
            <a:off x="3486151" y="864108"/>
            <a:ext cx="8329612" cy="5120640"/>
          </a:xfrm>
        </p:spPr>
        <p:txBody>
          <a:bodyPr anchor="t">
            <a:normAutofit fontScale="92500" lnSpcReduction="20000"/>
          </a:bodyPr>
          <a:lstStyle/>
          <a:p>
            <a:pPr marL="0" indent="0">
              <a:spcBef>
                <a:spcPts val="0"/>
              </a:spcBef>
              <a:buSzPts val="2040"/>
              <a:buNone/>
            </a:pPr>
            <a:r>
              <a:rPr lang="en-US" sz="2600" b="1" dirty="0"/>
              <a:t>Arneson and Offerdahl et al. define visualization literacy as:</a:t>
            </a:r>
          </a:p>
          <a:p>
            <a:pPr marL="0" indent="0">
              <a:spcBef>
                <a:spcPts val="0"/>
              </a:spcBef>
              <a:buSzPts val="2040"/>
              <a:buNone/>
            </a:pPr>
            <a:endParaRPr lang="en-US" sz="2600" dirty="0"/>
          </a:p>
          <a:p>
            <a:pPr>
              <a:spcBef>
                <a:spcPts val="0"/>
              </a:spcBef>
              <a:buSzPts val="2040"/>
            </a:pPr>
            <a:r>
              <a:rPr lang="en-US" sz="2600" b="1" dirty="0"/>
              <a:t>Knowledge </a:t>
            </a:r>
          </a:p>
          <a:p>
            <a:pPr lvl="1">
              <a:spcBef>
                <a:spcPts val="0"/>
              </a:spcBef>
              <a:buSzPts val="2040"/>
            </a:pPr>
            <a:r>
              <a:rPr lang="en-US" sz="2600" dirty="0"/>
              <a:t>Ability to memorize, recognize, recall, and retrieve data</a:t>
            </a:r>
          </a:p>
          <a:p>
            <a:pPr>
              <a:spcBef>
                <a:spcPts val="0"/>
              </a:spcBef>
              <a:buSzPts val="2040"/>
            </a:pPr>
            <a:r>
              <a:rPr lang="en-US" sz="2600" b="1" dirty="0"/>
              <a:t>Comprehension</a:t>
            </a:r>
          </a:p>
          <a:p>
            <a:pPr lvl="1">
              <a:spcBef>
                <a:spcPts val="0"/>
              </a:spcBef>
              <a:buSzPts val="2040"/>
            </a:pPr>
            <a:r>
              <a:rPr lang="en-US" sz="2600" dirty="0"/>
              <a:t>Ability to understand, interpret, infer, exemplify, and classify </a:t>
            </a:r>
          </a:p>
          <a:p>
            <a:pPr>
              <a:spcBef>
                <a:spcPts val="0"/>
              </a:spcBef>
              <a:buSzPts val="2040"/>
            </a:pPr>
            <a:r>
              <a:rPr lang="en-US" sz="2600" b="1" dirty="0"/>
              <a:t>Application</a:t>
            </a:r>
          </a:p>
          <a:p>
            <a:pPr lvl="1">
              <a:spcBef>
                <a:spcPts val="0"/>
              </a:spcBef>
              <a:buSzPts val="2040"/>
            </a:pPr>
            <a:r>
              <a:rPr lang="en-US" sz="2600" dirty="0"/>
              <a:t>Ability to execute, implement, and apply visualization</a:t>
            </a:r>
          </a:p>
          <a:p>
            <a:pPr>
              <a:spcBef>
                <a:spcPts val="0"/>
              </a:spcBef>
              <a:buSzPts val="2040"/>
            </a:pPr>
            <a:r>
              <a:rPr lang="en-US" sz="2600" b="1" dirty="0"/>
              <a:t>Analysis</a:t>
            </a:r>
          </a:p>
          <a:p>
            <a:pPr lvl="1">
              <a:spcBef>
                <a:spcPts val="0"/>
              </a:spcBef>
              <a:buSzPts val="2040"/>
            </a:pPr>
            <a:r>
              <a:rPr lang="en-US" sz="2600" dirty="0"/>
              <a:t>Ability to differentiate, discriminate, organize, integrate, and deconstruct visualization </a:t>
            </a:r>
          </a:p>
          <a:p>
            <a:pPr>
              <a:spcBef>
                <a:spcPts val="0"/>
              </a:spcBef>
              <a:buSzPts val="2040"/>
            </a:pPr>
            <a:r>
              <a:rPr lang="en-US" sz="2600" b="1" dirty="0"/>
              <a:t>Evaluation</a:t>
            </a:r>
          </a:p>
          <a:p>
            <a:pPr lvl="1">
              <a:spcBef>
                <a:spcPts val="0"/>
              </a:spcBef>
              <a:buSzPts val="2040"/>
            </a:pPr>
            <a:r>
              <a:rPr lang="en-US" sz="2600" dirty="0"/>
              <a:t>Ability to check, critique, judge, and test visualization</a:t>
            </a:r>
          </a:p>
          <a:p>
            <a:pPr>
              <a:spcBef>
                <a:spcPts val="0"/>
              </a:spcBef>
              <a:buSzPts val="2040"/>
            </a:pPr>
            <a:r>
              <a:rPr lang="en-US" sz="2600" b="1" dirty="0"/>
              <a:t>Synthesis</a:t>
            </a:r>
          </a:p>
          <a:p>
            <a:pPr lvl="1">
              <a:spcBef>
                <a:spcPts val="0"/>
              </a:spcBef>
              <a:buSzPts val="2040"/>
            </a:pPr>
            <a:r>
              <a:rPr lang="en-US" sz="2600" dirty="0"/>
              <a:t>Ability to generate, hypothesize, plan, design, construct, reorganize, and produce visualization </a:t>
            </a:r>
          </a:p>
          <a:p>
            <a:pPr lvl="1">
              <a:spcBef>
                <a:spcPts val="0"/>
              </a:spcBef>
              <a:buSzPts val="2040"/>
            </a:pPr>
            <a:endParaRPr lang="en-US" sz="2400" dirty="0"/>
          </a:p>
        </p:txBody>
      </p:sp>
      <p:sp>
        <p:nvSpPr>
          <p:cNvPr id="4" name="TextBox 3">
            <a:extLst>
              <a:ext uri="{FF2B5EF4-FFF2-40B4-BE49-F238E27FC236}">
                <a16:creationId xmlns:a16="http://schemas.microsoft.com/office/drawing/2014/main" id="{3FBECA5F-D2E5-B529-905F-53D2C3C3B955}"/>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1466279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8EBE1-4719-82FD-2FA4-F52615A87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9DE93-5798-BCA9-83BA-2D554D855C14}"/>
              </a:ext>
            </a:extLst>
          </p:cNvPr>
          <p:cNvSpPr>
            <a:spLocks noGrp="1"/>
          </p:cNvSpPr>
          <p:nvPr>
            <p:ph type="title"/>
          </p:nvPr>
        </p:nvSpPr>
        <p:spPr/>
        <p:txBody>
          <a:bodyPr/>
          <a:lstStyle/>
          <a:p>
            <a:r>
              <a:rPr lang="en-US" dirty="0"/>
              <a:t>Skill Definitions (6)</a:t>
            </a:r>
          </a:p>
        </p:txBody>
      </p:sp>
      <p:sp>
        <p:nvSpPr>
          <p:cNvPr id="3" name="Content Placeholder 2">
            <a:extLst>
              <a:ext uri="{FF2B5EF4-FFF2-40B4-BE49-F238E27FC236}">
                <a16:creationId xmlns:a16="http://schemas.microsoft.com/office/drawing/2014/main" id="{BEC3830F-FFD1-C6C9-368B-69602DFD12E8}"/>
              </a:ext>
            </a:extLst>
          </p:cNvPr>
          <p:cNvSpPr>
            <a:spLocks noGrp="1"/>
          </p:cNvSpPr>
          <p:nvPr>
            <p:ph idx="1"/>
          </p:nvPr>
        </p:nvSpPr>
        <p:spPr>
          <a:xfrm>
            <a:off x="3486151" y="864108"/>
            <a:ext cx="8329612" cy="5120640"/>
          </a:xfrm>
        </p:spPr>
        <p:txBody>
          <a:bodyPr anchor="t">
            <a:normAutofit lnSpcReduction="10000"/>
          </a:bodyPr>
          <a:lstStyle/>
          <a:p>
            <a:pPr marL="0" indent="0">
              <a:spcBef>
                <a:spcPts val="0"/>
              </a:spcBef>
              <a:buSzPts val="2040"/>
              <a:buNone/>
            </a:pPr>
            <a:r>
              <a:rPr lang="en-US" sz="2400" b="1" dirty="0"/>
              <a:t>Kalaf-Hughes defines visualization literacy as:</a:t>
            </a:r>
          </a:p>
          <a:p>
            <a:pPr marL="0" indent="0">
              <a:spcBef>
                <a:spcPts val="0"/>
              </a:spcBef>
              <a:buSzPts val="2040"/>
              <a:buNone/>
            </a:pPr>
            <a:endParaRPr lang="en-US" sz="2400" dirty="0"/>
          </a:p>
          <a:p>
            <a:pPr>
              <a:spcBef>
                <a:spcPts val="0"/>
              </a:spcBef>
              <a:buSzPts val="2040"/>
            </a:pPr>
            <a:r>
              <a:rPr lang="en-US" sz="2400" b="1" dirty="0"/>
              <a:t>Information literacy </a:t>
            </a:r>
          </a:p>
          <a:p>
            <a:pPr lvl="1">
              <a:spcBef>
                <a:spcPts val="0"/>
              </a:spcBef>
              <a:buSzPts val="2040"/>
            </a:pPr>
            <a:r>
              <a:rPr lang="en-US" sz="2400" dirty="0"/>
              <a:t>Ability to retrieve and organize information </a:t>
            </a:r>
          </a:p>
          <a:p>
            <a:pPr>
              <a:spcBef>
                <a:spcPts val="0"/>
              </a:spcBef>
              <a:buSzPts val="2040"/>
            </a:pPr>
            <a:r>
              <a:rPr lang="en-US" sz="2400" b="1" dirty="0"/>
              <a:t>Visual literacy</a:t>
            </a:r>
          </a:p>
          <a:p>
            <a:pPr lvl="1">
              <a:spcBef>
                <a:spcPts val="0"/>
              </a:spcBef>
              <a:buSzPts val="2040"/>
            </a:pPr>
            <a:r>
              <a:rPr lang="en-US" sz="2400" dirty="0"/>
              <a:t>Ability to perceive, analyze, represent, and use multi-modality</a:t>
            </a:r>
          </a:p>
          <a:p>
            <a:pPr>
              <a:spcBef>
                <a:spcPts val="0"/>
              </a:spcBef>
              <a:buSzPts val="2040"/>
            </a:pPr>
            <a:r>
              <a:rPr lang="en-US" sz="2400" b="1" dirty="0"/>
              <a:t>Critical thinking</a:t>
            </a:r>
          </a:p>
          <a:p>
            <a:pPr lvl="1">
              <a:spcBef>
                <a:spcPts val="0"/>
              </a:spcBef>
              <a:buSzPts val="2040"/>
            </a:pPr>
            <a:r>
              <a:rPr lang="en-US" sz="2400" dirty="0"/>
              <a:t>Ability to think analytically for problem solving and decision making</a:t>
            </a:r>
          </a:p>
          <a:p>
            <a:pPr>
              <a:spcBef>
                <a:spcPts val="0"/>
              </a:spcBef>
              <a:buSzPts val="2040"/>
            </a:pPr>
            <a:r>
              <a:rPr lang="en-US" sz="2400" b="1" dirty="0"/>
              <a:t>Communication</a:t>
            </a:r>
          </a:p>
          <a:p>
            <a:pPr lvl="1">
              <a:spcBef>
                <a:spcPts val="0"/>
              </a:spcBef>
              <a:buSzPts val="2040"/>
            </a:pPr>
            <a:r>
              <a:rPr lang="en-US" sz="2400" dirty="0"/>
              <a:t>Ability to communicate effectively, collaborate with peers, speak publicly</a:t>
            </a:r>
          </a:p>
          <a:p>
            <a:pPr>
              <a:spcBef>
                <a:spcPts val="0"/>
              </a:spcBef>
              <a:buSzPts val="2040"/>
            </a:pPr>
            <a:r>
              <a:rPr lang="en-US" sz="2400" b="1" dirty="0"/>
              <a:t>Adaptability and lifelong learning</a:t>
            </a:r>
          </a:p>
          <a:p>
            <a:pPr lvl="1">
              <a:spcBef>
                <a:spcPts val="0"/>
              </a:spcBef>
              <a:buSzPts val="2040"/>
            </a:pPr>
            <a:r>
              <a:rPr lang="en-US" sz="2400" dirty="0"/>
              <a:t>Ability to adapt and learn for life </a:t>
            </a:r>
          </a:p>
          <a:p>
            <a:pPr lvl="1">
              <a:spcBef>
                <a:spcPts val="0"/>
              </a:spcBef>
              <a:buSzPts val="2040"/>
            </a:pPr>
            <a:endParaRPr lang="en-US" sz="2400" dirty="0"/>
          </a:p>
        </p:txBody>
      </p:sp>
      <p:sp>
        <p:nvSpPr>
          <p:cNvPr id="4" name="TextBox 3">
            <a:extLst>
              <a:ext uri="{FF2B5EF4-FFF2-40B4-BE49-F238E27FC236}">
                <a16:creationId xmlns:a16="http://schemas.microsoft.com/office/drawing/2014/main" id="{EC3B93C9-3A35-77B5-E83B-F2222E29F659}"/>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3810888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AC212-EDC6-AACC-1FB7-17BB87866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F7853-D98F-EF04-EB89-E4BF4913AFB4}"/>
              </a:ext>
            </a:extLst>
          </p:cNvPr>
          <p:cNvSpPr>
            <a:spLocks noGrp="1"/>
          </p:cNvSpPr>
          <p:nvPr>
            <p:ph type="title"/>
          </p:nvPr>
        </p:nvSpPr>
        <p:spPr/>
        <p:txBody>
          <a:bodyPr/>
          <a:lstStyle/>
          <a:p>
            <a:r>
              <a:rPr lang="en-US" dirty="0"/>
              <a:t>Skill Definitions (7)</a:t>
            </a:r>
          </a:p>
        </p:txBody>
      </p:sp>
      <p:sp>
        <p:nvSpPr>
          <p:cNvPr id="3" name="Content Placeholder 2">
            <a:extLst>
              <a:ext uri="{FF2B5EF4-FFF2-40B4-BE49-F238E27FC236}">
                <a16:creationId xmlns:a16="http://schemas.microsoft.com/office/drawing/2014/main" id="{B79AB965-376A-320B-51EB-BD29BB203725}"/>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a:t>Mnguni et al. define visualization literacy as:</a:t>
            </a:r>
          </a:p>
          <a:p>
            <a:pPr marL="0" indent="0">
              <a:spcBef>
                <a:spcPts val="0"/>
              </a:spcBef>
              <a:buSzPts val="2040"/>
              <a:buNone/>
            </a:pPr>
            <a:endParaRPr lang="en-US" sz="2400" dirty="0"/>
          </a:p>
          <a:p>
            <a:pPr>
              <a:spcBef>
                <a:spcPts val="0"/>
              </a:spcBef>
              <a:buSzPts val="2040"/>
            </a:pPr>
            <a:r>
              <a:rPr lang="en-US" sz="2400" b="1" dirty="0"/>
              <a:t>Internalization </a:t>
            </a:r>
          </a:p>
          <a:p>
            <a:pPr lvl="1">
              <a:spcBef>
                <a:spcPts val="0"/>
              </a:spcBef>
              <a:buSzPts val="2040"/>
            </a:pPr>
            <a:r>
              <a:rPr lang="en-US" sz="2400" dirty="0"/>
              <a:t>Ability to arrange, order, organize, classify, reorganize, find, locate, focus, ground, and perceive visual stimuli such as luminance, color, and motion </a:t>
            </a:r>
          </a:p>
          <a:p>
            <a:pPr>
              <a:spcBef>
                <a:spcPts val="0"/>
              </a:spcBef>
              <a:buSzPts val="2040"/>
            </a:pPr>
            <a:r>
              <a:rPr lang="en-US" sz="2400" b="1" dirty="0"/>
              <a:t>Conceptualization</a:t>
            </a:r>
          </a:p>
          <a:p>
            <a:pPr lvl="1">
              <a:spcBef>
                <a:spcPts val="0"/>
              </a:spcBef>
              <a:buSzPts val="2040"/>
            </a:pPr>
            <a:r>
              <a:rPr lang="en-US" sz="2400" dirty="0"/>
              <a:t>Ability to analyze, interpret, asses, evaluate, examine, investigate, compare, relate, critique, imagine, describe, discuss, explain, discriminate, judge, manipulate objects using geometrical properties and operations, recall, and retrieve</a:t>
            </a:r>
          </a:p>
          <a:p>
            <a:pPr>
              <a:spcBef>
                <a:spcPts val="0"/>
              </a:spcBef>
              <a:buSzPts val="2040"/>
            </a:pPr>
            <a:r>
              <a:rPr lang="en-US" sz="2400" b="1" dirty="0"/>
              <a:t>Externalization</a:t>
            </a:r>
          </a:p>
          <a:p>
            <a:pPr lvl="1">
              <a:spcBef>
                <a:spcPts val="0"/>
              </a:spcBef>
              <a:buSzPts val="2040"/>
            </a:pPr>
            <a:r>
              <a:rPr lang="en-US" sz="2400" dirty="0"/>
              <a:t>Ability to complete, illustrate, infer, predict, outline, propose, develop, formulate, devise, construct, create, produce, invent, use, and define the need for an image </a:t>
            </a:r>
          </a:p>
          <a:p>
            <a:pPr lvl="1">
              <a:spcBef>
                <a:spcPts val="0"/>
              </a:spcBef>
              <a:buSzPts val="2040"/>
            </a:pPr>
            <a:endParaRPr lang="en-US" sz="2400" dirty="0"/>
          </a:p>
        </p:txBody>
      </p:sp>
      <p:sp>
        <p:nvSpPr>
          <p:cNvPr id="4" name="TextBox 3">
            <a:extLst>
              <a:ext uri="{FF2B5EF4-FFF2-40B4-BE49-F238E27FC236}">
                <a16:creationId xmlns:a16="http://schemas.microsoft.com/office/drawing/2014/main" id="{D0BA563C-F8CB-1ED9-8271-BAC2C1E945D4}"/>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3813924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E9EF0-B047-D54A-F7CB-ABEDF2325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4947D-375E-0BA2-FF24-D3713AF05A62}"/>
              </a:ext>
            </a:extLst>
          </p:cNvPr>
          <p:cNvSpPr>
            <a:spLocks noGrp="1"/>
          </p:cNvSpPr>
          <p:nvPr>
            <p:ph type="title"/>
          </p:nvPr>
        </p:nvSpPr>
        <p:spPr/>
        <p:txBody>
          <a:bodyPr/>
          <a:lstStyle/>
          <a:p>
            <a:r>
              <a:rPr lang="en-US" dirty="0"/>
              <a:t>Skill Definitions (8)</a:t>
            </a:r>
          </a:p>
        </p:txBody>
      </p:sp>
      <p:sp>
        <p:nvSpPr>
          <p:cNvPr id="3" name="Content Placeholder 2">
            <a:extLst>
              <a:ext uri="{FF2B5EF4-FFF2-40B4-BE49-F238E27FC236}">
                <a16:creationId xmlns:a16="http://schemas.microsoft.com/office/drawing/2014/main" id="{98681DAD-71CA-FB1D-4924-12C6FD74D8D4}"/>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a:t>Reddy et al. define visualization literacy as:</a:t>
            </a:r>
          </a:p>
          <a:p>
            <a:pPr marL="0" indent="0">
              <a:spcBef>
                <a:spcPts val="0"/>
              </a:spcBef>
              <a:buSzPts val="2040"/>
              <a:buNone/>
            </a:pPr>
            <a:endParaRPr lang="en-US" sz="2400" dirty="0"/>
          </a:p>
          <a:p>
            <a:pPr>
              <a:spcBef>
                <a:spcPts val="0"/>
              </a:spcBef>
              <a:buSzPts val="2040"/>
            </a:pPr>
            <a:r>
              <a:rPr lang="en-US" sz="2400" dirty="0"/>
              <a:t>the ability to find images, interpret and analyze images, evaluate images, use images effectively, create visual medial, and use images ethically citing visuals </a:t>
            </a:r>
          </a:p>
          <a:p>
            <a:pPr lvl="1">
              <a:spcBef>
                <a:spcPts val="0"/>
              </a:spcBef>
              <a:buSzPts val="2040"/>
            </a:pPr>
            <a:endParaRPr lang="en-US" sz="2400" dirty="0"/>
          </a:p>
        </p:txBody>
      </p:sp>
      <p:sp>
        <p:nvSpPr>
          <p:cNvPr id="4" name="TextBox 3">
            <a:extLst>
              <a:ext uri="{FF2B5EF4-FFF2-40B4-BE49-F238E27FC236}">
                <a16:creationId xmlns:a16="http://schemas.microsoft.com/office/drawing/2014/main" id="{49088B99-C959-890B-5383-525F96700A10}"/>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4105883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6862C-A652-F33D-3FEA-8CE46609F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89C8F-EBFF-7DD5-EA09-D8B91C8D00A5}"/>
              </a:ext>
            </a:extLst>
          </p:cNvPr>
          <p:cNvSpPr>
            <a:spLocks noGrp="1"/>
          </p:cNvSpPr>
          <p:nvPr>
            <p:ph type="title"/>
          </p:nvPr>
        </p:nvSpPr>
        <p:spPr/>
        <p:txBody>
          <a:bodyPr/>
          <a:lstStyle/>
          <a:p>
            <a:r>
              <a:rPr lang="en-US" dirty="0"/>
              <a:t>Skill Definitions (9)</a:t>
            </a:r>
          </a:p>
        </p:txBody>
      </p:sp>
      <p:sp>
        <p:nvSpPr>
          <p:cNvPr id="3" name="Content Placeholder 2">
            <a:extLst>
              <a:ext uri="{FF2B5EF4-FFF2-40B4-BE49-F238E27FC236}">
                <a16:creationId xmlns:a16="http://schemas.microsoft.com/office/drawing/2014/main" id="{72AC6734-1BCE-0738-0A24-1F70ABD2E594}"/>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a:t>Krejci et al. define visualization literacy as:</a:t>
            </a:r>
          </a:p>
          <a:p>
            <a:pPr marL="0" indent="0">
              <a:spcBef>
                <a:spcPts val="0"/>
              </a:spcBef>
              <a:buSzPts val="2040"/>
              <a:buNone/>
            </a:pPr>
            <a:endParaRPr lang="en-US" sz="2400" dirty="0"/>
          </a:p>
          <a:p>
            <a:pPr>
              <a:spcBef>
                <a:spcPts val="0"/>
              </a:spcBef>
              <a:buSzPts val="2040"/>
            </a:pPr>
            <a:r>
              <a:rPr lang="en-US" sz="2400" b="1" dirty="0"/>
              <a:t>Elementary </a:t>
            </a:r>
          </a:p>
          <a:p>
            <a:pPr lvl="1">
              <a:spcBef>
                <a:spcPts val="0"/>
              </a:spcBef>
              <a:buSzPts val="2040"/>
            </a:pPr>
            <a:r>
              <a:rPr lang="en-US" sz="2400" dirty="0"/>
              <a:t>Ability to interpret visualization</a:t>
            </a:r>
          </a:p>
          <a:p>
            <a:pPr>
              <a:spcBef>
                <a:spcPts val="0"/>
              </a:spcBef>
              <a:buSzPts val="2040"/>
            </a:pPr>
            <a:r>
              <a:rPr lang="en-US" sz="2400" b="1" dirty="0"/>
              <a:t>Intermediate</a:t>
            </a:r>
          </a:p>
          <a:p>
            <a:pPr lvl="1">
              <a:spcBef>
                <a:spcPts val="0"/>
              </a:spcBef>
              <a:buSzPts val="2040"/>
            </a:pPr>
            <a:r>
              <a:rPr lang="en-US" sz="2400" dirty="0"/>
              <a:t>Ability to reason, explain, and evaluate visualization</a:t>
            </a:r>
          </a:p>
          <a:p>
            <a:pPr>
              <a:spcBef>
                <a:spcPts val="0"/>
              </a:spcBef>
              <a:buSzPts val="2040"/>
            </a:pPr>
            <a:r>
              <a:rPr lang="en-US" sz="2400" b="1" dirty="0"/>
              <a:t>Advanced</a:t>
            </a:r>
          </a:p>
          <a:p>
            <a:pPr lvl="1">
              <a:spcBef>
                <a:spcPts val="0"/>
              </a:spcBef>
              <a:buSzPts val="2040"/>
            </a:pPr>
            <a:r>
              <a:rPr lang="en-US" sz="2400" dirty="0"/>
              <a:t>Ability to synthesize, reflect, and judge visualization </a:t>
            </a:r>
          </a:p>
          <a:p>
            <a:pPr lvl="1">
              <a:spcBef>
                <a:spcPts val="0"/>
              </a:spcBef>
              <a:buSzPts val="2040"/>
            </a:pPr>
            <a:endParaRPr lang="en-US" sz="2400" dirty="0"/>
          </a:p>
        </p:txBody>
      </p:sp>
      <p:sp>
        <p:nvSpPr>
          <p:cNvPr id="4" name="TextBox 3">
            <a:extLst>
              <a:ext uri="{FF2B5EF4-FFF2-40B4-BE49-F238E27FC236}">
                <a16:creationId xmlns:a16="http://schemas.microsoft.com/office/drawing/2014/main" id="{78D54885-0CA9-A1D8-F3F9-D109E4CF1A48}"/>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1740034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11AC9-C017-E50D-F50E-4A955EE68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2C63E-32A9-46C4-3CF2-02811FCA0266}"/>
              </a:ext>
            </a:extLst>
          </p:cNvPr>
          <p:cNvSpPr>
            <a:spLocks noGrp="1"/>
          </p:cNvSpPr>
          <p:nvPr>
            <p:ph type="title"/>
          </p:nvPr>
        </p:nvSpPr>
        <p:spPr/>
        <p:txBody>
          <a:bodyPr/>
          <a:lstStyle/>
          <a:p>
            <a:r>
              <a:rPr lang="en-US" dirty="0"/>
              <a:t>Skill Definitions (10)</a:t>
            </a:r>
          </a:p>
        </p:txBody>
      </p:sp>
      <p:sp>
        <p:nvSpPr>
          <p:cNvPr id="3" name="Content Placeholder 2">
            <a:extLst>
              <a:ext uri="{FF2B5EF4-FFF2-40B4-BE49-F238E27FC236}">
                <a16:creationId xmlns:a16="http://schemas.microsoft.com/office/drawing/2014/main" id="{EFE52CAD-9C29-18DC-FDAD-5A50580219A3}"/>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a:t>Hedayati and Kay define visualization literacy as:</a:t>
            </a:r>
          </a:p>
          <a:p>
            <a:pPr marL="0" indent="0">
              <a:spcBef>
                <a:spcPts val="0"/>
              </a:spcBef>
              <a:buSzPts val="2040"/>
              <a:buNone/>
            </a:pPr>
            <a:endParaRPr lang="en-US" sz="2400" dirty="0"/>
          </a:p>
          <a:p>
            <a:pPr lvl="1">
              <a:spcBef>
                <a:spcPts val="0"/>
              </a:spcBef>
              <a:buSzPts val="2040"/>
            </a:pPr>
            <a:r>
              <a:rPr lang="en-US" sz="2400" dirty="0"/>
              <a:t>the ability to deconstruct visualization, and design empathy for visualization</a:t>
            </a:r>
          </a:p>
        </p:txBody>
      </p:sp>
      <p:sp>
        <p:nvSpPr>
          <p:cNvPr id="4" name="TextBox 3">
            <a:extLst>
              <a:ext uri="{FF2B5EF4-FFF2-40B4-BE49-F238E27FC236}">
                <a16:creationId xmlns:a16="http://schemas.microsoft.com/office/drawing/2014/main" id="{105C9CD9-535D-50A6-EF52-7F091205516A}"/>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1554844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25046-F692-DBB7-57CB-76869462B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602E2-451F-A134-BAEA-D89268ABBBD5}"/>
              </a:ext>
            </a:extLst>
          </p:cNvPr>
          <p:cNvSpPr>
            <a:spLocks noGrp="1"/>
          </p:cNvSpPr>
          <p:nvPr>
            <p:ph type="title"/>
          </p:nvPr>
        </p:nvSpPr>
        <p:spPr/>
        <p:txBody>
          <a:bodyPr/>
          <a:lstStyle/>
          <a:p>
            <a:r>
              <a:rPr lang="en-US" dirty="0"/>
              <a:t>Exploring Definitions– Visualization Literacy as a Model / Construct</a:t>
            </a:r>
          </a:p>
        </p:txBody>
      </p:sp>
      <p:sp>
        <p:nvSpPr>
          <p:cNvPr id="3" name="Content Placeholder 2">
            <a:extLst>
              <a:ext uri="{FF2B5EF4-FFF2-40B4-BE49-F238E27FC236}">
                <a16:creationId xmlns:a16="http://schemas.microsoft.com/office/drawing/2014/main" id="{8E82884A-CC72-9380-9AE9-E52820C0EA40}"/>
              </a:ext>
            </a:extLst>
          </p:cNvPr>
          <p:cNvSpPr>
            <a:spLocks noGrp="1"/>
          </p:cNvSpPr>
          <p:nvPr>
            <p:ph idx="1"/>
          </p:nvPr>
        </p:nvSpPr>
        <p:spPr>
          <a:xfrm>
            <a:off x="3869268" y="864107"/>
            <a:ext cx="7960782" cy="5579555"/>
          </a:xfrm>
        </p:spPr>
        <p:txBody>
          <a:bodyPr anchor="t">
            <a:normAutofit fontScale="92500" lnSpcReduction="20000"/>
          </a:bodyPr>
          <a:lstStyle/>
          <a:p>
            <a:pPr marL="0" indent="0">
              <a:spcBef>
                <a:spcPts val="0"/>
              </a:spcBef>
              <a:buSzPts val="2040"/>
              <a:buNone/>
            </a:pPr>
            <a:r>
              <a:rPr lang="en-US" sz="2400" dirty="0"/>
              <a:t>No agreed upon definition of visualization literacy. Many conceptualizations exist</a:t>
            </a:r>
          </a:p>
          <a:p>
            <a:pPr marL="0" indent="0">
              <a:spcBef>
                <a:spcPts val="0"/>
              </a:spcBef>
              <a:buSzPts val="2040"/>
              <a:buNone/>
            </a:pPr>
            <a:endParaRPr lang="en-US" sz="2400" dirty="0"/>
          </a:p>
          <a:p>
            <a:pPr>
              <a:lnSpc>
                <a:spcPct val="120000"/>
              </a:lnSpc>
              <a:spcBef>
                <a:spcPts val="0"/>
              </a:spcBef>
              <a:spcAft>
                <a:spcPts val="600"/>
              </a:spcAft>
            </a:pPr>
            <a:r>
              <a:rPr lang="en-US" sz="2400" dirty="0"/>
              <a:t>The next 7 slides present proposed definitions for visualization literacy through models or constructs. </a:t>
            </a:r>
          </a:p>
          <a:p>
            <a:pPr>
              <a:lnSpc>
                <a:spcPct val="120000"/>
              </a:lnSpc>
              <a:spcBef>
                <a:spcPts val="0"/>
              </a:spcBef>
              <a:spcAft>
                <a:spcPts val="600"/>
              </a:spcAft>
            </a:pPr>
            <a:r>
              <a:rPr lang="en-US" sz="2400" dirty="0"/>
              <a:t>Make 7 groups and count off, read the definition numbered the same as your group number. </a:t>
            </a:r>
          </a:p>
          <a:p>
            <a:pPr>
              <a:lnSpc>
                <a:spcPct val="120000"/>
              </a:lnSpc>
              <a:spcBef>
                <a:spcPts val="0"/>
              </a:spcBef>
              <a:spcAft>
                <a:spcPts val="600"/>
              </a:spcAft>
              <a:buSzPts val="2040"/>
            </a:pPr>
            <a:r>
              <a:rPr lang="en-US" sz="2400" dirty="0"/>
              <a:t>Pair up: Groups </a:t>
            </a:r>
            <a:r>
              <a:rPr lang="en-US" sz="2400" dirty="0">
                <a:latin typeface="Consolas" panose="020B0609020204030204" pitchFamily="49" charset="0"/>
                <a:cs typeface="Consolas" panose="020B0609020204030204" pitchFamily="49" charset="0"/>
              </a:rPr>
              <a:t>1&amp;7, 2&amp;6, 3&amp;5&amp;4 </a:t>
            </a:r>
          </a:p>
          <a:p>
            <a:pPr lvl="1">
              <a:lnSpc>
                <a:spcPct val="120000"/>
              </a:lnSpc>
              <a:spcBef>
                <a:spcPts val="0"/>
              </a:spcBef>
              <a:spcAft>
                <a:spcPts val="600"/>
              </a:spcAft>
              <a:buSzPts val="2040"/>
            </a:pPr>
            <a:r>
              <a:rPr lang="en-US" sz="2200" dirty="0"/>
              <a:t>What are the similarities and differences between your definitions?</a:t>
            </a:r>
          </a:p>
          <a:p>
            <a:pPr>
              <a:lnSpc>
                <a:spcPct val="120000"/>
              </a:lnSpc>
              <a:spcBef>
                <a:spcPts val="0"/>
              </a:spcBef>
              <a:spcAft>
                <a:spcPts val="600"/>
              </a:spcAft>
              <a:buSzPts val="2040"/>
            </a:pPr>
            <a:r>
              <a:rPr lang="en-US" sz="2400" dirty="0"/>
              <a:t>Pair up: Groups </a:t>
            </a:r>
            <a:r>
              <a:rPr lang="en-US" sz="2400" dirty="0">
                <a:latin typeface="Consolas" panose="020B0609020204030204" pitchFamily="49" charset="0"/>
                <a:cs typeface="Consolas" panose="020B0609020204030204" pitchFamily="49" charset="0"/>
              </a:rPr>
              <a:t>1&amp;7&amp;2, 3&amp;5&amp;4&amp;6</a:t>
            </a:r>
          </a:p>
          <a:p>
            <a:pPr lvl="1">
              <a:lnSpc>
                <a:spcPct val="120000"/>
              </a:lnSpc>
              <a:spcBef>
                <a:spcPts val="0"/>
              </a:spcBef>
              <a:spcAft>
                <a:spcPts val="600"/>
              </a:spcAft>
              <a:buSzPts val="2040"/>
            </a:pPr>
            <a:r>
              <a:rPr lang="en-US" sz="2200" dirty="0"/>
              <a:t>What are the similarities and differences between your definitions?</a:t>
            </a:r>
            <a:endParaRPr lang="en-US" sz="2200" dirty="0">
              <a:latin typeface="Consolas" panose="020B0609020204030204" pitchFamily="49" charset="0"/>
              <a:cs typeface="Consolas" panose="020B0609020204030204" pitchFamily="49" charset="0"/>
            </a:endParaRPr>
          </a:p>
          <a:p>
            <a:pPr>
              <a:lnSpc>
                <a:spcPct val="120000"/>
              </a:lnSpc>
              <a:spcBef>
                <a:spcPts val="0"/>
              </a:spcBef>
              <a:spcAft>
                <a:spcPts val="600"/>
              </a:spcAft>
              <a:buSzPts val="2040"/>
            </a:pPr>
            <a:r>
              <a:rPr lang="en-US" sz="2400" dirty="0">
                <a:cs typeface="Consolas" panose="020B0609020204030204" pitchFamily="49" charset="0"/>
              </a:rPr>
              <a:t>Whole class: </a:t>
            </a:r>
            <a:r>
              <a:rPr lang="en-US" sz="2400" dirty="0"/>
              <a:t>What are the similarities and differences between your definitions?</a:t>
            </a:r>
          </a:p>
          <a:p>
            <a:pPr>
              <a:lnSpc>
                <a:spcPct val="120000"/>
              </a:lnSpc>
              <a:spcBef>
                <a:spcPts val="0"/>
              </a:spcBef>
              <a:spcAft>
                <a:spcPts val="600"/>
              </a:spcAft>
              <a:buSzPts val="2040"/>
            </a:pPr>
            <a:r>
              <a:rPr lang="en-US" sz="2400" dirty="0"/>
              <a:t>What aspects of these definitions do we like? Which do we disagree with?</a:t>
            </a:r>
          </a:p>
          <a:p>
            <a:pPr>
              <a:spcBef>
                <a:spcPts val="0"/>
              </a:spcBef>
              <a:buSzPts val="2040"/>
            </a:pPr>
            <a:endParaRPr lang="en-US" sz="2400" dirty="0">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CA9B062A-AC1F-CAFD-D2CA-DF0DEB74FE03}"/>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402176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99FCC-92B0-D4BC-04E9-CA33F3510D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DA0F9-60EC-693C-FDBA-00C62F99D684}"/>
              </a:ext>
            </a:extLst>
          </p:cNvPr>
          <p:cNvSpPr>
            <a:spLocks noGrp="1"/>
          </p:cNvSpPr>
          <p:nvPr>
            <p:ph type="title"/>
          </p:nvPr>
        </p:nvSpPr>
        <p:spPr/>
        <p:txBody>
          <a:bodyPr/>
          <a:lstStyle/>
          <a:p>
            <a:r>
              <a:rPr lang="en-US" dirty="0"/>
              <a:t>Model/ Construct Definitions (1)</a:t>
            </a:r>
          </a:p>
        </p:txBody>
      </p:sp>
      <p:sp>
        <p:nvSpPr>
          <p:cNvPr id="3" name="Content Placeholder 2">
            <a:extLst>
              <a:ext uri="{FF2B5EF4-FFF2-40B4-BE49-F238E27FC236}">
                <a16:creationId xmlns:a16="http://schemas.microsoft.com/office/drawing/2014/main" id="{9D725CDF-E523-DDB7-B32C-5AA02918A2C2}"/>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a:t>Borner et al. define visualization literacy as:</a:t>
            </a:r>
          </a:p>
          <a:p>
            <a:pPr marL="0" indent="0">
              <a:spcBef>
                <a:spcPts val="0"/>
              </a:spcBef>
              <a:buSzPts val="2040"/>
              <a:buNone/>
            </a:pPr>
            <a:endParaRPr lang="en-US" sz="2400" dirty="0"/>
          </a:p>
          <a:p>
            <a:pPr>
              <a:spcBef>
                <a:spcPts val="0"/>
              </a:spcBef>
              <a:buSzPts val="2040"/>
            </a:pPr>
            <a:r>
              <a:rPr lang="en-US" sz="2400" b="1" dirty="0"/>
              <a:t>DVL-Framework typology</a:t>
            </a:r>
          </a:p>
          <a:p>
            <a:pPr lvl="1">
              <a:spcBef>
                <a:spcPts val="0"/>
              </a:spcBef>
              <a:buSzPts val="2040"/>
            </a:pPr>
            <a:r>
              <a:rPr lang="en-US" sz="2400" dirty="0"/>
              <a:t>Defines core concepts of visualization: insights, data scales, kinds of analyses, kind of visualization, graphic symbols, encoding variables, interactions</a:t>
            </a:r>
          </a:p>
          <a:p>
            <a:pPr>
              <a:spcBef>
                <a:spcPts val="0"/>
              </a:spcBef>
              <a:buSzPts val="2040"/>
            </a:pPr>
            <a:r>
              <a:rPr lang="en-US" sz="2400" b="1" dirty="0"/>
              <a:t>DVL-Framework process</a:t>
            </a:r>
          </a:p>
          <a:p>
            <a:pPr lvl="1">
              <a:spcBef>
                <a:spcPts val="0"/>
              </a:spcBef>
              <a:buSzPts val="2040"/>
            </a:pPr>
            <a:r>
              <a:rPr lang="en-US" sz="2400" dirty="0"/>
              <a:t>Defines steps for constructing and interpreting a visualization: identification of stakeholders’ insights, relevant datasets, data pre-processing and visualization, deployment, and interpretation of results</a:t>
            </a:r>
          </a:p>
        </p:txBody>
      </p:sp>
      <p:sp>
        <p:nvSpPr>
          <p:cNvPr id="4" name="TextBox 3">
            <a:extLst>
              <a:ext uri="{FF2B5EF4-FFF2-40B4-BE49-F238E27FC236}">
                <a16:creationId xmlns:a16="http://schemas.microsoft.com/office/drawing/2014/main" id="{5B54DC98-61FE-B8B5-58FE-EC74CC07DCFE}"/>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2150817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C533-3CA0-1112-21CB-02C75B3BC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0EC3B-3ABF-1BBF-C7D8-DC44808ED618}"/>
              </a:ext>
            </a:extLst>
          </p:cNvPr>
          <p:cNvSpPr>
            <a:spLocks noGrp="1"/>
          </p:cNvSpPr>
          <p:nvPr>
            <p:ph type="title"/>
          </p:nvPr>
        </p:nvSpPr>
        <p:spPr/>
        <p:txBody>
          <a:bodyPr/>
          <a:lstStyle/>
          <a:p>
            <a:r>
              <a:rPr lang="en-US" dirty="0"/>
              <a:t>Model/ Construct Definitions (2)</a:t>
            </a:r>
          </a:p>
        </p:txBody>
      </p:sp>
      <p:sp>
        <p:nvSpPr>
          <p:cNvPr id="3" name="Content Placeholder 2">
            <a:extLst>
              <a:ext uri="{FF2B5EF4-FFF2-40B4-BE49-F238E27FC236}">
                <a16:creationId xmlns:a16="http://schemas.microsoft.com/office/drawing/2014/main" id="{B1D11CFE-6275-6636-FF0D-58ED66B9BE51}"/>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a:t>Bresciani and Eppler define visualization literacy as:</a:t>
            </a:r>
          </a:p>
          <a:p>
            <a:pPr marL="0" indent="0">
              <a:spcBef>
                <a:spcPts val="0"/>
              </a:spcBef>
              <a:buSzPts val="2040"/>
              <a:buNone/>
            </a:pPr>
            <a:endParaRPr lang="en-US" sz="2400" dirty="0"/>
          </a:p>
          <a:p>
            <a:pPr>
              <a:spcBef>
                <a:spcPts val="0"/>
              </a:spcBef>
              <a:buSzPts val="2040"/>
            </a:pPr>
            <a:r>
              <a:rPr lang="en-US" sz="2400" b="1" dirty="0"/>
              <a:t>Potential pitfalls</a:t>
            </a:r>
          </a:p>
          <a:p>
            <a:pPr lvl="1">
              <a:spcBef>
                <a:spcPts val="0"/>
              </a:spcBef>
              <a:buSzPts val="2040"/>
            </a:pPr>
            <a:r>
              <a:rPr lang="en-US" sz="2400" dirty="0"/>
              <a:t>Poor encoding (designer errors) through—</a:t>
            </a:r>
          </a:p>
          <a:p>
            <a:pPr lvl="2">
              <a:spcBef>
                <a:spcPts val="0"/>
              </a:spcBef>
              <a:buSzPts val="2040"/>
            </a:pPr>
            <a:r>
              <a:rPr lang="en-US" sz="2200" dirty="0"/>
              <a:t>ambiguity, breaking conventions, cryptic encoding, hiding/obscuring, over-complexity, over-simplification, redundancy, task-visualization fit, unclear, etc.</a:t>
            </a:r>
          </a:p>
          <a:p>
            <a:pPr lvl="2">
              <a:spcBef>
                <a:spcPts val="0"/>
              </a:spcBef>
              <a:buSzPts val="2040"/>
            </a:pPr>
            <a:r>
              <a:rPr lang="en-US" sz="2200" dirty="0"/>
              <a:t>disturbing or boring content, ugly, wrong use of color</a:t>
            </a:r>
          </a:p>
          <a:p>
            <a:pPr lvl="2">
              <a:spcBef>
                <a:spcPts val="0"/>
              </a:spcBef>
              <a:buSzPts val="2040"/>
            </a:pPr>
            <a:r>
              <a:rPr lang="en-US" sz="2200" dirty="0"/>
              <a:t>exercise of power, inhibit conversation, unequal participation</a:t>
            </a:r>
          </a:p>
          <a:p>
            <a:pPr lvl="1">
              <a:spcBef>
                <a:spcPts val="0"/>
              </a:spcBef>
              <a:buSzPts val="2040"/>
            </a:pPr>
            <a:r>
              <a:rPr lang="en-US" sz="2400" dirty="0"/>
              <a:t>Poor decoding (user errors) through– </a:t>
            </a:r>
          </a:p>
          <a:p>
            <a:pPr lvl="2">
              <a:spcBef>
                <a:spcPts val="0"/>
              </a:spcBef>
              <a:buSzPts val="2040"/>
            </a:pPr>
            <a:r>
              <a:rPr lang="en-US" sz="2200" dirty="0"/>
              <a:t>channel thinking, poor perceptual skills, focus on low-relevance items, high reliance on training and resources, misuse, overload</a:t>
            </a:r>
          </a:p>
          <a:p>
            <a:pPr lvl="2">
              <a:spcBef>
                <a:spcPts val="0"/>
              </a:spcBef>
              <a:buSzPts val="2040"/>
            </a:pPr>
            <a:r>
              <a:rPr lang="en-US" sz="2200" dirty="0"/>
              <a:t>visual stress, personal likes and dislikes, prior knowledge and experience</a:t>
            </a:r>
          </a:p>
          <a:p>
            <a:pPr lvl="2">
              <a:spcBef>
                <a:spcPts val="0"/>
              </a:spcBef>
              <a:buSzPts val="2040"/>
            </a:pPr>
            <a:r>
              <a:rPr lang="en-US" sz="2200" dirty="0"/>
              <a:t>altered behavior, cultural and cross-cultural differences, recency effect, hiding differences of opinion</a:t>
            </a:r>
          </a:p>
        </p:txBody>
      </p:sp>
      <p:sp>
        <p:nvSpPr>
          <p:cNvPr id="4" name="TextBox 3">
            <a:extLst>
              <a:ext uri="{FF2B5EF4-FFF2-40B4-BE49-F238E27FC236}">
                <a16:creationId xmlns:a16="http://schemas.microsoft.com/office/drawing/2014/main" id="{515A778C-7B1F-A8EC-F5C3-D976F00D409A}"/>
              </a:ext>
            </a:extLst>
          </p:cNvPr>
          <p:cNvSpPr txBox="1"/>
          <p:nvPr/>
        </p:nvSpPr>
        <p:spPr>
          <a:xfrm>
            <a:off x="5112544" y="6451735"/>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3396054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3D421-2D88-340C-FDF5-7222A5AEA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4A98B-144D-C261-214F-B079C2B85D26}"/>
              </a:ext>
            </a:extLst>
          </p:cNvPr>
          <p:cNvSpPr>
            <a:spLocks noGrp="1"/>
          </p:cNvSpPr>
          <p:nvPr>
            <p:ph type="title"/>
          </p:nvPr>
        </p:nvSpPr>
        <p:spPr/>
        <p:txBody>
          <a:bodyPr/>
          <a:lstStyle/>
          <a:p>
            <a:r>
              <a:rPr lang="en-US" dirty="0"/>
              <a:t>Model/ Construct Definitions (3)</a:t>
            </a:r>
          </a:p>
        </p:txBody>
      </p:sp>
      <p:sp>
        <p:nvSpPr>
          <p:cNvPr id="3" name="Content Placeholder 2">
            <a:extLst>
              <a:ext uri="{FF2B5EF4-FFF2-40B4-BE49-F238E27FC236}">
                <a16:creationId xmlns:a16="http://schemas.microsoft.com/office/drawing/2014/main" id="{DCE2B4DB-63AA-C008-20DB-1AE967A17584}"/>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a:t>Davis et al. define visualization literacy as:</a:t>
            </a:r>
          </a:p>
          <a:p>
            <a:pPr marL="0" indent="0">
              <a:spcBef>
                <a:spcPts val="0"/>
              </a:spcBef>
              <a:buSzPts val="2040"/>
              <a:buNone/>
            </a:pPr>
            <a:endParaRPr lang="en-US" sz="2400" dirty="0"/>
          </a:p>
          <a:p>
            <a:pPr>
              <a:spcBef>
                <a:spcPts val="0"/>
              </a:spcBef>
              <a:buSzPts val="2040"/>
            </a:pPr>
            <a:r>
              <a:rPr lang="en-US" sz="2400" b="1" dirty="0"/>
              <a:t>Visualization tasks</a:t>
            </a:r>
          </a:p>
          <a:p>
            <a:pPr lvl="1">
              <a:spcBef>
                <a:spcPts val="0"/>
              </a:spcBef>
              <a:buSzPts val="2040"/>
            </a:pPr>
            <a:r>
              <a:rPr lang="en-US" sz="2400" dirty="0"/>
              <a:t>Estimate and compare values</a:t>
            </a:r>
          </a:p>
          <a:p>
            <a:pPr lvl="1">
              <a:spcBef>
                <a:spcPts val="0"/>
              </a:spcBef>
              <a:buSzPts val="2040"/>
            </a:pPr>
            <a:r>
              <a:rPr lang="en-US" sz="2400" dirty="0"/>
              <a:t>judge correlations</a:t>
            </a:r>
          </a:p>
          <a:p>
            <a:pPr lvl="1">
              <a:spcBef>
                <a:spcPts val="0"/>
              </a:spcBef>
              <a:buSzPts val="2040"/>
            </a:pPr>
            <a:r>
              <a:rPr lang="en-US" sz="2400" dirty="0"/>
              <a:t>identify trends and outliers</a:t>
            </a:r>
          </a:p>
          <a:p>
            <a:pPr lvl="1">
              <a:spcBef>
                <a:spcPts val="0"/>
              </a:spcBef>
              <a:buSzPts val="2040"/>
            </a:pPr>
            <a:r>
              <a:rPr lang="en-US" sz="2400" dirty="0"/>
              <a:t>spot suitability</a:t>
            </a:r>
          </a:p>
        </p:txBody>
      </p:sp>
      <p:sp>
        <p:nvSpPr>
          <p:cNvPr id="4" name="TextBox 3">
            <a:extLst>
              <a:ext uri="{FF2B5EF4-FFF2-40B4-BE49-F238E27FC236}">
                <a16:creationId xmlns:a16="http://schemas.microsoft.com/office/drawing/2014/main" id="{9B49E922-7738-3B38-64CE-A5E5F8E51550}"/>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60327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4BE41-22AB-326C-568F-B308078AF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CBA76-40EA-8B66-F50E-DA104C3B27C8}"/>
              </a:ext>
            </a:extLst>
          </p:cNvPr>
          <p:cNvSpPr>
            <a:spLocks noGrp="1"/>
          </p:cNvSpPr>
          <p:nvPr>
            <p:ph type="title"/>
          </p:nvPr>
        </p:nvSpPr>
        <p:spPr/>
        <p:txBody>
          <a:bodyPr/>
          <a:lstStyle/>
          <a:p>
            <a:r>
              <a:rPr lang="en-US" dirty="0"/>
              <a:t>Model/ Construct Definitions (4)</a:t>
            </a:r>
          </a:p>
        </p:txBody>
      </p:sp>
      <p:sp>
        <p:nvSpPr>
          <p:cNvPr id="3" name="Content Placeholder 2">
            <a:extLst>
              <a:ext uri="{FF2B5EF4-FFF2-40B4-BE49-F238E27FC236}">
                <a16:creationId xmlns:a16="http://schemas.microsoft.com/office/drawing/2014/main" id="{64FEB16C-0FC1-4CF8-8E2B-AA1ACE569B09}"/>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err="1"/>
              <a:t>Galesic</a:t>
            </a:r>
            <a:r>
              <a:rPr lang="en-US" sz="2400" b="1" dirty="0"/>
              <a:t> and Garcia-</a:t>
            </a:r>
            <a:r>
              <a:rPr lang="en-US" sz="2400" b="1" dirty="0" err="1"/>
              <a:t>Retamero</a:t>
            </a:r>
            <a:r>
              <a:rPr lang="en-US" sz="2400" b="1" dirty="0"/>
              <a:t> define visualization literacy as:</a:t>
            </a:r>
          </a:p>
          <a:p>
            <a:pPr marL="0" indent="0">
              <a:spcBef>
                <a:spcPts val="0"/>
              </a:spcBef>
              <a:buSzPts val="2040"/>
              <a:buNone/>
            </a:pPr>
            <a:endParaRPr lang="en-US" sz="2400" dirty="0"/>
          </a:p>
          <a:p>
            <a:pPr>
              <a:spcBef>
                <a:spcPts val="0"/>
              </a:spcBef>
              <a:buSzPts val="2040"/>
            </a:pPr>
            <a:r>
              <a:rPr lang="en-US" sz="2400" b="1" dirty="0"/>
              <a:t>Graph literacy levels</a:t>
            </a:r>
          </a:p>
          <a:p>
            <a:pPr lvl="1">
              <a:spcBef>
                <a:spcPts val="0"/>
              </a:spcBef>
              <a:buSzPts val="2040"/>
            </a:pPr>
            <a:r>
              <a:rPr lang="en-US" sz="2400" dirty="0"/>
              <a:t>Level 1: Read the data</a:t>
            </a:r>
          </a:p>
          <a:p>
            <a:pPr lvl="1">
              <a:spcBef>
                <a:spcPts val="0"/>
              </a:spcBef>
              <a:buSzPts val="2040"/>
            </a:pPr>
            <a:r>
              <a:rPr lang="en-US" sz="2400" dirty="0"/>
              <a:t>Level 2: Read between the data</a:t>
            </a:r>
          </a:p>
          <a:p>
            <a:pPr lvl="1">
              <a:spcBef>
                <a:spcPts val="0"/>
              </a:spcBef>
              <a:buSzPts val="2040"/>
            </a:pPr>
            <a:r>
              <a:rPr lang="en-US" sz="2400" dirty="0"/>
              <a:t>Level 3: Read beyond the data</a:t>
            </a:r>
          </a:p>
        </p:txBody>
      </p:sp>
      <p:sp>
        <p:nvSpPr>
          <p:cNvPr id="4" name="TextBox 3">
            <a:extLst>
              <a:ext uri="{FF2B5EF4-FFF2-40B4-BE49-F238E27FC236}">
                <a16:creationId xmlns:a16="http://schemas.microsoft.com/office/drawing/2014/main" id="{026E732F-0169-120D-D7F3-E4CB3CD675B5}"/>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1169550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01C5B-82A3-AD98-20CA-D9EA37548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1FE79-3600-C594-16B9-8BA5C161300C}"/>
              </a:ext>
            </a:extLst>
          </p:cNvPr>
          <p:cNvSpPr>
            <a:spLocks noGrp="1"/>
          </p:cNvSpPr>
          <p:nvPr>
            <p:ph type="title"/>
          </p:nvPr>
        </p:nvSpPr>
        <p:spPr/>
        <p:txBody>
          <a:bodyPr/>
          <a:lstStyle/>
          <a:p>
            <a:r>
              <a:rPr lang="en-US" dirty="0"/>
              <a:t>Model/ Construct Definitions (5)</a:t>
            </a:r>
          </a:p>
        </p:txBody>
      </p:sp>
      <p:sp>
        <p:nvSpPr>
          <p:cNvPr id="3" name="Content Placeholder 2">
            <a:extLst>
              <a:ext uri="{FF2B5EF4-FFF2-40B4-BE49-F238E27FC236}">
                <a16:creationId xmlns:a16="http://schemas.microsoft.com/office/drawing/2014/main" id="{AEAFF429-EF86-6944-1557-5F54169EC9BC}"/>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a:t>Lee et al. define visualization literacy as:</a:t>
            </a:r>
          </a:p>
          <a:p>
            <a:pPr marL="0" indent="0">
              <a:spcBef>
                <a:spcPts val="0"/>
              </a:spcBef>
              <a:buSzPts val="2040"/>
              <a:buNone/>
            </a:pPr>
            <a:endParaRPr lang="en-US" sz="2400" dirty="0"/>
          </a:p>
          <a:p>
            <a:pPr>
              <a:spcBef>
                <a:spcPts val="0"/>
              </a:spcBef>
              <a:buSzPts val="2040"/>
            </a:pPr>
            <a:r>
              <a:rPr lang="en-US" sz="2400" b="1" dirty="0"/>
              <a:t>Cognitive characteristics</a:t>
            </a:r>
          </a:p>
          <a:p>
            <a:pPr lvl="1">
              <a:spcBef>
                <a:spcPts val="0"/>
              </a:spcBef>
              <a:buSzPts val="2040"/>
            </a:pPr>
            <a:r>
              <a:rPr lang="en-US" sz="2400" dirty="0"/>
              <a:t>Numeracy</a:t>
            </a:r>
          </a:p>
          <a:p>
            <a:pPr lvl="1">
              <a:spcBef>
                <a:spcPts val="0"/>
              </a:spcBef>
              <a:buSzPts val="2040"/>
            </a:pPr>
            <a:r>
              <a:rPr lang="en-US" sz="2400" dirty="0"/>
              <a:t>need for cognition</a:t>
            </a:r>
          </a:p>
          <a:p>
            <a:pPr lvl="1">
              <a:spcBef>
                <a:spcPts val="0"/>
              </a:spcBef>
              <a:buSzPts val="2040"/>
            </a:pPr>
            <a:r>
              <a:rPr lang="en-US" sz="2400" dirty="0"/>
              <a:t>visualizer-verbalizer capacity</a:t>
            </a:r>
          </a:p>
        </p:txBody>
      </p:sp>
      <p:sp>
        <p:nvSpPr>
          <p:cNvPr id="4" name="TextBox 3">
            <a:extLst>
              <a:ext uri="{FF2B5EF4-FFF2-40B4-BE49-F238E27FC236}">
                <a16:creationId xmlns:a16="http://schemas.microsoft.com/office/drawing/2014/main" id="{280341A1-1994-42BD-635D-E6C91B96475E}"/>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1697465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16002-43FF-9690-7AA2-6FFB1D6B8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F7322-F6BF-8489-5154-7D65BA74897D}"/>
              </a:ext>
            </a:extLst>
          </p:cNvPr>
          <p:cNvSpPr>
            <a:spLocks noGrp="1"/>
          </p:cNvSpPr>
          <p:nvPr>
            <p:ph type="title"/>
          </p:nvPr>
        </p:nvSpPr>
        <p:spPr/>
        <p:txBody>
          <a:bodyPr/>
          <a:lstStyle/>
          <a:p>
            <a:r>
              <a:rPr lang="en-US" dirty="0"/>
              <a:t>Model/ Construct Definitions (6)</a:t>
            </a:r>
          </a:p>
        </p:txBody>
      </p:sp>
      <p:sp>
        <p:nvSpPr>
          <p:cNvPr id="3" name="Content Placeholder 2">
            <a:extLst>
              <a:ext uri="{FF2B5EF4-FFF2-40B4-BE49-F238E27FC236}">
                <a16:creationId xmlns:a16="http://schemas.microsoft.com/office/drawing/2014/main" id="{125D2F83-041B-C39B-BB6B-C993E13B40C6}"/>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err="1"/>
              <a:t>Locoro</a:t>
            </a:r>
            <a:r>
              <a:rPr lang="en-US" sz="2400" b="1" dirty="0"/>
              <a:t> et al. define visualization literacy as:</a:t>
            </a:r>
          </a:p>
          <a:p>
            <a:pPr marL="0" indent="0">
              <a:spcBef>
                <a:spcPts val="0"/>
              </a:spcBef>
              <a:buSzPts val="2040"/>
              <a:buNone/>
            </a:pPr>
            <a:endParaRPr lang="en-US" sz="2400" dirty="0"/>
          </a:p>
          <a:p>
            <a:pPr>
              <a:spcBef>
                <a:spcPts val="0"/>
              </a:spcBef>
              <a:buSzPts val="2040"/>
            </a:pPr>
            <a:r>
              <a:rPr lang="en-US" sz="2400" b="1" dirty="0"/>
              <a:t>Construct levels of VIL</a:t>
            </a:r>
          </a:p>
          <a:p>
            <a:pPr lvl="1">
              <a:spcBef>
                <a:spcPts val="0"/>
              </a:spcBef>
              <a:buSzPts val="2040"/>
            </a:pPr>
            <a:r>
              <a:rPr lang="en-US" sz="2400" dirty="0"/>
              <a:t>Map</a:t>
            </a:r>
          </a:p>
          <a:p>
            <a:pPr lvl="1">
              <a:spcBef>
                <a:spcPts val="0"/>
              </a:spcBef>
              <a:buSzPts val="2040"/>
            </a:pPr>
            <a:r>
              <a:rPr lang="en-US" sz="2400" dirty="0"/>
              <a:t>Integrate</a:t>
            </a:r>
          </a:p>
          <a:p>
            <a:pPr lvl="1">
              <a:spcBef>
                <a:spcPts val="0"/>
              </a:spcBef>
              <a:buSzPts val="2040"/>
            </a:pPr>
            <a:r>
              <a:rPr lang="en-US" sz="2400" dirty="0"/>
              <a:t>Compute</a:t>
            </a:r>
          </a:p>
          <a:p>
            <a:pPr lvl="1">
              <a:spcBef>
                <a:spcPts val="0"/>
              </a:spcBef>
              <a:buSzPts val="2040"/>
            </a:pPr>
            <a:r>
              <a:rPr lang="en-US" sz="2400" dirty="0"/>
              <a:t>Reason</a:t>
            </a:r>
          </a:p>
          <a:p>
            <a:pPr lvl="1">
              <a:spcBef>
                <a:spcPts val="0"/>
              </a:spcBef>
              <a:buSzPts val="2040"/>
            </a:pPr>
            <a:r>
              <a:rPr lang="en-US" sz="2400" dirty="0"/>
              <a:t>Infer</a:t>
            </a:r>
          </a:p>
          <a:p>
            <a:pPr lvl="1">
              <a:spcBef>
                <a:spcPts val="0"/>
              </a:spcBef>
              <a:buSzPts val="2040"/>
            </a:pPr>
            <a:r>
              <a:rPr lang="en-US" sz="2400" dirty="0"/>
              <a:t>Explain </a:t>
            </a:r>
          </a:p>
        </p:txBody>
      </p:sp>
      <p:sp>
        <p:nvSpPr>
          <p:cNvPr id="4" name="TextBox 3">
            <a:extLst>
              <a:ext uri="{FF2B5EF4-FFF2-40B4-BE49-F238E27FC236}">
                <a16:creationId xmlns:a16="http://schemas.microsoft.com/office/drawing/2014/main" id="{6549C39E-6D3F-B6BE-36AB-F04C64F631C8}"/>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3081508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0FF4E-ECA0-87CD-0334-9DEB991A4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7A877-1E53-F63E-E289-9705CA59F427}"/>
              </a:ext>
            </a:extLst>
          </p:cNvPr>
          <p:cNvSpPr>
            <a:spLocks noGrp="1"/>
          </p:cNvSpPr>
          <p:nvPr>
            <p:ph type="title"/>
          </p:nvPr>
        </p:nvSpPr>
        <p:spPr/>
        <p:txBody>
          <a:bodyPr/>
          <a:lstStyle/>
          <a:p>
            <a:r>
              <a:rPr lang="en-US" dirty="0"/>
              <a:t>Model/ Construct Definitions (7)</a:t>
            </a:r>
          </a:p>
        </p:txBody>
      </p:sp>
      <p:sp>
        <p:nvSpPr>
          <p:cNvPr id="3" name="Content Placeholder 2">
            <a:extLst>
              <a:ext uri="{FF2B5EF4-FFF2-40B4-BE49-F238E27FC236}">
                <a16:creationId xmlns:a16="http://schemas.microsoft.com/office/drawing/2014/main" id="{0E51DA6D-D2C4-4CC4-BACA-066D115F37FE}"/>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400" b="1" dirty="0" err="1"/>
              <a:t>Lundgard</a:t>
            </a:r>
            <a:r>
              <a:rPr lang="en-US" sz="2400" b="1" dirty="0"/>
              <a:t> and Satyanarayan define visualization literacy as:</a:t>
            </a:r>
          </a:p>
          <a:p>
            <a:pPr marL="0" indent="0">
              <a:spcBef>
                <a:spcPts val="0"/>
              </a:spcBef>
              <a:buSzPts val="2040"/>
              <a:buNone/>
            </a:pPr>
            <a:endParaRPr lang="en-US" sz="2400" dirty="0"/>
          </a:p>
          <a:p>
            <a:pPr>
              <a:spcBef>
                <a:spcPts val="0"/>
              </a:spcBef>
              <a:buSzPts val="2040"/>
            </a:pPr>
            <a:r>
              <a:rPr lang="en-US" sz="2400" b="1" dirty="0"/>
              <a:t>Model levels of DVL</a:t>
            </a:r>
          </a:p>
          <a:p>
            <a:pPr lvl="1">
              <a:spcBef>
                <a:spcPts val="0"/>
              </a:spcBef>
              <a:buSzPts val="2040"/>
            </a:pPr>
            <a:r>
              <a:rPr lang="en-US" sz="2400" dirty="0"/>
              <a:t>Enumerating visualization construction properties</a:t>
            </a:r>
          </a:p>
          <a:p>
            <a:pPr lvl="1">
              <a:spcBef>
                <a:spcPts val="0"/>
              </a:spcBef>
              <a:buSzPts val="2040"/>
            </a:pPr>
            <a:r>
              <a:rPr lang="en-US" sz="2400" dirty="0"/>
              <a:t>Reporting statistical concepts and relations</a:t>
            </a:r>
          </a:p>
          <a:p>
            <a:pPr lvl="1">
              <a:spcBef>
                <a:spcPts val="0"/>
              </a:spcBef>
              <a:buSzPts val="2040"/>
            </a:pPr>
            <a:r>
              <a:rPr lang="en-US" sz="2400" dirty="0"/>
              <a:t>Identifying perceptual and cognitive phenomena</a:t>
            </a:r>
          </a:p>
          <a:p>
            <a:pPr lvl="1">
              <a:spcBef>
                <a:spcPts val="0"/>
              </a:spcBef>
              <a:buSzPts val="2040"/>
            </a:pPr>
            <a:r>
              <a:rPr lang="en-US" sz="2400" dirty="0"/>
              <a:t>Elucidating domain specific insights </a:t>
            </a:r>
          </a:p>
        </p:txBody>
      </p:sp>
      <p:sp>
        <p:nvSpPr>
          <p:cNvPr id="4" name="TextBox 3">
            <a:extLst>
              <a:ext uri="{FF2B5EF4-FFF2-40B4-BE49-F238E27FC236}">
                <a16:creationId xmlns:a16="http://schemas.microsoft.com/office/drawing/2014/main" id="{735AF91B-A8BA-5D25-02C5-CF904DA494EE}"/>
              </a:ext>
            </a:extLst>
          </p:cNvPr>
          <p:cNvSpPr txBox="1"/>
          <p:nvPr/>
        </p:nvSpPr>
        <p:spPr>
          <a:xfrm>
            <a:off x="5112544" y="6329363"/>
            <a:ext cx="7079456" cy="406265"/>
          </a:xfrm>
          <a:prstGeom prst="rect">
            <a:avLst/>
          </a:prstGeom>
          <a:noFill/>
        </p:spPr>
        <p:txBody>
          <a:bodyPr wrap="square">
            <a:spAutoFit/>
          </a:bodyPr>
          <a:lstStyle/>
          <a:p>
            <a:r>
              <a:rPr lang="en-US" sz="1020" b="0" i="0" dirty="0">
                <a:solidFill>
                  <a:srgbClr val="333333"/>
                </a:solidFill>
                <a:effectLst/>
                <a:latin typeface="HelveticaNeue Regular"/>
              </a:rPr>
              <a:t>S. </a:t>
            </a:r>
            <a:r>
              <a:rPr lang="en-US" sz="1020" b="0" i="0" dirty="0" err="1">
                <a:solidFill>
                  <a:srgbClr val="333333"/>
                </a:solidFill>
                <a:effectLst/>
                <a:latin typeface="HelveticaNeue Regular"/>
              </a:rPr>
              <a:t>Beschi</a:t>
            </a:r>
            <a:r>
              <a:rPr lang="en-US" sz="1020" b="0" i="0" dirty="0">
                <a:solidFill>
                  <a:srgbClr val="333333"/>
                </a:solidFill>
                <a:effectLst/>
                <a:latin typeface="HelveticaNeue Regular"/>
              </a:rPr>
              <a:t>, D. Falessi, S. Golia and A. </a:t>
            </a:r>
            <a:r>
              <a:rPr lang="en-US" sz="1020" b="0" i="0" dirty="0" err="1">
                <a:solidFill>
                  <a:srgbClr val="333333"/>
                </a:solidFill>
                <a:effectLst/>
                <a:latin typeface="HelveticaNeue Regular"/>
              </a:rPr>
              <a:t>Locoro</a:t>
            </a:r>
            <a:r>
              <a:rPr lang="en-US" sz="1020" b="0" i="0" dirty="0">
                <a:solidFill>
                  <a:srgbClr val="333333"/>
                </a:solidFill>
                <a:effectLst/>
                <a:latin typeface="HelveticaNeue Regular"/>
              </a:rPr>
              <a:t>, "Characterizing Data Visualization Literacy for Standardization: A Systematic Literature Review," in </a:t>
            </a:r>
            <a:r>
              <a:rPr lang="en-US" sz="1020" b="0" i="1" dirty="0">
                <a:solidFill>
                  <a:srgbClr val="333333"/>
                </a:solidFill>
                <a:effectLst/>
                <a:latin typeface="HelveticaNeue Regular"/>
              </a:rPr>
              <a:t>IEEE Access</a:t>
            </a:r>
            <a:r>
              <a:rPr lang="en-US" sz="1020" b="0" i="0" dirty="0">
                <a:solidFill>
                  <a:srgbClr val="333333"/>
                </a:solidFill>
                <a:effectLst/>
                <a:latin typeface="HelveticaNeue Regular"/>
              </a:rPr>
              <a:t>, vol. 13, pp. 65704-65725, 2025, </a:t>
            </a:r>
            <a:r>
              <a:rPr lang="en-US" sz="1020" b="0" i="0" dirty="0" err="1">
                <a:solidFill>
                  <a:srgbClr val="333333"/>
                </a:solidFill>
                <a:effectLst/>
                <a:latin typeface="HelveticaNeue Regular"/>
              </a:rPr>
              <a:t>doi</a:t>
            </a:r>
            <a:r>
              <a:rPr lang="en-US" sz="1020" b="0" i="0" dirty="0">
                <a:solidFill>
                  <a:srgbClr val="333333"/>
                </a:solidFill>
                <a:effectLst/>
                <a:latin typeface="HelveticaNeue Regular"/>
              </a:rPr>
              <a:t>: 10.1109/ACCESS.2025.3559298.</a:t>
            </a:r>
            <a:endParaRPr lang="en-US" dirty="0"/>
          </a:p>
        </p:txBody>
      </p:sp>
    </p:spTree>
    <p:extLst>
      <p:ext uri="{BB962C8B-B14F-4D97-AF65-F5344CB8AC3E}">
        <p14:creationId xmlns:p14="http://schemas.microsoft.com/office/powerpoint/2010/main" val="2786400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82ADE-E32F-E441-A1A0-932498EFC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08962-7861-F1B6-4211-1CD50B7619CD}"/>
              </a:ext>
            </a:extLst>
          </p:cNvPr>
          <p:cNvSpPr>
            <a:spLocks noGrp="1"/>
          </p:cNvSpPr>
          <p:nvPr>
            <p:ph type="title"/>
          </p:nvPr>
        </p:nvSpPr>
        <p:spPr/>
        <p:txBody>
          <a:bodyPr/>
          <a:lstStyle/>
          <a:p>
            <a:r>
              <a:rPr lang="en-US" dirty="0"/>
              <a:t>Brainstorm</a:t>
            </a:r>
          </a:p>
        </p:txBody>
      </p:sp>
      <p:sp>
        <p:nvSpPr>
          <p:cNvPr id="3" name="Content Placeholder 2">
            <a:extLst>
              <a:ext uri="{FF2B5EF4-FFF2-40B4-BE49-F238E27FC236}">
                <a16:creationId xmlns:a16="http://schemas.microsoft.com/office/drawing/2014/main" id="{403A026C-13F4-2F5B-9ABB-6D84BE621709}"/>
              </a:ext>
            </a:extLst>
          </p:cNvPr>
          <p:cNvSpPr>
            <a:spLocks noGrp="1"/>
          </p:cNvSpPr>
          <p:nvPr>
            <p:ph idx="1"/>
          </p:nvPr>
        </p:nvSpPr>
        <p:spPr>
          <a:xfrm>
            <a:off x="3486151" y="864108"/>
            <a:ext cx="8329612" cy="5120640"/>
          </a:xfrm>
        </p:spPr>
        <p:txBody>
          <a:bodyPr anchor="ctr">
            <a:noAutofit/>
          </a:bodyPr>
          <a:lstStyle/>
          <a:p>
            <a:pPr marL="0" indent="0">
              <a:spcBef>
                <a:spcPts val="0"/>
              </a:spcBef>
              <a:buSzPts val="2040"/>
              <a:buNone/>
            </a:pPr>
            <a:r>
              <a:rPr lang="en-US" sz="2400" dirty="0"/>
              <a:t>Those are a LOT of different ways to think about visualization literacy. </a:t>
            </a:r>
          </a:p>
          <a:p>
            <a:pPr marL="0" indent="0">
              <a:spcBef>
                <a:spcPts val="0"/>
              </a:spcBef>
              <a:buSzPts val="2040"/>
              <a:buNone/>
            </a:pPr>
            <a:endParaRPr lang="en-US" sz="2400" dirty="0"/>
          </a:p>
          <a:p>
            <a:pPr marL="0" indent="0">
              <a:spcBef>
                <a:spcPts val="0"/>
              </a:spcBef>
              <a:buSzPts val="2040"/>
              <a:buNone/>
            </a:pPr>
            <a:r>
              <a:rPr lang="en-US" sz="2400" dirty="0"/>
              <a:t>If you think about assessing visualization literacy, do any of those definitions lend themselves well to creating an assessment? Which ones? Why?</a:t>
            </a:r>
          </a:p>
        </p:txBody>
      </p:sp>
    </p:spTree>
    <p:extLst>
      <p:ext uri="{BB962C8B-B14F-4D97-AF65-F5344CB8AC3E}">
        <p14:creationId xmlns:p14="http://schemas.microsoft.com/office/powerpoint/2010/main" val="2818440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DFDFE-A19C-B4A3-910F-CEBA1A45D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76139-CF5E-CC85-CEFB-C78DCAC158ED}"/>
              </a:ext>
            </a:extLst>
          </p:cNvPr>
          <p:cNvSpPr>
            <a:spLocks noGrp="1"/>
          </p:cNvSpPr>
          <p:nvPr>
            <p:ph type="title"/>
          </p:nvPr>
        </p:nvSpPr>
        <p:spPr/>
        <p:txBody>
          <a:bodyPr/>
          <a:lstStyle/>
          <a:p>
            <a:r>
              <a:rPr lang="en-US" dirty="0"/>
              <a:t>Brainstorm</a:t>
            </a:r>
          </a:p>
        </p:txBody>
      </p:sp>
      <p:sp>
        <p:nvSpPr>
          <p:cNvPr id="3" name="Content Placeholder 2">
            <a:extLst>
              <a:ext uri="{FF2B5EF4-FFF2-40B4-BE49-F238E27FC236}">
                <a16:creationId xmlns:a16="http://schemas.microsoft.com/office/drawing/2014/main" id="{6A7C8A22-C55F-8D4B-1C4C-EAD5463B1C2A}"/>
              </a:ext>
            </a:extLst>
          </p:cNvPr>
          <p:cNvSpPr>
            <a:spLocks noGrp="1"/>
          </p:cNvSpPr>
          <p:nvPr>
            <p:ph idx="1"/>
          </p:nvPr>
        </p:nvSpPr>
        <p:spPr>
          <a:xfrm>
            <a:off x="3486151" y="864108"/>
            <a:ext cx="8329612" cy="5120640"/>
          </a:xfrm>
        </p:spPr>
        <p:txBody>
          <a:bodyPr anchor="ctr">
            <a:noAutofit/>
          </a:bodyPr>
          <a:lstStyle/>
          <a:p>
            <a:pPr marL="0" indent="0">
              <a:spcBef>
                <a:spcPts val="0"/>
              </a:spcBef>
              <a:buSzPts val="2040"/>
              <a:buNone/>
            </a:pPr>
            <a:r>
              <a:rPr lang="en-US" sz="2400" dirty="0"/>
              <a:t>Choose one definition. Outline a test, based on the definition you chose, to determine someone’s visualization literacy level. </a:t>
            </a:r>
          </a:p>
        </p:txBody>
      </p:sp>
    </p:spTree>
    <p:extLst>
      <p:ext uri="{BB962C8B-B14F-4D97-AF65-F5344CB8AC3E}">
        <p14:creationId xmlns:p14="http://schemas.microsoft.com/office/powerpoint/2010/main" val="3965466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D66A4-5F8E-9EDC-CC79-999E77CAA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1056B-8999-F717-02C6-4A5EAB6DADAF}"/>
              </a:ext>
            </a:extLst>
          </p:cNvPr>
          <p:cNvSpPr>
            <a:spLocks noGrp="1"/>
          </p:cNvSpPr>
          <p:nvPr>
            <p:ph type="title"/>
          </p:nvPr>
        </p:nvSpPr>
        <p:spPr/>
        <p:txBody>
          <a:bodyPr/>
          <a:lstStyle/>
          <a:p>
            <a:r>
              <a:rPr lang="en-US" dirty="0"/>
              <a:t>Assessing Visualization Literacy</a:t>
            </a:r>
          </a:p>
        </p:txBody>
      </p:sp>
      <p:sp>
        <p:nvSpPr>
          <p:cNvPr id="3" name="Content Placeholder 2">
            <a:extLst>
              <a:ext uri="{FF2B5EF4-FFF2-40B4-BE49-F238E27FC236}">
                <a16:creationId xmlns:a16="http://schemas.microsoft.com/office/drawing/2014/main" id="{F30167F1-5E46-BA7B-AF44-F6D32C9A7527}"/>
              </a:ext>
            </a:extLst>
          </p:cNvPr>
          <p:cNvSpPr>
            <a:spLocks noGrp="1"/>
          </p:cNvSpPr>
          <p:nvPr>
            <p:ph idx="1"/>
          </p:nvPr>
        </p:nvSpPr>
        <p:spPr>
          <a:xfrm>
            <a:off x="3486151" y="864108"/>
            <a:ext cx="8329612" cy="5120640"/>
          </a:xfrm>
        </p:spPr>
        <p:txBody>
          <a:bodyPr anchor="t">
            <a:noAutofit/>
          </a:bodyPr>
          <a:lstStyle/>
          <a:p>
            <a:pPr>
              <a:spcBef>
                <a:spcPts val="0"/>
              </a:spcBef>
              <a:buSzPts val="2040"/>
            </a:pPr>
            <a:r>
              <a:rPr lang="en-US" sz="2400" dirty="0"/>
              <a:t>Most widely used assessment is VLAT (Visualization Literacy Assessment Test)</a:t>
            </a:r>
          </a:p>
          <a:p>
            <a:pPr>
              <a:spcBef>
                <a:spcPts val="0"/>
              </a:spcBef>
              <a:buSzPts val="2040"/>
            </a:pPr>
            <a:endParaRPr lang="en-US" sz="2400" dirty="0"/>
          </a:p>
          <a:p>
            <a:pPr>
              <a:spcBef>
                <a:spcPts val="0"/>
              </a:spcBef>
              <a:buSzPts val="2040"/>
            </a:pPr>
            <a:r>
              <a:rPr lang="en-US" sz="2400" dirty="0"/>
              <a:t>VLAT includes 12 data visualizations and 53. multiple choice questions</a:t>
            </a:r>
          </a:p>
          <a:p>
            <a:pPr>
              <a:spcBef>
                <a:spcPts val="0"/>
              </a:spcBef>
              <a:buSzPts val="2040"/>
            </a:pPr>
            <a:endParaRPr lang="en-US" sz="2400" dirty="0"/>
          </a:p>
          <a:p>
            <a:pPr>
              <a:spcBef>
                <a:spcPts val="0"/>
              </a:spcBef>
              <a:buSzPts val="2040"/>
            </a:pPr>
            <a:r>
              <a:rPr lang="en-US" sz="2400" dirty="0"/>
              <a:t>Demo: </a:t>
            </a:r>
            <a:r>
              <a:rPr lang="en-US" sz="2400" dirty="0">
                <a:hlinkClick r:id="rId3"/>
              </a:rPr>
              <a:t>https://revisit.dev/study/library-vlat/SURHUmJIblo3Uk4xUUhNUHQ1VTRIQT09</a:t>
            </a:r>
            <a:r>
              <a:rPr lang="en-US" sz="2400" dirty="0"/>
              <a:t> </a:t>
            </a:r>
          </a:p>
          <a:p>
            <a:pPr lvl="1">
              <a:spcBef>
                <a:spcPts val="0"/>
              </a:spcBef>
              <a:buSzPts val="2040"/>
            </a:pPr>
            <a:r>
              <a:rPr lang="en-US" sz="2200" dirty="0"/>
              <a:t>Click “Next” at the bottom of the page to take the assessment </a:t>
            </a:r>
          </a:p>
        </p:txBody>
      </p:sp>
      <p:sp>
        <p:nvSpPr>
          <p:cNvPr id="4" name="TextBox 3">
            <a:extLst>
              <a:ext uri="{FF2B5EF4-FFF2-40B4-BE49-F238E27FC236}">
                <a16:creationId xmlns:a16="http://schemas.microsoft.com/office/drawing/2014/main" id="{FCA392E4-3D88-9C88-A33F-0196CF4F48EA}"/>
              </a:ext>
            </a:extLst>
          </p:cNvPr>
          <p:cNvSpPr txBox="1"/>
          <p:nvPr/>
        </p:nvSpPr>
        <p:spPr>
          <a:xfrm>
            <a:off x="2586038" y="6172200"/>
            <a:ext cx="9605962" cy="646331"/>
          </a:xfrm>
          <a:prstGeom prst="rect">
            <a:avLst/>
          </a:prstGeom>
          <a:noFill/>
        </p:spPr>
        <p:txBody>
          <a:bodyPr wrap="square">
            <a:spAutoFit/>
          </a:bodyPr>
          <a:lstStyle/>
          <a:p>
            <a:r>
              <a:rPr lang="en-US" dirty="0"/>
              <a:t>S. Lee, S.-H. Kim, and B. C. Kwon, "VLAT: Development of a Visualization Literacy Assessment Test," IEEE Transactions on Visualization and Computer Graphics, vol. 23, no. 1, pp. 551-560, Jan. 2017</a:t>
            </a:r>
          </a:p>
        </p:txBody>
      </p:sp>
    </p:spTree>
    <p:extLst>
      <p:ext uri="{BB962C8B-B14F-4D97-AF65-F5344CB8AC3E}">
        <p14:creationId xmlns:p14="http://schemas.microsoft.com/office/powerpoint/2010/main" val="1150234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D5EA7-B6D2-7EF7-A989-7A9FC9E2D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E9DE5-2AEF-7275-1A0B-4885930A07F1}"/>
              </a:ext>
            </a:extLst>
          </p:cNvPr>
          <p:cNvSpPr>
            <a:spLocks noGrp="1"/>
          </p:cNvSpPr>
          <p:nvPr>
            <p:ph type="title"/>
          </p:nvPr>
        </p:nvSpPr>
        <p:spPr/>
        <p:txBody>
          <a:bodyPr/>
          <a:lstStyle/>
          <a:p>
            <a:r>
              <a:rPr lang="en-US" dirty="0"/>
              <a:t>Assessing Visualization Literacy</a:t>
            </a:r>
          </a:p>
        </p:txBody>
      </p:sp>
      <p:sp>
        <p:nvSpPr>
          <p:cNvPr id="3" name="Content Placeholder 2">
            <a:extLst>
              <a:ext uri="{FF2B5EF4-FFF2-40B4-BE49-F238E27FC236}">
                <a16:creationId xmlns:a16="http://schemas.microsoft.com/office/drawing/2014/main" id="{2999DAE5-1244-CE2E-0C28-C32743E07982}"/>
              </a:ext>
            </a:extLst>
          </p:cNvPr>
          <p:cNvSpPr>
            <a:spLocks noGrp="1"/>
          </p:cNvSpPr>
          <p:nvPr>
            <p:ph idx="1"/>
          </p:nvPr>
        </p:nvSpPr>
        <p:spPr>
          <a:xfrm>
            <a:off x="3486151" y="864108"/>
            <a:ext cx="8329612" cy="5120640"/>
          </a:xfrm>
        </p:spPr>
        <p:txBody>
          <a:bodyPr anchor="t">
            <a:noAutofit/>
          </a:bodyPr>
          <a:lstStyle/>
          <a:p>
            <a:pPr>
              <a:spcBef>
                <a:spcPts val="0"/>
              </a:spcBef>
              <a:buSzPts val="2040"/>
            </a:pPr>
            <a:r>
              <a:rPr lang="en-US" sz="2400" dirty="0"/>
              <a:t>There is also a </a:t>
            </a:r>
            <a:r>
              <a:rPr lang="en-US" sz="2400" dirty="0" err="1"/>
              <a:t>minVLAT</a:t>
            </a:r>
            <a:r>
              <a:rPr lang="en-US" sz="2400" dirty="0"/>
              <a:t>!</a:t>
            </a:r>
          </a:p>
          <a:p>
            <a:pPr>
              <a:spcBef>
                <a:spcPts val="0"/>
              </a:spcBef>
              <a:buSzPts val="2040"/>
            </a:pPr>
            <a:endParaRPr lang="en-US" sz="2400" dirty="0"/>
          </a:p>
          <a:p>
            <a:pPr>
              <a:spcBef>
                <a:spcPts val="0"/>
              </a:spcBef>
              <a:buSzPts val="2040"/>
            </a:pPr>
            <a:r>
              <a:rPr lang="en-US" sz="2400" dirty="0"/>
              <a:t>Much, much shorter than the long-form VLAT</a:t>
            </a:r>
          </a:p>
          <a:p>
            <a:pPr lvl="1">
              <a:spcBef>
                <a:spcPts val="0"/>
              </a:spcBef>
              <a:buSzPts val="2040"/>
            </a:pPr>
            <a:r>
              <a:rPr lang="en-US" sz="2200" dirty="0"/>
              <a:t>12 items instead of 53</a:t>
            </a:r>
          </a:p>
          <a:p>
            <a:pPr>
              <a:spcBef>
                <a:spcPts val="0"/>
              </a:spcBef>
              <a:buSzPts val="2040"/>
            </a:pPr>
            <a:endParaRPr lang="en-US" sz="2400" dirty="0"/>
          </a:p>
          <a:p>
            <a:pPr>
              <a:spcBef>
                <a:spcPts val="0"/>
              </a:spcBef>
              <a:buSzPts val="2040"/>
            </a:pPr>
            <a:r>
              <a:rPr lang="en-US" sz="2400" dirty="0"/>
              <a:t>Demo: </a:t>
            </a:r>
            <a:r>
              <a:rPr lang="en-US" sz="2400" dirty="0">
                <a:hlinkClick r:id="rId3"/>
              </a:rPr>
              <a:t>https://tools.visualdata.wustl.edu/experiment/#/</a:t>
            </a:r>
            <a:r>
              <a:rPr lang="en-US" sz="2400" dirty="0"/>
              <a:t> </a:t>
            </a:r>
          </a:p>
          <a:p>
            <a:pPr lvl="1">
              <a:spcBef>
                <a:spcPts val="0"/>
              </a:spcBef>
              <a:buSzPts val="2040"/>
            </a:pPr>
            <a:r>
              <a:rPr lang="en-US" sz="2400" dirty="0"/>
              <a:t>Click “I agree to participate” at the bottom of the page to take the assessment </a:t>
            </a:r>
          </a:p>
        </p:txBody>
      </p:sp>
      <p:sp>
        <p:nvSpPr>
          <p:cNvPr id="4" name="TextBox 3">
            <a:extLst>
              <a:ext uri="{FF2B5EF4-FFF2-40B4-BE49-F238E27FC236}">
                <a16:creationId xmlns:a16="http://schemas.microsoft.com/office/drawing/2014/main" id="{F8D8FD81-3485-15DB-21C2-348988EBEF69}"/>
              </a:ext>
            </a:extLst>
          </p:cNvPr>
          <p:cNvSpPr txBox="1"/>
          <p:nvPr/>
        </p:nvSpPr>
        <p:spPr>
          <a:xfrm>
            <a:off x="2586038" y="6172200"/>
            <a:ext cx="9605962" cy="646331"/>
          </a:xfrm>
          <a:prstGeom prst="rect">
            <a:avLst/>
          </a:prstGeom>
          <a:noFill/>
        </p:spPr>
        <p:txBody>
          <a:bodyPr wrap="square">
            <a:spAutoFit/>
          </a:bodyPr>
          <a:lstStyle/>
          <a:p>
            <a:r>
              <a:rPr lang="en-US" dirty="0"/>
              <a:t>Pandey, S. and Ottley, A. (2023), Mini-VLAT: A Short and Effective Measure of Visualization Literacy. Computer Graphics Forum, 42: 1-11. </a:t>
            </a:r>
            <a:r>
              <a:rPr lang="en-US" dirty="0">
                <a:hlinkClick r:id="rId4"/>
              </a:rPr>
              <a:t>https://doi.org/10.1111/cgf.14809</a:t>
            </a:r>
            <a:r>
              <a:rPr lang="en-US" dirty="0"/>
              <a:t> </a:t>
            </a:r>
          </a:p>
        </p:txBody>
      </p:sp>
    </p:spTree>
    <p:extLst>
      <p:ext uri="{BB962C8B-B14F-4D97-AF65-F5344CB8AC3E}">
        <p14:creationId xmlns:p14="http://schemas.microsoft.com/office/powerpoint/2010/main" val="3732533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D78A0-262F-D9A7-FE3D-DFF97819D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A2D31-F6CE-75F4-4896-14340DC5595B}"/>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540CBFDF-0FA9-70A1-C7CD-7EF250C8202A}"/>
              </a:ext>
            </a:extLst>
          </p:cNvPr>
          <p:cNvSpPr>
            <a:spLocks noGrp="1"/>
          </p:cNvSpPr>
          <p:nvPr>
            <p:ph idx="1"/>
          </p:nvPr>
        </p:nvSpPr>
        <p:spPr>
          <a:xfrm>
            <a:off x="3486151" y="864108"/>
            <a:ext cx="8329612" cy="5120640"/>
          </a:xfrm>
        </p:spPr>
        <p:txBody>
          <a:bodyPr anchor="t">
            <a:noAutofit/>
          </a:bodyPr>
          <a:lstStyle/>
          <a:p>
            <a:pPr>
              <a:spcBef>
                <a:spcPts val="0"/>
              </a:spcBef>
              <a:buSzPts val="2040"/>
            </a:pPr>
            <a:r>
              <a:rPr lang="en-US" sz="2400" dirty="0"/>
              <a:t>Answering a question with data visualization can be thought of as 5 parts:</a:t>
            </a:r>
          </a:p>
          <a:p>
            <a:pPr marL="960120" lvl="1" indent="-457200">
              <a:spcBef>
                <a:spcPts val="0"/>
              </a:spcBef>
              <a:buSzPts val="2040"/>
              <a:buFont typeface="+mj-lt"/>
              <a:buAutoNum type="arabicPeriod"/>
            </a:pPr>
            <a:r>
              <a:rPr lang="en-US" sz="2200" dirty="0"/>
              <a:t>Posing the question</a:t>
            </a:r>
          </a:p>
          <a:p>
            <a:pPr marL="960120" lvl="1" indent="-457200">
              <a:spcBef>
                <a:spcPts val="0"/>
              </a:spcBef>
              <a:buSzPts val="2040"/>
              <a:buFont typeface="+mj-lt"/>
              <a:buAutoNum type="arabicPeriod"/>
            </a:pPr>
            <a:r>
              <a:rPr lang="en-US" sz="2200" dirty="0"/>
              <a:t>Translating the question into a visual query</a:t>
            </a:r>
          </a:p>
          <a:p>
            <a:pPr marL="960120" lvl="1" indent="-457200">
              <a:spcBef>
                <a:spcPts val="0"/>
              </a:spcBef>
              <a:buSzPts val="2040"/>
              <a:buFont typeface="+mj-lt"/>
              <a:buAutoNum type="arabicPeriod"/>
            </a:pPr>
            <a:r>
              <a:rPr lang="en-US" sz="2200" dirty="0"/>
              <a:t>Grasping the visualization’s layout and visual encoding</a:t>
            </a:r>
          </a:p>
          <a:p>
            <a:pPr marL="960120" lvl="1" indent="-457200">
              <a:spcBef>
                <a:spcPts val="0"/>
              </a:spcBef>
              <a:buSzPts val="2040"/>
              <a:buFont typeface="+mj-lt"/>
              <a:buAutoNum type="arabicPeriod"/>
            </a:pPr>
            <a:r>
              <a:rPr lang="en-US" sz="2200" dirty="0"/>
              <a:t>Decoding the relevant values</a:t>
            </a:r>
          </a:p>
          <a:p>
            <a:pPr marL="960120" lvl="1" indent="-457200">
              <a:spcBef>
                <a:spcPts val="0"/>
              </a:spcBef>
              <a:buSzPts val="2040"/>
              <a:buFont typeface="+mj-lt"/>
              <a:buAutoNum type="arabicPeriod"/>
            </a:pPr>
            <a:r>
              <a:rPr lang="en-US" sz="2200" dirty="0"/>
              <a:t>Synthesizing an answer </a:t>
            </a:r>
          </a:p>
        </p:txBody>
      </p:sp>
      <p:sp>
        <p:nvSpPr>
          <p:cNvPr id="4" name="TextBox 3">
            <a:extLst>
              <a:ext uri="{FF2B5EF4-FFF2-40B4-BE49-F238E27FC236}">
                <a16:creationId xmlns:a16="http://schemas.microsoft.com/office/drawing/2014/main" id="{22D4D092-FF84-F615-784C-DFECA4D46A0B}"/>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spTree>
    <p:extLst>
      <p:ext uri="{BB962C8B-B14F-4D97-AF65-F5344CB8AC3E}">
        <p14:creationId xmlns:p14="http://schemas.microsoft.com/office/powerpoint/2010/main" val="2357062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65DA6-6F32-A63B-56B4-58F3155E0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4B815-F0E6-C65D-CCB8-83E0E150768B}"/>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0AC5AD8D-597E-FEB6-9712-CCC11A5EAAE2}"/>
              </a:ext>
            </a:extLst>
          </p:cNvPr>
          <p:cNvSpPr>
            <a:spLocks noGrp="1"/>
          </p:cNvSpPr>
          <p:nvPr>
            <p:ph idx="1"/>
          </p:nvPr>
        </p:nvSpPr>
        <p:spPr>
          <a:xfrm>
            <a:off x="3486151" y="864108"/>
            <a:ext cx="8329612" cy="5120640"/>
          </a:xfrm>
        </p:spPr>
        <p:txBody>
          <a:bodyPr anchor="t">
            <a:noAutofit/>
          </a:bodyPr>
          <a:lstStyle/>
          <a:p>
            <a:pPr>
              <a:spcBef>
                <a:spcPts val="0"/>
              </a:spcBef>
              <a:buSzPts val="2040"/>
            </a:pPr>
            <a:r>
              <a:rPr lang="en-US" sz="2400" dirty="0"/>
              <a:t>Answering a question with data visualization can be thought of as 5 parts:</a:t>
            </a:r>
          </a:p>
          <a:p>
            <a:pPr marL="960120" lvl="1" indent="-457200">
              <a:spcBef>
                <a:spcPts val="0"/>
              </a:spcBef>
              <a:buSzPts val="2040"/>
              <a:buFont typeface="+mj-lt"/>
              <a:buAutoNum type="arabicPeriod"/>
            </a:pPr>
            <a:r>
              <a:rPr lang="en-US" sz="2200" dirty="0"/>
              <a:t>Posing the question</a:t>
            </a:r>
          </a:p>
          <a:p>
            <a:pPr marL="960120" lvl="1" indent="-457200">
              <a:spcBef>
                <a:spcPts val="0"/>
              </a:spcBef>
              <a:buSzPts val="2040"/>
              <a:buFont typeface="+mj-lt"/>
              <a:buAutoNum type="arabicPeriod"/>
            </a:pPr>
            <a:r>
              <a:rPr lang="en-US" sz="2200" dirty="0">
                <a:effectLst>
                  <a:glow rad="228600">
                    <a:schemeClr val="accent3">
                      <a:satMod val="175000"/>
                      <a:alpha val="40000"/>
                    </a:schemeClr>
                  </a:glow>
                </a:effectLst>
              </a:rPr>
              <a:t>Translating the question into a visual query</a:t>
            </a:r>
          </a:p>
          <a:p>
            <a:pPr marL="960120" lvl="1" indent="-457200">
              <a:spcBef>
                <a:spcPts val="0"/>
              </a:spcBef>
              <a:buSzPts val="2040"/>
              <a:buFont typeface="+mj-lt"/>
              <a:buAutoNum type="arabicPeriod"/>
            </a:pPr>
            <a:r>
              <a:rPr lang="en-US" sz="2200" dirty="0">
                <a:effectLst>
                  <a:glow rad="228600">
                    <a:schemeClr val="accent3">
                      <a:satMod val="175000"/>
                      <a:alpha val="40000"/>
                    </a:schemeClr>
                  </a:glow>
                </a:effectLst>
              </a:rPr>
              <a:t>Grasping the visualization’s layout and visual encoding</a:t>
            </a:r>
          </a:p>
          <a:p>
            <a:pPr marL="960120" lvl="1" indent="-457200">
              <a:spcBef>
                <a:spcPts val="0"/>
              </a:spcBef>
              <a:buSzPts val="2040"/>
              <a:buFont typeface="+mj-lt"/>
              <a:buAutoNum type="arabicPeriod"/>
            </a:pPr>
            <a:r>
              <a:rPr lang="en-US" sz="2200" dirty="0">
                <a:effectLst>
                  <a:glow rad="228600">
                    <a:schemeClr val="accent3">
                      <a:satMod val="175000"/>
                      <a:alpha val="40000"/>
                    </a:schemeClr>
                  </a:glow>
                </a:effectLst>
              </a:rPr>
              <a:t>Decoding the relevant values</a:t>
            </a:r>
          </a:p>
          <a:p>
            <a:pPr marL="960120" lvl="1" indent="-457200">
              <a:spcBef>
                <a:spcPts val="0"/>
              </a:spcBef>
              <a:buSzPts val="2040"/>
              <a:buFont typeface="+mj-lt"/>
              <a:buAutoNum type="arabicPeriod"/>
            </a:pPr>
            <a:r>
              <a:rPr lang="en-US" sz="2200" dirty="0"/>
              <a:t>Synthesizing an answer </a:t>
            </a:r>
          </a:p>
          <a:p>
            <a:pPr marL="960120" lvl="1" indent="-457200">
              <a:spcBef>
                <a:spcPts val="0"/>
              </a:spcBef>
              <a:buSzPts val="2040"/>
              <a:buFont typeface="+mj-lt"/>
              <a:buAutoNum type="arabicPeriod"/>
            </a:pPr>
            <a:endParaRPr lang="en-US" sz="2200" dirty="0"/>
          </a:p>
          <a:p>
            <a:pPr marL="502920" lvl="1" indent="0">
              <a:spcBef>
                <a:spcPts val="0"/>
              </a:spcBef>
              <a:buSzPts val="2040"/>
              <a:buNone/>
            </a:pPr>
            <a:r>
              <a:rPr lang="en-US" sz="2200" dirty="0"/>
              <a:t>Barriers in these stages are either (a) </a:t>
            </a:r>
            <a:r>
              <a:rPr lang="en-US" sz="2200" b="1" i="1" dirty="0"/>
              <a:t>translation</a:t>
            </a:r>
            <a:r>
              <a:rPr lang="en-US" sz="2200" dirty="0"/>
              <a:t>, (b) </a:t>
            </a:r>
            <a:r>
              <a:rPr lang="en-US" sz="2200" b="1" i="1" dirty="0"/>
              <a:t>encoding</a:t>
            </a:r>
            <a:r>
              <a:rPr lang="en-US" sz="2200" dirty="0"/>
              <a:t>, or (c) </a:t>
            </a:r>
            <a:r>
              <a:rPr lang="en-US" sz="2200" b="1" i="1" dirty="0"/>
              <a:t>decoding</a:t>
            </a:r>
            <a:r>
              <a:rPr lang="en-US" sz="2200" dirty="0"/>
              <a:t> barriers. </a:t>
            </a:r>
          </a:p>
          <a:p>
            <a:pPr marL="502920" lvl="1" indent="0">
              <a:spcBef>
                <a:spcPts val="0"/>
              </a:spcBef>
              <a:buSzPts val="2040"/>
              <a:buNone/>
            </a:pPr>
            <a:endParaRPr lang="en-US" sz="2200" dirty="0"/>
          </a:p>
          <a:p>
            <a:pPr marL="502920" lvl="1" indent="0">
              <a:spcBef>
                <a:spcPts val="0"/>
              </a:spcBef>
              <a:buSzPts val="2040"/>
              <a:buNone/>
            </a:pPr>
            <a:r>
              <a:rPr lang="en-US" sz="2200" dirty="0"/>
              <a:t>Some barriers are </a:t>
            </a:r>
            <a:r>
              <a:rPr lang="en-US" sz="2200" b="1" i="1" dirty="0"/>
              <a:t>conceptual</a:t>
            </a:r>
            <a:r>
              <a:rPr lang="en-US" sz="2200" dirty="0"/>
              <a:t> (resulting from the viewer’s understanding of the task of visualization), others are </a:t>
            </a:r>
            <a:r>
              <a:rPr lang="en-US" sz="2200" b="1" i="1" dirty="0"/>
              <a:t>operational</a:t>
            </a:r>
            <a:r>
              <a:rPr lang="en-US" sz="2200" dirty="0"/>
              <a:t> (resulting from misreading the question or elements in a visualization)</a:t>
            </a:r>
          </a:p>
        </p:txBody>
      </p:sp>
      <p:sp>
        <p:nvSpPr>
          <p:cNvPr id="4" name="TextBox 3">
            <a:extLst>
              <a:ext uri="{FF2B5EF4-FFF2-40B4-BE49-F238E27FC236}">
                <a16:creationId xmlns:a16="http://schemas.microsoft.com/office/drawing/2014/main" id="{7C453C5B-097D-6A74-9762-7543D50800C4}"/>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spTree>
    <p:extLst>
      <p:ext uri="{BB962C8B-B14F-4D97-AF65-F5344CB8AC3E}">
        <p14:creationId xmlns:p14="http://schemas.microsoft.com/office/powerpoint/2010/main" val="341817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A538-EDEB-9A7E-435F-954A36E67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49D9A-9827-0E5F-9AEC-6F667FF1A699}"/>
              </a:ext>
            </a:extLst>
          </p:cNvPr>
          <p:cNvSpPr>
            <a:spLocks noGrp="1"/>
          </p:cNvSpPr>
          <p:nvPr>
            <p:ph type="title"/>
          </p:nvPr>
        </p:nvSpPr>
        <p:spPr/>
        <p:txBody>
          <a:bodyPr/>
          <a:lstStyle/>
          <a:p>
            <a:r>
              <a:rPr lang="en-US" dirty="0"/>
              <a:t>Barriers to Visualization Literacy</a:t>
            </a:r>
          </a:p>
        </p:txBody>
      </p:sp>
      <p:sp>
        <p:nvSpPr>
          <p:cNvPr id="4" name="TextBox 3">
            <a:extLst>
              <a:ext uri="{FF2B5EF4-FFF2-40B4-BE49-F238E27FC236}">
                <a16:creationId xmlns:a16="http://schemas.microsoft.com/office/drawing/2014/main" id="{7902B5B0-91C3-3F6D-B2F5-C6B2E257D550}"/>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pic>
        <p:nvPicPr>
          <p:cNvPr id="8" name="Picture 7">
            <a:extLst>
              <a:ext uri="{FF2B5EF4-FFF2-40B4-BE49-F238E27FC236}">
                <a16:creationId xmlns:a16="http://schemas.microsoft.com/office/drawing/2014/main" id="{E6017388-427F-A9EC-5214-B1FC02AD7B3F}"/>
              </a:ext>
            </a:extLst>
          </p:cNvPr>
          <p:cNvPicPr>
            <a:picLocks noChangeAspect="1"/>
          </p:cNvPicPr>
          <p:nvPr/>
        </p:nvPicPr>
        <p:blipFill>
          <a:blip r:embed="rId3"/>
          <a:stretch>
            <a:fillRect/>
          </a:stretch>
        </p:blipFill>
        <p:spPr>
          <a:xfrm>
            <a:off x="2702652" y="1123837"/>
            <a:ext cx="9527448" cy="4601182"/>
          </a:xfrm>
          <a:prstGeom prst="rect">
            <a:avLst/>
          </a:prstGeom>
        </p:spPr>
      </p:pic>
    </p:spTree>
    <p:extLst>
      <p:ext uri="{BB962C8B-B14F-4D97-AF65-F5344CB8AC3E}">
        <p14:creationId xmlns:p14="http://schemas.microsoft.com/office/powerpoint/2010/main" val="2180206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660DF-B538-1C0F-A534-2AAFDEDDE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9A544-C62D-2F97-37FB-3F8133736169}"/>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DD6DDA75-416C-C78A-5765-D093665B2232}"/>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200" dirty="0"/>
              <a:t>Translation barrier – </a:t>
            </a:r>
          </a:p>
          <a:p>
            <a:pPr marL="0" indent="0">
              <a:spcBef>
                <a:spcPts val="0"/>
              </a:spcBef>
              <a:buSzPts val="2040"/>
              <a:buNone/>
            </a:pPr>
            <a:r>
              <a:rPr lang="en-US" sz="2200" dirty="0"/>
              <a:t>misreads task</a:t>
            </a:r>
          </a:p>
          <a:p>
            <a:pPr marL="0" indent="0">
              <a:spcBef>
                <a:spcPts val="0"/>
              </a:spcBef>
              <a:buSzPts val="2040"/>
              <a:buNone/>
            </a:pPr>
            <a:endParaRPr lang="en-US" sz="2200" dirty="0"/>
          </a:p>
          <a:p>
            <a:pPr marL="0" indent="0">
              <a:spcBef>
                <a:spcPts val="0"/>
              </a:spcBef>
              <a:buSzPts val="2040"/>
              <a:buNone/>
            </a:pPr>
            <a:r>
              <a:rPr lang="en-US" sz="2200" dirty="0"/>
              <a:t>Decoding barrier – </a:t>
            </a:r>
          </a:p>
          <a:p>
            <a:pPr marL="0" indent="0">
              <a:spcBef>
                <a:spcPts val="0"/>
              </a:spcBef>
              <a:buSzPts val="2040"/>
              <a:buNone/>
            </a:pPr>
            <a:r>
              <a:rPr lang="en-US" sz="2200" dirty="0"/>
              <a:t>reads wrong element </a:t>
            </a:r>
          </a:p>
        </p:txBody>
      </p:sp>
      <p:sp>
        <p:nvSpPr>
          <p:cNvPr id="4" name="TextBox 3">
            <a:extLst>
              <a:ext uri="{FF2B5EF4-FFF2-40B4-BE49-F238E27FC236}">
                <a16:creationId xmlns:a16="http://schemas.microsoft.com/office/drawing/2014/main" id="{4BB2B217-8D0E-3207-3459-5A7FE26F0E50}"/>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pic>
        <p:nvPicPr>
          <p:cNvPr id="6" name="Picture 5">
            <a:extLst>
              <a:ext uri="{FF2B5EF4-FFF2-40B4-BE49-F238E27FC236}">
                <a16:creationId xmlns:a16="http://schemas.microsoft.com/office/drawing/2014/main" id="{A55F1016-F69F-95A7-2500-C7FDEE78B6DB}"/>
              </a:ext>
            </a:extLst>
          </p:cNvPr>
          <p:cNvPicPr>
            <a:picLocks noChangeAspect="1"/>
          </p:cNvPicPr>
          <p:nvPr/>
        </p:nvPicPr>
        <p:blipFill>
          <a:blip r:embed="rId3"/>
          <a:stretch>
            <a:fillRect/>
          </a:stretch>
        </p:blipFill>
        <p:spPr>
          <a:xfrm>
            <a:off x="6096000" y="810120"/>
            <a:ext cx="5527831" cy="4914900"/>
          </a:xfrm>
          <a:prstGeom prst="rect">
            <a:avLst/>
          </a:prstGeom>
        </p:spPr>
      </p:pic>
    </p:spTree>
    <p:extLst>
      <p:ext uri="{BB962C8B-B14F-4D97-AF65-F5344CB8AC3E}">
        <p14:creationId xmlns:p14="http://schemas.microsoft.com/office/powerpoint/2010/main" val="1488186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6D0F1-F49A-40E9-2441-58C9A3E83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FAC7B-C880-0232-0807-A3FB84716F18}"/>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935815B6-40EA-95E9-86E5-0541D3BEE14F}"/>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200" dirty="0"/>
              <a:t>Translation barrier– </a:t>
            </a:r>
          </a:p>
          <a:p>
            <a:pPr marL="0" indent="0">
              <a:spcBef>
                <a:spcPts val="0"/>
              </a:spcBef>
              <a:buSzPts val="2040"/>
              <a:buNone/>
            </a:pPr>
            <a:r>
              <a:rPr lang="en-US" sz="2200" dirty="0"/>
              <a:t>misreads target </a:t>
            </a:r>
          </a:p>
          <a:p>
            <a:pPr marL="0" indent="0">
              <a:spcBef>
                <a:spcPts val="0"/>
              </a:spcBef>
              <a:buSzPts val="2040"/>
              <a:buNone/>
            </a:pPr>
            <a:endParaRPr lang="en-US" sz="2200" dirty="0"/>
          </a:p>
          <a:p>
            <a:pPr marL="0" indent="0">
              <a:spcBef>
                <a:spcPts val="0"/>
              </a:spcBef>
              <a:buSzPts val="2040"/>
              <a:buNone/>
            </a:pPr>
            <a:r>
              <a:rPr lang="en-US" sz="2200" dirty="0"/>
              <a:t>Decoding barrier –</a:t>
            </a:r>
          </a:p>
          <a:p>
            <a:pPr marL="0" indent="0">
              <a:spcBef>
                <a:spcPts val="0"/>
              </a:spcBef>
              <a:buSzPts val="2040"/>
              <a:buNone/>
            </a:pPr>
            <a:r>
              <a:rPr lang="en-US" sz="2200" dirty="0"/>
              <a:t>reads wrong data </a:t>
            </a:r>
          </a:p>
          <a:p>
            <a:pPr marL="0" indent="0">
              <a:spcBef>
                <a:spcPts val="0"/>
              </a:spcBef>
              <a:buSzPts val="2040"/>
              <a:buNone/>
            </a:pPr>
            <a:r>
              <a:rPr lang="en-US" sz="2200" dirty="0" err="1"/>
              <a:t>elementt</a:t>
            </a:r>
            <a:endParaRPr lang="en-US" sz="2200" dirty="0"/>
          </a:p>
        </p:txBody>
      </p:sp>
      <p:sp>
        <p:nvSpPr>
          <p:cNvPr id="4" name="TextBox 3">
            <a:extLst>
              <a:ext uri="{FF2B5EF4-FFF2-40B4-BE49-F238E27FC236}">
                <a16:creationId xmlns:a16="http://schemas.microsoft.com/office/drawing/2014/main" id="{262B04D0-44D1-BC7C-F7D9-2B45F8F72469}"/>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pic>
        <p:nvPicPr>
          <p:cNvPr id="8" name="Picture 7">
            <a:extLst>
              <a:ext uri="{FF2B5EF4-FFF2-40B4-BE49-F238E27FC236}">
                <a16:creationId xmlns:a16="http://schemas.microsoft.com/office/drawing/2014/main" id="{53F2736E-716A-393E-B97E-8D9E1EEA3490}"/>
              </a:ext>
            </a:extLst>
          </p:cNvPr>
          <p:cNvPicPr>
            <a:picLocks noChangeAspect="1"/>
          </p:cNvPicPr>
          <p:nvPr/>
        </p:nvPicPr>
        <p:blipFill>
          <a:blip r:embed="rId3"/>
          <a:stretch>
            <a:fillRect/>
          </a:stretch>
        </p:blipFill>
        <p:spPr>
          <a:xfrm>
            <a:off x="5950696" y="604380"/>
            <a:ext cx="5726953" cy="5120640"/>
          </a:xfrm>
          <a:prstGeom prst="rect">
            <a:avLst/>
          </a:prstGeom>
        </p:spPr>
      </p:pic>
    </p:spTree>
    <p:extLst>
      <p:ext uri="{BB962C8B-B14F-4D97-AF65-F5344CB8AC3E}">
        <p14:creationId xmlns:p14="http://schemas.microsoft.com/office/powerpoint/2010/main" val="29160471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0A831-E198-6451-A5D1-9E7FED65A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39739-9DEA-D7BE-C03B-82494D7EAC31}"/>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BF08634A-196F-A7B3-C93A-CC52829B8808}"/>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200" dirty="0"/>
              <a:t>Encoding barrier—</a:t>
            </a:r>
          </a:p>
          <a:p>
            <a:pPr marL="0" indent="0">
              <a:spcBef>
                <a:spcPts val="0"/>
              </a:spcBef>
              <a:buSzPts val="2040"/>
              <a:buNone/>
            </a:pPr>
            <a:r>
              <a:rPr lang="en-US" sz="2200" dirty="0"/>
              <a:t>misunderstands </a:t>
            </a:r>
          </a:p>
          <a:p>
            <a:pPr marL="0" indent="0">
              <a:spcBef>
                <a:spcPts val="0"/>
              </a:spcBef>
              <a:buSzPts val="2040"/>
              <a:buNone/>
            </a:pPr>
            <a:r>
              <a:rPr lang="en-US" sz="2200" dirty="0"/>
              <a:t>visual encoding</a:t>
            </a:r>
          </a:p>
          <a:p>
            <a:pPr marL="0" indent="0">
              <a:spcBef>
                <a:spcPts val="0"/>
              </a:spcBef>
              <a:buSzPts val="2040"/>
              <a:buNone/>
            </a:pPr>
            <a:endParaRPr lang="en-US" sz="2200" dirty="0"/>
          </a:p>
          <a:p>
            <a:pPr marL="0" indent="0">
              <a:spcBef>
                <a:spcPts val="0"/>
              </a:spcBef>
              <a:buSzPts val="2040"/>
              <a:buNone/>
            </a:pPr>
            <a:r>
              <a:rPr lang="en-US" sz="2200" dirty="0"/>
              <a:t>Decoding barrier– </a:t>
            </a:r>
          </a:p>
          <a:p>
            <a:pPr marL="0" indent="0">
              <a:spcBef>
                <a:spcPts val="0"/>
              </a:spcBef>
              <a:buSzPts val="2040"/>
              <a:buNone/>
            </a:pPr>
            <a:r>
              <a:rPr lang="en-US" sz="2200" dirty="0"/>
              <a:t>reads wrong value</a:t>
            </a:r>
          </a:p>
        </p:txBody>
      </p:sp>
      <p:sp>
        <p:nvSpPr>
          <p:cNvPr id="4" name="TextBox 3">
            <a:extLst>
              <a:ext uri="{FF2B5EF4-FFF2-40B4-BE49-F238E27FC236}">
                <a16:creationId xmlns:a16="http://schemas.microsoft.com/office/drawing/2014/main" id="{B4675B68-A36B-258A-71B9-9DD113A27DB2}"/>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pic>
        <p:nvPicPr>
          <p:cNvPr id="6" name="Picture 5">
            <a:extLst>
              <a:ext uri="{FF2B5EF4-FFF2-40B4-BE49-F238E27FC236}">
                <a16:creationId xmlns:a16="http://schemas.microsoft.com/office/drawing/2014/main" id="{32159896-3864-B3F0-84EA-2BD358830739}"/>
              </a:ext>
            </a:extLst>
          </p:cNvPr>
          <p:cNvPicPr>
            <a:picLocks noChangeAspect="1"/>
          </p:cNvPicPr>
          <p:nvPr/>
        </p:nvPicPr>
        <p:blipFill>
          <a:blip r:embed="rId3"/>
          <a:stretch>
            <a:fillRect/>
          </a:stretch>
        </p:blipFill>
        <p:spPr>
          <a:xfrm>
            <a:off x="5831805" y="873252"/>
            <a:ext cx="6110510" cy="4851768"/>
          </a:xfrm>
          <a:prstGeom prst="rect">
            <a:avLst/>
          </a:prstGeom>
        </p:spPr>
      </p:pic>
    </p:spTree>
    <p:extLst>
      <p:ext uri="{BB962C8B-B14F-4D97-AF65-F5344CB8AC3E}">
        <p14:creationId xmlns:p14="http://schemas.microsoft.com/office/powerpoint/2010/main" val="2274554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2D461-4996-84A3-A8B7-AFF9D7645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F266F-D5CF-6C45-D5DE-46E5ACA136F8}"/>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C70034B5-5196-0966-E93C-E442D96F1BE7}"/>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200" dirty="0"/>
              <a:t>Encoding barrier– </a:t>
            </a:r>
          </a:p>
          <a:p>
            <a:pPr marL="0" indent="0">
              <a:spcBef>
                <a:spcPts val="0"/>
              </a:spcBef>
              <a:buSzPts val="2040"/>
              <a:buNone/>
            </a:pPr>
            <a:r>
              <a:rPr lang="en-US" sz="2200" dirty="0"/>
              <a:t>misunderstands </a:t>
            </a:r>
          </a:p>
          <a:p>
            <a:pPr marL="0" indent="0">
              <a:spcBef>
                <a:spcPts val="0"/>
              </a:spcBef>
              <a:buSzPts val="2040"/>
              <a:buNone/>
            </a:pPr>
            <a:r>
              <a:rPr lang="en-US" sz="2200" dirty="0"/>
              <a:t>visual encoding</a:t>
            </a:r>
          </a:p>
          <a:p>
            <a:pPr marL="0" indent="0">
              <a:spcBef>
                <a:spcPts val="0"/>
              </a:spcBef>
              <a:buSzPts val="2040"/>
              <a:buNone/>
            </a:pPr>
            <a:endParaRPr lang="en-US" sz="2200" dirty="0"/>
          </a:p>
          <a:p>
            <a:pPr marL="0" indent="0">
              <a:spcBef>
                <a:spcPts val="0"/>
              </a:spcBef>
              <a:buSzPts val="2040"/>
              <a:buNone/>
            </a:pPr>
            <a:r>
              <a:rPr lang="en-US" sz="2200" dirty="0"/>
              <a:t>Decoding barrier—</a:t>
            </a:r>
          </a:p>
          <a:p>
            <a:pPr marL="0" indent="0">
              <a:spcBef>
                <a:spcPts val="0"/>
              </a:spcBef>
              <a:buSzPts val="2040"/>
              <a:buNone/>
            </a:pPr>
            <a:r>
              <a:rPr lang="en-US" sz="2200" dirty="0"/>
              <a:t>reads wrong bars</a:t>
            </a:r>
          </a:p>
        </p:txBody>
      </p:sp>
      <p:sp>
        <p:nvSpPr>
          <p:cNvPr id="4" name="TextBox 3">
            <a:extLst>
              <a:ext uri="{FF2B5EF4-FFF2-40B4-BE49-F238E27FC236}">
                <a16:creationId xmlns:a16="http://schemas.microsoft.com/office/drawing/2014/main" id="{BDEB832B-80AF-0E8A-9085-BBD36AB15A58}"/>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pic>
        <p:nvPicPr>
          <p:cNvPr id="6" name="Picture 5">
            <a:extLst>
              <a:ext uri="{FF2B5EF4-FFF2-40B4-BE49-F238E27FC236}">
                <a16:creationId xmlns:a16="http://schemas.microsoft.com/office/drawing/2014/main" id="{7E161CED-C215-4A3D-1D63-30ECED1474AF}"/>
              </a:ext>
            </a:extLst>
          </p:cNvPr>
          <p:cNvPicPr>
            <a:picLocks noChangeAspect="1"/>
          </p:cNvPicPr>
          <p:nvPr/>
        </p:nvPicPr>
        <p:blipFill>
          <a:blip r:embed="rId3"/>
          <a:stretch>
            <a:fillRect/>
          </a:stretch>
        </p:blipFill>
        <p:spPr>
          <a:xfrm>
            <a:off x="5956612" y="604380"/>
            <a:ext cx="5782951" cy="5120640"/>
          </a:xfrm>
          <a:prstGeom prst="rect">
            <a:avLst/>
          </a:prstGeom>
        </p:spPr>
      </p:pic>
    </p:spTree>
    <p:extLst>
      <p:ext uri="{BB962C8B-B14F-4D97-AF65-F5344CB8AC3E}">
        <p14:creationId xmlns:p14="http://schemas.microsoft.com/office/powerpoint/2010/main" val="7232680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3F9D1-7951-F1B4-D3D2-A954720EA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E959D-DC60-FAC2-1DEC-75CB87D784A8}"/>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730750C6-01B1-5A6D-90F2-132AAEFCEE93}"/>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200" dirty="0"/>
              <a:t>Encoding barrier—</a:t>
            </a:r>
          </a:p>
          <a:p>
            <a:pPr marL="0" indent="0">
              <a:spcBef>
                <a:spcPts val="0"/>
              </a:spcBef>
              <a:buSzPts val="2040"/>
              <a:buNone/>
            </a:pPr>
            <a:r>
              <a:rPr lang="en-US" sz="2200" dirty="0"/>
              <a:t>misinterprets axis</a:t>
            </a:r>
          </a:p>
          <a:p>
            <a:pPr marL="0" indent="0">
              <a:spcBef>
                <a:spcPts val="0"/>
              </a:spcBef>
              <a:buSzPts val="2040"/>
              <a:buNone/>
            </a:pPr>
            <a:r>
              <a:rPr lang="en-US" sz="2200" dirty="0"/>
              <a:t>or colormap</a:t>
            </a:r>
          </a:p>
          <a:p>
            <a:pPr marL="0" indent="0">
              <a:spcBef>
                <a:spcPts val="0"/>
              </a:spcBef>
              <a:buSzPts val="2040"/>
              <a:buNone/>
            </a:pPr>
            <a:endParaRPr lang="en-US" sz="2200" dirty="0"/>
          </a:p>
          <a:p>
            <a:pPr marL="0" indent="0">
              <a:spcBef>
                <a:spcPts val="0"/>
              </a:spcBef>
              <a:buSzPts val="2040"/>
              <a:buNone/>
            </a:pPr>
            <a:r>
              <a:rPr lang="en-US" sz="2200" dirty="0"/>
              <a:t>Decoding barrier– </a:t>
            </a:r>
          </a:p>
          <a:p>
            <a:pPr marL="0" indent="0">
              <a:spcBef>
                <a:spcPts val="0"/>
              </a:spcBef>
              <a:buSzPts val="2040"/>
              <a:buNone/>
            </a:pPr>
            <a:r>
              <a:rPr lang="en-US" sz="2200" dirty="0"/>
              <a:t>reads wrong value</a:t>
            </a:r>
          </a:p>
        </p:txBody>
      </p:sp>
      <p:sp>
        <p:nvSpPr>
          <p:cNvPr id="4" name="TextBox 3">
            <a:extLst>
              <a:ext uri="{FF2B5EF4-FFF2-40B4-BE49-F238E27FC236}">
                <a16:creationId xmlns:a16="http://schemas.microsoft.com/office/drawing/2014/main" id="{1C946F62-AD2A-E8FB-7461-DD50C7E29996}"/>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pic>
        <p:nvPicPr>
          <p:cNvPr id="7" name="Picture 6">
            <a:extLst>
              <a:ext uri="{FF2B5EF4-FFF2-40B4-BE49-F238E27FC236}">
                <a16:creationId xmlns:a16="http://schemas.microsoft.com/office/drawing/2014/main" id="{B30B9F58-EDE3-9B4D-350A-D927489B199F}"/>
              </a:ext>
            </a:extLst>
          </p:cNvPr>
          <p:cNvPicPr>
            <a:picLocks noChangeAspect="1"/>
          </p:cNvPicPr>
          <p:nvPr/>
        </p:nvPicPr>
        <p:blipFill>
          <a:blip r:embed="rId3"/>
          <a:stretch>
            <a:fillRect/>
          </a:stretch>
        </p:blipFill>
        <p:spPr>
          <a:xfrm>
            <a:off x="5718496" y="604379"/>
            <a:ext cx="6220585" cy="5120641"/>
          </a:xfrm>
          <a:prstGeom prst="rect">
            <a:avLst/>
          </a:prstGeom>
        </p:spPr>
      </p:pic>
    </p:spTree>
    <p:extLst>
      <p:ext uri="{BB962C8B-B14F-4D97-AF65-F5344CB8AC3E}">
        <p14:creationId xmlns:p14="http://schemas.microsoft.com/office/powerpoint/2010/main" val="384981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D61F-ABBE-62B8-E278-C867EE7DF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6EB71-A18D-0D24-D952-15B8A5434ADD}"/>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86964CA6-B08D-9C1F-3EDE-C63A2138C971}"/>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200" dirty="0"/>
              <a:t>Encoding barrier—</a:t>
            </a:r>
          </a:p>
          <a:p>
            <a:pPr marL="0" indent="0">
              <a:spcBef>
                <a:spcPts val="0"/>
              </a:spcBef>
              <a:buSzPts val="2040"/>
              <a:buNone/>
            </a:pPr>
            <a:r>
              <a:rPr lang="en-US" sz="2200" dirty="0"/>
              <a:t>misinterprets axis</a:t>
            </a:r>
          </a:p>
          <a:p>
            <a:pPr marL="0" indent="0">
              <a:spcBef>
                <a:spcPts val="0"/>
              </a:spcBef>
              <a:buSzPts val="2040"/>
              <a:buNone/>
            </a:pPr>
            <a:r>
              <a:rPr lang="en-US" sz="2200" dirty="0"/>
              <a:t>or colormap</a:t>
            </a:r>
          </a:p>
          <a:p>
            <a:pPr marL="0" indent="0">
              <a:spcBef>
                <a:spcPts val="0"/>
              </a:spcBef>
              <a:buSzPts val="2040"/>
              <a:buNone/>
            </a:pPr>
            <a:endParaRPr lang="en-US" sz="2200" dirty="0"/>
          </a:p>
          <a:p>
            <a:pPr marL="0" indent="0">
              <a:spcBef>
                <a:spcPts val="0"/>
              </a:spcBef>
              <a:buSzPts val="2040"/>
              <a:buNone/>
            </a:pPr>
            <a:r>
              <a:rPr lang="en-US" sz="2200" dirty="0"/>
              <a:t>Decoding barrier—</a:t>
            </a:r>
          </a:p>
          <a:p>
            <a:pPr marL="0" indent="0">
              <a:spcBef>
                <a:spcPts val="0"/>
              </a:spcBef>
              <a:buSzPts val="2040"/>
              <a:buNone/>
            </a:pPr>
            <a:r>
              <a:rPr lang="en-US" sz="2200" dirty="0"/>
              <a:t>reads wrong value</a:t>
            </a:r>
          </a:p>
        </p:txBody>
      </p:sp>
      <p:sp>
        <p:nvSpPr>
          <p:cNvPr id="4" name="TextBox 3">
            <a:extLst>
              <a:ext uri="{FF2B5EF4-FFF2-40B4-BE49-F238E27FC236}">
                <a16:creationId xmlns:a16="http://schemas.microsoft.com/office/drawing/2014/main" id="{65422A71-6938-600A-FD8A-55AC5BD332AE}"/>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pic>
        <p:nvPicPr>
          <p:cNvPr id="7" name="Picture 6">
            <a:extLst>
              <a:ext uri="{FF2B5EF4-FFF2-40B4-BE49-F238E27FC236}">
                <a16:creationId xmlns:a16="http://schemas.microsoft.com/office/drawing/2014/main" id="{7B5D598A-0255-E43B-608C-0EA7A4443442}"/>
              </a:ext>
            </a:extLst>
          </p:cNvPr>
          <p:cNvPicPr>
            <a:picLocks noChangeAspect="1"/>
          </p:cNvPicPr>
          <p:nvPr/>
        </p:nvPicPr>
        <p:blipFill>
          <a:blip r:embed="rId3"/>
          <a:stretch>
            <a:fillRect/>
          </a:stretch>
        </p:blipFill>
        <p:spPr>
          <a:xfrm>
            <a:off x="6096000" y="775458"/>
            <a:ext cx="5719763" cy="5209290"/>
          </a:xfrm>
          <a:prstGeom prst="rect">
            <a:avLst/>
          </a:prstGeom>
        </p:spPr>
      </p:pic>
    </p:spTree>
    <p:extLst>
      <p:ext uri="{BB962C8B-B14F-4D97-AF65-F5344CB8AC3E}">
        <p14:creationId xmlns:p14="http://schemas.microsoft.com/office/powerpoint/2010/main" val="8245937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98860-ED33-CBDF-96F9-7A34E1101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39E9D-FD00-9B22-3E3C-A2D65B62BF8B}"/>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D9B601D6-DF36-B962-9111-69B51136A3EE}"/>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200" dirty="0"/>
              <a:t>Encoding barrier—</a:t>
            </a:r>
          </a:p>
          <a:p>
            <a:pPr marL="0" indent="0">
              <a:spcBef>
                <a:spcPts val="0"/>
              </a:spcBef>
              <a:buSzPts val="2040"/>
              <a:buNone/>
            </a:pPr>
            <a:r>
              <a:rPr lang="en-US" sz="2200" dirty="0"/>
              <a:t>confounds chart</a:t>
            </a:r>
          </a:p>
          <a:p>
            <a:pPr marL="0" indent="0">
              <a:spcBef>
                <a:spcPts val="0"/>
              </a:spcBef>
              <a:buSzPts val="2040"/>
              <a:buNone/>
            </a:pPr>
            <a:r>
              <a:rPr lang="en-US" sz="2200" dirty="0"/>
              <a:t>and data values</a:t>
            </a:r>
          </a:p>
          <a:p>
            <a:pPr marL="0" indent="0">
              <a:spcBef>
                <a:spcPts val="0"/>
              </a:spcBef>
              <a:buSzPts val="2040"/>
              <a:buNone/>
            </a:pPr>
            <a:endParaRPr lang="en-US" sz="2200" dirty="0"/>
          </a:p>
        </p:txBody>
      </p:sp>
      <p:sp>
        <p:nvSpPr>
          <p:cNvPr id="4" name="TextBox 3">
            <a:extLst>
              <a:ext uri="{FF2B5EF4-FFF2-40B4-BE49-F238E27FC236}">
                <a16:creationId xmlns:a16="http://schemas.microsoft.com/office/drawing/2014/main" id="{A86D5CE5-01B0-5E56-323E-73D46F1159A3}"/>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pic>
        <p:nvPicPr>
          <p:cNvPr id="6" name="Picture 5">
            <a:extLst>
              <a:ext uri="{FF2B5EF4-FFF2-40B4-BE49-F238E27FC236}">
                <a16:creationId xmlns:a16="http://schemas.microsoft.com/office/drawing/2014/main" id="{E190F055-DC72-11C0-80AC-95FABCDD2BCA}"/>
              </a:ext>
            </a:extLst>
          </p:cNvPr>
          <p:cNvPicPr>
            <a:picLocks noChangeAspect="1"/>
          </p:cNvPicPr>
          <p:nvPr/>
        </p:nvPicPr>
        <p:blipFill>
          <a:blip r:embed="rId3"/>
          <a:stretch>
            <a:fillRect/>
          </a:stretch>
        </p:blipFill>
        <p:spPr>
          <a:xfrm>
            <a:off x="5875706" y="864108"/>
            <a:ext cx="6003162" cy="4860912"/>
          </a:xfrm>
          <a:prstGeom prst="rect">
            <a:avLst/>
          </a:prstGeom>
        </p:spPr>
      </p:pic>
    </p:spTree>
    <p:extLst>
      <p:ext uri="{BB962C8B-B14F-4D97-AF65-F5344CB8AC3E}">
        <p14:creationId xmlns:p14="http://schemas.microsoft.com/office/powerpoint/2010/main" val="14740383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1E9D4-D7BC-0284-AED3-2F742D6AB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B88BB-EAD9-6DC5-7B3D-D59C1AE6893D}"/>
              </a:ext>
            </a:extLst>
          </p:cNvPr>
          <p:cNvSpPr>
            <a:spLocks noGrp="1"/>
          </p:cNvSpPr>
          <p:nvPr>
            <p:ph type="title"/>
          </p:nvPr>
        </p:nvSpPr>
        <p:spPr/>
        <p:txBody>
          <a:bodyPr/>
          <a:lstStyle/>
          <a:p>
            <a:r>
              <a:rPr lang="en-US" dirty="0"/>
              <a:t>Barriers to Visualization Literacy</a:t>
            </a:r>
          </a:p>
        </p:txBody>
      </p:sp>
      <p:sp>
        <p:nvSpPr>
          <p:cNvPr id="3" name="Content Placeholder 2">
            <a:extLst>
              <a:ext uri="{FF2B5EF4-FFF2-40B4-BE49-F238E27FC236}">
                <a16:creationId xmlns:a16="http://schemas.microsoft.com/office/drawing/2014/main" id="{74BBBB9E-C2BB-7822-15BF-93B15BB981CB}"/>
              </a:ext>
            </a:extLst>
          </p:cNvPr>
          <p:cNvSpPr>
            <a:spLocks noGrp="1"/>
          </p:cNvSpPr>
          <p:nvPr>
            <p:ph idx="1"/>
          </p:nvPr>
        </p:nvSpPr>
        <p:spPr>
          <a:xfrm>
            <a:off x="3486151" y="864108"/>
            <a:ext cx="8329612" cy="5120640"/>
          </a:xfrm>
        </p:spPr>
        <p:txBody>
          <a:bodyPr anchor="t">
            <a:noAutofit/>
          </a:bodyPr>
          <a:lstStyle/>
          <a:p>
            <a:pPr marL="0" indent="0">
              <a:spcBef>
                <a:spcPts val="0"/>
              </a:spcBef>
              <a:buSzPts val="2040"/>
              <a:buNone/>
            </a:pPr>
            <a:r>
              <a:rPr lang="en-US" sz="2200" dirty="0"/>
              <a:t>Encoding barrier—</a:t>
            </a:r>
          </a:p>
          <a:p>
            <a:pPr marL="0" indent="0">
              <a:spcBef>
                <a:spcPts val="0"/>
              </a:spcBef>
              <a:buSzPts val="2040"/>
              <a:buNone/>
            </a:pPr>
            <a:r>
              <a:rPr lang="en-US" sz="2200" dirty="0"/>
              <a:t>confounds chart</a:t>
            </a:r>
          </a:p>
          <a:p>
            <a:pPr marL="0" indent="0">
              <a:spcBef>
                <a:spcPts val="0"/>
              </a:spcBef>
              <a:buSzPts val="2040"/>
              <a:buNone/>
            </a:pPr>
            <a:r>
              <a:rPr lang="en-US" sz="2200" dirty="0"/>
              <a:t>and data values</a:t>
            </a:r>
          </a:p>
          <a:p>
            <a:pPr marL="0" indent="0">
              <a:spcBef>
                <a:spcPts val="0"/>
              </a:spcBef>
              <a:buSzPts val="2040"/>
              <a:buNone/>
            </a:pPr>
            <a:endParaRPr lang="en-US" sz="2200" dirty="0"/>
          </a:p>
        </p:txBody>
      </p:sp>
      <p:sp>
        <p:nvSpPr>
          <p:cNvPr id="4" name="TextBox 3">
            <a:extLst>
              <a:ext uri="{FF2B5EF4-FFF2-40B4-BE49-F238E27FC236}">
                <a16:creationId xmlns:a16="http://schemas.microsoft.com/office/drawing/2014/main" id="{A273F747-B4BD-D2F2-9B42-6B2795E50391}"/>
              </a:ext>
            </a:extLst>
          </p:cNvPr>
          <p:cNvSpPr txBox="1"/>
          <p:nvPr/>
        </p:nvSpPr>
        <p:spPr>
          <a:xfrm>
            <a:off x="0" y="5984748"/>
            <a:ext cx="12192000" cy="923330"/>
          </a:xfrm>
          <a:prstGeom prst="rect">
            <a:avLst/>
          </a:prstGeom>
          <a:noFill/>
        </p:spPr>
        <p:txBody>
          <a:bodyPr wrap="square">
            <a:spAutoFit/>
          </a:bodyPr>
          <a:lstStyle/>
          <a:p>
            <a:r>
              <a:rPr lang="en-US" dirty="0"/>
              <a:t>Carolina </a:t>
            </a:r>
            <a:r>
              <a:rPr lang="en-US" dirty="0" err="1"/>
              <a:t>Nobreet</a:t>
            </a:r>
            <a:r>
              <a:rPr lang="en-US" dirty="0"/>
              <a:t> al. 2024. Reading Between the Pixels: Investigating the Barriers to Visualization Literacy. In Proceedings of the 2024 CHI Conference on Human Factors in Computing Systems (CHI '24). Association for Computing Machinery, New York, NY, USA, Article 197, 1–17. https://</a:t>
            </a:r>
            <a:r>
              <a:rPr lang="en-US" dirty="0" err="1"/>
              <a:t>doi.org</a:t>
            </a:r>
            <a:r>
              <a:rPr lang="en-US" dirty="0"/>
              <a:t>/10.1145/3613904.3642760</a:t>
            </a:r>
          </a:p>
        </p:txBody>
      </p:sp>
      <p:pic>
        <p:nvPicPr>
          <p:cNvPr id="6" name="Picture 5">
            <a:extLst>
              <a:ext uri="{FF2B5EF4-FFF2-40B4-BE49-F238E27FC236}">
                <a16:creationId xmlns:a16="http://schemas.microsoft.com/office/drawing/2014/main" id="{1CD2834D-BF4F-5E97-0770-8B0C6C75C9D9}"/>
              </a:ext>
            </a:extLst>
          </p:cNvPr>
          <p:cNvPicPr>
            <a:picLocks noChangeAspect="1"/>
          </p:cNvPicPr>
          <p:nvPr/>
        </p:nvPicPr>
        <p:blipFill>
          <a:blip r:embed="rId3"/>
          <a:stretch>
            <a:fillRect/>
          </a:stretch>
        </p:blipFill>
        <p:spPr>
          <a:xfrm>
            <a:off x="5778152" y="873252"/>
            <a:ext cx="6323361" cy="4904235"/>
          </a:xfrm>
          <a:prstGeom prst="rect">
            <a:avLst/>
          </a:prstGeom>
        </p:spPr>
      </p:pic>
    </p:spTree>
    <p:extLst>
      <p:ext uri="{BB962C8B-B14F-4D97-AF65-F5344CB8AC3E}">
        <p14:creationId xmlns:p14="http://schemas.microsoft.com/office/powerpoint/2010/main" val="37687318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8E939-2608-1D20-95D4-4EBC67019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F5B31-2F15-7124-D47F-84AEAF6EE7E7}"/>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3FDB4F46-CB0E-E89E-5C55-F3BA495B3FCA}"/>
              </a:ext>
            </a:extLst>
          </p:cNvPr>
          <p:cNvSpPr>
            <a:spLocks noGrp="1"/>
          </p:cNvSpPr>
          <p:nvPr>
            <p:ph idx="1"/>
          </p:nvPr>
        </p:nvSpPr>
        <p:spPr>
          <a:xfrm>
            <a:off x="3486151" y="2057400"/>
            <a:ext cx="8329612" cy="3927348"/>
          </a:xfrm>
        </p:spPr>
        <p:txBody>
          <a:bodyPr anchor="t">
            <a:noAutofit/>
          </a:bodyPr>
          <a:lstStyle/>
          <a:p>
            <a:pPr>
              <a:spcBef>
                <a:spcPts val="0"/>
              </a:spcBef>
              <a:buSzPts val="2040"/>
            </a:pPr>
            <a:r>
              <a:rPr lang="en-US" sz="2200" dirty="0"/>
              <a:t>Sketch two visualizations</a:t>
            </a:r>
          </a:p>
          <a:p>
            <a:pPr lvl="1">
              <a:spcBef>
                <a:spcPts val="0"/>
              </a:spcBef>
              <a:buSzPts val="2040"/>
            </a:pPr>
            <a:r>
              <a:rPr lang="en-US" sz="2000" dirty="0"/>
              <a:t>One should be designed for an audience with low visualization literacy</a:t>
            </a:r>
          </a:p>
          <a:p>
            <a:pPr lvl="1">
              <a:spcBef>
                <a:spcPts val="0"/>
              </a:spcBef>
              <a:buSzPts val="2040"/>
            </a:pPr>
            <a:r>
              <a:rPr lang="en-US" sz="2000" dirty="0"/>
              <a:t>One should be designed for an audience with high visualization literacy</a:t>
            </a:r>
          </a:p>
          <a:p>
            <a:pPr lvl="1">
              <a:spcBef>
                <a:spcPts val="0"/>
              </a:spcBef>
              <a:buSzPts val="2040"/>
            </a:pPr>
            <a:endParaRPr lang="en-US" sz="2000" dirty="0"/>
          </a:p>
          <a:p>
            <a:pPr>
              <a:spcBef>
                <a:spcPts val="0"/>
              </a:spcBef>
              <a:buSzPts val="2040"/>
            </a:pPr>
            <a:r>
              <a:rPr lang="en-US" sz="2200" dirty="0"/>
              <a:t>Swap with someone </a:t>
            </a:r>
          </a:p>
          <a:p>
            <a:pPr lvl="1">
              <a:spcBef>
                <a:spcPts val="0"/>
              </a:spcBef>
              <a:buSzPts val="2040"/>
            </a:pPr>
            <a:r>
              <a:rPr lang="en-US" sz="2000" dirty="0"/>
              <a:t>Without any hints, can you guess which visualization is for low visualization literacy, and which is for high visualization literacy? </a:t>
            </a:r>
          </a:p>
        </p:txBody>
      </p:sp>
    </p:spTree>
    <p:extLst>
      <p:ext uri="{BB962C8B-B14F-4D97-AF65-F5344CB8AC3E}">
        <p14:creationId xmlns:p14="http://schemas.microsoft.com/office/powerpoint/2010/main" val="1415821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FC35E-AA0C-8DDE-CB34-8D0F95822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85AE2-3D8D-95DE-F72C-1331C53D23E5}"/>
              </a:ext>
            </a:extLst>
          </p:cNvPr>
          <p:cNvSpPr>
            <a:spLocks noGrp="1"/>
          </p:cNvSpPr>
          <p:nvPr>
            <p:ph type="title"/>
          </p:nvPr>
        </p:nvSpPr>
        <p:spPr/>
        <p:txBody>
          <a:bodyPr/>
          <a:lstStyle/>
          <a:p>
            <a:r>
              <a:rPr lang="en-US" dirty="0"/>
              <a:t>Brainstorm</a:t>
            </a:r>
          </a:p>
        </p:txBody>
      </p:sp>
      <p:sp>
        <p:nvSpPr>
          <p:cNvPr id="3" name="Content Placeholder 2">
            <a:extLst>
              <a:ext uri="{FF2B5EF4-FFF2-40B4-BE49-F238E27FC236}">
                <a16:creationId xmlns:a16="http://schemas.microsoft.com/office/drawing/2014/main" id="{A2CC2D76-BBE9-B6CB-6044-24B3FD71499A}"/>
              </a:ext>
            </a:extLst>
          </p:cNvPr>
          <p:cNvSpPr>
            <a:spLocks noGrp="1"/>
          </p:cNvSpPr>
          <p:nvPr>
            <p:ph idx="1"/>
          </p:nvPr>
        </p:nvSpPr>
        <p:spPr>
          <a:xfrm>
            <a:off x="3486151" y="2814638"/>
            <a:ext cx="8329612" cy="3170110"/>
          </a:xfrm>
        </p:spPr>
        <p:txBody>
          <a:bodyPr anchor="t">
            <a:noAutofit/>
          </a:bodyPr>
          <a:lstStyle/>
          <a:p>
            <a:pPr marL="0" indent="0">
              <a:spcBef>
                <a:spcPts val="0"/>
              </a:spcBef>
              <a:buSzPts val="2040"/>
              <a:buNone/>
            </a:pPr>
            <a:r>
              <a:rPr lang="en-US" sz="2000" dirty="0"/>
              <a:t>Is it possible to create a visualization that increases a reader’s visualization literacy? Why or why not? </a:t>
            </a:r>
          </a:p>
          <a:p>
            <a:pPr marL="0" indent="0">
              <a:spcBef>
                <a:spcPts val="0"/>
              </a:spcBef>
              <a:buSzPts val="2040"/>
              <a:buNone/>
            </a:pPr>
            <a:endParaRPr lang="en-US" dirty="0"/>
          </a:p>
          <a:p>
            <a:pPr marL="0" indent="0">
              <a:spcBef>
                <a:spcPts val="0"/>
              </a:spcBef>
              <a:buSzPts val="2040"/>
              <a:buNone/>
            </a:pPr>
            <a:r>
              <a:rPr lang="en-US" sz="2000" dirty="0"/>
              <a:t>If you were forced to try, how would you design it? Why? </a:t>
            </a:r>
          </a:p>
        </p:txBody>
      </p:sp>
    </p:spTree>
    <p:extLst>
      <p:ext uri="{BB962C8B-B14F-4D97-AF65-F5344CB8AC3E}">
        <p14:creationId xmlns:p14="http://schemas.microsoft.com/office/powerpoint/2010/main" val="628029512"/>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1294</TotalTime>
  <Words>3535</Words>
  <Application>Microsoft Macintosh PowerPoint</Application>
  <PresentationFormat>Widescreen</PresentationFormat>
  <Paragraphs>353</Paragraphs>
  <Slides>39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Consolas</vt:lpstr>
      <vt:lpstr>Corbel</vt:lpstr>
      <vt:lpstr>HelveticaNeue Regular</vt:lpstr>
      <vt:lpstr>Wingdings 2</vt:lpstr>
      <vt:lpstr>Frame</vt:lpstr>
      <vt:lpstr>Communicating with Data – Physical Visualizations &amp; Visualization Accessibility</vt:lpstr>
      <vt:lpstr>Plan for Today</vt:lpstr>
      <vt:lpstr>Brainstorm</vt:lpstr>
      <vt:lpstr>Exploring Definitions– Visualization Literacy as a Skillset</vt:lpstr>
      <vt:lpstr>Skill Definitions (1)</vt:lpstr>
      <vt:lpstr>Skill Definitions (2)</vt:lpstr>
      <vt:lpstr>Skill Definitions (3)</vt:lpstr>
      <vt:lpstr>Skill Definitions (4)</vt:lpstr>
      <vt:lpstr>Skill Definitions (5)</vt:lpstr>
      <vt:lpstr>Skill Definitions (6)</vt:lpstr>
      <vt:lpstr>Skill Definitions (7)</vt:lpstr>
      <vt:lpstr>Skill Definitions (8)</vt:lpstr>
      <vt:lpstr>Skill Definitions (9)</vt:lpstr>
      <vt:lpstr>Skill Definitions (10)</vt:lpstr>
      <vt:lpstr>Exploring Definitions– Visualization Literacy as a Model / Construct</vt:lpstr>
      <vt:lpstr>Model/ Construct Definitions (1)</vt:lpstr>
      <vt:lpstr>Model/ Construct Definitions (2)</vt:lpstr>
      <vt:lpstr>Model/ Construct Definitions (3)</vt:lpstr>
      <vt:lpstr>Model/ Construct Definitions (4)</vt:lpstr>
      <vt:lpstr>Model/ Construct Definitions (5)</vt:lpstr>
      <vt:lpstr>Model/ Construct Definitions (6)</vt:lpstr>
      <vt:lpstr>Model/ Construct Definitions (7)</vt:lpstr>
      <vt:lpstr>Brainstorm</vt:lpstr>
      <vt:lpstr>Brainstorm</vt:lpstr>
      <vt:lpstr>Assessing Visualization Literacy</vt:lpstr>
      <vt:lpstr>Assessing Visualization Literacy</vt:lpstr>
      <vt:lpstr>Barriers to Visualization Literacy</vt:lpstr>
      <vt:lpstr>Barriers to Visualization Literacy</vt:lpstr>
      <vt:lpstr>Barriers to Visualization Literacy</vt:lpstr>
      <vt:lpstr>Barriers to Visualization Literacy</vt:lpstr>
      <vt:lpstr>Barriers to Visualization Literacy</vt:lpstr>
      <vt:lpstr>Barriers to Visualization Literacy</vt:lpstr>
      <vt:lpstr>Barriers to Visualization Literacy</vt:lpstr>
      <vt:lpstr>Barriers to Visualization Literacy</vt:lpstr>
      <vt:lpstr>Barriers to Visualization Literacy</vt:lpstr>
      <vt:lpstr>Barriers to Visualization Literacy</vt:lpstr>
      <vt:lpstr>Barriers to Visualization Literacy</vt:lpstr>
      <vt:lpstr>Your Turn!</vt:lpstr>
      <vt:lpstr>Brainstorm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44</cp:revision>
  <dcterms:created xsi:type="dcterms:W3CDTF">2023-08-03T18:49:17Z</dcterms:created>
  <dcterms:modified xsi:type="dcterms:W3CDTF">2026-09-11T15:31:02Z</dcterms:modified>
</cp:coreProperties>
</file>