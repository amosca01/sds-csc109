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notesMasterIdLst>
    <p:notesMasterId r:id="rId51"/>
  </p:notesMasterIdLst>
  <p:sldIdLst>
    <p:sldId id="256" r:id="rId2"/>
    <p:sldId id="257" r:id="rId3"/>
    <p:sldId id="348" r:id="rId4"/>
    <p:sldId id="326" r:id="rId5"/>
    <p:sldId id="327" r:id="rId6"/>
    <p:sldId id="268" r:id="rId7"/>
    <p:sldId id="269" r:id="rId8"/>
    <p:sldId id="270" r:id="rId9"/>
    <p:sldId id="271" r:id="rId10"/>
    <p:sldId id="272" r:id="rId11"/>
    <p:sldId id="273" r:id="rId12"/>
    <p:sldId id="274" r:id="rId13"/>
    <p:sldId id="275" r:id="rId14"/>
    <p:sldId id="276" r:id="rId15"/>
    <p:sldId id="277" r:id="rId16"/>
    <p:sldId id="278" r:id="rId17"/>
    <p:sldId id="280" r:id="rId18"/>
    <p:sldId id="281" r:id="rId19"/>
    <p:sldId id="302" r:id="rId20"/>
    <p:sldId id="303" r:id="rId21"/>
    <p:sldId id="304" r:id="rId22"/>
    <p:sldId id="306" r:id="rId23"/>
    <p:sldId id="307" r:id="rId24"/>
    <p:sldId id="308" r:id="rId25"/>
    <p:sldId id="309" r:id="rId26"/>
    <p:sldId id="328" r:id="rId27"/>
    <p:sldId id="311" r:id="rId28"/>
    <p:sldId id="329" r:id="rId29"/>
    <p:sldId id="310" r:id="rId30"/>
    <p:sldId id="312" r:id="rId31"/>
    <p:sldId id="313" r:id="rId32"/>
    <p:sldId id="314" r:id="rId33"/>
    <p:sldId id="315" r:id="rId34"/>
    <p:sldId id="316" r:id="rId35"/>
    <p:sldId id="317" r:id="rId36"/>
    <p:sldId id="318" r:id="rId37"/>
    <p:sldId id="319" r:id="rId38"/>
    <p:sldId id="322" r:id="rId39"/>
    <p:sldId id="323" r:id="rId40"/>
    <p:sldId id="324" r:id="rId41"/>
    <p:sldId id="320" r:id="rId42"/>
    <p:sldId id="330" r:id="rId43"/>
    <p:sldId id="340" r:id="rId44"/>
    <p:sldId id="343" r:id="rId45"/>
    <p:sldId id="342" r:id="rId46"/>
    <p:sldId id="344" r:id="rId47"/>
    <p:sldId id="345" r:id="rId48"/>
    <p:sldId id="346" r:id="rId49"/>
    <p:sldId id="347"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38"/>
    <p:restoredTop sz="86069"/>
  </p:normalViewPr>
  <p:slideViewPr>
    <p:cSldViewPr snapToGrid="0">
      <p:cViewPr varScale="1">
        <p:scale>
          <a:sx n="130" d="100"/>
          <a:sy n="130" d="100"/>
        </p:scale>
        <p:origin x="3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B8A52-8AC5-C74C-97FB-632C448F3674}" type="datetimeFigureOut">
              <a:rPr lang="en-US" smtClean="0"/>
              <a:t>9/11/26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66506D-5C9B-294C-B2AE-15ACE8B5B9F7}" type="slidenum">
              <a:rPr lang="en-US" smtClean="0"/>
              <a:t>‹#›</a:t>
            </a:fld>
            <a:endParaRPr lang="en-US"/>
          </a:p>
        </p:txBody>
      </p:sp>
    </p:spTree>
    <p:extLst>
      <p:ext uri="{BB962C8B-B14F-4D97-AF65-F5344CB8AC3E}">
        <p14:creationId xmlns:p14="http://schemas.microsoft.com/office/powerpoint/2010/main" val="1937161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4</a:t>
            </a:fld>
            <a:endParaRPr lang="en-US"/>
          </a:p>
        </p:txBody>
      </p:sp>
    </p:spTree>
    <p:extLst>
      <p:ext uri="{BB962C8B-B14F-4D97-AF65-F5344CB8AC3E}">
        <p14:creationId xmlns:p14="http://schemas.microsoft.com/office/powerpoint/2010/main" val="1673594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674C3-24BD-0606-53DA-C11049E36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012E9-56DA-8F50-D1AE-D053A7F04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BCB52-34F8-1AFC-1766-AA07C73949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2C46B6-CB02-FE8B-CB89-1D5C1034C501}"/>
              </a:ext>
            </a:extLst>
          </p:cNvPr>
          <p:cNvSpPr>
            <a:spLocks noGrp="1"/>
          </p:cNvSpPr>
          <p:nvPr>
            <p:ph type="sldNum" sz="quarter" idx="5"/>
          </p:nvPr>
        </p:nvSpPr>
        <p:spPr/>
        <p:txBody>
          <a:bodyPr/>
          <a:lstStyle/>
          <a:p>
            <a:fld id="{E666506D-5C9B-294C-B2AE-15ACE8B5B9F7}" type="slidenum">
              <a:rPr lang="en-US" smtClean="0"/>
              <a:t>5</a:t>
            </a:fld>
            <a:endParaRPr lang="en-US"/>
          </a:p>
        </p:txBody>
      </p:sp>
    </p:spTree>
    <p:extLst>
      <p:ext uri="{BB962C8B-B14F-4D97-AF65-F5344CB8AC3E}">
        <p14:creationId xmlns:p14="http://schemas.microsoft.com/office/powerpoint/2010/main" val="2315969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Old woman or young? Can you see whichever was not immediately obvious to you?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Te</a:t>
            </a:r>
            <a:r>
              <a:rPr lang="en-US" dirty="0"/>
              <a:t> old woman’s nose, mouth, and eye are, respectively, the young woman’s chin, necklace, and ear. </a:t>
            </a:r>
            <a:r>
              <a:rPr lang="en-US" dirty="0" err="1"/>
              <a:t>Te</a:t>
            </a:r>
            <a:r>
              <a:rPr lang="en-US" dirty="0"/>
              <a:t> old woman is seen in </a:t>
            </a:r>
            <a:r>
              <a:rPr lang="en-US" dirty="0" err="1"/>
              <a:t>profle</a:t>
            </a:r>
            <a:r>
              <a:rPr lang="en-US" dirty="0"/>
              <a:t> looking left. </a:t>
            </a:r>
            <a:r>
              <a:rPr lang="en-US" dirty="0" err="1"/>
              <a:t>Te</a:t>
            </a:r>
            <a:r>
              <a:rPr lang="en-US" dirty="0"/>
              <a:t> young woman is also looking left, but we see her mainly from behind so most facial features are not visible. Her eyelash, nose, and the curve of her cheek may be seen just above the old woman’s nose. </a:t>
            </a:r>
            <a:endParaRPr dirty="0"/>
          </a:p>
        </p:txBody>
      </p:sp>
      <p:sp>
        <p:nvSpPr>
          <p:cNvPr id="290" name="Google Shape;290;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Te</a:t>
            </a:r>
            <a:r>
              <a:rPr lang="en-US" dirty="0"/>
              <a:t> initial projection was blurred in varying degrees, and the pictures were then brought into focus slowly to determine at what point test subjects could identify them correctly.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Tis experiment showed two things. First, those who started viewing the pictures when they were most out of focus had more </a:t>
            </a:r>
            <a:r>
              <a:rPr lang="en-US" dirty="0" err="1"/>
              <a:t>difculty</a:t>
            </a:r>
            <a:r>
              <a:rPr lang="en-US" dirty="0"/>
              <a:t> identifying them when they became clearer than those who started viewing at a less blurred stage. In other words, the greater the initial blur, the clearer the picture had to be before people could recognize it. Second, the longer people were exposed to a blurred picture, the clearer the picture had to be before they could recognize it.</a:t>
            </a:r>
            <a:endParaRPr dirty="0"/>
          </a:p>
        </p:txBody>
      </p:sp>
      <p:sp>
        <p:nvSpPr>
          <p:cNvPr id="301" name="Google Shape;301;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091E88-276F-A443-B3A6-F8B763DB4F44}" type="slidenum">
              <a:rPr lang="en-US" smtClean="0"/>
              <a:t>22</a:t>
            </a:fld>
            <a:endParaRPr lang="en-US"/>
          </a:p>
        </p:txBody>
      </p:sp>
    </p:spTree>
    <p:extLst>
      <p:ext uri="{BB962C8B-B14F-4D97-AF65-F5344CB8AC3E}">
        <p14:creationId xmlns:p14="http://schemas.microsoft.com/office/powerpoint/2010/main" val="2821537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Elevation</a:t>
            </a:r>
          </a:p>
        </p:txBody>
      </p:sp>
      <p:sp>
        <p:nvSpPr>
          <p:cNvPr id="4" name="Slide Number Placeholder 3"/>
          <p:cNvSpPr>
            <a:spLocks noGrp="1"/>
          </p:cNvSpPr>
          <p:nvPr>
            <p:ph type="sldNum" sz="quarter" idx="5"/>
          </p:nvPr>
        </p:nvSpPr>
        <p:spPr/>
        <p:txBody>
          <a:bodyPr/>
          <a:lstStyle/>
          <a:p>
            <a:fld id="{E666506D-5C9B-294C-B2AE-15ACE8B5B9F7}" type="slidenum">
              <a:rPr lang="en-US" smtClean="0"/>
              <a:t>27</a:t>
            </a:fld>
            <a:endParaRPr lang="en-US"/>
          </a:p>
        </p:txBody>
      </p:sp>
    </p:spTree>
    <p:extLst>
      <p:ext uri="{BB962C8B-B14F-4D97-AF65-F5344CB8AC3E}">
        <p14:creationId xmlns:p14="http://schemas.microsoft.com/office/powerpoint/2010/main" val="523323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33</a:t>
            </a:fld>
            <a:endParaRPr lang="en-US"/>
          </a:p>
        </p:txBody>
      </p:sp>
    </p:spTree>
    <p:extLst>
      <p:ext uri="{BB962C8B-B14F-4D97-AF65-F5344CB8AC3E}">
        <p14:creationId xmlns:p14="http://schemas.microsoft.com/office/powerpoint/2010/main" val="1362525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36</a:t>
            </a:fld>
            <a:endParaRPr lang="en-US"/>
          </a:p>
        </p:txBody>
      </p:sp>
    </p:spTree>
    <p:extLst>
      <p:ext uri="{BB962C8B-B14F-4D97-AF65-F5344CB8AC3E}">
        <p14:creationId xmlns:p14="http://schemas.microsoft.com/office/powerpoint/2010/main" val="4068343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42</a:t>
            </a:fld>
            <a:endParaRPr lang="en-US"/>
          </a:p>
        </p:txBody>
      </p:sp>
    </p:spTree>
    <p:extLst>
      <p:ext uri="{BB962C8B-B14F-4D97-AF65-F5344CB8AC3E}">
        <p14:creationId xmlns:p14="http://schemas.microsoft.com/office/powerpoint/2010/main" val="25516850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encoding – good or bad? </a:t>
            </a:r>
          </a:p>
        </p:txBody>
      </p:sp>
      <p:sp>
        <p:nvSpPr>
          <p:cNvPr id="4" name="Slide Number Placeholder 3"/>
          <p:cNvSpPr>
            <a:spLocks noGrp="1"/>
          </p:cNvSpPr>
          <p:nvPr>
            <p:ph type="sldNum" sz="quarter" idx="5"/>
          </p:nvPr>
        </p:nvSpPr>
        <p:spPr/>
        <p:txBody>
          <a:bodyPr/>
          <a:lstStyle/>
          <a:p>
            <a:fld id="{E666506D-5C9B-294C-B2AE-15ACE8B5B9F7}" type="slidenum">
              <a:rPr lang="en-US" smtClean="0"/>
              <a:t>45</a:t>
            </a:fld>
            <a:endParaRPr lang="en-US"/>
          </a:p>
        </p:txBody>
      </p:sp>
    </p:spTree>
    <p:extLst>
      <p:ext uri="{BB962C8B-B14F-4D97-AF65-F5344CB8AC3E}">
        <p14:creationId xmlns:p14="http://schemas.microsoft.com/office/powerpoint/2010/main" val="42035103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EEAA9-8722-66D9-277F-1C2082EAF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81AE4-EE11-F126-E080-13E7A0F8AA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91F3AB-4FBD-27ED-285E-F521C8E951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790C8F-C8F9-C1BD-96FD-8DC06C161C56}"/>
              </a:ext>
            </a:extLst>
          </p:cNvPr>
          <p:cNvSpPr>
            <a:spLocks noGrp="1"/>
          </p:cNvSpPr>
          <p:nvPr>
            <p:ph type="sldNum" sz="quarter" idx="5"/>
          </p:nvPr>
        </p:nvSpPr>
        <p:spPr/>
        <p:txBody>
          <a:bodyPr/>
          <a:lstStyle/>
          <a:p>
            <a:fld id="{E666506D-5C9B-294C-B2AE-15ACE8B5B9F7}" type="slidenum">
              <a:rPr lang="en-US" smtClean="0"/>
              <a:t>46</a:t>
            </a:fld>
            <a:endParaRPr lang="en-US"/>
          </a:p>
        </p:txBody>
      </p:sp>
    </p:spTree>
    <p:extLst>
      <p:ext uri="{BB962C8B-B14F-4D97-AF65-F5344CB8AC3E}">
        <p14:creationId xmlns:p14="http://schemas.microsoft.com/office/powerpoint/2010/main" val="26737165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9A108-83CB-0C32-00A2-A98A18318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D4D4D-8948-9689-9BA6-040F4D6AA0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682D6-F5C1-6F60-7F38-335BC926D8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C0C49F-0EE0-FCF5-353B-20DAEFA5525B}"/>
              </a:ext>
            </a:extLst>
          </p:cNvPr>
          <p:cNvSpPr>
            <a:spLocks noGrp="1"/>
          </p:cNvSpPr>
          <p:nvPr>
            <p:ph type="sldNum" sz="quarter" idx="5"/>
          </p:nvPr>
        </p:nvSpPr>
        <p:spPr/>
        <p:txBody>
          <a:bodyPr/>
          <a:lstStyle/>
          <a:p>
            <a:fld id="{E666506D-5C9B-294C-B2AE-15ACE8B5B9F7}" type="slidenum">
              <a:rPr lang="en-US" smtClean="0"/>
              <a:t>47</a:t>
            </a:fld>
            <a:endParaRPr lang="en-US"/>
          </a:p>
        </p:txBody>
      </p:sp>
    </p:spTree>
    <p:extLst>
      <p:ext uri="{BB962C8B-B14F-4D97-AF65-F5344CB8AC3E}">
        <p14:creationId xmlns:p14="http://schemas.microsoft.com/office/powerpoint/2010/main" val="20831359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66FE9-82DB-AF71-187F-2A6A4AF1E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32CA0-F59A-A101-1473-10C4392568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6C3A89-00FB-0771-941E-1D747D0C13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F4FC99-EDD8-93B8-B637-638AD14979DD}"/>
              </a:ext>
            </a:extLst>
          </p:cNvPr>
          <p:cNvSpPr>
            <a:spLocks noGrp="1"/>
          </p:cNvSpPr>
          <p:nvPr>
            <p:ph type="sldNum" sz="quarter" idx="5"/>
          </p:nvPr>
        </p:nvSpPr>
        <p:spPr/>
        <p:txBody>
          <a:bodyPr/>
          <a:lstStyle/>
          <a:p>
            <a:fld id="{E666506D-5C9B-294C-B2AE-15ACE8B5B9F7}" type="slidenum">
              <a:rPr lang="en-US" smtClean="0"/>
              <a:t>48</a:t>
            </a:fld>
            <a:endParaRPr lang="en-US"/>
          </a:p>
        </p:txBody>
      </p:sp>
    </p:spTree>
    <p:extLst>
      <p:ext uri="{BB962C8B-B14F-4D97-AF65-F5344CB8AC3E}">
        <p14:creationId xmlns:p14="http://schemas.microsoft.com/office/powerpoint/2010/main" val="15713885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327D9-1D05-F23C-A20C-A06200587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EA740-0654-D2F4-0FCD-108D56B92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1B1E9-B582-7423-2451-AA23653CA1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E10575-2714-4B53-0882-F8AF231ED82D}"/>
              </a:ext>
            </a:extLst>
          </p:cNvPr>
          <p:cNvSpPr>
            <a:spLocks noGrp="1"/>
          </p:cNvSpPr>
          <p:nvPr>
            <p:ph type="sldNum" sz="quarter" idx="5"/>
          </p:nvPr>
        </p:nvSpPr>
        <p:spPr/>
        <p:txBody>
          <a:bodyPr/>
          <a:lstStyle/>
          <a:p>
            <a:fld id="{E666506D-5C9B-294C-B2AE-15ACE8B5B9F7}" type="slidenum">
              <a:rPr lang="en-US" smtClean="0"/>
              <a:t>49</a:t>
            </a:fld>
            <a:endParaRPr lang="en-US"/>
          </a:p>
        </p:txBody>
      </p:sp>
    </p:spTree>
    <p:extLst>
      <p:ext uri="{BB962C8B-B14F-4D97-AF65-F5344CB8AC3E}">
        <p14:creationId xmlns:p14="http://schemas.microsoft.com/office/powerpoint/2010/main" val="1407414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5078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7686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1914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683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09116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86828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0606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44644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27679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6685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58224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9/11/26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62071484"/>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jcrouser.github.io/"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sv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0.svg"/><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66711-FD41-BF2C-3200-E86657F1099A}"/>
              </a:ext>
            </a:extLst>
          </p:cNvPr>
          <p:cNvSpPr>
            <a:spLocks noGrp="1"/>
          </p:cNvSpPr>
          <p:nvPr>
            <p:ph type="ctrTitle"/>
          </p:nvPr>
        </p:nvSpPr>
        <p:spPr/>
        <p:txBody>
          <a:bodyPr>
            <a:normAutofit/>
          </a:bodyPr>
          <a:lstStyle/>
          <a:p>
            <a:r>
              <a:rPr lang="en-US" dirty="0"/>
              <a:t>Communicating with Data – Visual Encoding</a:t>
            </a:r>
          </a:p>
        </p:txBody>
      </p:sp>
      <p:sp>
        <p:nvSpPr>
          <p:cNvPr id="3" name="Subtitle 2">
            <a:extLst>
              <a:ext uri="{FF2B5EF4-FFF2-40B4-BE49-F238E27FC236}">
                <a16:creationId xmlns:a16="http://schemas.microsoft.com/office/drawing/2014/main" id="{D0BE8CA1-49DD-7D0B-3796-B4A0CE9405C0}"/>
              </a:ext>
            </a:extLst>
          </p:cNvPr>
          <p:cNvSpPr>
            <a:spLocks noGrp="1"/>
          </p:cNvSpPr>
          <p:nvPr>
            <p:ph type="subTitle" idx="1"/>
          </p:nvPr>
        </p:nvSpPr>
        <p:spPr/>
        <p:txBody>
          <a:bodyPr/>
          <a:lstStyle/>
          <a:p>
            <a:r>
              <a:rPr lang="en-US" dirty="0"/>
              <a:t>Dr. Ab Mosca (they/them) </a:t>
            </a:r>
          </a:p>
        </p:txBody>
      </p:sp>
      <p:sp>
        <p:nvSpPr>
          <p:cNvPr id="5" name="TextBox 4">
            <a:extLst>
              <a:ext uri="{FF2B5EF4-FFF2-40B4-BE49-F238E27FC236}">
                <a16:creationId xmlns:a16="http://schemas.microsoft.com/office/drawing/2014/main" id="{51C47612-0F01-5A1D-003F-59C048DD3D08}"/>
              </a:ext>
            </a:extLst>
          </p:cNvPr>
          <p:cNvSpPr txBox="1"/>
          <p:nvPr/>
        </p:nvSpPr>
        <p:spPr>
          <a:xfrm>
            <a:off x="2286000" y="6342185"/>
            <a:ext cx="7444410" cy="369332"/>
          </a:xfrm>
          <a:prstGeom prst="rect">
            <a:avLst/>
          </a:prstGeom>
          <a:noFill/>
        </p:spPr>
        <p:txBody>
          <a:bodyPr wrap="none" rtlCol="0">
            <a:spAutoFit/>
          </a:bodyPr>
          <a:lstStyle/>
          <a:p>
            <a:r>
              <a:rPr lang="en-US" dirty="0"/>
              <a:t>Slides based off slides courtesy of Jordan Crouser (</a:t>
            </a:r>
            <a:r>
              <a:rPr lang="en-US" dirty="0">
                <a:hlinkClick r:id="rId2"/>
              </a:rPr>
              <a:t>https://jcrouser.github.io/</a:t>
            </a:r>
            <a:r>
              <a:rPr lang="en-US" dirty="0"/>
              <a:t>) </a:t>
            </a:r>
          </a:p>
        </p:txBody>
      </p:sp>
    </p:spTree>
    <p:extLst>
      <p:ext uri="{BB962C8B-B14F-4D97-AF65-F5344CB8AC3E}">
        <p14:creationId xmlns:p14="http://schemas.microsoft.com/office/powerpoint/2010/main" val="29053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Event</a:t>
            </a:r>
          </a:p>
        </p:txBody>
      </p:sp>
      <p:pic>
        <p:nvPicPr>
          <p:cNvPr id="7" name="Picture 6">
            <a:extLst>
              <a:ext uri="{FF2B5EF4-FFF2-40B4-BE49-F238E27FC236}">
                <a16:creationId xmlns:a16="http://schemas.microsoft.com/office/drawing/2014/main" id="{F8C663CF-A769-107C-6855-893C49558041}"/>
              </a:ext>
            </a:extLst>
          </p:cNvPr>
          <p:cNvPicPr>
            <a:picLocks noChangeAspect="1"/>
          </p:cNvPicPr>
          <p:nvPr/>
        </p:nvPicPr>
        <p:blipFill>
          <a:blip r:embed="rId2"/>
          <a:stretch>
            <a:fillRect/>
          </a:stretch>
        </p:blipFill>
        <p:spPr>
          <a:xfrm>
            <a:off x="4820467" y="-4572"/>
            <a:ext cx="5304099" cy="6858000"/>
          </a:xfrm>
          <a:prstGeom prst="rect">
            <a:avLst/>
          </a:prstGeom>
        </p:spPr>
      </p:pic>
    </p:spTree>
    <p:extLst>
      <p:ext uri="{BB962C8B-B14F-4D97-AF65-F5344CB8AC3E}">
        <p14:creationId xmlns:p14="http://schemas.microsoft.com/office/powerpoint/2010/main" val="1085546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83E9E-C062-EA86-3C4A-1FAFB89CE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D0218-D318-19D3-A423-C8EA01B67F55}"/>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4F1F9FA4-F187-C076-D705-D8210767D6C7}"/>
              </a:ext>
            </a:extLst>
          </p:cNvPr>
          <p:cNvSpPr>
            <a:spLocks noGrp="1"/>
          </p:cNvSpPr>
          <p:nvPr>
            <p:ph idx="1"/>
          </p:nvPr>
        </p:nvSpPr>
        <p:spPr/>
        <p:txBody>
          <a:bodyPr>
            <a:normAutofit/>
          </a:bodyPr>
          <a:lstStyle/>
          <a:p>
            <a:pPr marL="457200" indent="-457200">
              <a:lnSpc>
                <a:spcPct val="100000"/>
              </a:lnSpc>
              <a:buSzPts val="2040"/>
              <a:buFont typeface="Arial"/>
              <a:buChar char="•"/>
            </a:pPr>
            <a:r>
              <a:rPr lang="en-US" sz="2400" dirty="0">
                <a:ea typeface="Arial"/>
                <a:cs typeface="Arial"/>
                <a:sym typeface="Arial"/>
              </a:rPr>
              <a:t>Mental models: how we process information</a:t>
            </a:r>
            <a:endParaRPr lang="en-US" sz="2400" dirty="0"/>
          </a:p>
          <a:p>
            <a:pPr marL="457200" indent="-457200">
              <a:lnSpc>
                <a:spcPct val="100000"/>
              </a:lnSpc>
              <a:buSzPts val="2040"/>
              <a:buFont typeface="Arial"/>
              <a:buChar char="•"/>
            </a:pPr>
            <a:r>
              <a:rPr lang="en-US" sz="2400" dirty="0">
                <a:ea typeface="Arial"/>
                <a:cs typeface="Arial"/>
                <a:sym typeface="Arial"/>
              </a:rPr>
              <a:t>Visualization building blocks</a:t>
            </a:r>
            <a:endParaRPr lang="en-US" sz="2400" dirty="0"/>
          </a:p>
          <a:p>
            <a:pPr marL="457200" indent="-457200">
              <a:lnSpc>
                <a:spcPct val="100000"/>
              </a:lnSpc>
              <a:buSzPts val="2040"/>
              <a:buFont typeface="Arial"/>
              <a:buChar char="•"/>
            </a:pPr>
            <a:r>
              <a:rPr lang="en-US" sz="2400" dirty="0">
                <a:ea typeface="Arial"/>
                <a:cs typeface="Arial"/>
                <a:sym typeface="Arial"/>
              </a:rPr>
              <a:t>Mapping data to visuals </a:t>
            </a:r>
          </a:p>
          <a:p>
            <a:pPr marL="457200" indent="-457200">
              <a:lnSpc>
                <a:spcPct val="100000"/>
              </a:lnSpc>
              <a:buSzPts val="2040"/>
              <a:buFont typeface="Arial"/>
              <a:buChar char="•"/>
            </a:pPr>
            <a:r>
              <a:rPr lang="en-US" sz="2400" dirty="0">
                <a:ea typeface="Arial"/>
                <a:cs typeface="Arial"/>
                <a:sym typeface="Arial"/>
              </a:rPr>
              <a:t>Practice</a:t>
            </a:r>
          </a:p>
        </p:txBody>
      </p:sp>
    </p:spTree>
    <p:extLst>
      <p:ext uri="{BB962C8B-B14F-4D97-AF65-F5344CB8AC3E}">
        <p14:creationId xmlns:p14="http://schemas.microsoft.com/office/powerpoint/2010/main" val="125225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Checking in </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lnSpc>
                <a:spcPct val="100000"/>
              </a:lnSpc>
              <a:spcBef>
                <a:spcPts val="0"/>
              </a:spcBef>
              <a:buSzPts val="2040"/>
            </a:pPr>
            <a:r>
              <a:rPr lang="en-US" sz="2400" dirty="0">
                <a:ea typeface="Arial"/>
                <a:cs typeface="Arial"/>
                <a:sym typeface="Arial"/>
              </a:rPr>
              <a:t>Are you on Slack?</a:t>
            </a:r>
          </a:p>
          <a:p>
            <a:pPr lvl="1">
              <a:lnSpc>
                <a:spcPct val="100000"/>
              </a:lnSpc>
              <a:spcBef>
                <a:spcPts val="0"/>
              </a:spcBef>
              <a:buSzPts val="2040"/>
            </a:pPr>
            <a:r>
              <a:rPr lang="en-US" sz="2200" dirty="0">
                <a:ea typeface="Arial"/>
                <a:cs typeface="Arial"/>
                <a:sym typeface="Arial"/>
              </a:rPr>
              <a:t>All communication will be through Slack (see syllabus for details) </a:t>
            </a:r>
          </a:p>
          <a:p>
            <a:pPr>
              <a:lnSpc>
                <a:spcPct val="100000"/>
              </a:lnSpc>
              <a:spcBef>
                <a:spcPts val="0"/>
              </a:spcBef>
              <a:buSzPts val="2040"/>
            </a:pPr>
            <a:endParaRPr lang="en-US" sz="2400" dirty="0">
              <a:ea typeface="Arial"/>
              <a:cs typeface="Arial"/>
              <a:sym typeface="Arial"/>
            </a:endParaRPr>
          </a:p>
          <a:p>
            <a:pPr>
              <a:lnSpc>
                <a:spcPct val="100000"/>
              </a:lnSpc>
              <a:spcBef>
                <a:spcPts val="0"/>
              </a:spcBef>
              <a:buSzPts val="2040"/>
            </a:pPr>
            <a:r>
              <a:rPr lang="en-US" sz="2400" dirty="0">
                <a:ea typeface="Arial"/>
                <a:cs typeface="Arial"/>
                <a:sym typeface="Arial"/>
              </a:rPr>
              <a:t>Are you on </a:t>
            </a:r>
            <a:r>
              <a:rPr lang="en-US" sz="2400" dirty="0" err="1">
                <a:ea typeface="Arial"/>
                <a:cs typeface="Arial"/>
                <a:sym typeface="Arial"/>
              </a:rPr>
              <a:t>Gradescope</a:t>
            </a:r>
            <a:r>
              <a:rPr lang="en-US" sz="2400" dirty="0">
                <a:ea typeface="Arial"/>
                <a:cs typeface="Arial"/>
                <a:sym typeface="Arial"/>
              </a:rPr>
              <a:t>? </a:t>
            </a:r>
          </a:p>
          <a:p>
            <a:pPr>
              <a:lnSpc>
                <a:spcPct val="100000"/>
              </a:lnSpc>
              <a:spcBef>
                <a:spcPts val="0"/>
              </a:spcBef>
              <a:buSzPts val="2040"/>
            </a:pPr>
            <a:endParaRPr lang="en-US" sz="2400" dirty="0">
              <a:ea typeface="Arial"/>
              <a:cs typeface="Arial"/>
              <a:sym typeface="Arial"/>
            </a:endParaRPr>
          </a:p>
          <a:p>
            <a:pPr>
              <a:lnSpc>
                <a:spcPct val="100000"/>
              </a:lnSpc>
              <a:spcBef>
                <a:spcPts val="0"/>
              </a:spcBef>
              <a:buSzPts val="2040"/>
            </a:pPr>
            <a:r>
              <a:rPr lang="en-US" sz="2400" dirty="0">
                <a:ea typeface="Arial"/>
                <a:cs typeface="Arial"/>
                <a:sym typeface="Arial"/>
              </a:rPr>
              <a:t>Have you reviewed the syllabus? (Good way to self-check– do you know the GenAI policy for this class?)</a:t>
            </a:r>
          </a:p>
        </p:txBody>
      </p:sp>
    </p:spTree>
    <p:extLst>
      <p:ext uri="{BB962C8B-B14F-4D97-AF65-F5344CB8AC3E}">
        <p14:creationId xmlns:p14="http://schemas.microsoft.com/office/powerpoint/2010/main" val="938801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3EE34-5BB8-26CF-1446-035D95232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0E8F7-38F7-C433-009E-796AC3A36FD8}"/>
              </a:ext>
            </a:extLst>
          </p:cNvPr>
          <p:cNvSpPr>
            <a:spLocks noGrp="1"/>
          </p:cNvSpPr>
          <p:nvPr>
            <p:ph type="title"/>
          </p:nvPr>
        </p:nvSpPr>
        <p:spPr/>
        <p:txBody>
          <a:bodyPr/>
          <a:lstStyle/>
          <a:p>
            <a:r>
              <a:rPr lang="en-US" dirty="0"/>
              <a:t>Looking forward </a:t>
            </a:r>
          </a:p>
        </p:txBody>
      </p:sp>
      <p:sp>
        <p:nvSpPr>
          <p:cNvPr id="3" name="Content Placeholder 2">
            <a:extLst>
              <a:ext uri="{FF2B5EF4-FFF2-40B4-BE49-F238E27FC236}">
                <a16:creationId xmlns:a16="http://schemas.microsoft.com/office/drawing/2014/main" id="{141CC16A-5DEB-245B-686C-964700BD22B4}"/>
              </a:ext>
            </a:extLst>
          </p:cNvPr>
          <p:cNvSpPr>
            <a:spLocks noGrp="1"/>
          </p:cNvSpPr>
          <p:nvPr>
            <p:ph idx="1"/>
          </p:nvPr>
        </p:nvSpPr>
        <p:spPr/>
        <p:txBody>
          <a:bodyPr>
            <a:normAutofit/>
          </a:bodyPr>
          <a:lstStyle/>
          <a:p>
            <a:pPr>
              <a:lnSpc>
                <a:spcPct val="100000"/>
              </a:lnSpc>
              <a:spcBef>
                <a:spcPts val="0"/>
              </a:spcBef>
              <a:buSzPts val="2040"/>
            </a:pPr>
            <a:r>
              <a:rPr lang="en-US" sz="2400" dirty="0">
                <a:ea typeface="Arial"/>
                <a:cs typeface="Arial"/>
                <a:sym typeface="Arial"/>
              </a:rPr>
              <a:t>a1 Due Wednesday! (I will not always remind you of assignment due dates; check the class schedule)</a:t>
            </a:r>
          </a:p>
          <a:p>
            <a:pPr>
              <a:lnSpc>
                <a:spcPct val="100000"/>
              </a:lnSpc>
              <a:spcBef>
                <a:spcPts val="0"/>
              </a:spcBef>
              <a:buSzPts val="2040"/>
            </a:pPr>
            <a:endParaRPr lang="en-US" sz="2400" dirty="0">
              <a:ea typeface="Arial"/>
              <a:cs typeface="Arial"/>
              <a:sym typeface="Arial"/>
            </a:endParaRPr>
          </a:p>
          <a:p>
            <a:pPr>
              <a:lnSpc>
                <a:spcPct val="100000"/>
              </a:lnSpc>
              <a:spcBef>
                <a:spcPts val="0"/>
              </a:spcBef>
              <a:buSzPts val="2040"/>
            </a:pPr>
            <a:r>
              <a:rPr lang="en-US" sz="2400" dirty="0">
                <a:ea typeface="Arial"/>
                <a:cs typeface="Arial"/>
                <a:sym typeface="Arial"/>
              </a:rPr>
              <a:t>Find instructions on the course website under the “Assignments” tab </a:t>
            </a:r>
          </a:p>
          <a:p>
            <a:pPr lvl="1">
              <a:lnSpc>
                <a:spcPct val="100000"/>
              </a:lnSpc>
              <a:spcBef>
                <a:spcPts val="0"/>
              </a:spcBef>
              <a:buSzPts val="2040"/>
            </a:pPr>
            <a:r>
              <a:rPr lang="en-US" sz="2200" dirty="0">
                <a:ea typeface="Arial"/>
                <a:cs typeface="Arial"/>
                <a:sym typeface="Arial"/>
              </a:rPr>
              <a:t>Questions? Come to office hours: T 10:30-12:00, 13:30-15:30, and by appointment</a:t>
            </a:r>
          </a:p>
        </p:txBody>
      </p:sp>
    </p:spTree>
    <p:extLst>
      <p:ext uri="{BB962C8B-B14F-4D97-AF65-F5344CB8AC3E}">
        <p14:creationId xmlns:p14="http://schemas.microsoft.com/office/powerpoint/2010/main" val="1261644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5"/>
          <p:cNvPicPr preferRelativeResize="0"/>
          <p:nvPr/>
        </p:nvPicPr>
        <p:blipFill rotWithShape="1">
          <a:blip r:embed="rId3">
            <a:alphaModFix/>
          </a:blip>
          <a:srcRect/>
          <a:stretch/>
        </p:blipFill>
        <p:spPr>
          <a:xfrm>
            <a:off x="3505200" y="376250"/>
            <a:ext cx="6324600" cy="5761315"/>
          </a:xfrm>
          <a:prstGeom prst="rect">
            <a:avLst/>
          </a:prstGeom>
          <a:noFill/>
          <a:ln>
            <a:noFill/>
          </a:ln>
        </p:spPr>
      </p:pic>
      <p:sp>
        <p:nvSpPr>
          <p:cNvPr id="195" name="Google Shape;195;p25"/>
          <p:cNvSpPr txBox="1">
            <a:spLocks noGrp="1"/>
          </p:cNvSpPr>
          <p:nvPr>
            <p:ph type="body" idx="1"/>
          </p:nvPr>
        </p:nvSpPr>
        <p:spPr>
          <a:xfrm>
            <a:off x="6248400" y="1870364"/>
            <a:ext cx="5690681" cy="3886200"/>
          </a:xfrm>
          <a:prstGeom prst="rect">
            <a:avLst/>
          </a:prstGeom>
          <a:noFill/>
          <a:ln>
            <a:noFill/>
          </a:ln>
        </p:spPr>
        <p:txBody>
          <a:bodyPr spcFirstLastPara="1" vert="horz" wrap="square" lIns="91425" tIns="45700" rIns="91425" bIns="45700" rtlCol="0" anchor="t" anchorCtr="0">
            <a:noAutofit/>
          </a:bodyPr>
          <a:lstStyle/>
          <a:p>
            <a:pPr>
              <a:lnSpc>
                <a:spcPct val="100000"/>
              </a:lnSpc>
              <a:spcBef>
                <a:spcPts val="0"/>
              </a:spcBef>
              <a:buSzPts val="2040"/>
              <a:buFont typeface="Arial"/>
              <a:buChar char="•"/>
            </a:pPr>
            <a:r>
              <a:rPr lang="en-US" sz="2400" dirty="0">
                <a:ea typeface="Arial"/>
                <a:cs typeface="Arial"/>
                <a:sym typeface="Arial"/>
              </a:rPr>
              <a:t>We are exposed to huge amounts of information all the time</a:t>
            </a:r>
            <a:endParaRPr sz="2400" dirty="0"/>
          </a:p>
          <a:p>
            <a:pPr indent="-53339">
              <a:lnSpc>
                <a:spcPct val="100000"/>
              </a:lnSpc>
              <a:buSzPts val="2040"/>
              <a:buNone/>
            </a:pPr>
            <a:endParaRPr sz="2400" dirty="0">
              <a:ea typeface="Arial"/>
              <a:cs typeface="Arial"/>
              <a:sym typeface="Arial"/>
            </a:endParaRPr>
          </a:p>
          <a:p>
            <a:pPr>
              <a:lnSpc>
                <a:spcPct val="100000"/>
              </a:lnSpc>
              <a:buSzPts val="2040"/>
              <a:buFont typeface="Arial"/>
              <a:buChar char="•"/>
            </a:pPr>
            <a:r>
              <a:rPr lang="en-US" sz="2400" dirty="0">
                <a:ea typeface="Arial"/>
                <a:cs typeface="Arial"/>
                <a:sym typeface="Arial"/>
              </a:rPr>
              <a:t>So much, in fact, that we can’t process it all fast enough</a:t>
            </a:r>
            <a:endParaRPr sz="2400" dirty="0">
              <a:ea typeface="Arial"/>
              <a:cs typeface="Arial"/>
              <a:sym typeface="Arial"/>
            </a:endParaRPr>
          </a:p>
          <a:p>
            <a:pPr indent="-53339">
              <a:lnSpc>
                <a:spcPct val="100000"/>
              </a:lnSpc>
              <a:buSzPts val="2040"/>
              <a:buNone/>
            </a:pPr>
            <a:endParaRPr sz="2400" dirty="0">
              <a:ea typeface="Arial"/>
              <a:cs typeface="Arial"/>
              <a:sym typeface="Arial"/>
            </a:endParaRPr>
          </a:p>
        </p:txBody>
      </p:sp>
      <p:sp>
        <p:nvSpPr>
          <p:cNvPr id="2" name="Google Shape;122;p17">
            <a:extLst>
              <a:ext uri="{FF2B5EF4-FFF2-40B4-BE49-F238E27FC236}">
                <a16:creationId xmlns:a16="http://schemas.microsoft.com/office/drawing/2014/main" id="{7050B07F-3217-BACE-E155-43FCEC8115F1}"/>
              </a:ext>
            </a:extLst>
          </p:cNvPr>
          <p:cNvSpPr txBox="1">
            <a:spLocks/>
          </p:cNvSpPr>
          <p:nvPr/>
        </p:nvSpPr>
        <p:spPr>
          <a:xfrm>
            <a:off x="152400" y="2431472"/>
            <a:ext cx="3089564" cy="178031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spcBef>
                <a:spcPts val="0"/>
              </a:spcBef>
              <a:buClr>
                <a:schemeClr val="dk2"/>
              </a:buClr>
            </a:pPr>
            <a:r>
              <a:rPr lang="en-US" dirty="0">
                <a:solidFill>
                  <a:schemeClr val="bg1"/>
                </a:solidFill>
                <a:latin typeface="+mn-lt"/>
                <a:ea typeface="Arial"/>
                <a:cs typeface="Arial"/>
                <a:sym typeface="Arial"/>
              </a:rPr>
              <a:t>Information overload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26"/>
          <p:cNvPicPr preferRelativeResize="0"/>
          <p:nvPr/>
        </p:nvPicPr>
        <p:blipFill rotWithShape="1">
          <a:blip r:embed="rId3">
            <a:alphaModFix/>
          </a:blip>
          <a:srcRect/>
          <a:stretch/>
        </p:blipFill>
        <p:spPr>
          <a:xfrm>
            <a:off x="3505200" y="334686"/>
            <a:ext cx="6324600" cy="5761315"/>
          </a:xfrm>
          <a:prstGeom prst="rect">
            <a:avLst/>
          </a:prstGeom>
          <a:noFill/>
          <a:ln>
            <a:noFill/>
          </a:ln>
        </p:spPr>
      </p:pic>
      <p:sp>
        <p:nvSpPr>
          <p:cNvPr id="202" name="Google Shape;202;p26"/>
          <p:cNvSpPr txBox="1">
            <a:spLocks noGrp="1"/>
          </p:cNvSpPr>
          <p:nvPr>
            <p:ph type="body" idx="1"/>
          </p:nvPr>
        </p:nvSpPr>
        <p:spPr>
          <a:xfrm>
            <a:off x="6248400" y="1828800"/>
            <a:ext cx="5943600" cy="3886200"/>
          </a:xfrm>
          <a:prstGeom prst="rect">
            <a:avLst/>
          </a:prstGeom>
          <a:noFill/>
          <a:ln>
            <a:noFill/>
          </a:ln>
        </p:spPr>
        <p:txBody>
          <a:bodyPr spcFirstLastPara="1" vert="horz" wrap="square" lIns="91425" tIns="45700" rIns="91425" bIns="45700" rtlCol="0" anchor="t" anchorCtr="0">
            <a:noAutofit/>
          </a:bodyPr>
          <a:lstStyle/>
          <a:p>
            <a:pPr marL="0" indent="0">
              <a:lnSpc>
                <a:spcPct val="100000"/>
              </a:lnSpc>
              <a:spcBef>
                <a:spcPts val="0"/>
              </a:spcBef>
              <a:buNone/>
            </a:pPr>
            <a:r>
              <a:rPr lang="en-US" sz="2400" dirty="0">
                <a:ea typeface="Arial"/>
                <a:cs typeface="Arial"/>
                <a:sym typeface="Arial"/>
              </a:rPr>
              <a:t>To cope, we construct </a:t>
            </a:r>
            <a:r>
              <a:rPr lang="en-US" sz="2400" b="1" dirty="0">
                <a:ea typeface="Arial"/>
                <a:cs typeface="Arial"/>
                <a:sym typeface="Arial"/>
              </a:rPr>
              <a:t>mental models: </a:t>
            </a:r>
            <a:r>
              <a:rPr lang="en-US" sz="2400" dirty="0">
                <a:ea typeface="Arial"/>
                <a:cs typeface="Arial"/>
                <a:sym typeface="Arial"/>
              </a:rPr>
              <a:t>abstracted, simplified versions of the world that are more manageable</a:t>
            </a:r>
            <a:endParaRPr sz="2400" dirty="0">
              <a:ea typeface="Arial"/>
              <a:cs typeface="Arial"/>
              <a:sym typeface="Arial"/>
            </a:endParaRPr>
          </a:p>
          <a:p>
            <a:pPr marL="0" indent="0">
              <a:lnSpc>
                <a:spcPct val="100000"/>
              </a:lnSpc>
              <a:buNone/>
            </a:pPr>
            <a:endParaRPr sz="2400" dirty="0">
              <a:ea typeface="Arial"/>
              <a:cs typeface="Arial"/>
              <a:sym typeface="Arial"/>
            </a:endParaRPr>
          </a:p>
          <a:p>
            <a:pPr indent="-53339">
              <a:lnSpc>
                <a:spcPct val="100000"/>
              </a:lnSpc>
              <a:buSzPts val="2040"/>
              <a:buNone/>
            </a:pPr>
            <a:endParaRPr sz="2400" dirty="0">
              <a:ea typeface="Arial"/>
              <a:cs typeface="Arial"/>
              <a:sym typeface="Arial"/>
            </a:endParaRPr>
          </a:p>
        </p:txBody>
      </p:sp>
      <p:pic>
        <p:nvPicPr>
          <p:cNvPr id="203" name="Google Shape;203;p26"/>
          <p:cNvPicPr preferRelativeResize="0"/>
          <p:nvPr/>
        </p:nvPicPr>
        <p:blipFill rotWithShape="1">
          <a:blip r:embed="rId4">
            <a:alphaModFix/>
          </a:blip>
          <a:srcRect/>
          <a:stretch/>
        </p:blipFill>
        <p:spPr>
          <a:xfrm rot="-723108">
            <a:off x="6479096" y="2768039"/>
            <a:ext cx="3429000" cy="2571750"/>
          </a:xfrm>
          <a:prstGeom prst="rect">
            <a:avLst/>
          </a:prstGeom>
          <a:noFill/>
          <a:ln>
            <a:noFill/>
          </a:ln>
        </p:spPr>
      </p:pic>
      <p:sp>
        <p:nvSpPr>
          <p:cNvPr id="2" name="Google Shape;122;p17">
            <a:extLst>
              <a:ext uri="{FF2B5EF4-FFF2-40B4-BE49-F238E27FC236}">
                <a16:creationId xmlns:a16="http://schemas.microsoft.com/office/drawing/2014/main" id="{BEC0E063-8BC0-1476-EBD7-26CA304EBAAF}"/>
              </a:ext>
            </a:extLst>
          </p:cNvPr>
          <p:cNvSpPr txBox="1">
            <a:spLocks/>
          </p:cNvSpPr>
          <p:nvPr/>
        </p:nvSpPr>
        <p:spPr>
          <a:xfrm>
            <a:off x="152400" y="2431472"/>
            <a:ext cx="3089564" cy="178031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spcBef>
                <a:spcPts val="0"/>
              </a:spcBef>
              <a:buClr>
                <a:schemeClr val="dk2"/>
              </a:buClr>
            </a:pPr>
            <a:r>
              <a:rPr lang="en-US" dirty="0">
                <a:solidFill>
                  <a:schemeClr val="bg1"/>
                </a:solidFill>
                <a:latin typeface="+mn-lt"/>
                <a:ea typeface="Arial"/>
                <a:cs typeface="Arial"/>
                <a:sym typeface="Arial"/>
              </a:rPr>
              <a:t>Mental models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09" name="Google Shape;209;p27"/>
          <p:cNvPicPr preferRelativeResize="0"/>
          <p:nvPr/>
        </p:nvPicPr>
        <p:blipFill rotWithShape="1">
          <a:blip r:embed="rId3">
            <a:alphaModFix/>
          </a:blip>
          <a:srcRect/>
          <a:stretch/>
        </p:blipFill>
        <p:spPr>
          <a:xfrm>
            <a:off x="5424058" y="1733998"/>
            <a:ext cx="4331831" cy="3981002"/>
          </a:xfrm>
          <a:prstGeom prst="rect">
            <a:avLst/>
          </a:prstGeom>
          <a:noFill/>
          <a:ln>
            <a:noFill/>
          </a:ln>
        </p:spPr>
      </p:pic>
      <p:sp>
        <p:nvSpPr>
          <p:cNvPr id="210" name="Google Shape;210;p27"/>
          <p:cNvSpPr txBox="1">
            <a:spLocks noGrp="1"/>
          </p:cNvSpPr>
          <p:nvPr>
            <p:ph type="body" idx="1"/>
          </p:nvPr>
        </p:nvSpPr>
        <p:spPr>
          <a:xfrm>
            <a:off x="3519057" y="762000"/>
            <a:ext cx="8229600" cy="5334000"/>
          </a:xfrm>
          <a:prstGeom prst="rect">
            <a:avLst/>
          </a:prstGeom>
          <a:noFill/>
          <a:ln>
            <a:noFill/>
          </a:ln>
        </p:spPr>
        <p:txBody>
          <a:bodyPr spcFirstLastPara="1" vert="horz" wrap="square" lIns="91425" tIns="45700" rIns="91425" bIns="45700" rtlCol="0" anchor="t" anchorCtr="0">
            <a:noAutofit/>
          </a:bodyPr>
          <a:lstStyle/>
          <a:p>
            <a:pPr marL="0" indent="0">
              <a:lnSpc>
                <a:spcPct val="100000"/>
              </a:lnSpc>
              <a:spcBef>
                <a:spcPts val="0"/>
              </a:spcBef>
              <a:buNone/>
            </a:pPr>
            <a:r>
              <a:rPr lang="en-US" sz="2400" dirty="0">
                <a:ea typeface="Arial"/>
                <a:cs typeface="Arial"/>
                <a:sym typeface="Arial"/>
              </a:rPr>
              <a:t>Task 1: Connect all 9 dots using only straight lines</a:t>
            </a:r>
            <a:endParaRPr sz="2400" dirty="0">
              <a:ea typeface="Arial"/>
              <a:cs typeface="Arial"/>
              <a:sym typeface="Arial"/>
            </a:endParaRPr>
          </a:p>
        </p:txBody>
      </p:sp>
      <p:grpSp>
        <p:nvGrpSpPr>
          <p:cNvPr id="211" name="Google Shape;211;p27"/>
          <p:cNvGrpSpPr/>
          <p:nvPr/>
        </p:nvGrpSpPr>
        <p:grpSpPr>
          <a:xfrm>
            <a:off x="6186057" y="2209800"/>
            <a:ext cx="2819400" cy="2819400"/>
            <a:chOff x="3124200" y="2590800"/>
            <a:chExt cx="2819400" cy="2819400"/>
          </a:xfrm>
        </p:grpSpPr>
        <p:cxnSp>
          <p:nvCxnSpPr>
            <p:cNvPr id="212" name="Google Shape;212;p27"/>
            <p:cNvCxnSpPr/>
            <p:nvPr/>
          </p:nvCxnSpPr>
          <p:spPr>
            <a:xfrm>
              <a:off x="3124200" y="2590800"/>
              <a:ext cx="0" cy="2819400"/>
            </a:xfrm>
            <a:prstGeom prst="straightConnector1">
              <a:avLst/>
            </a:prstGeom>
            <a:noFill/>
            <a:ln w="76200" cap="flat" cmpd="sng">
              <a:solidFill>
                <a:srgbClr val="FF0000"/>
              </a:solidFill>
              <a:prstDash val="solid"/>
              <a:round/>
              <a:headEnd type="none" w="sm" len="sm"/>
              <a:tailEnd type="none" w="sm" len="sm"/>
            </a:ln>
          </p:spPr>
        </p:cxnSp>
        <p:cxnSp>
          <p:nvCxnSpPr>
            <p:cNvPr id="213" name="Google Shape;213;p27"/>
            <p:cNvCxnSpPr/>
            <p:nvPr/>
          </p:nvCxnSpPr>
          <p:spPr>
            <a:xfrm>
              <a:off x="5943600" y="2590800"/>
              <a:ext cx="0" cy="2819400"/>
            </a:xfrm>
            <a:prstGeom prst="straightConnector1">
              <a:avLst/>
            </a:prstGeom>
            <a:noFill/>
            <a:ln w="76200" cap="flat" cmpd="sng">
              <a:solidFill>
                <a:srgbClr val="FF0000"/>
              </a:solidFill>
              <a:prstDash val="solid"/>
              <a:round/>
              <a:headEnd type="none" w="sm" len="sm"/>
              <a:tailEnd type="none" w="sm" len="sm"/>
            </a:ln>
          </p:spPr>
        </p:cxnSp>
        <p:cxnSp>
          <p:nvCxnSpPr>
            <p:cNvPr id="214" name="Google Shape;214;p27"/>
            <p:cNvCxnSpPr/>
            <p:nvPr/>
          </p:nvCxnSpPr>
          <p:spPr>
            <a:xfrm>
              <a:off x="3124200" y="5410200"/>
              <a:ext cx="2819400" cy="0"/>
            </a:xfrm>
            <a:prstGeom prst="straightConnector1">
              <a:avLst/>
            </a:prstGeom>
            <a:noFill/>
            <a:ln w="76200" cap="flat" cmpd="sng">
              <a:solidFill>
                <a:srgbClr val="FF0000"/>
              </a:solidFill>
              <a:prstDash val="solid"/>
              <a:round/>
              <a:headEnd type="none" w="sm" len="sm"/>
              <a:tailEnd type="none" w="sm" len="sm"/>
            </a:ln>
          </p:spPr>
        </p:cxnSp>
        <p:cxnSp>
          <p:nvCxnSpPr>
            <p:cNvPr id="215" name="Google Shape;215;p27"/>
            <p:cNvCxnSpPr/>
            <p:nvPr/>
          </p:nvCxnSpPr>
          <p:spPr>
            <a:xfrm rot="10800000">
              <a:off x="4572000" y="2590800"/>
              <a:ext cx="1371600" cy="0"/>
            </a:xfrm>
            <a:prstGeom prst="straightConnector1">
              <a:avLst/>
            </a:prstGeom>
            <a:noFill/>
            <a:ln w="76200" cap="flat" cmpd="sng">
              <a:solidFill>
                <a:srgbClr val="FF0000"/>
              </a:solidFill>
              <a:prstDash val="solid"/>
              <a:round/>
              <a:headEnd type="none" w="sm" len="sm"/>
              <a:tailEnd type="none" w="sm" len="sm"/>
            </a:ln>
          </p:spPr>
        </p:cxnSp>
        <p:cxnSp>
          <p:nvCxnSpPr>
            <p:cNvPr id="216" name="Google Shape;216;p27"/>
            <p:cNvCxnSpPr/>
            <p:nvPr/>
          </p:nvCxnSpPr>
          <p:spPr>
            <a:xfrm rot="10800000">
              <a:off x="4572000" y="2590800"/>
              <a:ext cx="0" cy="1447800"/>
            </a:xfrm>
            <a:prstGeom prst="straightConnector1">
              <a:avLst/>
            </a:prstGeom>
            <a:noFill/>
            <a:ln w="76200" cap="flat" cmpd="sng">
              <a:solidFill>
                <a:srgbClr val="FF0000"/>
              </a:solidFill>
              <a:prstDash val="solid"/>
              <a:round/>
              <a:headEnd type="none" w="sm" len="sm"/>
              <a:tailEnd type="none" w="sm" len="sm"/>
            </a:ln>
          </p:spPr>
        </p:cxnSp>
      </p:grpSp>
      <p:grpSp>
        <p:nvGrpSpPr>
          <p:cNvPr id="217" name="Google Shape;217;p27"/>
          <p:cNvGrpSpPr/>
          <p:nvPr/>
        </p:nvGrpSpPr>
        <p:grpSpPr>
          <a:xfrm>
            <a:off x="6186057" y="2209800"/>
            <a:ext cx="2819400" cy="2819400"/>
            <a:chOff x="3429000" y="2209800"/>
            <a:chExt cx="2819400" cy="2819400"/>
          </a:xfrm>
        </p:grpSpPr>
        <p:cxnSp>
          <p:nvCxnSpPr>
            <p:cNvPr id="218" name="Google Shape;218;p27"/>
            <p:cNvCxnSpPr/>
            <p:nvPr/>
          </p:nvCxnSpPr>
          <p:spPr>
            <a:xfrm>
              <a:off x="3429000" y="2209800"/>
              <a:ext cx="0" cy="2819400"/>
            </a:xfrm>
            <a:prstGeom prst="straightConnector1">
              <a:avLst/>
            </a:prstGeom>
            <a:noFill/>
            <a:ln w="76200" cap="flat" cmpd="sng">
              <a:solidFill>
                <a:srgbClr val="FF0000"/>
              </a:solidFill>
              <a:prstDash val="solid"/>
              <a:round/>
              <a:headEnd type="none" w="sm" len="sm"/>
              <a:tailEnd type="none" w="sm" len="sm"/>
            </a:ln>
          </p:spPr>
        </p:cxnSp>
        <p:cxnSp>
          <p:nvCxnSpPr>
            <p:cNvPr id="219" name="Google Shape;219;p27"/>
            <p:cNvCxnSpPr/>
            <p:nvPr/>
          </p:nvCxnSpPr>
          <p:spPr>
            <a:xfrm>
              <a:off x="6248400" y="2209800"/>
              <a:ext cx="0" cy="2819400"/>
            </a:xfrm>
            <a:prstGeom prst="straightConnector1">
              <a:avLst/>
            </a:prstGeom>
            <a:noFill/>
            <a:ln w="76200" cap="flat" cmpd="sng">
              <a:solidFill>
                <a:srgbClr val="FF0000"/>
              </a:solidFill>
              <a:prstDash val="solid"/>
              <a:round/>
              <a:headEnd type="none" w="sm" len="sm"/>
              <a:tailEnd type="none" w="sm" len="sm"/>
            </a:ln>
          </p:spPr>
        </p:cxnSp>
        <p:cxnSp>
          <p:nvCxnSpPr>
            <p:cNvPr id="220" name="Google Shape;220;p27"/>
            <p:cNvCxnSpPr/>
            <p:nvPr/>
          </p:nvCxnSpPr>
          <p:spPr>
            <a:xfrm>
              <a:off x="3429000" y="5029200"/>
              <a:ext cx="2819400" cy="0"/>
            </a:xfrm>
            <a:prstGeom prst="straightConnector1">
              <a:avLst/>
            </a:prstGeom>
            <a:noFill/>
            <a:ln w="76200" cap="flat" cmpd="sng">
              <a:solidFill>
                <a:srgbClr val="FF0000"/>
              </a:solidFill>
              <a:prstDash val="solid"/>
              <a:round/>
              <a:headEnd type="none" w="sm" len="sm"/>
              <a:tailEnd type="none" w="sm" len="sm"/>
            </a:ln>
          </p:spPr>
        </p:cxnSp>
        <p:cxnSp>
          <p:nvCxnSpPr>
            <p:cNvPr id="221" name="Google Shape;221;p27"/>
            <p:cNvCxnSpPr/>
            <p:nvPr/>
          </p:nvCxnSpPr>
          <p:spPr>
            <a:xfrm rot="10800000">
              <a:off x="3429000" y="2209800"/>
              <a:ext cx="2819400" cy="0"/>
            </a:xfrm>
            <a:prstGeom prst="straightConnector1">
              <a:avLst/>
            </a:prstGeom>
            <a:noFill/>
            <a:ln w="76200" cap="flat" cmpd="sng">
              <a:solidFill>
                <a:srgbClr val="FF0000"/>
              </a:solidFill>
              <a:prstDash val="solid"/>
              <a:round/>
              <a:headEnd type="none" w="sm" len="sm"/>
              <a:tailEnd type="none" w="sm" len="sm"/>
            </a:ln>
          </p:spPr>
        </p:cxnSp>
        <p:cxnSp>
          <p:nvCxnSpPr>
            <p:cNvPr id="222" name="Google Shape;222;p27"/>
            <p:cNvCxnSpPr/>
            <p:nvPr/>
          </p:nvCxnSpPr>
          <p:spPr>
            <a:xfrm rot="10800000" flipH="1">
              <a:off x="4876800" y="2209800"/>
              <a:ext cx="1371600" cy="1447800"/>
            </a:xfrm>
            <a:prstGeom prst="straightConnector1">
              <a:avLst/>
            </a:prstGeom>
            <a:noFill/>
            <a:ln w="76200" cap="flat" cmpd="sng">
              <a:solidFill>
                <a:srgbClr val="FF0000"/>
              </a:solidFill>
              <a:prstDash val="solid"/>
              <a:round/>
              <a:headEnd type="none" w="sm" len="sm"/>
              <a:tailEnd type="none" w="sm" len="sm"/>
            </a:ln>
          </p:spPr>
        </p:cxnSp>
      </p:grpSp>
      <p:grpSp>
        <p:nvGrpSpPr>
          <p:cNvPr id="223" name="Google Shape;223;p27"/>
          <p:cNvGrpSpPr/>
          <p:nvPr/>
        </p:nvGrpSpPr>
        <p:grpSpPr>
          <a:xfrm>
            <a:off x="6186057" y="2209800"/>
            <a:ext cx="2819400" cy="2819400"/>
            <a:chOff x="4191000" y="2590800"/>
            <a:chExt cx="2819400" cy="2819400"/>
          </a:xfrm>
        </p:grpSpPr>
        <p:grpSp>
          <p:nvGrpSpPr>
            <p:cNvPr id="224" name="Google Shape;224;p27"/>
            <p:cNvGrpSpPr/>
            <p:nvPr/>
          </p:nvGrpSpPr>
          <p:grpSpPr>
            <a:xfrm>
              <a:off x="4191000" y="2590800"/>
              <a:ext cx="2819400" cy="2819400"/>
              <a:chOff x="3429000" y="2209800"/>
              <a:chExt cx="2819400" cy="2819400"/>
            </a:xfrm>
          </p:grpSpPr>
          <p:cxnSp>
            <p:nvCxnSpPr>
              <p:cNvPr id="225" name="Google Shape;225;p27"/>
              <p:cNvCxnSpPr/>
              <p:nvPr/>
            </p:nvCxnSpPr>
            <p:spPr>
              <a:xfrm>
                <a:off x="3429000" y="2209800"/>
                <a:ext cx="0" cy="2819400"/>
              </a:xfrm>
              <a:prstGeom prst="straightConnector1">
                <a:avLst/>
              </a:prstGeom>
              <a:noFill/>
              <a:ln w="76200" cap="flat" cmpd="sng">
                <a:solidFill>
                  <a:srgbClr val="FF0000"/>
                </a:solidFill>
                <a:prstDash val="solid"/>
                <a:round/>
                <a:headEnd type="none" w="sm" len="sm"/>
                <a:tailEnd type="none" w="sm" len="sm"/>
              </a:ln>
            </p:spPr>
          </p:cxnSp>
          <p:cxnSp>
            <p:nvCxnSpPr>
              <p:cNvPr id="226" name="Google Shape;226;p27"/>
              <p:cNvCxnSpPr/>
              <p:nvPr/>
            </p:nvCxnSpPr>
            <p:spPr>
              <a:xfrm>
                <a:off x="3429000" y="5029200"/>
                <a:ext cx="2819400" cy="0"/>
              </a:xfrm>
              <a:prstGeom prst="straightConnector1">
                <a:avLst/>
              </a:prstGeom>
              <a:noFill/>
              <a:ln w="76200" cap="flat" cmpd="sng">
                <a:solidFill>
                  <a:srgbClr val="FF0000"/>
                </a:solidFill>
                <a:prstDash val="solid"/>
                <a:round/>
                <a:headEnd type="none" w="sm" len="sm"/>
                <a:tailEnd type="none" w="sm" len="sm"/>
              </a:ln>
            </p:spPr>
          </p:cxnSp>
          <p:cxnSp>
            <p:nvCxnSpPr>
              <p:cNvPr id="227" name="Google Shape;227;p27"/>
              <p:cNvCxnSpPr/>
              <p:nvPr/>
            </p:nvCxnSpPr>
            <p:spPr>
              <a:xfrm rot="10800000">
                <a:off x="3429000" y="2209800"/>
                <a:ext cx="2819400" cy="0"/>
              </a:xfrm>
              <a:prstGeom prst="straightConnector1">
                <a:avLst/>
              </a:prstGeom>
              <a:noFill/>
              <a:ln w="76200" cap="flat" cmpd="sng">
                <a:solidFill>
                  <a:srgbClr val="FF0000"/>
                </a:solidFill>
                <a:prstDash val="solid"/>
                <a:round/>
                <a:headEnd type="none" w="sm" len="sm"/>
                <a:tailEnd type="none" w="sm" len="sm"/>
              </a:ln>
            </p:spPr>
          </p:cxnSp>
        </p:grpSp>
        <p:cxnSp>
          <p:nvCxnSpPr>
            <p:cNvPr id="228" name="Google Shape;228;p27"/>
            <p:cNvCxnSpPr/>
            <p:nvPr/>
          </p:nvCxnSpPr>
          <p:spPr>
            <a:xfrm rot="10800000">
              <a:off x="4191000" y="3962400"/>
              <a:ext cx="2819400" cy="0"/>
            </a:xfrm>
            <a:prstGeom prst="straightConnector1">
              <a:avLst/>
            </a:prstGeom>
            <a:noFill/>
            <a:ln w="76200" cap="flat" cmpd="sng">
              <a:solidFill>
                <a:srgbClr val="FF0000"/>
              </a:solidFill>
              <a:prstDash val="solid"/>
              <a:round/>
              <a:headEnd type="none" w="sm" len="sm"/>
              <a:tailEnd type="none" w="sm" len="sm"/>
            </a:ln>
          </p:spPr>
        </p:cxnSp>
      </p:grpSp>
      <p:sp>
        <p:nvSpPr>
          <p:cNvPr id="2" name="Google Shape;122;p17">
            <a:extLst>
              <a:ext uri="{FF2B5EF4-FFF2-40B4-BE49-F238E27FC236}">
                <a16:creationId xmlns:a16="http://schemas.microsoft.com/office/drawing/2014/main" id="{7A8CC275-61D4-2655-2123-9D839EA12B8D}"/>
              </a:ext>
            </a:extLst>
          </p:cNvPr>
          <p:cNvSpPr txBox="1">
            <a:spLocks/>
          </p:cNvSpPr>
          <p:nvPr/>
        </p:nvSpPr>
        <p:spPr>
          <a:xfrm>
            <a:off x="152400" y="2431472"/>
            <a:ext cx="3089564" cy="178031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spcBef>
                <a:spcPts val="0"/>
              </a:spcBef>
              <a:buClr>
                <a:schemeClr val="dk2"/>
              </a:buClr>
            </a:pPr>
            <a:r>
              <a:rPr lang="en-US" dirty="0">
                <a:solidFill>
                  <a:schemeClr val="bg1"/>
                </a:solidFill>
                <a:latin typeface="+mn-lt"/>
                <a:ea typeface="Arial"/>
                <a:cs typeface="Arial"/>
                <a:sym typeface="Arial"/>
              </a:rPr>
              <a:t>The 9-dot problem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211"/>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2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1"/>
                                          </p:stCondLst>
                                        </p:cTn>
                                        <p:tgtEl>
                                          <p:spTgt spid="217"/>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pic>
        <p:nvPicPr>
          <p:cNvPr id="234" name="Google Shape;234;p28"/>
          <p:cNvPicPr preferRelativeResize="0"/>
          <p:nvPr/>
        </p:nvPicPr>
        <p:blipFill rotWithShape="1">
          <a:blip r:embed="rId3">
            <a:alphaModFix/>
          </a:blip>
          <a:srcRect/>
          <a:stretch/>
        </p:blipFill>
        <p:spPr>
          <a:xfrm>
            <a:off x="5424057" y="1754776"/>
            <a:ext cx="4331831" cy="3981002"/>
          </a:xfrm>
          <a:prstGeom prst="rect">
            <a:avLst/>
          </a:prstGeom>
          <a:noFill/>
          <a:ln>
            <a:noFill/>
          </a:ln>
        </p:spPr>
      </p:pic>
      <p:sp>
        <p:nvSpPr>
          <p:cNvPr id="235" name="Google Shape;235;p28"/>
          <p:cNvSpPr txBox="1">
            <a:spLocks noGrp="1"/>
          </p:cNvSpPr>
          <p:nvPr>
            <p:ph type="body" idx="1"/>
          </p:nvPr>
        </p:nvSpPr>
        <p:spPr>
          <a:xfrm>
            <a:off x="3519056" y="782778"/>
            <a:ext cx="8229600" cy="5334000"/>
          </a:xfrm>
          <a:prstGeom prst="rect">
            <a:avLst/>
          </a:prstGeom>
          <a:noFill/>
          <a:ln>
            <a:noFill/>
          </a:ln>
        </p:spPr>
        <p:txBody>
          <a:bodyPr spcFirstLastPara="1" vert="horz" wrap="square" lIns="91425" tIns="45700" rIns="91425" bIns="45700" rtlCol="0" anchor="t" anchorCtr="0">
            <a:noAutofit/>
          </a:bodyPr>
          <a:lstStyle/>
          <a:p>
            <a:pPr marL="0" indent="0">
              <a:lnSpc>
                <a:spcPct val="100000"/>
              </a:lnSpc>
              <a:spcBef>
                <a:spcPts val="0"/>
              </a:spcBef>
              <a:buNone/>
            </a:pPr>
            <a:r>
              <a:rPr lang="en-US" sz="2400" dirty="0">
                <a:ea typeface="Arial"/>
                <a:cs typeface="Arial"/>
                <a:sym typeface="Arial"/>
              </a:rPr>
              <a:t>Task 2: Connect all 9 dots using 4 straight lines</a:t>
            </a:r>
            <a:endParaRPr sz="2400" dirty="0">
              <a:ea typeface="Arial"/>
              <a:cs typeface="Arial"/>
              <a:sym typeface="Arial"/>
            </a:endParaRPr>
          </a:p>
        </p:txBody>
      </p:sp>
      <p:grpSp>
        <p:nvGrpSpPr>
          <p:cNvPr id="236" name="Google Shape;236;p28"/>
          <p:cNvGrpSpPr/>
          <p:nvPr/>
        </p:nvGrpSpPr>
        <p:grpSpPr>
          <a:xfrm>
            <a:off x="6109856" y="2154378"/>
            <a:ext cx="4267200" cy="4114800"/>
            <a:chOff x="3048000" y="2514600"/>
            <a:chExt cx="4267200" cy="4114800"/>
          </a:xfrm>
        </p:grpSpPr>
        <p:cxnSp>
          <p:nvCxnSpPr>
            <p:cNvPr id="237" name="Google Shape;237;p28"/>
            <p:cNvCxnSpPr/>
            <p:nvPr/>
          </p:nvCxnSpPr>
          <p:spPr>
            <a:xfrm rot="10800000" flipH="1">
              <a:off x="3048000" y="2514600"/>
              <a:ext cx="4267200" cy="4114800"/>
            </a:xfrm>
            <a:prstGeom prst="straightConnector1">
              <a:avLst/>
            </a:prstGeom>
            <a:noFill/>
            <a:ln w="76200" cap="flat" cmpd="sng">
              <a:solidFill>
                <a:srgbClr val="FF0000"/>
              </a:solidFill>
              <a:prstDash val="solid"/>
              <a:round/>
              <a:headEnd type="none" w="sm" len="sm"/>
              <a:tailEnd type="none" w="sm" len="sm"/>
            </a:ln>
          </p:spPr>
        </p:cxnSp>
        <p:cxnSp>
          <p:nvCxnSpPr>
            <p:cNvPr id="238" name="Google Shape;238;p28"/>
            <p:cNvCxnSpPr/>
            <p:nvPr/>
          </p:nvCxnSpPr>
          <p:spPr>
            <a:xfrm>
              <a:off x="3124200" y="2590800"/>
              <a:ext cx="2819400" cy="2819400"/>
            </a:xfrm>
            <a:prstGeom prst="straightConnector1">
              <a:avLst/>
            </a:prstGeom>
            <a:noFill/>
            <a:ln w="76200" cap="flat" cmpd="sng">
              <a:solidFill>
                <a:srgbClr val="FF0000"/>
              </a:solidFill>
              <a:prstDash val="solid"/>
              <a:round/>
              <a:headEnd type="none" w="sm" len="sm"/>
              <a:tailEnd type="none" w="sm" len="sm"/>
            </a:ln>
          </p:spPr>
        </p:cxnSp>
        <p:cxnSp>
          <p:nvCxnSpPr>
            <p:cNvPr id="239" name="Google Shape;239;p28"/>
            <p:cNvCxnSpPr/>
            <p:nvPr/>
          </p:nvCxnSpPr>
          <p:spPr>
            <a:xfrm rot="10800000" flipH="1">
              <a:off x="3124200" y="2514600"/>
              <a:ext cx="4191000" cy="76200"/>
            </a:xfrm>
            <a:prstGeom prst="straightConnector1">
              <a:avLst/>
            </a:prstGeom>
            <a:noFill/>
            <a:ln w="76200" cap="flat" cmpd="sng">
              <a:solidFill>
                <a:srgbClr val="FF0000"/>
              </a:solidFill>
              <a:prstDash val="solid"/>
              <a:round/>
              <a:headEnd type="none" w="sm" len="sm"/>
              <a:tailEnd type="none" w="sm" len="sm"/>
            </a:ln>
          </p:spPr>
        </p:cxnSp>
        <p:cxnSp>
          <p:nvCxnSpPr>
            <p:cNvPr id="240" name="Google Shape;240;p28"/>
            <p:cNvCxnSpPr/>
            <p:nvPr/>
          </p:nvCxnSpPr>
          <p:spPr>
            <a:xfrm rot="10800000" flipH="1">
              <a:off x="3048000" y="2590800"/>
              <a:ext cx="76200" cy="4038600"/>
            </a:xfrm>
            <a:prstGeom prst="straightConnector1">
              <a:avLst/>
            </a:prstGeom>
            <a:noFill/>
            <a:ln w="76200" cap="flat" cmpd="sng">
              <a:solidFill>
                <a:srgbClr val="FF0000"/>
              </a:solidFill>
              <a:prstDash val="solid"/>
              <a:round/>
              <a:headEnd type="none" w="sm" len="sm"/>
              <a:tailEnd type="none" w="sm" len="sm"/>
            </a:ln>
          </p:spPr>
        </p:cxnSp>
      </p:grpSp>
      <p:sp>
        <p:nvSpPr>
          <p:cNvPr id="2" name="Google Shape;122;p17">
            <a:extLst>
              <a:ext uri="{FF2B5EF4-FFF2-40B4-BE49-F238E27FC236}">
                <a16:creationId xmlns:a16="http://schemas.microsoft.com/office/drawing/2014/main" id="{2B1053C3-70E2-6663-1D78-0BEE430CE280}"/>
              </a:ext>
            </a:extLst>
          </p:cNvPr>
          <p:cNvSpPr txBox="1">
            <a:spLocks/>
          </p:cNvSpPr>
          <p:nvPr/>
        </p:nvSpPr>
        <p:spPr>
          <a:xfrm>
            <a:off x="152400" y="2431472"/>
            <a:ext cx="3089564" cy="178031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spcBef>
                <a:spcPts val="0"/>
              </a:spcBef>
              <a:buClr>
                <a:schemeClr val="dk2"/>
              </a:buClr>
            </a:pPr>
            <a:r>
              <a:rPr lang="en-US" dirty="0">
                <a:solidFill>
                  <a:schemeClr val="bg1"/>
                </a:solidFill>
                <a:latin typeface="+mn-lt"/>
                <a:ea typeface="Arial"/>
                <a:cs typeface="Arial"/>
                <a:sym typeface="Arial"/>
              </a:rPr>
              <a:t>The 9-dot problem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6" name="Google Shape;246;p29"/>
          <p:cNvPicPr preferRelativeResize="0"/>
          <p:nvPr/>
        </p:nvPicPr>
        <p:blipFill rotWithShape="1">
          <a:blip r:embed="rId3">
            <a:alphaModFix/>
          </a:blip>
          <a:srcRect/>
          <a:stretch/>
        </p:blipFill>
        <p:spPr>
          <a:xfrm>
            <a:off x="5424062" y="1754778"/>
            <a:ext cx="4331831" cy="3981002"/>
          </a:xfrm>
          <a:prstGeom prst="rect">
            <a:avLst/>
          </a:prstGeom>
          <a:noFill/>
          <a:ln>
            <a:noFill/>
          </a:ln>
        </p:spPr>
      </p:pic>
      <p:sp>
        <p:nvSpPr>
          <p:cNvPr id="247" name="Google Shape;247;p29"/>
          <p:cNvSpPr txBox="1">
            <a:spLocks noGrp="1"/>
          </p:cNvSpPr>
          <p:nvPr>
            <p:ph type="body" idx="1"/>
          </p:nvPr>
        </p:nvSpPr>
        <p:spPr>
          <a:xfrm>
            <a:off x="3519061" y="782780"/>
            <a:ext cx="8229600" cy="5334000"/>
          </a:xfrm>
          <a:prstGeom prst="rect">
            <a:avLst/>
          </a:prstGeom>
          <a:noFill/>
          <a:ln>
            <a:noFill/>
          </a:ln>
        </p:spPr>
        <p:txBody>
          <a:bodyPr spcFirstLastPara="1" vert="horz" wrap="square" lIns="91425" tIns="45700" rIns="91425" bIns="45700" rtlCol="0" anchor="t" anchorCtr="0">
            <a:noAutofit/>
          </a:bodyPr>
          <a:lstStyle/>
          <a:p>
            <a:pPr marL="0" indent="0">
              <a:lnSpc>
                <a:spcPct val="100000"/>
              </a:lnSpc>
              <a:spcBef>
                <a:spcPts val="0"/>
              </a:spcBef>
              <a:buNone/>
            </a:pPr>
            <a:r>
              <a:rPr lang="en-US" sz="2400" dirty="0">
                <a:ea typeface="Arial"/>
                <a:cs typeface="Arial"/>
                <a:sym typeface="Arial"/>
              </a:rPr>
              <a:t>Task 3: Connect all 9 dots using 3 straight lines</a:t>
            </a:r>
            <a:endParaRPr sz="2400" dirty="0">
              <a:ea typeface="Arial"/>
              <a:cs typeface="Arial"/>
              <a:sym typeface="Arial"/>
            </a:endParaRPr>
          </a:p>
        </p:txBody>
      </p:sp>
      <p:grpSp>
        <p:nvGrpSpPr>
          <p:cNvPr id="248" name="Google Shape;248;p29"/>
          <p:cNvGrpSpPr/>
          <p:nvPr/>
        </p:nvGrpSpPr>
        <p:grpSpPr>
          <a:xfrm>
            <a:off x="3442861" y="1697180"/>
            <a:ext cx="8686800" cy="3962400"/>
            <a:chOff x="381000" y="2057400"/>
            <a:chExt cx="8686800" cy="3962400"/>
          </a:xfrm>
        </p:grpSpPr>
        <p:cxnSp>
          <p:nvCxnSpPr>
            <p:cNvPr id="249" name="Google Shape;249;p29"/>
            <p:cNvCxnSpPr/>
            <p:nvPr/>
          </p:nvCxnSpPr>
          <p:spPr>
            <a:xfrm>
              <a:off x="381000" y="2057400"/>
              <a:ext cx="8610600" cy="1295400"/>
            </a:xfrm>
            <a:prstGeom prst="straightConnector1">
              <a:avLst/>
            </a:prstGeom>
            <a:noFill/>
            <a:ln w="76200" cap="flat" cmpd="sng">
              <a:solidFill>
                <a:srgbClr val="FF0000"/>
              </a:solidFill>
              <a:prstDash val="solid"/>
              <a:round/>
              <a:headEnd type="none" w="sm" len="sm"/>
              <a:tailEnd type="none" w="sm" len="sm"/>
            </a:ln>
          </p:spPr>
        </p:cxnSp>
        <p:cxnSp>
          <p:nvCxnSpPr>
            <p:cNvPr id="250" name="Google Shape;250;p29"/>
            <p:cNvCxnSpPr/>
            <p:nvPr/>
          </p:nvCxnSpPr>
          <p:spPr>
            <a:xfrm rot="10800000" flipH="1">
              <a:off x="457200" y="3352800"/>
              <a:ext cx="8534400" cy="1371600"/>
            </a:xfrm>
            <a:prstGeom prst="straightConnector1">
              <a:avLst/>
            </a:prstGeom>
            <a:noFill/>
            <a:ln w="76200" cap="flat" cmpd="sng">
              <a:solidFill>
                <a:srgbClr val="FF0000"/>
              </a:solidFill>
              <a:prstDash val="solid"/>
              <a:round/>
              <a:headEnd type="none" w="sm" len="sm"/>
              <a:tailEnd type="none" w="sm" len="sm"/>
            </a:ln>
          </p:spPr>
        </p:cxnSp>
        <p:cxnSp>
          <p:nvCxnSpPr>
            <p:cNvPr id="251" name="Google Shape;251;p29"/>
            <p:cNvCxnSpPr/>
            <p:nvPr/>
          </p:nvCxnSpPr>
          <p:spPr>
            <a:xfrm>
              <a:off x="457200" y="4724400"/>
              <a:ext cx="8610600" cy="1295400"/>
            </a:xfrm>
            <a:prstGeom prst="straightConnector1">
              <a:avLst/>
            </a:prstGeom>
            <a:noFill/>
            <a:ln w="76200" cap="flat" cmpd="sng">
              <a:solidFill>
                <a:srgbClr val="FF0000"/>
              </a:solidFill>
              <a:prstDash val="solid"/>
              <a:round/>
              <a:headEnd type="none" w="sm" len="sm"/>
              <a:tailEnd type="none" w="sm" len="sm"/>
            </a:ln>
          </p:spPr>
        </p:cxnSp>
      </p:grpSp>
      <p:sp>
        <p:nvSpPr>
          <p:cNvPr id="2" name="Google Shape;122;p17">
            <a:extLst>
              <a:ext uri="{FF2B5EF4-FFF2-40B4-BE49-F238E27FC236}">
                <a16:creationId xmlns:a16="http://schemas.microsoft.com/office/drawing/2014/main" id="{41686F83-6D02-BBAA-818B-5F4B02F2FCCF}"/>
              </a:ext>
            </a:extLst>
          </p:cNvPr>
          <p:cNvSpPr txBox="1">
            <a:spLocks/>
          </p:cNvSpPr>
          <p:nvPr/>
        </p:nvSpPr>
        <p:spPr>
          <a:xfrm>
            <a:off x="152400" y="2431472"/>
            <a:ext cx="3089564" cy="178031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spcBef>
                <a:spcPts val="0"/>
              </a:spcBef>
              <a:buClr>
                <a:schemeClr val="dk2"/>
              </a:buClr>
            </a:pPr>
            <a:r>
              <a:rPr lang="en-US" dirty="0">
                <a:solidFill>
                  <a:schemeClr val="bg1"/>
                </a:solidFill>
                <a:latin typeface="+mn-lt"/>
                <a:ea typeface="Arial"/>
                <a:cs typeface="Arial"/>
                <a:sym typeface="Arial"/>
              </a:rPr>
              <a:t>The 9-dot problem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7" name="Google Shape;257;p30"/>
          <p:cNvPicPr preferRelativeResize="0"/>
          <p:nvPr/>
        </p:nvPicPr>
        <p:blipFill rotWithShape="1">
          <a:blip r:embed="rId3">
            <a:alphaModFix/>
          </a:blip>
          <a:srcRect/>
          <a:stretch/>
        </p:blipFill>
        <p:spPr>
          <a:xfrm>
            <a:off x="5410207" y="1740919"/>
            <a:ext cx="4331831" cy="3981002"/>
          </a:xfrm>
          <a:prstGeom prst="rect">
            <a:avLst/>
          </a:prstGeom>
          <a:noFill/>
          <a:ln>
            <a:noFill/>
          </a:ln>
        </p:spPr>
      </p:pic>
      <p:sp>
        <p:nvSpPr>
          <p:cNvPr id="258" name="Google Shape;258;p30"/>
          <p:cNvSpPr txBox="1">
            <a:spLocks noGrp="1"/>
          </p:cNvSpPr>
          <p:nvPr>
            <p:ph type="body" idx="1"/>
          </p:nvPr>
        </p:nvSpPr>
        <p:spPr>
          <a:xfrm>
            <a:off x="3505206" y="768921"/>
            <a:ext cx="8229600" cy="5334000"/>
          </a:xfrm>
          <a:prstGeom prst="rect">
            <a:avLst/>
          </a:prstGeom>
          <a:noFill/>
          <a:ln>
            <a:noFill/>
          </a:ln>
        </p:spPr>
        <p:txBody>
          <a:bodyPr spcFirstLastPara="1" vert="horz" wrap="square" lIns="91425" tIns="45700" rIns="91425" bIns="45700" rtlCol="0" anchor="t" anchorCtr="0">
            <a:noAutofit/>
          </a:bodyPr>
          <a:lstStyle/>
          <a:p>
            <a:pPr marL="0" indent="0">
              <a:lnSpc>
                <a:spcPct val="100000"/>
              </a:lnSpc>
              <a:spcBef>
                <a:spcPts val="0"/>
              </a:spcBef>
              <a:buNone/>
            </a:pPr>
            <a:r>
              <a:rPr lang="en-US" sz="2400" dirty="0">
                <a:ea typeface="Arial"/>
                <a:cs typeface="Arial"/>
                <a:sym typeface="Arial"/>
              </a:rPr>
              <a:t>Task 4: Connect all 9 dots using 1 straight line</a:t>
            </a:r>
            <a:endParaRPr sz="2400" dirty="0">
              <a:ea typeface="Arial"/>
              <a:cs typeface="Arial"/>
              <a:sym typeface="Arial"/>
            </a:endParaRPr>
          </a:p>
        </p:txBody>
      </p:sp>
      <p:pic>
        <p:nvPicPr>
          <p:cNvPr id="259" name="Google Shape;259;p30"/>
          <p:cNvPicPr preferRelativeResize="0"/>
          <p:nvPr/>
        </p:nvPicPr>
        <p:blipFill rotWithShape="1">
          <a:blip r:embed="rId4">
            <a:alphaModFix/>
          </a:blip>
          <a:srcRect/>
          <a:stretch/>
        </p:blipFill>
        <p:spPr>
          <a:xfrm>
            <a:off x="5029206" y="1378521"/>
            <a:ext cx="5029200" cy="4828032"/>
          </a:xfrm>
          <a:prstGeom prst="rect">
            <a:avLst/>
          </a:prstGeom>
          <a:noFill/>
          <a:ln>
            <a:noFill/>
          </a:ln>
        </p:spPr>
      </p:pic>
      <p:pic>
        <p:nvPicPr>
          <p:cNvPr id="260" name="Google Shape;260;p30"/>
          <p:cNvPicPr preferRelativeResize="0"/>
          <p:nvPr/>
        </p:nvPicPr>
        <p:blipFill rotWithShape="1">
          <a:blip r:embed="rId5">
            <a:alphaModFix/>
          </a:blip>
          <a:srcRect/>
          <a:stretch/>
        </p:blipFill>
        <p:spPr>
          <a:xfrm>
            <a:off x="5826578" y="1302321"/>
            <a:ext cx="3546028" cy="5118100"/>
          </a:xfrm>
          <a:prstGeom prst="rect">
            <a:avLst/>
          </a:prstGeom>
          <a:noFill/>
          <a:ln>
            <a:noFill/>
          </a:ln>
        </p:spPr>
      </p:pic>
      <p:sp>
        <p:nvSpPr>
          <p:cNvPr id="2" name="Google Shape;122;p17">
            <a:extLst>
              <a:ext uri="{FF2B5EF4-FFF2-40B4-BE49-F238E27FC236}">
                <a16:creationId xmlns:a16="http://schemas.microsoft.com/office/drawing/2014/main" id="{8854BD85-D742-DB75-EEF7-CC0382E8E6D6}"/>
              </a:ext>
            </a:extLst>
          </p:cNvPr>
          <p:cNvSpPr txBox="1">
            <a:spLocks/>
          </p:cNvSpPr>
          <p:nvPr/>
        </p:nvSpPr>
        <p:spPr>
          <a:xfrm>
            <a:off x="152400" y="2431472"/>
            <a:ext cx="3089564" cy="178031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spcBef>
                <a:spcPts val="0"/>
              </a:spcBef>
              <a:buClr>
                <a:schemeClr val="dk2"/>
              </a:buClr>
            </a:pPr>
            <a:r>
              <a:rPr lang="en-US" dirty="0">
                <a:solidFill>
                  <a:schemeClr val="bg1"/>
                </a:solidFill>
                <a:latin typeface="+mn-lt"/>
                <a:ea typeface="Arial"/>
                <a:cs typeface="Arial"/>
                <a:sym typeface="Arial"/>
              </a:rPr>
              <a:t>The 9-dot problem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25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6" name="Google Shape;266;p31"/>
          <p:cNvPicPr preferRelativeResize="0"/>
          <p:nvPr/>
        </p:nvPicPr>
        <p:blipFill rotWithShape="1">
          <a:blip r:embed="rId3">
            <a:alphaModFix/>
          </a:blip>
          <a:srcRect/>
          <a:stretch/>
        </p:blipFill>
        <p:spPr>
          <a:xfrm>
            <a:off x="6809514" y="817407"/>
            <a:ext cx="5386453" cy="5184772"/>
          </a:xfrm>
          <a:prstGeom prst="rect">
            <a:avLst/>
          </a:prstGeom>
          <a:noFill/>
          <a:ln>
            <a:noFill/>
          </a:ln>
        </p:spPr>
      </p:pic>
      <p:pic>
        <p:nvPicPr>
          <p:cNvPr id="267" name="Google Shape;267;p31"/>
          <p:cNvPicPr preferRelativeResize="0"/>
          <p:nvPr/>
        </p:nvPicPr>
        <p:blipFill rotWithShape="1">
          <a:blip r:embed="rId4">
            <a:alphaModFix/>
          </a:blip>
          <a:srcRect l="8245" t="1743" r="6688"/>
          <a:stretch/>
        </p:blipFill>
        <p:spPr>
          <a:xfrm>
            <a:off x="6809514" y="817407"/>
            <a:ext cx="5386453" cy="5184772"/>
          </a:xfrm>
          <a:prstGeom prst="ellipse">
            <a:avLst/>
          </a:prstGeom>
          <a:noFill/>
          <a:ln>
            <a:noFill/>
          </a:ln>
        </p:spPr>
      </p:pic>
      <p:pic>
        <p:nvPicPr>
          <p:cNvPr id="268" name="Google Shape;268;p31"/>
          <p:cNvPicPr preferRelativeResize="0">
            <a:picLocks noGrp="1"/>
          </p:cNvPicPr>
          <p:nvPr>
            <p:ph type="body" idx="1"/>
          </p:nvPr>
        </p:nvPicPr>
        <p:blipFill rotWithShape="1">
          <a:blip r:embed="rId5">
            <a:alphaModFix/>
          </a:blip>
          <a:srcRect t="-1171" b="-2109"/>
          <a:stretch/>
        </p:blipFill>
        <p:spPr>
          <a:xfrm>
            <a:off x="3228113" y="1122208"/>
            <a:ext cx="6019800" cy="4087557"/>
          </a:xfrm>
          <a:prstGeom prst="rect">
            <a:avLst/>
          </a:prstGeom>
          <a:noFill/>
          <a:ln>
            <a:noFill/>
          </a:ln>
        </p:spPr>
      </p:pic>
      <p:sp>
        <p:nvSpPr>
          <p:cNvPr id="269" name="Google Shape;269;p31"/>
          <p:cNvSpPr/>
          <p:nvPr/>
        </p:nvSpPr>
        <p:spPr>
          <a:xfrm rot="-10027351">
            <a:off x="5894641" y="2998990"/>
            <a:ext cx="2133600" cy="2971800"/>
          </a:xfrm>
          <a:custGeom>
            <a:avLst/>
            <a:gdLst/>
            <a:ahLst/>
            <a:cxnLst/>
            <a:rect l="l" t="t" r="r" b="b"/>
            <a:pathLst>
              <a:path w="120000" h="120000" extrusionOk="0">
                <a:moveTo>
                  <a:pt x="11412" y="37383"/>
                </a:moveTo>
                <a:lnTo>
                  <a:pt x="11412" y="37383"/>
                </a:lnTo>
                <a:cubicBezTo>
                  <a:pt x="20788" y="15780"/>
                  <a:pt x="42431" y="2786"/>
                  <a:pt x="65192" y="5094"/>
                </a:cubicBezTo>
                <a:cubicBezTo>
                  <a:pt x="87952" y="7402"/>
                  <a:pt x="106751" y="24498"/>
                  <a:pt x="111902" y="47574"/>
                </a:cubicBezTo>
                <a:lnTo>
                  <a:pt x="118563" y="47501"/>
                </a:lnTo>
                <a:lnTo>
                  <a:pt x="105010" y="59503"/>
                </a:lnTo>
                <a:lnTo>
                  <a:pt x="88591" y="47831"/>
                </a:lnTo>
                <a:lnTo>
                  <a:pt x="95255" y="47758"/>
                </a:lnTo>
                <a:lnTo>
                  <a:pt x="95255" y="47758"/>
                </a:lnTo>
                <a:cubicBezTo>
                  <a:pt x="90820" y="30023"/>
                  <a:pt x="77321" y="17562"/>
                  <a:pt x="61647" y="16733"/>
                </a:cubicBezTo>
                <a:cubicBezTo>
                  <a:pt x="45973" y="15905"/>
                  <a:pt x="31581" y="26893"/>
                  <a:pt x="25817" y="44088"/>
                </a:cubicBezTo>
                <a:close/>
              </a:path>
            </a:pathLst>
          </a:custGeom>
          <a:solidFill>
            <a:srgbClr val="FFFF00"/>
          </a:solidFill>
          <a:ln w="9525" cap="flat" cmpd="sng">
            <a:solidFill>
              <a:schemeClr val="accent1"/>
            </a:solidFill>
            <a:prstDash val="solid"/>
            <a:round/>
            <a:headEnd type="none" w="sm" len="sm"/>
            <a:tailEnd type="none" w="sm" len="sm"/>
          </a:ln>
          <a:effectLst>
            <a:outerShdw blurRad="38100" dist="25400" dir="2700000" algn="br" rotWithShape="0">
              <a:srgbClr val="000000">
                <a:alpha val="60000"/>
              </a:srgbClr>
            </a:outerShdw>
          </a:effectLst>
        </p:spPr>
        <p:txBody>
          <a:bodyPr spcFirstLastPara="1" wrap="square" lIns="91425" tIns="45700" rIns="91425" bIns="45700" anchor="ctr" anchorCtr="0">
            <a:noAutofit/>
          </a:bodyPr>
          <a:lstStyle/>
          <a:p>
            <a:pPr algn="ctr"/>
            <a:endParaRPr>
              <a:solidFill>
                <a:schemeClr val="dk1"/>
              </a:solidFill>
              <a:latin typeface="Arial"/>
              <a:ea typeface="Arial"/>
              <a:cs typeface="Arial"/>
              <a:sym typeface="Arial"/>
            </a:endParaRPr>
          </a:p>
        </p:txBody>
      </p:sp>
      <p:sp>
        <p:nvSpPr>
          <p:cNvPr id="2" name="Google Shape;122;p17">
            <a:extLst>
              <a:ext uri="{FF2B5EF4-FFF2-40B4-BE49-F238E27FC236}">
                <a16:creationId xmlns:a16="http://schemas.microsoft.com/office/drawing/2014/main" id="{8395A0B3-1A83-F1DC-AE9E-604BAA3CCC1F}"/>
              </a:ext>
            </a:extLst>
          </p:cNvPr>
          <p:cNvSpPr txBox="1">
            <a:spLocks/>
          </p:cNvSpPr>
          <p:nvPr/>
        </p:nvSpPr>
        <p:spPr>
          <a:xfrm>
            <a:off x="152400" y="2431472"/>
            <a:ext cx="3089564" cy="178031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spcBef>
                <a:spcPts val="0"/>
              </a:spcBef>
              <a:buClr>
                <a:schemeClr val="dk2"/>
              </a:buClr>
            </a:pPr>
            <a:r>
              <a:rPr lang="en-US" dirty="0">
                <a:solidFill>
                  <a:schemeClr val="bg1"/>
                </a:solidFill>
                <a:latin typeface="+mn-lt"/>
                <a:ea typeface="Arial"/>
                <a:cs typeface="Arial"/>
                <a:sym typeface="Arial"/>
              </a:rPr>
              <a:t>Mental Models: a Sketch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67"/>
                                        </p:tgtEl>
                                        <p:attrNameLst>
                                          <p:attrName>style.visibility</p:attrName>
                                        </p:attrNameLst>
                                      </p:cBhvr>
                                      <p:to>
                                        <p:strVal val="visible"/>
                                      </p:to>
                                    </p:set>
                                    <p:animEffect transition="in" filter="fade">
                                      <p:cBhvr>
                                        <p:cTn id="11" dur="500"/>
                                        <p:tgtEl>
                                          <p:spTgt spid="26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p32"/>
          <p:cNvPicPr preferRelativeResize="0"/>
          <p:nvPr/>
        </p:nvPicPr>
        <p:blipFill rotWithShape="1">
          <a:blip r:embed="rId3">
            <a:alphaModFix/>
          </a:blip>
          <a:srcRect/>
          <a:stretch/>
        </p:blipFill>
        <p:spPr>
          <a:xfrm>
            <a:off x="4044664" y="4298963"/>
            <a:ext cx="6457950" cy="1425908"/>
          </a:xfrm>
          <a:prstGeom prst="rect">
            <a:avLst/>
          </a:prstGeom>
          <a:noFill/>
          <a:ln>
            <a:noFill/>
          </a:ln>
        </p:spPr>
      </p:pic>
      <p:sp>
        <p:nvSpPr>
          <p:cNvPr id="275" name="Google Shape;275;p32"/>
          <p:cNvSpPr txBox="1">
            <a:spLocks noGrp="1"/>
          </p:cNvSpPr>
          <p:nvPr>
            <p:ph type="title"/>
          </p:nvPr>
        </p:nvSpPr>
        <p:spPr>
          <a:xfrm>
            <a:off x="3519058" y="228600"/>
            <a:ext cx="8229600" cy="990600"/>
          </a:xfrm>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pPr>
            <a:r>
              <a:rPr lang="en-US" sz="3200" dirty="0">
                <a:solidFill>
                  <a:schemeClr val="dk2"/>
                </a:solidFill>
                <a:latin typeface="+mn-lt"/>
                <a:ea typeface="Arial"/>
                <a:cs typeface="Arial"/>
                <a:sym typeface="Arial"/>
              </a:rPr>
              <a:t>1. We tend to see what we expect to see</a:t>
            </a:r>
            <a:endParaRPr dirty="0">
              <a:latin typeface="+mn-lt"/>
            </a:endParaRPr>
          </a:p>
        </p:txBody>
      </p:sp>
      <p:sp>
        <p:nvSpPr>
          <p:cNvPr id="276" name="Google Shape;276;p32"/>
          <p:cNvSpPr txBox="1">
            <a:spLocks noGrp="1"/>
          </p:cNvSpPr>
          <p:nvPr>
            <p:ph type="body" idx="1"/>
          </p:nvPr>
        </p:nvSpPr>
        <p:spPr>
          <a:xfrm>
            <a:off x="3519058" y="1600200"/>
            <a:ext cx="8229600" cy="4876800"/>
          </a:xfrm>
          <a:prstGeom prst="rect">
            <a:avLst/>
          </a:prstGeom>
          <a:noFill/>
          <a:ln>
            <a:noFill/>
          </a:ln>
        </p:spPr>
        <p:txBody>
          <a:bodyPr spcFirstLastPara="1" vert="horz" wrap="square" lIns="91425" tIns="45700" rIns="91425" bIns="45700" rtlCol="0" anchor="t" anchorCtr="0">
            <a:noAutofit/>
          </a:bodyPr>
          <a:lstStyle/>
          <a:p>
            <a:pPr marL="468630" indent="-354330">
              <a:lnSpc>
                <a:spcPct val="100000"/>
              </a:lnSpc>
              <a:spcBef>
                <a:spcPts val="0"/>
              </a:spcBef>
              <a:buSzPts val="2040"/>
              <a:buFont typeface="Arial"/>
              <a:buChar char="•"/>
            </a:pPr>
            <a:r>
              <a:rPr lang="en-US" sz="2400" dirty="0">
                <a:ea typeface="Arial"/>
                <a:cs typeface="Arial"/>
                <a:sym typeface="Arial"/>
              </a:rPr>
              <a:t>Mental models are built from prior experience</a:t>
            </a:r>
            <a:endParaRPr sz="2400" dirty="0">
              <a:ea typeface="Arial"/>
              <a:cs typeface="Arial"/>
              <a:sym typeface="Arial"/>
            </a:endParaRPr>
          </a:p>
          <a:p>
            <a:pPr marL="468630" indent="-354330">
              <a:lnSpc>
                <a:spcPct val="100000"/>
              </a:lnSpc>
              <a:buSzPts val="2040"/>
              <a:buFont typeface="Arial"/>
              <a:buChar char="•"/>
            </a:pPr>
            <a:r>
              <a:rPr lang="en-US" sz="2400" dirty="0">
                <a:ea typeface="Arial"/>
                <a:cs typeface="Arial"/>
                <a:sym typeface="Arial"/>
              </a:rPr>
              <a:t>We expect new input to “fit” the existing model</a:t>
            </a:r>
            <a:endParaRPr sz="2400" dirty="0"/>
          </a:p>
          <a:p>
            <a:pPr marL="468630" indent="-354330">
              <a:lnSpc>
                <a:spcPct val="100000"/>
              </a:lnSpc>
              <a:buSzPts val="2040"/>
              <a:buFont typeface="Arial"/>
              <a:buChar char="•"/>
            </a:pPr>
            <a:r>
              <a:rPr lang="en-US" sz="2400" dirty="0">
                <a:ea typeface="Arial"/>
                <a:cs typeface="Arial"/>
                <a:sym typeface="Arial"/>
              </a:rPr>
              <a:t>Updates are </a:t>
            </a:r>
            <a:r>
              <a:rPr lang="en-US" sz="2400" b="1" dirty="0">
                <a:ea typeface="Arial"/>
                <a:cs typeface="Arial"/>
                <a:sym typeface="Arial"/>
              </a:rPr>
              <a:t>expensive</a:t>
            </a:r>
            <a:r>
              <a:rPr lang="en-US" sz="2400" dirty="0">
                <a:ea typeface="Arial"/>
                <a:cs typeface="Arial"/>
                <a:sym typeface="Arial"/>
              </a:rPr>
              <a:t>: given input that almost fits, we’ll distort information to avoid re-fitting the model</a:t>
            </a:r>
            <a:endParaRPr sz="2400" b="1" dirty="0">
              <a:ea typeface="Arial"/>
              <a:cs typeface="Arial"/>
              <a:sym typeface="Arial"/>
            </a:endParaRPr>
          </a:p>
          <a:p>
            <a:pPr marL="468630" indent="-354330">
              <a:lnSpc>
                <a:spcPct val="100000"/>
              </a:lnSpc>
              <a:buSzPts val="2040"/>
              <a:buFont typeface="Arial"/>
              <a:buChar char="•"/>
            </a:pPr>
            <a:r>
              <a:rPr lang="en-US" sz="2400" b="1" dirty="0">
                <a:ea typeface="Arial"/>
                <a:cs typeface="Arial"/>
                <a:sym typeface="Arial"/>
              </a:rPr>
              <a:t>Expectation</a:t>
            </a:r>
            <a:r>
              <a:rPr lang="en-US" sz="2400" dirty="0">
                <a:ea typeface="Arial"/>
                <a:cs typeface="Arial"/>
                <a:sym typeface="Arial"/>
              </a:rPr>
              <a:t> is at least as strong as perception</a:t>
            </a:r>
            <a:endParaRPr sz="2400" dirty="0">
              <a:ea typeface="Arial"/>
              <a:cs typeface="Arial"/>
              <a:sym typeface="Arial"/>
            </a:endParaRPr>
          </a:p>
          <a:p>
            <a:pPr marL="0" indent="0">
              <a:lnSpc>
                <a:spcPct val="100000"/>
              </a:lnSpc>
              <a:buNone/>
            </a:pPr>
            <a:endParaRPr sz="2400" dirty="0">
              <a:ea typeface="Arial"/>
              <a:cs typeface="Arial"/>
              <a:sym typeface="Arial"/>
            </a:endParaRPr>
          </a:p>
        </p:txBody>
      </p:sp>
      <p:grpSp>
        <p:nvGrpSpPr>
          <p:cNvPr id="277" name="Google Shape;277;p32"/>
          <p:cNvGrpSpPr/>
          <p:nvPr/>
        </p:nvGrpSpPr>
        <p:grpSpPr>
          <a:xfrm>
            <a:off x="4759039" y="5340930"/>
            <a:ext cx="4191000" cy="76200"/>
            <a:chOff x="2057400" y="4038600"/>
            <a:chExt cx="4191000" cy="76200"/>
          </a:xfrm>
        </p:grpSpPr>
        <p:cxnSp>
          <p:nvCxnSpPr>
            <p:cNvPr id="278" name="Google Shape;278;p32"/>
            <p:cNvCxnSpPr/>
            <p:nvPr/>
          </p:nvCxnSpPr>
          <p:spPr>
            <a:xfrm rot="10800000" flipH="1">
              <a:off x="2057400" y="4038600"/>
              <a:ext cx="533400" cy="76200"/>
            </a:xfrm>
            <a:prstGeom prst="straightConnector1">
              <a:avLst/>
            </a:prstGeom>
            <a:noFill/>
            <a:ln w="57150" cap="flat" cmpd="sng">
              <a:solidFill>
                <a:schemeClr val="dk2"/>
              </a:solidFill>
              <a:prstDash val="solid"/>
              <a:round/>
              <a:headEnd type="none" w="sm" len="sm"/>
              <a:tailEnd type="none" w="sm" len="sm"/>
            </a:ln>
          </p:spPr>
        </p:cxnSp>
        <p:cxnSp>
          <p:nvCxnSpPr>
            <p:cNvPr id="279" name="Google Shape;279;p32"/>
            <p:cNvCxnSpPr/>
            <p:nvPr/>
          </p:nvCxnSpPr>
          <p:spPr>
            <a:xfrm rot="10800000" flipH="1">
              <a:off x="3886200" y="4038600"/>
              <a:ext cx="228600" cy="76200"/>
            </a:xfrm>
            <a:prstGeom prst="straightConnector1">
              <a:avLst/>
            </a:prstGeom>
            <a:noFill/>
            <a:ln w="57150" cap="flat" cmpd="sng">
              <a:solidFill>
                <a:schemeClr val="dk2"/>
              </a:solidFill>
              <a:prstDash val="solid"/>
              <a:round/>
              <a:headEnd type="none" w="sm" len="sm"/>
              <a:tailEnd type="none" w="sm" len="sm"/>
            </a:ln>
          </p:spPr>
        </p:cxnSp>
        <p:cxnSp>
          <p:nvCxnSpPr>
            <p:cNvPr id="280" name="Google Shape;280;p32"/>
            <p:cNvCxnSpPr/>
            <p:nvPr/>
          </p:nvCxnSpPr>
          <p:spPr>
            <a:xfrm rot="10800000" flipH="1">
              <a:off x="5715000" y="4038600"/>
              <a:ext cx="533400" cy="76200"/>
            </a:xfrm>
            <a:prstGeom prst="straightConnector1">
              <a:avLst/>
            </a:prstGeom>
            <a:noFill/>
            <a:ln w="57150" cap="flat" cmpd="sng">
              <a:solidFill>
                <a:schemeClr val="dk2"/>
              </a:solidFill>
              <a:prstDash val="solid"/>
              <a:round/>
              <a:headEnd type="none" w="sm" len="sm"/>
              <a:tailEnd type="none" w="sm" len="sm"/>
            </a:ln>
          </p:spPr>
        </p:cxnSp>
      </p:grpSp>
      <p:sp>
        <p:nvSpPr>
          <p:cNvPr id="2" name="Google Shape;122;p17">
            <a:extLst>
              <a:ext uri="{FF2B5EF4-FFF2-40B4-BE49-F238E27FC236}">
                <a16:creationId xmlns:a16="http://schemas.microsoft.com/office/drawing/2014/main" id="{4E94598F-3EC1-6A28-B5A6-D4D3E0727D38}"/>
              </a:ext>
            </a:extLst>
          </p:cNvPr>
          <p:cNvSpPr txBox="1">
            <a:spLocks/>
          </p:cNvSpPr>
          <p:nvPr/>
        </p:nvSpPr>
        <p:spPr>
          <a:xfrm>
            <a:off x="152400" y="2431472"/>
            <a:ext cx="3089564" cy="178031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spcBef>
                <a:spcPts val="0"/>
              </a:spcBef>
              <a:buClr>
                <a:schemeClr val="dk2"/>
              </a:buClr>
            </a:pPr>
            <a:r>
              <a:rPr lang="en-US" dirty="0">
                <a:solidFill>
                  <a:schemeClr val="bg1"/>
                </a:solidFill>
                <a:latin typeface="+mn-lt"/>
                <a:ea typeface="Arial"/>
                <a:cs typeface="Arial"/>
                <a:sym typeface="Arial"/>
              </a:rPr>
              <a:t>Mental Models</a:t>
            </a:r>
          </a:p>
        </p:txBody>
      </p:sp>
      <p:sp>
        <p:nvSpPr>
          <p:cNvPr id="4" name="TextBox 3">
            <a:extLst>
              <a:ext uri="{FF2B5EF4-FFF2-40B4-BE49-F238E27FC236}">
                <a16:creationId xmlns:a16="http://schemas.microsoft.com/office/drawing/2014/main" id="{0A2DD8F9-4164-A1E1-B6EF-75F128F27391}"/>
              </a:ext>
            </a:extLst>
          </p:cNvPr>
          <p:cNvSpPr txBox="1"/>
          <p:nvPr/>
        </p:nvSpPr>
        <p:spPr>
          <a:xfrm>
            <a:off x="6914535" y="6524464"/>
            <a:ext cx="6120580" cy="242374"/>
          </a:xfrm>
          <a:prstGeom prst="rect">
            <a:avLst/>
          </a:prstGeom>
          <a:noFill/>
        </p:spPr>
        <p:txBody>
          <a:bodyPr wrap="square">
            <a:spAutoFit/>
          </a:bodyPr>
          <a:lstStyle/>
          <a:p>
            <a:r>
              <a:rPr lang="en-US" sz="975" b="0" i="0" dirty="0">
                <a:solidFill>
                  <a:srgbClr val="222222"/>
                </a:solidFill>
                <a:effectLst/>
                <a:latin typeface="Arial" panose="020B0604020202020204" pitchFamily="34" charset="0"/>
              </a:rPr>
              <a:t>Heuer, R. J. (1999). </a:t>
            </a:r>
            <a:r>
              <a:rPr lang="en-US" sz="975" b="0" i="1" dirty="0">
                <a:solidFill>
                  <a:srgbClr val="222222"/>
                </a:solidFill>
                <a:effectLst/>
                <a:latin typeface="Arial" panose="020B0604020202020204" pitchFamily="34" charset="0"/>
              </a:rPr>
              <a:t>Psychology of intelligence analysis</a:t>
            </a:r>
            <a:r>
              <a:rPr lang="en-US" sz="975" b="0" i="0" dirty="0">
                <a:solidFill>
                  <a:srgbClr val="222222"/>
                </a:solidFill>
                <a:effectLst/>
                <a:latin typeface="Arial" panose="020B0604020202020204" pitchFamily="34" charset="0"/>
              </a:rPr>
              <a:t>. Center for the Study of Intelligence.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pic>
        <p:nvPicPr>
          <p:cNvPr id="285" name="Google Shape;285;p33"/>
          <p:cNvPicPr preferRelativeResize="0"/>
          <p:nvPr/>
        </p:nvPicPr>
        <p:blipFill rotWithShape="1">
          <a:blip r:embed="rId3">
            <a:alphaModFix/>
          </a:blip>
          <a:srcRect l="73603" t="18102" r="4038" b="52216"/>
          <a:stretch>
            <a:fillRect/>
          </a:stretch>
        </p:blipFill>
        <p:spPr>
          <a:xfrm>
            <a:off x="6721435" y="4366123"/>
            <a:ext cx="1742702" cy="2041567"/>
          </a:xfrm>
          <a:prstGeom prst="rect">
            <a:avLst/>
          </a:prstGeom>
          <a:noFill/>
          <a:ln>
            <a:noFill/>
          </a:ln>
        </p:spPr>
      </p:pic>
      <p:sp>
        <p:nvSpPr>
          <p:cNvPr id="286" name="Google Shape;286;p33"/>
          <p:cNvSpPr txBox="1">
            <a:spLocks noGrp="1"/>
          </p:cNvSpPr>
          <p:nvPr>
            <p:ph type="title"/>
          </p:nvPr>
        </p:nvSpPr>
        <p:spPr>
          <a:xfrm>
            <a:off x="3546766" y="256310"/>
            <a:ext cx="8229600" cy="990600"/>
          </a:xfrm>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pPr>
            <a:r>
              <a:rPr lang="en-US" sz="3240" dirty="0">
                <a:solidFill>
                  <a:schemeClr val="tx1">
                    <a:lumMod val="75000"/>
                    <a:lumOff val="25000"/>
                  </a:schemeClr>
                </a:solidFill>
                <a:latin typeface="+mn-lt"/>
                <a:ea typeface="Arial"/>
                <a:cs typeface="Arial"/>
                <a:sym typeface="Arial"/>
              </a:rPr>
              <a:t>2. Mental models form quickly, &amp; update slowly</a:t>
            </a:r>
            <a:endParaRPr sz="3240" dirty="0">
              <a:solidFill>
                <a:schemeClr val="tx1">
                  <a:lumMod val="75000"/>
                  <a:lumOff val="25000"/>
                </a:schemeClr>
              </a:solidFill>
              <a:latin typeface="+mn-lt"/>
              <a:ea typeface="Arial"/>
              <a:cs typeface="Arial"/>
              <a:sym typeface="Arial"/>
            </a:endParaRPr>
          </a:p>
        </p:txBody>
      </p:sp>
      <p:sp>
        <p:nvSpPr>
          <p:cNvPr id="2" name="Google Shape;122;p17">
            <a:extLst>
              <a:ext uri="{FF2B5EF4-FFF2-40B4-BE49-F238E27FC236}">
                <a16:creationId xmlns:a16="http://schemas.microsoft.com/office/drawing/2014/main" id="{BF90FFA3-D3B1-DE8C-A0CD-789099D15108}"/>
              </a:ext>
            </a:extLst>
          </p:cNvPr>
          <p:cNvSpPr txBox="1">
            <a:spLocks/>
          </p:cNvSpPr>
          <p:nvPr/>
        </p:nvSpPr>
        <p:spPr>
          <a:xfrm>
            <a:off x="152400" y="2431472"/>
            <a:ext cx="3089564" cy="178031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spcBef>
                <a:spcPts val="0"/>
              </a:spcBef>
              <a:buClr>
                <a:schemeClr val="dk2"/>
              </a:buClr>
            </a:pPr>
            <a:r>
              <a:rPr lang="en-US" dirty="0">
                <a:solidFill>
                  <a:schemeClr val="bg1"/>
                </a:solidFill>
                <a:latin typeface="+mn-lt"/>
                <a:ea typeface="Arial"/>
                <a:cs typeface="Arial"/>
                <a:sym typeface="Arial"/>
              </a:rPr>
              <a:t>Mental Models</a:t>
            </a:r>
          </a:p>
        </p:txBody>
      </p:sp>
      <p:sp>
        <p:nvSpPr>
          <p:cNvPr id="3" name="TextBox 2">
            <a:extLst>
              <a:ext uri="{FF2B5EF4-FFF2-40B4-BE49-F238E27FC236}">
                <a16:creationId xmlns:a16="http://schemas.microsoft.com/office/drawing/2014/main" id="{FDBF7C72-C616-D18B-1405-B688591EF08F}"/>
              </a:ext>
            </a:extLst>
          </p:cNvPr>
          <p:cNvSpPr txBox="1"/>
          <p:nvPr/>
        </p:nvSpPr>
        <p:spPr>
          <a:xfrm>
            <a:off x="6914535" y="6524464"/>
            <a:ext cx="6120580" cy="242374"/>
          </a:xfrm>
          <a:prstGeom prst="rect">
            <a:avLst/>
          </a:prstGeom>
          <a:noFill/>
        </p:spPr>
        <p:txBody>
          <a:bodyPr wrap="square">
            <a:spAutoFit/>
          </a:bodyPr>
          <a:lstStyle/>
          <a:p>
            <a:r>
              <a:rPr lang="en-US" sz="975" b="0" i="0" dirty="0">
                <a:solidFill>
                  <a:srgbClr val="222222"/>
                </a:solidFill>
                <a:effectLst/>
                <a:latin typeface="Arial" panose="020B0604020202020204" pitchFamily="34" charset="0"/>
              </a:rPr>
              <a:t>Heuer, R. J. (1999). </a:t>
            </a:r>
            <a:r>
              <a:rPr lang="en-US" sz="975" b="0" i="1" dirty="0">
                <a:solidFill>
                  <a:srgbClr val="222222"/>
                </a:solidFill>
                <a:effectLst/>
                <a:latin typeface="Arial" panose="020B0604020202020204" pitchFamily="34" charset="0"/>
              </a:rPr>
              <a:t>Psychology of intelligence analysis</a:t>
            </a:r>
            <a:r>
              <a:rPr lang="en-US" sz="975" b="0" i="0" dirty="0">
                <a:solidFill>
                  <a:srgbClr val="222222"/>
                </a:solidFill>
                <a:effectLst/>
                <a:latin typeface="Arial" panose="020B0604020202020204" pitchFamily="34" charset="0"/>
              </a:rPr>
              <a:t>. Center for the Study of Intelligence.</a:t>
            </a:r>
            <a:endParaRPr lang="en-US" dirty="0"/>
          </a:p>
        </p:txBody>
      </p:sp>
      <p:pic>
        <p:nvPicPr>
          <p:cNvPr id="6" name="Google Shape;285;p33">
            <a:extLst>
              <a:ext uri="{FF2B5EF4-FFF2-40B4-BE49-F238E27FC236}">
                <a16:creationId xmlns:a16="http://schemas.microsoft.com/office/drawing/2014/main" id="{3FDBE3E1-2A14-BAB0-73FE-C76A4F903641}"/>
              </a:ext>
            </a:extLst>
          </p:cNvPr>
          <p:cNvPicPr preferRelativeResize="0"/>
          <p:nvPr/>
        </p:nvPicPr>
        <p:blipFill rotWithShape="1">
          <a:blip r:embed="rId3">
            <a:alphaModFix/>
          </a:blip>
          <a:srcRect l="72918" t="48646" r="6260" b="18277"/>
          <a:stretch>
            <a:fillRect/>
          </a:stretch>
        </p:blipFill>
        <p:spPr>
          <a:xfrm>
            <a:off x="9622972" y="4249350"/>
            <a:ext cx="1622959" cy="2275114"/>
          </a:xfrm>
          <a:prstGeom prst="rect">
            <a:avLst/>
          </a:prstGeom>
          <a:noFill/>
          <a:ln>
            <a:noFill/>
          </a:ln>
        </p:spPr>
      </p:pic>
      <p:pic>
        <p:nvPicPr>
          <p:cNvPr id="7" name="Google Shape;285;p33">
            <a:extLst>
              <a:ext uri="{FF2B5EF4-FFF2-40B4-BE49-F238E27FC236}">
                <a16:creationId xmlns:a16="http://schemas.microsoft.com/office/drawing/2014/main" id="{E8F515BA-98FD-7637-D37C-7BB0F31E248C}"/>
              </a:ext>
            </a:extLst>
          </p:cNvPr>
          <p:cNvPicPr preferRelativeResize="0"/>
          <p:nvPr/>
        </p:nvPicPr>
        <p:blipFill rotWithShape="1">
          <a:blip r:embed="rId3">
            <a:alphaModFix/>
          </a:blip>
          <a:srcRect l="3365" t="18695" r="75813" b="50502"/>
          <a:stretch>
            <a:fillRect/>
          </a:stretch>
        </p:blipFill>
        <p:spPr>
          <a:xfrm>
            <a:off x="3939641" y="4327529"/>
            <a:ext cx="1622959" cy="2118757"/>
          </a:xfrm>
          <a:prstGeom prst="rect">
            <a:avLst/>
          </a:prstGeom>
          <a:noFill/>
          <a:ln>
            <a:noFill/>
          </a:ln>
        </p:spPr>
      </p:pic>
      <p:sp>
        <p:nvSpPr>
          <p:cNvPr id="8" name="Google Shape;287;p33">
            <a:extLst>
              <a:ext uri="{FF2B5EF4-FFF2-40B4-BE49-F238E27FC236}">
                <a16:creationId xmlns:a16="http://schemas.microsoft.com/office/drawing/2014/main" id="{C7D78D12-DB33-3834-BD8D-AF607A627DFE}"/>
              </a:ext>
            </a:extLst>
          </p:cNvPr>
          <p:cNvSpPr txBox="1">
            <a:spLocks/>
          </p:cNvSpPr>
          <p:nvPr/>
        </p:nvSpPr>
        <p:spPr>
          <a:xfrm>
            <a:off x="3546766" y="1627910"/>
            <a:ext cx="8229600" cy="2621439"/>
          </a:xfrm>
          <a:prstGeom prst="rect">
            <a:avLst/>
          </a:prstGeom>
          <a:noFill/>
          <a:ln>
            <a:noFill/>
          </a:ln>
        </p:spPr>
        <p:txBody>
          <a:bodyPr spcFirstLastPara="1" vert="horz" wrap="square" lIns="91425" tIns="45700" rIns="91425" bIns="45700" rtlCol="0" anchor="t" anchorCtr="0">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a:lstStyle>
          <a:p>
            <a:pPr marL="468630" indent="-354330">
              <a:lnSpc>
                <a:spcPct val="100000"/>
              </a:lnSpc>
              <a:spcBef>
                <a:spcPts val="0"/>
              </a:spcBef>
              <a:buSzPts val="2040"/>
              <a:buFont typeface="Arial"/>
              <a:buChar char="•"/>
            </a:pPr>
            <a:r>
              <a:rPr lang="en-US" sz="2400" dirty="0">
                <a:ea typeface="Arial"/>
                <a:cs typeface="Arial"/>
                <a:sym typeface="Arial"/>
              </a:rPr>
              <a:t>“First impressions matter”</a:t>
            </a:r>
            <a:endParaRPr lang="en-US" sz="2400" dirty="0"/>
          </a:p>
          <a:p>
            <a:pPr marL="468630" indent="-354330">
              <a:lnSpc>
                <a:spcPct val="100000"/>
              </a:lnSpc>
              <a:buSzPts val="2040"/>
              <a:buFont typeface="Arial"/>
              <a:buChar char="•"/>
            </a:pPr>
            <a:r>
              <a:rPr lang="en-US" sz="2400" dirty="0">
                <a:ea typeface="Arial"/>
                <a:cs typeface="Arial"/>
                <a:sym typeface="Arial"/>
              </a:rPr>
              <a:t>Early information can have the highest impact</a:t>
            </a:r>
          </a:p>
          <a:p>
            <a:pPr marL="468630" indent="-354330">
              <a:lnSpc>
                <a:spcPct val="100000"/>
              </a:lnSpc>
              <a:buSzPts val="2040"/>
              <a:buFont typeface="Arial"/>
              <a:buChar char="•"/>
            </a:pPr>
            <a:r>
              <a:rPr lang="en-US" sz="2400" dirty="0">
                <a:ea typeface="Arial"/>
                <a:cs typeface="Arial"/>
                <a:sym typeface="Arial"/>
              </a:rPr>
              <a:t>The order in which we present pieces of information can shape how a person understands the whole</a:t>
            </a:r>
          </a:p>
          <a:p>
            <a:pPr marL="468630" indent="-354330">
              <a:lnSpc>
                <a:spcPct val="100000"/>
              </a:lnSpc>
              <a:buSzPts val="2040"/>
              <a:buFont typeface="Arial"/>
              <a:buChar char="•"/>
            </a:pPr>
            <a:r>
              <a:rPr lang="en-US" sz="2400" dirty="0">
                <a:ea typeface="Arial"/>
                <a:cs typeface="Arial"/>
                <a:sym typeface="Arial"/>
              </a:rPr>
              <a:t>Once a mental model is formed, it takes effort to alter it</a:t>
            </a:r>
            <a:endParaRPr lang="en-US" sz="2400" dirty="0"/>
          </a:p>
          <a:p>
            <a:pPr marL="0" indent="0">
              <a:lnSpc>
                <a:spcPct val="100000"/>
              </a:lnSpc>
              <a:buFont typeface="Wingdings 2" pitchFamily="18" charset="2"/>
              <a:buNone/>
            </a:pPr>
            <a:endParaRPr lang="en-US" sz="2400" dirty="0">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34"/>
          <p:cNvPicPr preferRelativeResize="0"/>
          <p:nvPr/>
        </p:nvPicPr>
        <p:blipFill rotWithShape="1">
          <a:blip r:embed="rId3">
            <a:alphaModFix/>
          </a:blip>
          <a:srcRect t="5367" b="11835"/>
          <a:stretch/>
        </p:blipFill>
        <p:spPr>
          <a:xfrm>
            <a:off x="7153275" y="1683329"/>
            <a:ext cx="4886325" cy="4266581"/>
          </a:xfrm>
          <a:prstGeom prst="rect">
            <a:avLst/>
          </a:prstGeom>
          <a:noFill/>
          <a:ln>
            <a:noFill/>
          </a:ln>
        </p:spPr>
      </p:pic>
      <p:grpSp>
        <p:nvGrpSpPr>
          <p:cNvPr id="293" name="Google Shape;293;p34"/>
          <p:cNvGrpSpPr/>
          <p:nvPr/>
        </p:nvGrpSpPr>
        <p:grpSpPr>
          <a:xfrm>
            <a:off x="5805061" y="2427304"/>
            <a:ext cx="914400" cy="1283068"/>
            <a:chOff x="2743200" y="2057400"/>
            <a:chExt cx="914400" cy="1283068"/>
          </a:xfrm>
        </p:grpSpPr>
        <p:sp>
          <p:nvSpPr>
            <p:cNvPr id="294" name="Google Shape;294;p34"/>
            <p:cNvSpPr/>
            <p:nvPr/>
          </p:nvSpPr>
          <p:spPr>
            <a:xfrm>
              <a:off x="2743200" y="2057400"/>
              <a:ext cx="914400" cy="457200"/>
            </a:xfrm>
            <a:prstGeom prst="rect">
              <a:avLst/>
            </a:prstGeom>
            <a:solidFill>
              <a:schemeClr val="lt1"/>
            </a:solidFill>
            <a:ln>
              <a:noFill/>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sp>
          <p:nvSpPr>
            <p:cNvPr id="295" name="Google Shape;295;p34"/>
            <p:cNvSpPr/>
            <p:nvPr/>
          </p:nvSpPr>
          <p:spPr>
            <a:xfrm>
              <a:off x="2743200" y="2438400"/>
              <a:ext cx="457200" cy="457200"/>
            </a:xfrm>
            <a:prstGeom prst="rect">
              <a:avLst/>
            </a:prstGeom>
            <a:solidFill>
              <a:schemeClr val="lt1"/>
            </a:solidFill>
            <a:ln>
              <a:noFill/>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sp>
          <p:nvSpPr>
            <p:cNvPr id="296" name="Google Shape;296;p34"/>
            <p:cNvSpPr/>
            <p:nvPr/>
          </p:nvSpPr>
          <p:spPr>
            <a:xfrm rot="1186680">
              <a:off x="2831732" y="2819400"/>
              <a:ext cx="457200" cy="457200"/>
            </a:xfrm>
            <a:prstGeom prst="rect">
              <a:avLst/>
            </a:prstGeom>
            <a:solidFill>
              <a:schemeClr val="lt1"/>
            </a:solidFill>
            <a:ln>
              <a:noFill/>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grpSp>
      <p:sp>
        <p:nvSpPr>
          <p:cNvPr id="297" name="Google Shape;297;p34"/>
          <p:cNvSpPr txBox="1">
            <a:spLocks noGrp="1"/>
          </p:cNvSpPr>
          <p:nvPr>
            <p:ph type="title"/>
          </p:nvPr>
        </p:nvSpPr>
        <p:spPr>
          <a:xfrm>
            <a:off x="3519061" y="464129"/>
            <a:ext cx="8229600" cy="990600"/>
          </a:xfrm>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pPr>
            <a:r>
              <a:rPr lang="en-US" sz="3240">
                <a:solidFill>
                  <a:schemeClr val="tx1">
                    <a:lumMod val="75000"/>
                    <a:lumOff val="25000"/>
                  </a:schemeClr>
                </a:solidFill>
                <a:latin typeface="+mn-lt"/>
                <a:ea typeface="Arial"/>
                <a:cs typeface="Arial"/>
                <a:sym typeface="Arial"/>
              </a:rPr>
              <a:t>3. New information gets incorporated </a:t>
            </a:r>
            <a:br>
              <a:rPr lang="en-US" sz="3240">
                <a:solidFill>
                  <a:schemeClr val="tx1">
                    <a:lumMod val="75000"/>
                    <a:lumOff val="25000"/>
                  </a:schemeClr>
                </a:solidFill>
                <a:latin typeface="+mn-lt"/>
                <a:ea typeface="Arial"/>
                <a:cs typeface="Arial"/>
                <a:sym typeface="Arial"/>
              </a:rPr>
            </a:br>
            <a:r>
              <a:rPr lang="en-US" sz="3240">
                <a:solidFill>
                  <a:schemeClr val="tx1">
                    <a:lumMod val="75000"/>
                    <a:lumOff val="25000"/>
                  </a:schemeClr>
                </a:solidFill>
                <a:latin typeface="+mn-lt"/>
                <a:ea typeface="Arial"/>
                <a:cs typeface="Arial"/>
                <a:sym typeface="Arial"/>
              </a:rPr>
              <a:t>    into the existing model</a:t>
            </a:r>
            <a:endParaRPr>
              <a:solidFill>
                <a:schemeClr val="tx1">
                  <a:lumMod val="75000"/>
                  <a:lumOff val="25000"/>
                </a:schemeClr>
              </a:solidFill>
              <a:latin typeface="+mn-lt"/>
            </a:endParaRPr>
          </a:p>
        </p:txBody>
      </p:sp>
      <p:sp>
        <p:nvSpPr>
          <p:cNvPr id="298" name="Google Shape;298;p34"/>
          <p:cNvSpPr txBox="1">
            <a:spLocks noGrp="1"/>
          </p:cNvSpPr>
          <p:nvPr>
            <p:ph type="body" idx="1"/>
          </p:nvPr>
        </p:nvSpPr>
        <p:spPr>
          <a:xfrm>
            <a:off x="3519061" y="1683329"/>
            <a:ext cx="3948539" cy="4876800"/>
          </a:xfrm>
          <a:prstGeom prst="rect">
            <a:avLst/>
          </a:prstGeom>
          <a:noFill/>
          <a:ln>
            <a:noFill/>
          </a:ln>
        </p:spPr>
        <p:txBody>
          <a:bodyPr spcFirstLastPara="1" vert="horz" wrap="square" lIns="91425" tIns="45700" rIns="91425" bIns="45700" rtlCol="0" anchor="t" anchorCtr="0">
            <a:noAutofit/>
          </a:bodyPr>
          <a:lstStyle/>
          <a:p>
            <a:pPr marL="468630" indent="-354330">
              <a:lnSpc>
                <a:spcPct val="100000"/>
              </a:lnSpc>
              <a:spcBef>
                <a:spcPts val="0"/>
              </a:spcBef>
              <a:buSzPts val="2040"/>
              <a:buFont typeface="Arial"/>
              <a:buChar char="•"/>
            </a:pPr>
            <a:r>
              <a:rPr lang="en-US" sz="2400" dirty="0">
                <a:ea typeface="Arial"/>
                <a:cs typeface="Arial"/>
                <a:sym typeface="Arial"/>
              </a:rPr>
              <a:t>Integrating competing perspectives is challenging</a:t>
            </a:r>
            <a:endParaRPr sz="2400" dirty="0">
              <a:ea typeface="Arial"/>
              <a:cs typeface="Arial"/>
              <a:sym typeface="Arial"/>
            </a:endParaRPr>
          </a:p>
          <a:p>
            <a:pPr marL="468630" indent="-354330">
              <a:lnSpc>
                <a:spcPct val="100000"/>
              </a:lnSpc>
              <a:buSzPts val="2040"/>
              <a:buFont typeface="Arial"/>
              <a:buChar char="•"/>
            </a:pPr>
            <a:r>
              <a:rPr lang="en-US" sz="2400" dirty="0">
                <a:ea typeface="Arial"/>
                <a:cs typeface="Arial"/>
                <a:sym typeface="Arial"/>
              </a:rPr>
              <a:t>Switching between multiple perspectives is also difficult (visually or mentally)</a:t>
            </a:r>
            <a:endParaRPr sz="2400" dirty="0"/>
          </a:p>
          <a:p>
            <a:pPr marL="468630" indent="-354330">
              <a:lnSpc>
                <a:spcPct val="100000"/>
              </a:lnSpc>
              <a:buSzPts val="2040"/>
              <a:buFont typeface="Arial"/>
              <a:buChar char="•"/>
            </a:pPr>
            <a:r>
              <a:rPr lang="en-US" sz="2400" b="1" dirty="0">
                <a:ea typeface="Arial"/>
                <a:cs typeface="Arial"/>
                <a:sym typeface="Arial"/>
              </a:rPr>
              <a:t>Tricky part</a:t>
            </a:r>
            <a:r>
              <a:rPr lang="en-US" sz="2400" dirty="0">
                <a:ea typeface="Arial"/>
                <a:cs typeface="Arial"/>
                <a:sym typeface="Arial"/>
              </a:rPr>
              <a:t>: real-world problem often require such perspective switching</a:t>
            </a:r>
            <a:endParaRPr sz="2400" dirty="0">
              <a:ea typeface="Arial"/>
              <a:cs typeface="Arial"/>
              <a:sym typeface="Arial"/>
            </a:endParaRPr>
          </a:p>
          <a:p>
            <a:pPr marL="0" indent="0">
              <a:lnSpc>
                <a:spcPct val="100000"/>
              </a:lnSpc>
              <a:buNone/>
            </a:pPr>
            <a:endParaRPr sz="2400" dirty="0">
              <a:ea typeface="Arial"/>
              <a:cs typeface="Arial"/>
              <a:sym typeface="Arial"/>
            </a:endParaRPr>
          </a:p>
        </p:txBody>
      </p:sp>
      <p:sp>
        <p:nvSpPr>
          <p:cNvPr id="2" name="Google Shape;122;p17">
            <a:extLst>
              <a:ext uri="{FF2B5EF4-FFF2-40B4-BE49-F238E27FC236}">
                <a16:creationId xmlns:a16="http://schemas.microsoft.com/office/drawing/2014/main" id="{5980CFB0-94C1-0CD0-9443-D187F7B268FE}"/>
              </a:ext>
            </a:extLst>
          </p:cNvPr>
          <p:cNvSpPr txBox="1">
            <a:spLocks/>
          </p:cNvSpPr>
          <p:nvPr/>
        </p:nvSpPr>
        <p:spPr>
          <a:xfrm>
            <a:off x="152400" y="2431472"/>
            <a:ext cx="3089564" cy="178031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spcBef>
                <a:spcPts val="0"/>
              </a:spcBef>
              <a:buClr>
                <a:schemeClr val="dk2"/>
              </a:buClr>
            </a:pPr>
            <a:r>
              <a:rPr lang="en-US" dirty="0">
                <a:solidFill>
                  <a:schemeClr val="bg1"/>
                </a:solidFill>
                <a:latin typeface="+mn-lt"/>
                <a:ea typeface="Arial"/>
                <a:cs typeface="Arial"/>
                <a:sym typeface="Arial"/>
              </a:rPr>
              <a:t>Mental Models</a:t>
            </a:r>
          </a:p>
        </p:txBody>
      </p:sp>
      <p:sp>
        <p:nvSpPr>
          <p:cNvPr id="3" name="TextBox 2">
            <a:extLst>
              <a:ext uri="{FF2B5EF4-FFF2-40B4-BE49-F238E27FC236}">
                <a16:creationId xmlns:a16="http://schemas.microsoft.com/office/drawing/2014/main" id="{2A91EED1-87E8-6B44-971F-0D859CD000C3}"/>
              </a:ext>
            </a:extLst>
          </p:cNvPr>
          <p:cNvSpPr txBox="1"/>
          <p:nvPr/>
        </p:nvSpPr>
        <p:spPr>
          <a:xfrm>
            <a:off x="6914535" y="6524464"/>
            <a:ext cx="6120580" cy="242374"/>
          </a:xfrm>
          <a:prstGeom prst="rect">
            <a:avLst/>
          </a:prstGeom>
          <a:noFill/>
        </p:spPr>
        <p:txBody>
          <a:bodyPr wrap="square">
            <a:spAutoFit/>
          </a:bodyPr>
          <a:lstStyle/>
          <a:p>
            <a:r>
              <a:rPr lang="en-US" sz="975" b="0" i="0" dirty="0">
                <a:solidFill>
                  <a:srgbClr val="222222"/>
                </a:solidFill>
                <a:effectLst/>
                <a:latin typeface="Arial" panose="020B0604020202020204" pitchFamily="34" charset="0"/>
              </a:rPr>
              <a:t>Heuer, R. J. (1999). </a:t>
            </a:r>
            <a:r>
              <a:rPr lang="en-US" sz="975" b="0" i="1" dirty="0">
                <a:solidFill>
                  <a:srgbClr val="222222"/>
                </a:solidFill>
                <a:effectLst/>
                <a:latin typeface="Arial" panose="020B0604020202020204" pitchFamily="34" charset="0"/>
              </a:rPr>
              <a:t>Psychology of intelligence analysis</a:t>
            </a:r>
            <a:r>
              <a:rPr lang="en-US" sz="975" b="0" i="0" dirty="0">
                <a:solidFill>
                  <a:srgbClr val="222222"/>
                </a:solidFill>
                <a:effectLst/>
                <a:latin typeface="Arial" panose="020B0604020202020204" pitchFamily="34" charset="0"/>
              </a:rPr>
              <a:t>. Center for the Study of Intelligence.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pic>
        <p:nvPicPr>
          <p:cNvPr id="303" name="Google Shape;303;p35"/>
          <p:cNvPicPr preferRelativeResize="0"/>
          <p:nvPr/>
        </p:nvPicPr>
        <p:blipFill rotWithShape="1">
          <a:blip r:embed="rId3">
            <a:alphaModFix/>
          </a:blip>
          <a:srcRect/>
          <a:stretch/>
        </p:blipFill>
        <p:spPr>
          <a:xfrm>
            <a:off x="8161326" y="1615084"/>
            <a:ext cx="3312217" cy="4665895"/>
          </a:xfrm>
          <a:prstGeom prst="rect">
            <a:avLst/>
          </a:prstGeom>
          <a:noFill/>
          <a:ln>
            <a:noFill/>
          </a:ln>
        </p:spPr>
      </p:pic>
      <p:pic>
        <p:nvPicPr>
          <p:cNvPr id="304" name="Google Shape;304;p35"/>
          <p:cNvPicPr preferRelativeResize="0"/>
          <p:nvPr/>
        </p:nvPicPr>
        <p:blipFill rotWithShape="1">
          <a:blip r:embed="rId4">
            <a:alphaModFix/>
          </a:blip>
          <a:srcRect/>
          <a:stretch/>
        </p:blipFill>
        <p:spPr>
          <a:xfrm>
            <a:off x="8149996" y="1615084"/>
            <a:ext cx="3312217" cy="4665895"/>
          </a:xfrm>
          <a:prstGeom prst="rect">
            <a:avLst/>
          </a:prstGeom>
          <a:noFill/>
          <a:ln>
            <a:noFill/>
          </a:ln>
        </p:spPr>
      </p:pic>
      <p:pic>
        <p:nvPicPr>
          <p:cNvPr id="305" name="Google Shape;305;p35"/>
          <p:cNvPicPr preferRelativeResize="0"/>
          <p:nvPr/>
        </p:nvPicPr>
        <p:blipFill rotWithShape="1">
          <a:blip r:embed="rId5">
            <a:alphaModFix/>
          </a:blip>
          <a:srcRect/>
          <a:stretch/>
        </p:blipFill>
        <p:spPr>
          <a:xfrm>
            <a:off x="8149996" y="1615084"/>
            <a:ext cx="3312217" cy="4665895"/>
          </a:xfrm>
          <a:prstGeom prst="rect">
            <a:avLst/>
          </a:prstGeom>
          <a:noFill/>
          <a:ln>
            <a:noFill/>
          </a:ln>
        </p:spPr>
      </p:pic>
      <p:pic>
        <p:nvPicPr>
          <p:cNvPr id="306" name="Google Shape;306;p35"/>
          <p:cNvPicPr preferRelativeResize="0"/>
          <p:nvPr/>
        </p:nvPicPr>
        <p:blipFill rotWithShape="1">
          <a:blip r:embed="rId6">
            <a:alphaModFix/>
          </a:blip>
          <a:srcRect/>
          <a:stretch/>
        </p:blipFill>
        <p:spPr>
          <a:xfrm>
            <a:off x="8161326" y="1615084"/>
            <a:ext cx="3312217" cy="4665895"/>
          </a:xfrm>
          <a:prstGeom prst="rect">
            <a:avLst/>
          </a:prstGeom>
          <a:noFill/>
          <a:ln>
            <a:noFill/>
          </a:ln>
        </p:spPr>
      </p:pic>
      <p:pic>
        <p:nvPicPr>
          <p:cNvPr id="307" name="Google Shape;307;p35"/>
          <p:cNvPicPr preferRelativeResize="0"/>
          <p:nvPr/>
        </p:nvPicPr>
        <p:blipFill rotWithShape="1">
          <a:blip r:embed="rId7">
            <a:alphaModFix/>
          </a:blip>
          <a:srcRect/>
          <a:stretch/>
        </p:blipFill>
        <p:spPr>
          <a:xfrm>
            <a:off x="8161327" y="1615084"/>
            <a:ext cx="3312217" cy="4665895"/>
          </a:xfrm>
          <a:prstGeom prst="rect">
            <a:avLst/>
          </a:prstGeom>
          <a:noFill/>
          <a:ln>
            <a:noFill/>
          </a:ln>
        </p:spPr>
      </p:pic>
      <p:sp>
        <p:nvSpPr>
          <p:cNvPr id="308" name="Google Shape;308;p35"/>
          <p:cNvSpPr txBox="1">
            <a:spLocks noGrp="1"/>
          </p:cNvSpPr>
          <p:nvPr>
            <p:ph type="title"/>
          </p:nvPr>
        </p:nvSpPr>
        <p:spPr>
          <a:xfrm>
            <a:off x="3491355" y="381000"/>
            <a:ext cx="8229600" cy="990600"/>
          </a:xfrm>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pPr>
            <a:r>
              <a:rPr lang="en-US" sz="3240" dirty="0">
                <a:solidFill>
                  <a:schemeClr val="dk2"/>
                </a:solidFill>
                <a:latin typeface="+mn-lt"/>
                <a:ea typeface="Arial"/>
                <a:cs typeface="Arial"/>
                <a:sym typeface="Arial"/>
              </a:rPr>
              <a:t>4. Initial exposure interferes with </a:t>
            </a:r>
            <a:br>
              <a:rPr lang="en-US" sz="3240" dirty="0">
                <a:solidFill>
                  <a:schemeClr val="dk2"/>
                </a:solidFill>
                <a:latin typeface="+mn-lt"/>
                <a:ea typeface="Arial"/>
                <a:cs typeface="Arial"/>
                <a:sym typeface="Arial"/>
              </a:rPr>
            </a:br>
            <a:r>
              <a:rPr lang="en-US" sz="3240" dirty="0">
                <a:solidFill>
                  <a:schemeClr val="dk2"/>
                </a:solidFill>
                <a:latin typeface="+mn-lt"/>
                <a:ea typeface="Arial"/>
                <a:cs typeface="Arial"/>
                <a:sym typeface="Arial"/>
              </a:rPr>
              <a:t>    accurate perception</a:t>
            </a:r>
            <a:endParaRPr sz="3240" dirty="0">
              <a:solidFill>
                <a:schemeClr val="dk2"/>
              </a:solidFill>
              <a:latin typeface="+mn-lt"/>
              <a:ea typeface="Arial"/>
              <a:cs typeface="Arial"/>
              <a:sym typeface="Arial"/>
            </a:endParaRPr>
          </a:p>
        </p:txBody>
      </p:sp>
      <p:pic>
        <p:nvPicPr>
          <p:cNvPr id="310" name="Google Shape;310;p35"/>
          <p:cNvPicPr preferRelativeResize="0"/>
          <p:nvPr/>
        </p:nvPicPr>
        <p:blipFill rotWithShape="1">
          <a:blip r:embed="rId8">
            <a:alphaModFix/>
          </a:blip>
          <a:srcRect/>
          <a:stretch/>
        </p:blipFill>
        <p:spPr>
          <a:xfrm>
            <a:off x="8161326" y="1615084"/>
            <a:ext cx="3312217" cy="4665895"/>
          </a:xfrm>
          <a:prstGeom prst="rect">
            <a:avLst/>
          </a:prstGeom>
          <a:noFill/>
          <a:ln>
            <a:noFill/>
          </a:ln>
        </p:spPr>
      </p:pic>
      <p:sp>
        <p:nvSpPr>
          <p:cNvPr id="2" name="Google Shape;122;p17">
            <a:extLst>
              <a:ext uri="{FF2B5EF4-FFF2-40B4-BE49-F238E27FC236}">
                <a16:creationId xmlns:a16="http://schemas.microsoft.com/office/drawing/2014/main" id="{23FD1EC1-6C37-E3B2-BC9E-20B0DAD1A3DC}"/>
              </a:ext>
            </a:extLst>
          </p:cNvPr>
          <p:cNvSpPr txBox="1">
            <a:spLocks/>
          </p:cNvSpPr>
          <p:nvPr/>
        </p:nvSpPr>
        <p:spPr>
          <a:xfrm>
            <a:off x="152400" y="2431472"/>
            <a:ext cx="3089564" cy="178031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spcBef>
                <a:spcPts val="0"/>
              </a:spcBef>
              <a:buClr>
                <a:schemeClr val="dk2"/>
              </a:buClr>
            </a:pPr>
            <a:r>
              <a:rPr lang="en-US" dirty="0">
                <a:solidFill>
                  <a:schemeClr val="bg1"/>
                </a:solidFill>
                <a:latin typeface="+mn-lt"/>
                <a:ea typeface="Arial"/>
                <a:cs typeface="Arial"/>
                <a:sym typeface="Arial"/>
              </a:rPr>
              <a:t>Mental Models</a:t>
            </a:r>
          </a:p>
        </p:txBody>
      </p:sp>
      <p:sp>
        <p:nvSpPr>
          <p:cNvPr id="3" name="TextBox 2">
            <a:extLst>
              <a:ext uri="{FF2B5EF4-FFF2-40B4-BE49-F238E27FC236}">
                <a16:creationId xmlns:a16="http://schemas.microsoft.com/office/drawing/2014/main" id="{DEB650EA-A5E1-9952-79DA-8F6CCB529FC2}"/>
              </a:ext>
            </a:extLst>
          </p:cNvPr>
          <p:cNvSpPr txBox="1"/>
          <p:nvPr/>
        </p:nvSpPr>
        <p:spPr>
          <a:xfrm>
            <a:off x="6914535" y="6524464"/>
            <a:ext cx="6120580" cy="242374"/>
          </a:xfrm>
          <a:prstGeom prst="rect">
            <a:avLst/>
          </a:prstGeom>
          <a:noFill/>
        </p:spPr>
        <p:txBody>
          <a:bodyPr wrap="square">
            <a:spAutoFit/>
          </a:bodyPr>
          <a:lstStyle/>
          <a:p>
            <a:r>
              <a:rPr lang="en-US" sz="975" b="0" i="0" dirty="0">
                <a:solidFill>
                  <a:srgbClr val="222222"/>
                </a:solidFill>
                <a:latin typeface="Arial" panose="020B0604020202020204" pitchFamily="34" charset="0"/>
              </a:rPr>
              <a:t>Heuer, R. J. (1999). </a:t>
            </a:r>
            <a:r>
              <a:rPr lang="en-US" sz="975" b="0" i="1" dirty="0">
                <a:solidFill>
                  <a:srgbClr val="222222"/>
                </a:solidFill>
                <a:latin typeface="Arial" panose="020B0604020202020204" pitchFamily="34" charset="0"/>
              </a:rPr>
              <a:t>Psychology of intelligence analysis</a:t>
            </a:r>
            <a:r>
              <a:rPr lang="en-US" sz="975" b="0" i="0" dirty="0">
                <a:solidFill>
                  <a:srgbClr val="222222"/>
                </a:solidFill>
                <a:latin typeface="Arial" panose="020B0604020202020204" pitchFamily="34" charset="0"/>
              </a:rPr>
              <a:t>. Center for the Study of Intelligence.</a:t>
            </a:r>
            <a:endParaRPr lang="en-US" dirty="0"/>
          </a:p>
        </p:txBody>
      </p:sp>
      <p:sp>
        <p:nvSpPr>
          <p:cNvPr id="4" name="Google Shape;316;p36">
            <a:extLst>
              <a:ext uri="{FF2B5EF4-FFF2-40B4-BE49-F238E27FC236}">
                <a16:creationId xmlns:a16="http://schemas.microsoft.com/office/drawing/2014/main" id="{1E5A2872-7832-F9E1-FB41-44E0F9DDE207}"/>
              </a:ext>
            </a:extLst>
          </p:cNvPr>
          <p:cNvSpPr txBox="1">
            <a:spLocks/>
          </p:cNvSpPr>
          <p:nvPr/>
        </p:nvSpPr>
        <p:spPr>
          <a:xfrm>
            <a:off x="3546771" y="1600200"/>
            <a:ext cx="4378029" cy="4924264"/>
          </a:xfrm>
          <a:prstGeom prst="rect">
            <a:avLst/>
          </a:prstGeom>
          <a:noFill/>
          <a:ln>
            <a:noFill/>
          </a:ln>
        </p:spPr>
        <p:txBody>
          <a:bodyPr spcFirstLastPara="1" vert="horz" wrap="square" lIns="91425" tIns="45700" rIns="91425" bIns="45700" rtlCol="0" anchor="t" anchorCtr="0">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a:lstStyle>
          <a:p>
            <a:pPr marL="468630" indent="-354330">
              <a:lnSpc>
                <a:spcPct val="100000"/>
              </a:lnSpc>
              <a:spcBef>
                <a:spcPts val="0"/>
              </a:spcBef>
              <a:buSzPts val="2040"/>
              <a:buFont typeface="Arial"/>
              <a:buChar char="•"/>
            </a:pPr>
            <a:r>
              <a:rPr lang="en-US" sz="2400" dirty="0">
                <a:ea typeface="Arial"/>
                <a:cs typeface="Arial"/>
                <a:sym typeface="Arial"/>
              </a:rPr>
              <a:t>Longer exposure to ambiguous data makes people </a:t>
            </a:r>
            <a:r>
              <a:rPr lang="en-US" sz="2400" b="1" dirty="0">
                <a:ea typeface="Arial"/>
                <a:cs typeface="Arial"/>
                <a:sym typeface="Arial"/>
              </a:rPr>
              <a:t>more confident </a:t>
            </a:r>
            <a:r>
              <a:rPr lang="en-US" sz="2400" dirty="0">
                <a:ea typeface="Arial"/>
                <a:cs typeface="Arial"/>
                <a:sym typeface="Arial"/>
              </a:rPr>
              <a:t>in their initial model</a:t>
            </a:r>
          </a:p>
          <a:p>
            <a:pPr marL="468630" indent="-354330">
              <a:lnSpc>
                <a:spcPct val="100000"/>
              </a:lnSpc>
              <a:buSzPts val="2040"/>
              <a:buFont typeface="Arial"/>
              <a:buChar char="•"/>
            </a:pPr>
            <a:r>
              <a:rPr lang="en-US" sz="2400" dirty="0">
                <a:ea typeface="Arial"/>
                <a:cs typeface="Arial"/>
                <a:sym typeface="Arial"/>
              </a:rPr>
              <a:t>This is true even if new data presents strong evidence that their model is </a:t>
            </a:r>
            <a:r>
              <a:rPr lang="en-US" sz="2400" b="1" dirty="0">
                <a:ea typeface="Arial"/>
                <a:cs typeface="Arial"/>
                <a:sym typeface="Arial"/>
              </a:rPr>
              <a:t>wrong</a:t>
            </a:r>
            <a:r>
              <a:rPr lang="en-US" sz="2400" dirty="0">
                <a:ea typeface="Arial"/>
                <a:cs typeface="Arial"/>
                <a:sym typeface="Arial"/>
              </a:rPr>
              <a:t>!</a:t>
            </a:r>
            <a:endParaRPr lang="en-US" sz="2400" dirty="0"/>
          </a:p>
          <a:p>
            <a:pPr marL="468630" indent="-354330">
              <a:lnSpc>
                <a:spcPct val="100000"/>
              </a:lnSpc>
              <a:buSzPts val="2040"/>
              <a:buFont typeface="Arial"/>
              <a:buChar char="•"/>
            </a:pPr>
            <a:r>
              <a:rPr lang="en-US" sz="2400" dirty="0">
                <a:ea typeface="Arial"/>
                <a:cs typeface="Arial"/>
                <a:sym typeface="Arial"/>
              </a:rPr>
              <a:t>Important: need to be intentional when we design, because incremental information can be </a:t>
            </a:r>
            <a:r>
              <a:rPr lang="en-US" sz="2400" b="1" dirty="0">
                <a:ea typeface="Arial"/>
                <a:cs typeface="Arial"/>
                <a:sym typeface="Arial"/>
              </a:rPr>
              <a:t>misleading</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2" name="Google Shape;322;p37"/>
          <p:cNvSpPr txBox="1">
            <a:spLocks noGrp="1"/>
          </p:cNvSpPr>
          <p:nvPr>
            <p:ph type="body" idx="1"/>
          </p:nvPr>
        </p:nvSpPr>
        <p:spPr>
          <a:xfrm>
            <a:off x="3532911" y="346365"/>
            <a:ext cx="8229600" cy="5105400"/>
          </a:xfrm>
          <a:prstGeom prst="rect">
            <a:avLst/>
          </a:prstGeom>
          <a:noFill/>
          <a:ln>
            <a:noFill/>
          </a:ln>
        </p:spPr>
        <p:txBody>
          <a:bodyPr spcFirstLastPara="1" vert="horz" wrap="square" lIns="91425" tIns="45700" rIns="91425" bIns="45700" rtlCol="0" anchor="t" anchorCtr="0">
            <a:noAutofit/>
          </a:bodyPr>
          <a:lstStyle/>
          <a:p>
            <a:pPr marL="125729" indent="-11429">
              <a:spcBef>
                <a:spcPts val="0"/>
              </a:spcBef>
              <a:buNone/>
            </a:pPr>
            <a:r>
              <a:rPr lang="en-US" sz="2400" dirty="0">
                <a:ea typeface="Arial"/>
                <a:cs typeface="Arial"/>
                <a:sym typeface="Arial"/>
              </a:rPr>
              <a:t>The good:</a:t>
            </a:r>
            <a:endParaRPr sz="2400" dirty="0"/>
          </a:p>
          <a:p>
            <a:pPr marL="868680" lvl="1" indent="-347980">
              <a:spcBef>
                <a:spcPts val="1200"/>
              </a:spcBef>
              <a:spcAft>
                <a:spcPts val="0"/>
              </a:spcAft>
              <a:buSzPts val="1700"/>
              <a:buFont typeface="Arial"/>
              <a:buChar char="•"/>
            </a:pPr>
            <a:r>
              <a:rPr lang="en-US" sz="2400" dirty="0">
                <a:ea typeface="Arial"/>
                <a:cs typeface="Arial"/>
                <a:sym typeface="Arial"/>
              </a:rPr>
              <a:t>Well-tuned mental models let us process information quickly</a:t>
            </a:r>
            <a:endParaRPr sz="2400" dirty="0"/>
          </a:p>
          <a:p>
            <a:pPr marL="868680" lvl="1" indent="-347980">
              <a:spcBef>
                <a:spcPts val="1200"/>
              </a:spcBef>
              <a:spcAft>
                <a:spcPts val="0"/>
              </a:spcAft>
              <a:buSzPts val="1700"/>
              <a:buFont typeface="Arial"/>
              <a:buChar char="•"/>
            </a:pPr>
            <a:r>
              <a:rPr lang="en-US" sz="2400" dirty="0">
                <a:ea typeface="Arial"/>
                <a:cs typeface="Arial"/>
                <a:sym typeface="Arial"/>
              </a:rPr>
              <a:t>Frees up more processing power to synthesize information</a:t>
            </a:r>
            <a:endParaRPr sz="2400" dirty="0"/>
          </a:p>
          <a:p>
            <a:pPr marL="125729" indent="-11429">
              <a:buNone/>
            </a:pPr>
            <a:r>
              <a:rPr lang="en-US" sz="2400" dirty="0">
                <a:ea typeface="Arial"/>
                <a:cs typeface="Arial"/>
                <a:sym typeface="Arial"/>
              </a:rPr>
              <a:t>The bad:</a:t>
            </a:r>
            <a:endParaRPr sz="2400" dirty="0"/>
          </a:p>
          <a:p>
            <a:pPr marL="868680" lvl="1" indent="-347980">
              <a:spcBef>
                <a:spcPts val="1200"/>
              </a:spcBef>
              <a:spcAft>
                <a:spcPts val="0"/>
              </a:spcAft>
              <a:buSzPts val="1700"/>
              <a:buFont typeface="Arial"/>
              <a:buChar char="•"/>
            </a:pPr>
            <a:r>
              <a:rPr lang="en-US" sz="2400" dirty="0">
                <a:ea typeface="Arial"/>
                <a:cs typeface="Arial"/>
                <a:sym typeface="Arial"/>
              </a:rPr>
              <a:t>People (esp. experts) tend not to notice information that contradicts their mental model</a:t>
            </a:r>
            <a:endParaRPr sz="2400" dirty="0"/>
          </a:p>
          <a:p>
            <a:pPr marL="868680" lvl="1" indent="-347980">
              <a:spcBef>
                <a:spcPts val="1200"/>
              </a:spcBef>
              <a:spcAft>
                <a:spcPts val="0"/>
              </a:spcAft>
              <a:buSzPts val="1700"/>
              <a:buFont typeface="Arial"/>
              <a:buChar char="•"/>
            </a:pPr>
            <a:r>
              <a:rPr lang="en-US" sz="2400" dirty="0">
                <a:ea typeface="Arial"/>
                <a:cs typeface="Arial"/>
                <a:sym typeface="Arial"/>
              </a:rPr>
              <a:t>A “fresh pair of eyes” can be beneficial</a:t>
            </a:r>
            <a:endParaRPr sz="2400" dirty="0"/>
          </a:p>
          <a:p>
            <a:pPr marL="125729" indent="-11429">
              <a:buNone/>
            </a:pPr>
            <a:r>
              <a:rPr lang="en-US" sz="2400" dirty="0">
                <a:ea typeface="Arial"/>
                <a:cs typeface="Arial"/>
                <a:sym typeface="Arial"/>
              </a:rPr>
              <a:t>The ugly:</a:t>
            </a:r>
            <a:endParaRPr sz="2400" dirty="0"/>
          </a:p>
          <a:p>
            <a:pPr marL="868680" lvl="1" indent="-347980">
              <a:spcBef>
                <a:spcPts val="1200"/>
              </a:spcBef>
              <a:spcAft>
                <a:spcPts val="0"/>
              </a:spcAft>
              <a:buSzPts val="1700"/>
              <a:buFont typeface="Arial"/>
              <a:buChar char="•"/>
            </a:pPr>
            <a:r>
              <a:rPr lang="en-US" sz="2400" dirty="0">
                <a:ea typeface="Arial"/>
                <a:cs typeface="Arial"/>
                <a:sym typeface="Arial"/>
              </a:rPr>
              <a:t>Mental models are unavoidable: everyone has them, and they’re all different</a:t>
            </a:r>
            <a:endParaRPr sz="2400" dirty="0"/>
          </a:p>
          <a:p>
            <a:pPr marL="868680" lvl="1" indent="-347980">
              <a:spcBef>
                <a:spcPts val="1200"/>
              </a:spcBef>
              <a:spcAft>
                <a:spcPts val="0"/>
              </a:spcAft>
              <a:buSzPts val="1700"/>
              <a:buFont typeface="Arial"/>
              <a:buChar char="•"/>
            </a:pPr>
            <a:r>
              <a:rPr lang="en-US" sz="2400" b="1" dirty="0">
                <a:ea typeface="Arial"/>
                <a:cs typeface="Arial"/>
                <a:sym typeface="Arial"/>
              </a:rPr>
              <a:t>Key:</a:t>
            </a:r>
            <a:r>
              <a:rPr lang="en-US" sz="2400" dirty="0">
                <a:ea typeface="Arial"/>
                <a:cs typeface="Arial"/>
                <a:sym typeface="Arial"/>
              </a:rPr>
              <a:t> be aware of how mental models form, how they shape perception, and how to support (or challenge) them</a:t>
            </a:r>
            <a:endParaRPr sz="2400" dirty="0">
              <a:ea typeface="Arial"/>
              <a:cs typeface="Arial"/>
              <a:sym typeface="Arial"/>
            </a:endParaRPr>
          </a:p>
        </p:txBody>
      </p:sp>
      <p:sp>
        <p:nvSpPr>
          <p:cNvPr id="2" name="Google Shape;122;p17">
            <a:extLst>
              <a:ext uri="{FF2B5EF4-FFF2-40B4-BE49-F238E27FC236}">
                <a16:creationId xmlns:a16="http://schemas.microsoft.com/office/drawing/2014/main" id="{0305E3B6-892E-37E6-D911-8E67520E7FC7}"/>
              </a:ext>
            </a:extLst>
          </p:cNvPr>
          <p:cNvSpPr txBox="1">
            <a:spLocks/>
          </p:cNvSpPr>
          <p:nvPr/>
        </p:nvSpPr>
        <p:spPr>
          <a:xfrm>
            <a:off x="152400" y="2431472"/>
            <a:ext cx="3089564" cy="178031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spcBef>
                <a:spcPts val="0"/>
              </a:spcBef>
              <a:buClr>
                <a:schemeClr val="dk2"/>
              </a:buClr>
            </a:pPr>
            <a:r>
              <a:rPr lang="en-US" dirty="0">
                <a:solidFill>
                  <a:schemeClr val="bg1"/>
                </a:solidFill>
                <a:latin typeface="+mn-lt"/>
                <a:ea typeface="Arial"/>
                <a:cs typeface="Arial"/>
                <a:sym typeface="Arial"/>
              </a:rPr>
              <a:t>Mental Models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8"/>
          <p:cNvSpPr txBox="1">
            <a:spLocks noGrp="1"/>
          </p:cNvSpPr>
          <p:nvPr>
            <p:ph type="title"/>
          </p:nvPr>
        </p:nvSpPr>
        <p:spPr>
          <a:xfrm>
            <a:off x="3508666" y="356752"/>
            <a:ext cx="8229600" cy="990600"/>
          </a:xfrm>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pPr>
            <a:r>
              <a:rPr lang="en-US" sz="2800" dirty="0">
                <a:solidFill>
                  <a:schemeClr val="dk2"/>
                </a:solidFill>
                <a:latin typeface="+mn-lt"/>
                <a:ea typeface="Arial"/>
                <a:cs typeface="Arial"/>
                <a:sym typeface="Arial"/>
              </a:rPr>
              <a:t>So what do we have to work with?</a:t>
            </a:r>
            <a:endParaRPr sz="2800" i="1" dirty="0">
              <a:solidFill>
                <a:schemeClr val="dk2"/>
              </a:solidFill>
              <a:latin typeface="+mn-lt"/>
              <a:ea typeface="Arial"/>
              <a:cs typeface="Arial"/>
              <a:sym typeface="Arial"/>
            </a:endParaRPr>
          </a:p>
        </p:txBody>
      </p:sp>
      <p:sp>
        <p:nvSpPr>
          <p:cNvPr id="329" name="Google Shape;329;p38"/>
          <p:cNvSpPr/>
          <p:nvPr/>
        </p:nvSpPr>
        <p:spPr>
          <a:xfrm>
            <a:off x="4537366" y="1433948"/>
            <a:ext cx="6172200" cy="4572000"/>
          </a:xfrm>
          <a:prstGeom prst="rect">
            <a:avLst/>
          </a:prstGeom>
          <a:solidFill>
            <a:schemeClr val="lt1">
              <a:alpha val="69803"/>
            </a:schemeClr>
          </a:solidFill>
          <a:ln>
            <a:noFill/>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pic>
        <p:nvPicPr>
          <p:cNvPr id="2" name="Content Placeholder 7" descr="Confused person outline">
            <a:extLst>
              <a:ext uri="{FF2B5EF4-FFF2-40B4-BE49-F238E27FC236}">
                <a16:creationId xmlns:a16="http://schemas.microsoft.com/office/drawing/2014/main" id="{FA4B9E10-6B9A-6827-C94F-FC7933C5EA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57034" y="1732524"/>
            <a:ext cx="3569834" cy="3569834"/>
          </a:xfrm>
          <a:prstGeom prst="rect">
            <a:avLst/>
          </a:prstGeom>
        </p:spPr>
      </p:pic>
      <p:pic>
        <p:nvPicPr>
          <p:cNvPr id="3" name="Graphic 2" descr="Monitor with solid fill">
            <a:extLst>
              <a:ext uri="{FF2B5EF4-FFF2-40B4-BE49-F238E27FC236}">
                <a16:creationId xmlns:a16="http://schemas.microsoft.com/office/drawing/2014/main" id="{A72582BE-85C3-5CB4-16F3-85B85A539E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19925" y="2337815"/>
            <a:ext cx="2964543" cy="2964543"/>
          </a:xfrm>
          <a:prstGeom prst="rect">
            <a:avLst/>
          </a:prstGeom>
        </p:spPr>
      </p:pic>
      <p:sp>
        <p:nvSpPr>
          <p:cNvPr id="4" name="Circular Arrow 3">
            <a:extLst>
              <a:ext uri="{FF2B5EF4-FFF2-40B4-BE49-F238E27FC236}">
                <a16:creationId xmlns:a16="http://schemas.microsoft.com/office/drawing/2014/main" id="{9BC4B29A-54AD-25CD-4544-3B7B6373E51D}"/>
              </a:ext>
            </a:extLst>
          </p:cNvPr>
          <p:cNvSpPr/>
          <p:nvPr/>
        </p:nvSpPr>
        <p:spPr>
          <a:xfrm flipH="1">
            <a:off x="6489096" y="1844996"/>
            <a:ext cx="2075543" cy="1741715"/>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Circular Arrow 4">
            <a:extLst>
              <a:ext uri="{FF2B5EF4-FFF2-40B4-BE49-F238E27FC236}">
                <a16:creationId xmlns:a16="http://schemas.microsoft.com/office/drawing/2014/main" id="{C01301C2-FA45-BB72-03A3-B4AA974BDB5B}"/>
              </a:ext>
            </a:extLst>
          </p:cNvPr>
          <p:cNvSpPr/>
          <p:nvPr/>
        </p:nvSpPr>
        <p:spPr>
          <a:xfrm rot="10800000" flipH="1">
            <a:off x="6489095" y="3627612"/>
            <a:ext cx="2075543" cy="1741715"/>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p:txBody>
          <a:bodyPr anchor="t">
            <a:normAutofit/>
          </a:bodyPr>
          <a:lstStyle/>
          <a:p>
            <a:r>
              <a:rPr lang="en-US" sz="3200" dirty="0"/>
              <a:t>Remember…</a:t>
            </a:r>
          </a:p>
        </p:txBody>
      </p:sp>
      <p:pic>
        <p:nvPicPr>
          <p:cNvPr id="5" name="Content Placeholder 4" descr="Diagram&#10;&#10;Description automatically generated">
            <a:extLst>
              <a:ext uri="{FF2B5EF4-FFF2-40B4-BE49-F238E27FC236}">
                <a16:creationId xmlns:a16="http://schemas.microsoft.com/office/drawing/2014/main" id="{9199ABB3-4A36-AEE1-1FDF-0BE6DA3FBA05}"/>
              </a:ext>
            </a:extLst>
          </p:cNvPr>
          <p:cNvPicPr>
            <a:picLocks noChangeAspect="1"/>
          </p:cNvPicPr>
          <p:nvPr/>
        </p:nvPicPr>
        <p:blipFill rotWithShape="1">
          <a:blip r:embed="rId2"/>
          <a:srcRect r="3612"/>
          <a:stretch/>
        </p:blipFill>
        <p:spPr>
          <a:xfrm>
            <a:off x="3514845" y="1290310"/>
            <a:ext cx="8265371" cy="2407047"/>
          </a:xfrm>
          <a:prstGeom prst="rect">
            <a:avLst/>
          </a:prstGeom>
        </p:spPr>
      </p:pic>
      <p:pic>
        <p:nvPicPr>
          <p:cNvPr id="6" name="Picture 5" descr="Diagram&#10;&#10;Description automatically generated with low confidence">
            <a:extLst>
              <a:ext uri="{FF2B5EF4-FFF2-40B4-BE49-F238E27FC236}">
                <a16:creationId xmlns:a16="http://schemas.microsoft.com/office/drawing/2014/main" id="{A14CB4AB-47ED-E914-1EF3-B83BDF3B75EB}"/>
              </a:ext>
            </a:extLst>
          </p:cNvPr>
          <p:cNvPicPr>
            <a:picLocks noChangeAspect="1"/>
          </p:cNvPicPr>
          <p:nvPr/>
        </p:nvPicPr>
        <p:blipFill>
          <a:blip r:embed="rId3"/>
          <a:stretch>
            <a:fillRect/>
          </a:stretch>
        </p:blipFill>
        <p:spPr>
          <a:xfrm>
            <a:off x="9265670" y="2063302"/>
            <a:ext cx="2409494" cy="651347"/>
          </a:xfrm>
          <a:prstGeom prst="rect">
            <a:avLst/>
          </a:prstGeom>
          <a:ln>
            <a:solidFill>
              <a:schemeClr val="tx1"/>
            </a:solidFill>
          </a:ln>
        </p:spPr>
      </p:pic>
      <p:sp>
        <p:nvSpPr>
          <p:cNvPr id="4" name="Rectangle 3">
            <a:extLst>
              <a:ext uri="{FF2B5EF4-FFF2-40B4-BE49-F238E27FC236}">
                <a16:creationId xmlns:a16="http://schemas.microsoft.com/office/drawing/2014/main" id="{34ED7248-B14E-DBDA-F159-EC7A881B86AF}"/>
              </a:ext>
            </a:extLst>
          </p:cNvPr>
          <p:cNvSpPr/>
          <p:nvPr/>
        </p:nvSpPr>
        <p:spPr>
          <a:xfrm>
            <a:off x="9393382" y="2108908"/>
            <a:ext cx="748418" cy="261610"/>
          </a:xfrm>
          <a:prstGeom prst="rect">
            <a:avLst/>
          </a:prstGeom>
          <a:solidFill>
            <a:schemeClr val="bg1"/>
          </a:solidFill>
          <a:ln>
            <a:noFill/>
          </a:ln>
        </p:spPr>
        <p:txBody>
          <a:bodyPr wrap="square" lIns="91440" tIns="45720" rIns="91440" bIns="45720">
            <a:spAutoFit/>
          </a:bodyPr>
          <a:lstStyle/>
          <a:p>
            <a:pPr algn="ctr"/>
            <a:r>
              <a:rPr lang="en-US" sz="1100" b="0" cap="none" spc="0" dirty="0">
                <a:ln w="0"/>
                <a:solidFill>
                  <a:schemeClr val="accent2">
                    <a:lumMod val="50000"/>
                  </a:schemeClr>
                </a:solidFill>
                <a:effectLst>
                  <a:outerShdw blurRad="38100" dist="19050" dir="2700000" algn="tl" rotWithShape="0">
                    <a:schemeClr val="dk1">
                      <a:alpha val="40000"/>
                    </a:schemeClr>
                  </a:outerShdw>
                </a:effectLst>
              </a:rPr>
              <a:t>Nominal</a:t>
            </a:r>
            <a:endParaRPr lang="en-US" sz="4400" b="0" cap="none" spc="0" dirty="0">
              <a:ln w="0"/>
              <a:solidFill>
                <a:schemeClr val="accent2">
                  <a:lumMod val="50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405972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8" y="864108"/>
            <a:ext cx="7315200" cy="5841492"/>
          </a:xfrm>
        </p:spPr>
        <p:txBody>
          <a:bodyPr anchor="t">
            <a:normAutofit fontScale="92500" lnSpcReduction="10000"/>
          </a:bodyPr>
          <a:lstStyle/>
          <a:p>
            <a:r>
              <a:rPr lang="en-US" sz="3200" dirty="0"/>
              <a:t>Remember…</a:t>
            </a:r>
          </a:p>
          <a:p>
            <a:endParaRPr lang="en-US" sz="3200" dirty="0"/>
          </a:p>
          <a:p>
            <a:endParaRPr lang="en-US" sz="3200" dirty="0"/>
          </a:p>
          <a:p>
            <a:endParaRPr lang="en-US" sz="3200" dirty="0"/>
          </a:p>
          <a:p>
            <a:endParaRPr lang="en-US" sz="3200" dirty="0"/>
          </a:p>
          <a:p>
            <a:endParaRPr lang="en-US" sz="3200" dirty="0"/>
          </a:p>
          <a:p>
            <a:r>
              <a:rPr lang="en-US" sz="3200" b="1" dirty="0"/>
              <a:t>Big idea behind visualization</a:t>
            </a:r>
          </a:p>
          <a:p>
            <a:pPr lvl="1"/>
            <a:r>
              <a:rPr lang="en-US" sz="3000" dirty="0"/>
              <a:t>Data have dimensions</a:t>
            </a:r>
          </a:p>
          <a:p>
            <a:pPr lvl="1"/>
            <a:r>
              <a:rPr lang="en-US" sz="3000" dirty="0"/>
              <a:t>Visualizations have dimensions, too</a:t>
            </a:r>
          </a:p>
          <a:p>
            <a:pPr lvl="1"/>
            <a:r>
              <a:rPr lang="en-US" sz="3000" dirty="0"/>
              <a:t>To build good visualizations, we need to </a:t>
            </a:r>
            <a:r>
              <a:rPr lang="en-US" sz="3000" b="1" dirty="0"/>
              <a:t>map data dimensions  to visual dimensions </a:t>
            </a:r>
            <a:r>
              <a:rPr lang="en-US" sz="3000" dirty="0"/>
              <a:t>in a principled way </a:t>
            </a:r>
          </a:p>
        </p:txBody>
      </p:sp>
      <p:pic>
        <p:nvPicPr>
          <p:cNvPr id="5" name="Content Placeholder 4" descr="Diagram&#10;&#10;Description automatically generated">
            <a:extLst>
              <a:ext uri="{FF2B5EF4-FFF2-40B4-BE49-F238E27FC236}">
                <a16:creationId xmlns:a16="http://schemas.microsoft.com/office/drawing/2014/main" id="{9199ABB3-4A36-AEE1-1FDF-0BE6DA3FBA05}"/>
              </a:ext>
            </a:extLst>
          </p:cNvPr>
          <p:cNvPicPr>
            <a:picLocks noChangeAspect="1"/>
          </p:cNvPicPr>
          <p:nvPr/>
        </p:nvPicPr>
        <p:blipFill rotWithShape="1">
          <a:blip r:embed="rId2"/>
          <a:srcRect r="3612"/>
          <a:stretch/>
        </p:blipFill>
        <p:spPr>
          <a:xfrm>
            <a:off x="3514845" y="1290310"/>
            <a:ext cx="8265371" cy="2407047"/>
          </a:xfrm>
          <a:prstGeom prst="rect">
            <a:avLst/>
          </a:prstGeom>
        </p:spPr>
      </p:pic>
      <p:pic>
        <p:nvPicPr>
          <p:cNvPr id="6" name="Picture 5" descr="Diagram&#10;&#10;Description automatically generated with low confidence">
            <a:extLst>
              <a:ext uri="{FF2B5EF4-FFF2-40B4-BE49-F238E27FC236}">
                <a16:creationId xmlns:a16="http://schemas.microsoft.com/office/drawing/2014/main" id="{2A716B34-7F59-B1B4-7D79-C6CF0F54A949}"/>
              </a:ext>
            </a:extLst>
          </p:cNvPr>
          <p:cNvPicPr>
            <a:picLocks noChangeAspect="1"/>
          </p:cNvPicPr>
          <p:nvPr/>
        </p:nvPicPr>
        <p:blipFill>
          <a:blip r:embed="rId3"/>
          <a:stretch>
            <a:fillRect/>
          </a:stretch>
        </p:blipFill>
        <p:spPr>
          <a:xfrm>
            <a:off x="9265670" y="2063302"/>
            <a:ext cx="2409494" cy="651347"/>
          </a:xfrm>
          <a:prstGeom prst="rect">
            <a:avLst/>
          </a:prstGeom>
          <a:ln>
            <a:solidFill>
              <a:schemeClr val="tx1"/>
            </a:solidFill>
          </a:ln>
        </p:spPr>
      </p:pic>
      <p:sp>
        <p:nvSpPr>
          <p:cNvPr id="4" name="Rectangle 3">
            <a:extLst>
              <a:ext uri="{FF2B5EF4-FFF2-40B4-BE49-F238E27FC236}">
                <a16:creationId xmlns:a16="http://schemas.microsoft.com/office/drawing/2014/main" id="{743ABCDD-C0CD-B571-38B9-EB614E4049C7}"/>
              </a:ext>
            </a:extLst>
          </p:cNvPr>
          <p:cNvSpPr/>
          <p:nvPr/>
        </p:nvSpPr>
        <p:spPr>
          <a:xfrm>
            <a:off x="9393382" y="2108908"/>
            <a:ext cx="748418" cy="261610"/>
          </a:xfrm>
          <a:prstGeom prst="rect">
            <a:avLst/>
          </a:prstGeom>
          <a:solidFill>
            <a:schemeClr val="bg1"/>
          </a:solidFill>
          <a:ln>
            <a:noFill/>
          </a:ln>
        </p:spPr>
        <p:txBody>
          <a:bodyPr wrap="square" lIns="91440" tIns="45720" rIns="91440" bIns="45720">
            <a:spAutoFit/>
          </a:bodyPr>
          <a:lstStyle/>
          <a:p>
            <a:pPr algn="ctr"/>
            <a:r>
              <a:rPr lang="en-US" sz="1100" b="0" cap="none" spc="0" dirty="0">
                <a:ln w="0"/>
                <a:solidFill>
                  <a:schemeClr val="accent2">
                    <a:lumMod val="50000"/>
                  </a:schemeClr>
                </a:solidFill>
                <a:effectLst>
                  <a:outerShdw blurRad="38100" dist="19050" dir="2700000" algn="tl" rotWithShape="0">
                    <a:schemeClr val="dk1">
                      <a:alpha val="40000"/>
                    </a:schemeClr>
                  </a:outerShdw>
                </a:effectLst>
              </a:rPr>
              <a:t>Nominal</a:t>
            </a:r>
            <a:endParaRPr lang="en-US" sz="4400" b="0" cap="none" spc="0" dirty="0">
              <a:ln w="0"/>
              <a:solidFill>
                <a:schemeClr val="accent2">
                  <a:lumMod val="50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423022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8" y="864108"/>
            <a:ext cx="7315200" cy="5841492"/>
          </a:xfrm>
        </p:spPr>
        <p:txBody>
          <a:bodyPr anchor="t">
            <a:normAutofit fontScale="92500" lnSpcReduction="10000"/>
          </a:bodyPr>
          <a:lstStyle/>
          <a:p>
            <a:r>
              <a:rPr lang="en-US" sz="3200" dirty="0"/>
              <a:t>Remember…</a:t>
            </a:r>
          </a:p>
          <a:p>
            <a:endParaRPr lang="en-US" sz="3200" dirty="0"/>
          </a:p>
          <a:p>
            <a:endParaRPr lang="en-US" sz="3200" dirty="0"/>
          </a:p>
          <a:p>
            <a:endParaRPr lang="en-US" sz="3200" dirty="0"/>
          </a:p>
          <a:p>
            <a:endParaRPr lang="en-US" sz="3200" dirty="0"/>
          </a:p>
          <a:p>
            <a:endParaRPr lang="en-US" sz="3200" dirty="0"/>
          </a:p>
          <a:p>
            <a:r>
              <a:rPr lang="en-US" sz="3200" b="1" dirty="0"/>
              <a:t>Big idea behind visualization</a:t>
            </a:r>
          </a:p>
          <a:p>
            <a:pPr lvl="1"/>
            <a:r>
              <a:rPr lang="en-US" sz="3000" dirty="0"/>
              <a:t>Data have dimensions</a:t>
            </a:r>
          </a:p>
          <a:p>
            <a:pPr lvl="1"/>
            <a:r>
              <a:rPr lang="en-US" sz="3000" dirty="0"/>
              <a:t>Visualizations have dimensions, too</a:t>
            </a:r>
          </a:p>
          <a:p>
            <a:pPr lvl="1"/>
            <a:r>
              <a:rPr lang="en-US" sz="3000" dirty="0"/>
              <a:t>To build good visualizations, we need to </a:t>
            </a:r>
            <a:r>
              <a:rPr lang="en-US" sz="3000" b="1" dirty="0"/>
              <a:t>map data dimensions  to visual dimensions </a:t>
            </a:r>
            <a:r>
              <a:rPr lang="en-US" sz="3000" dirty="0"/>
              <a:t>in a principled way </a:t>
            </a:r>
          </a:p>
        </p:txBody>
      </p:sp>
      <p:pic>
        <p:nvPicPr>
          <p:cNvPr id="5" name="Content Placeholder 4" descr="Diagram&#10;&#10;Description automatically generated">
            <a:extLst>
              <a:ext uri="{FF2B5EF4-FFF2-40B4-BE49-F238E27FC236}">
                <a16:creationId xmlns:a16="http://schemas.microsoft.com/office/drawing/2014/main" id="{9199ABB3-4A36-AEE1-1FDF-0BE6DA3FBA05}"/>
              </a:ext>
            </a:extLst>
          </p:cNvPr>
          <p:cNvPicPr>
            <a:picLocks noChangeAspect="1"/>
          </p:cNvPicPr>
          <p:nvPr/>
        </p:nvPicPr>
        <p:blipFill rotWithShape="1">
          <a:blip r:embed="rId2"/>
          <a:srcRect r="3612"/>
          <a:stretch/>
        </p:blipFill>
        <p:spPr>
          <a:xfrm>
            <a:off x="3514845" y="1290310"/>
            <a:ext cx="8265371" cy="2407047"/>
          </a:xfrm>
          <a:prstGeom prst="rect">
            <a:avLst/>
          </a:prstGeom>
        </p:spPr>
      </p:pic>
      <p:sp>
        <p:nvSpPr>
          <p:cNvPr id="4" name="Frame 3">
            <a:extLst>
              <a:ext uri="{FF2B5EF4-FFF2-40B4-BE49-F238E27FC236}">
                <a16:creationId xmlns:a16="http://schemas.microsoft.com/office/drawing/2014/main" id="{83F160A1-58C1-F700-4F06-FF4B89CF13F4}"/>
              </a:ext>
            </a:extLst>
          </p:cNvPr>
          <p:cNvSpPr/>
          <p:nvPr/>
        </p:nvSpPr>
        <p:spPr>
          <a:xfrm>
            <a:off x="4412975" y="5552662"/>
            <a:ext cx="5221356" cy="768626"/>
          </a:xfrm>
          <a:prstGeom prst="frame">
            <a:avLst>
              <a:gd name="adj1" fmla="val 7661"/>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descr="Diagram&#10;&#10;Description automatically generated with low confidence">
            <a:extLst>
              <a:ext uri="{FF2B5EF4-FFF2-40B4-BE49-F238E27FC236}">
                <a16:creationId xmlns:a16="http://schemas.microsoft.com/office/drawing/2014/main" id="{352C2290-8AC3-1D02-B3FA-CF683414A488}"/>
              </a:ext>
            </a:extLst>
          </p:cNvPr>
          <p:cNvPicPr>
            <a:picLocks noChangeAspect="1"/>
          </p:cNvPicPr>
          <p:nvPr/>
        </p:nvPicPr>
        <p:blipFill>
          <a:blip r:embed="rId3"/>
          <a:stretch>
            <a:fillRect/>
          </a:stretch>
        </p:blipFill>
        <p:spPr>
          <a:xfrm>
            <a:off x="9265670" y="2063302"/>
            <a:ext cx="2409494" cy="651347"/>
          </a:xfrm>
          <a:prstGeom prst="rect">
            <a:avLst/>
          </a:prstGeom>
          <a:ln>
            <a:solidFill>
              <a:schemeClr val="tx1"/>
            </a:solidFill>
          </a:ln>
        </p:spPr>
      </p:pic>
      <p:sp>
        <p:nvSpPr>
          <p:cNvPr id="7" name="Rectangle 6">
            <a:extLst>
              <a:ext uri="{FF2B5EF4-FFF2-40B4-BE49-F238E27FC236}">
                <a16:creationId xmlns:a16="http://schemas.microsoft.com/office/drawing/2014/main" id="{1315C378-319A-8AF5-8C07-1D7134E0CD07}"/>
              </a:ext>
            </a:extLst>
          </p:cNvPr>
          <p:cNvSpPr/>
          <p:nvPr/>
        </p:nvSpPr>
        <p:spPr>
          <a:xfrm>
            <a:off x="9393382" y="2108908"/>
            <a:ext cx="748418" cy="261610"/>
          </a:xfrm>
          <a:prstGeom prst="rect">
            <a:avLst/>
          </a:prstGeom>
          <a:solidFill>
            <a:schemeClr val="bg1"/>
          </a:solidFill>
          <a:ln>
            <a:noFill/>
          </a:ln>
        </p:spPr>
        <p:txBody>
          <a:bodyPr wrap="square" lIns="91440" tIns="45720" rIns="91440" bIns="45720">
            <a:spAutoFit/>
          </a:bodyPr>
          <a:lstStyle/>
          <a:p>
            <a:pPr algn="ctr"/>
            <a:r>
              <a:rPr lang="en-US" sz="1100" b="0" cap="none" spc="0" dirty="0">
                <a:ln w="0"/>
                <a:solidFill>
                  <a:schemeClr val="accent2">
                    <a:lumMod val="50000"/>
                  </a:schemeClr>
                </a:solidFill>
                <a:effectLst>
                  <a:outerShdw blurRad="38100" dist="19050" dir="2700000" algn="tl" rotWithShape="0">
                    <a:schemeClr val="dk1">
                      <a:alpha val="40000"/>
                    </a:schemeClr>
                  </a:outerShdw>
                </a:effectLst>
              </a:rPr>
              <a:t>Nominal</a:t>
            </a:r>
            <a:endParaRPr lang="en-US" sz="4400" b="0" cap="none" spc="0" dirty="0">
              <a:ln w="0"/>
              <a:solidFill>
                <a:schemeClr val="accent2">
                  <a:lumMod val="50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1269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8" y="864108"/>
            <a:ext cx="7315200" cy="5841492"/>
          </a:xfrm>
        </p:spPr>
        <p:txBody>
          <a:bodyPr anchor="t">
            <a:normAutofit/>
          </a:bodyPr>
          <a:lstStyle/>
          <a:p>
            <a:pPr marL="0" indent="0">
              <a:buNone/>
            </a:pPr>
            <a:r>
              <a:rPr lang="en-US" sz="3200" dirty="0"/>
              <a:t>Data</a:t>
            </a:r>
          </a:p>
          <a:p>
            <a:pPr marL="0" indent="0">
              <a:buNone/>
            </a:pPr>
            <a:endParaRPr lang="en-US" sz="3200" dirty="0"/>
          </a:p>
          <a:p>
            <a:pPr marL="0" indent="0">
              <a:buNone/>
            </a:pPr>
            <a:r>
              <a:rPr lang="en-US" sz="3200" dirty="0"/>
              <a:t>Visuals </a:t>
            </a:r>
          </a:p>
          <a:p>
            <a:pPr lvl="1"/>
            <a:r>
              <a:rPr lang="en-US" sz="3000" b="1" dirty="0"/>
              <a:t>Marks</a:t>
            </a:r>
            <a:r>
              <a:rPr lang="en-US" sz="3000" dirty="0"/>
              <a:t> </a:t>
            </a:r>
          </a:p>
          <a:p>
            <a:pPr lvl="2"/>
            <a:r>
              <a:rPr lang="en-US" sz="2800" dirty="0"/>
              <a:t>The “ink” </a:t>
            </a:r>
          </a:p>
          <a:p>
            <a:pPr lvl="1"/>
            <a:endParaRPr lang="en-US" sz="3000" dirty="0"/>
          </a:p>
        </p:txBody>
      </p:sp>
      <p:pic>
        <p:nvPicPr>
          <p:cNvPr id="5" name="Content Placeholder 4" descr="Diagram&#10;&#10;Description automatically generated">
            <a:extLst>
              <a:ext uri="{FF2B5EF4-FFF2-40B4-BE49-F238E27FC236}">
                <a16:creationId xmlns:a16="http://schemas.microsoft.com/office/drawing/2014/main" id="{9199ABB3-4A36-AEE1-1FDF-0BE6DA3FBA05}"/>
              </a:ext>
            </a:extLst>
          </p:cNvPr>
          <p:cNvPicPr>
            <a:picLocks noChangeAspect="1"/>
          </p:cNvPicPr>
          <p:nvPr/>
        </p:nvPicPr>
        <p:blipFill rotWithShape="1">
          <a:blip r:embed="rId3"/>
          <a:srcRect r="3612"/>
          <a:stretch/>
        </p:blipFill>
        <p:spPr>
          <a:xfrm>
            <a:off x="4972584" y="354419"/>
            <a:ext cx="6411033" cy="1867025"/>
          </a:xfrm>
          <a:prstGeom prst="rect">
            <a:avLst/>
          </a:prstGeom>
        </p:spPr>
      </p:pic>
      <p:pic>
        <p:nvPicPr>
          <p:cNvPr id="24" name="Picture 23" descr="Graphical user interface&#10;&#10;Description automatically generated">
            <a:extLst>
              <a:ext uri="{FF2B5EF4-FFF2-40B4-BE49-F238E27FC236}">
                <a16:creationId xmlns:a16="http://schemas.microsoft.com/office/drawing/2014/main" id="{CF810CE0-25DD-DD14-4F93-3AD727F2BA61}"/>
              </a:ext>
            </a:extLst>
          </p:cNvPr>
          <p:cNvPicPr>
            <a:picLocks noChangeAspect="1"/>
          </p:cNvPicPr>
          <p:nvPr/>
        </p:nvPicPr>
        <p:blipFill rotWithShape="1">
          <a:blip r:embed="rId4"/>
          <a:srcRect r="4170"/>
          <a:stretch/>
        </p:blipFill>
        <p:spPr>
          <a:xfrm>
            <a:off x="6639432" y="2136911"/>
            <a:ext cx="4200845" cy="3303612"/>
          </a:xfrm>
          <a:prstGeom prst="rect">
            <a:avLst/>
          </a:prstGeom>
        </p:spPr>
      </p:pic>
      <p:pic>
        <p:nvPicPr>
          <p:cNvPr id="25" name="Picture 24" descr="Diagram&#10;&#10;Description automatically generated with low confidence">
            <a:extLst>
              <a:ext uri="{FF2B5EF4-FFF2-40B4-BE49-F238E27FC236}">
                <a16:creationId xmlns:a16="http://schemas.microsoft.com/office/drawing/2014/main" id="{513F446F-EE2C-29F2-2481-9DD5F1B2CAB3}"/>
              </a:ext>
            </a:extLst>
          </p:cNvPr>
          <p:cNvPicPr>
            <a:picLocks noChangeAspect="1"/>
          </p:cNvPicPr>
          <p:nvPr/>
        </p:nvPicPr>
        <p:blipFill>
          <a:blip r:embed="rId5"/>
          <a:stretch>
            <a:fillRect/>
          </a:stretch>
        </p:blipFill>
        <p:spPr>
          <a:xfrm>
            <a:off x="9199410" y="871834"/>
            <a:ext cx="2409494" cy="651347"/>
          </a:xfrm>
          <a:prstGeom prst="rect">
            <a:avLst/>
          </a:prstGeom>
          <a:ln>
            <a:solidFill>
              <a:schemeClr val="tx1"/>
            </a:solidFill>
          </a:ln>
        </p:spPr>
      </p:pic>
      <p:sp>
        <p:nvSpPr>
          <p:cNvPr id="6" name="Rectangle 5">
            <a:extLst>
              <a:ext uri="{FF2B5EF4-FFF2-40B4-BE49-F238E27FC236}">
                <a16:creationId xmlns:a16="http://schemas.microsoft.com/office/drawing/2014/main" id="{37F92D71-9A27-512A-BFE4-9957B1F7A354}"/>
              </a:ext>
            </a:extLst>
          </p:cNvPr>
          <p:cNvSpPr/>
          <p:nvPr/>
        </p:nvSpPr>
        <p:spPr>
          <a:xfrm>
            <a:off x="9324109" y="951467"/>
            <a:ext cx="748418" cy="261610"/>
          </a:xfrm>
          <a:prstGeom prst="rect">
            <a:avLst/>
          </a:prstGeom>
          <a:solidFill>
            <a:schemeClr val="bg1"/>
          </a:solidFill>
          <a:ln>
            <a:noFill/>
          </a:ln>
        </p:spPr>
        <p:txBody>
          <a:bodyPr wrap="square" lIns="91440" tIns="45720" rIns="91440" bIns="45720">
            <a:spAutoFit/>
          </a:bodyPr>
          <a:lstStyle/>
          <a:p>
            <a:pPr algn="ctr"/>
            <a:r>
              <a:rPr lang="en-US" sz="1100" b="0" cap="none" spc="0" dirty="0">
                <a:ln w="0"/>
                <a:solidFill>
                  <a:schemeClr val="accent2">
                    <a:lumMod val="50000"/>
                  </a:schemeClr>
                </a:solidFill>
                <a:effectLst>
                  <a:outerShdw blurRad="38100" dist="19050" dir="2700000" algn="tl" rotWithShape="0">
                    <a:schemeClr val="dk1">
                      <a:alpha val="40000"/>
                    </a:schemeClr>
                  </a:outerShdw>
                </a:effectLst>
              </a:rPr>
              <a:t>Nominal</a:t>
            </a:r>
            <a:endParaRPr lang="en-US" sz="4400" b="0" cap="none" spc="0" dirty="0">
              <a:ln w="0"/>
              <a:solidFill>
                <a:schemeClr val="accent2">
                  <a:lumMod val="50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18771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8" y="864108"/>
            <a:ext cx="7315200" cy="5841492"/>
          </a:xfrm>
        </p:spPr>
        <p:txBody>
          <a:bodyPr anchor="t">
            <a:normAutofit/>
          </a:bodyPr>
          <a:lstStyle/>
          <a:p>
            <a:pPr marL="0" indent="0">
              <a:buNone/>
            </a:pPr>
            <a:r>
              <a:rPr lang="en-US" sz="3200" dirty="0"/>
              <a:t>Data</a:t>
            </a:r>
          </a:p>
          <a:p>
            <a:pPr marL="0" indent="0">
              <a:buNone/>
            </a:pPr>
            <a:endParaRPr lang="en-US" sz="3200" dirty="0"/>
          </a:p>
          <a:p>
            <a:pPr marL="0" indent="0">
              <a:buNone/>
            </a:pPr>
            <a:r>
              <a:rPr lang="en-US" sz="3200" dirty="0"/>
              <a:t>Visuals </a:t>
            </a:r>
          </a:p>
          <a:p>
            <a:pPr lvl="1"/>
            <a:r>
              <a:rPr lang="en-US" sz="3000" b="1" dirty="0"/>
              <a:t>Marks</a:t>
            </a:r>
            <a:r>
              <a:rPr lang="en-US" sz="3000" dirty="0"/>
              <a:t> </a:t>
            </a:r>
          </a:p>
          <a:p>
            <a:pPr lvl="2"/>
            <a:r>
              <a:rPr lang="en-US" sz="2800" dirty="0"/>
              <a:t>The “ink”</a:t>
            </a:r>
          </a:p>
          <a:p>
            <a:pPr lvl="1"/>
            <a:endParaRPr lang="en-US" sz="3000" dirty="0"/>
          </a:p>
          <a:p>
            <a:pPr marL="502920" lvl="1" indent="0">
              <a:buNone/>
            </a:pPr>
            <a:endParaRPr lang="en-US" sz="3000" dirty="0"/>
          </a:p>
          <a:p>
            <a:pPr marL="502920" lvl="1" indent="0">
              <a:buNone/>
            </a:pPr>
            <a:endParaRPr lang="en-US" sz="3000" dirty="0"/>
          </a:p>
          <a:p>
            <a:pPr marL="502920" lvl="1" indent="0">
              <a:buNone/>
            </a:pPr>
            <a:endParaRPr lang="en-US" sz="3000" dirty="0"/>
          </a:p>
          <a:p>
            <a:pPr lvl="1"/>
            <a:r>
              <a:rPr lang="en-US" sz="3000" b="1" dirty="0"/>
              <a:t>Channels or dimensions </a:t>
            </a:r>
          </a:p>
          <a:p>
            <a:pPr lvl="2"/>
            <a:r>
              <a:rPr lang="en-US" sz="2800" dirty="0"/>
              <a:t>  </a:t>
            </a:r>
            <a:r>
              <a:rPr lang="en-US" sz="2800" i="1" dirty="0"/>
              <a:t>How</a:t>
            </a:r>
            <a:r>
              <a:rPr lang="en-US" sz="2800" dirty="0"/>
              <a:t> the marks show up on the page </a:t>
            </a:r>
          </a:p>
          <a:p>
            <a:pPr lvl="1"/>
            <a:endParaRPr lang="en-US" sz="3000" dirty="0"/>
          </a:p>
        </p:txBody>
      </p:sp>
      <p:pic>
        <p:nvPicPr>
          <p:cNvPr id="5" name="Content Placeholder 4" descr="Diagram&#10;&#10;Description automatically generated">
            <a:extLst>
              <a:ext uri="{FF2B5EF4-FFF2-40B4-BE49-F238E27FC236}">
                <a16:creationId xmlns:a16="http://schemas.microsoft.com/office/drawing/2014/main" id="{9199ABB3-4A36-AEE1-1FDF-0BE6DA3FBA05}"/>
              </a:ext>
            </a:extLst>
          </p:cNvPr>
          <p:cNvPicPr>
            <a:picLocks noChangeAspect="1"/>
          </p:cNvPicPr>
          <p:nvPr/>
        </p:nvPicPr>
        <p:blipFill rotWithShape="1">
          <a:blip r:embed="rId2"/>
          <a:srcRect r="3612"/>
          <a:stretch/>
        </p:blipFill>
        <p:spPr>
          <a:xfrm>
            <a:off x="4972584" y="354419"/>
            <a:ext cx="6411033" cy="1867025"/>
          </a:xfrm>
          <a:prstGeom prst="rect">
            <a:avLst/>
          </a:prstGeom>
        </p:spPr>
      </p:pic>
      <p:pic>
        <p:nvPicPr>
          <p:cNvPr id="23" name="Picture 22" descr="Graphical user interface&#10;&#10;Description automatically generated">
            <a:extLst>
              <a:ext uri="{FF2B5EF4-FFF2-40B4-BE49-F238E27FC236}">
                <a16:creationId xmlns:a16="http://schemas.microsoft.com/office/drawing/2014/main" id="{68D8CE39-65B8-4805-3BF0-B2D0D0F5DF6C}"/>
              </a:ext>
            </a:extLst>
          </p:cNvPr>
          <p:cNvPicPr>
            <a:picLocks noChangeAspect="1"/>
          </p:cNvPicPr>
          <p:nvPr/>
        </p:nvPicPr>
        <p:blipFill rotWithShape="1">
          <a:blip r:embed="rId3"/>
          <a:srcRect r="4170"/>
          <a:stretch/>
        </p:blipFill>
        <p:spPr>
          <a:xfrm>
            <a:off x="6639432" y="2136911"/>
            <a:ext cx="4200845" cy="3303612"/>
          </a:xfrm>
          <a:prstGeom prst="rect">
            <a:avLst/>
          </a:prstGeom>
        </p:spPr>
      </p:pic>
      <p:pic>
        <p:nvPicPr>
          <p:cNvPr id="6" name="Picture 5" descr="Diagram&#10;&#10;Description automatically generated with low confidence">
            <a:extLst>
              <a:ext uri="{FF2B5EF4-FFF2-40B4-BE49-F238E27FC236}">
                <a16:creationId xmlns:a16="http://schemas.microsoft.com/office/drawing/2014/main" id="{E6F9FB0D-3977-B0A2-BFFB-58469C41370E}"/>
              </a:ext>
            </a:extLst>
          </p:cNvPr>
          <p:cNvPicPr>
            <a:picLocks noChangeAspect="1"/>
          </p:cNvPicPr>
          <p:nvPr/>
        </p:nvPicPr>
        <p:blipFill>
          <a:blip r:embed="rId4"/>
          <a:stretch>
            <a:fillRect/>
          </a:stretch>
        </p:blipFill>
        <p:spPr>
          <a:xfrm>
            <a:off x="9199410" y="871834"/>
            <a:ext cx="2409494" cy="651347"/>
          </a:xfrm>
          <a:prstGeom prst="rect">
            <a:avLst/>
          </a:prstGeom>
          <a:ln>
            <a:solidFill>
              <a:schemeClr val="tx1"/>
            </a:solidFill>
          </a:ln>
        </p:spPr>
      </p:pic>
      <p:sp>
        <p:nvSpPr>
          <p:cNvPr id="7" name="Rectangle 6">
            <a:extLst>
              <a:ext uri="{FF2B5EF4-FFF2-40B4-BE49-F238E27FC236}">
                <a16:creationId xmlns:a16="http://schemas.microsoft.com/office/drawing/2014/main" id="{90C3BE49-C554-6E73-BB2D-6E2599633F86}"/>
              </a:ext>
            </a:extLst>
          </p:cNvPr>
          <p:cNvSpPr/>
          <p:nvPr/>
        </p:nvSpPr>
        <p:spPr>
          <a:xfrm>
            <a:off x="9324109" y="951467"/>
            <a:ext cx="748418" cy="261610"/>
          </a:xfrm>
          <a:prstGeom prst="rect">
            <a:avLst/>
          </a:prstGeom>
          <a:solidFill>
            <a:schemeClr val="bg1"/>
          </a:solidFill>
          <a:ln>
            <a:noFill/>
          </a:ln>
        </p:spPr>
        <p:txBody>
          <a:bodyPr wrap="square" lIns="91440" tIns="45720" rIns="91440" bIns="45720">
            <a:spAutoFit/>
          </a:bodyPr>
          <a:lstStyle/>
          <a:p>
            <a:pPr algn="ctr"/>
            <a:r>
              <a:rPr lang="en-US" sz="1100" b="0" cap="none" spc="0" dirty="0">
                <a:ln w="0"/>
                <a:solidFill>
                  <a:schemeClr val="accent2">
                    <a:lumMod val="50000"/>
                  </a:schemeClr>
                </a:solidFill>
                <a:effectLst>
                  <a:outerShdw blurRad="38100" dist="19050" dir="2700000" algn="tl" rotWithShape="0">
                    <a:schemeClr val="dk1">
                      <a:alpha val="40000"/>
                    </a:schemeClr>
                  </a:outerShdw>
                </a:effectLst>
              </a:rPr>
              <a:t>Nominal</a:t>
            </a:r>
            <a:endParaRPr lang="en-US" sz="4400" b="0" cap="none" spc="0" dirty="0">
              <a:ln w="0"/>
              <a:solidFill>
                <a:schemeClr val="accent2">
                  <a:lumMod val="50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40876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Visual Channels / Dimensions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8" y="864108"/>
            <a:ext cx="7315200" cy="5841492"/>
          </a:xfrm>
        </p:spPr>
        <p:txBody>
          <a:bodyPr anchor="t">
            <a:normAutofit/>
          </a:bodyPr>
          <a:lstStyle/>
          <a:p>
            <a:pPr marL="0" indent="0">
              <a:buNone/>
            </a:pPr>
            <a:r>
              <a:rPr lang="en-US" sz="3600" i="1" dirty="0"/>
              <a:t>Position</a:t>
            </a:r>
            <a:r>
              <a:rPr lang="en-US" sz="3000" i="1" dirty="0"/>
              <a:t> </a:t>
            </a:r>
          </a:p>
          <a:p>
            <a:r>
              <a:rPr lang="en-US" sz="2800" dirty="0"/>
              <a:t>Encode information using </a:t>
            </a:r>
            <a:r>
              <a:rPr lang="en-US" sz="2800" i="1" dirty="0"/>
              <a:t>where</a:t>
            </a:r>
            <a:r>
              <a:rPr lang="en-US" sz="2800" dirty="0"/>
              <a:t> mark is drawn</a:t>
            </a:r>
          </a:p>
          <a:p>
            <a:r>
              <a:rPr lang="en-US" sz="2800" dirty="0"/>
              <a:t>Ex. </a:t>
            </a:r>
          </a:p>
          <a:p>
            <a:pPr marL="0" indent="0">
              <a:buNone/>
            </a:pPr>
            <a:endParaRPr lang="en-US" sz="3000" dirty="0"/>
          </a:p>
          <a:p>
            <a:pPr lvl="1"/>
            <a:endParaRPr lang="en-US" sz="3000" dirty="0"/>
          </a:p>
        </p:txBody>
      </p:sp>
      <p:grpSp>
        <p:nvGrpSpPr>
          <p:cNvPr id="6" name="object 4">
            <a:extLst>
              <a:ext uri="{FF2B5EF4-FFF2-40B4-BE49-F238E27FC236}">
                <a16:creationId xmlns:a16="http://schemas.microsoft.com/office/drawing/2014/main" id="{650C4A2B-858D-7D2E-50E9-62802D0AA5CC}"/>
              </a:ext>
            </a:extLst>
          </p:cNvPr>
          <p:cNvGrpSpPr/>
          <p:nvPr/>
        </p:nvGrpSpPr>
        <p:grpSpPr>
          <a:xfrm>
            <a:off x="3624943" y="2304910"/>
            <a:ext cx="7997213" cy="3420110"/>
            <a:chOff x="304800" y="2599943"/>
            <a:chExt cx="8327390" cy="3420110"/>
          </a:xfrm>
        </p:grpSpPr>
        <p:pic>
          <p:nvPicPr>
            <p:cNvPr id="7" name="object 5">
              <a:extLst>
                <a:ext uri="{FF2B5EF4-FFF2-40B4-BE49-F238E27FC236}">
                  <a16:creationId xmlns:a16="http://schemas.microsoft.com/office/drawing/2014/main" id="{6327D2D6-E1E9-D1AC-6C31-989841216CAB}"/>
                </a:ext>
              </a:extLst>
            </p:cNvPr>
            <p:cNvPicPr/>
            <p:nvPr/>
          </p:nvPicPr>
          <p:blipFill>
            <a:blip r:embed="rId2" cstate="print"/>
            <a:stretch>
              <a:fillRect/>
            </a:stretch>
          </p:blipFill>
          <p:spPr>
            <a:xfrm>
              <a:off x="304800" y="3047999"/>
              <a:ext cx="2857500" cy="2857500"/>
            </a:xfrm>
            <a:prstGeom prst="rect">
              <a:avLst/>
            </a:prstGeom>
          </p:spPr>
        </p:pic>
        <p:pic>
          <p:nvPicPr>
            <p:cNvPr id="8" name="object 6">
              <a:extLst>
                <a:ext uri="{FF2B5EF4-FFF2-40B4-BE49-F238E27FC236}">
                  <a16:creationId xmlns:a16="http://schemas.microsoft.com/office/drawing/2014/main" id="{F62E343B-50EC-30EC-5173-2CB2FA896611}"/>
                </a:ext>
              </a:extLst>
            </p:cNvPr>
            <p:cNvPicPr/>
            <p:nvPr/>
          </p:nvPicPr>
          <p:blipFill>
            <a:blip r:embed="rId3" cstate="print"/>
            <a:stretch>
              <a:fillRect/>
            </a:stretch>
          </p:blipFill>
          <p:spPr>
            <a:xfrm>
              <a:off x="6629400" y="2599943"/>
              <a:ext cx="2002535" cy="3419855"/>
            </a:xfrm>
            <a:prstGeom prst="rect">
              <a:avLst/>
            </a:prstGeom>
          </p:spPr>
        </p:pic>
        <p:pic>
          <p:nvPicPr>
            <p:cNvPr id="9" name="object 7">
              <a:extLst>
                <a:ext uri="{FF2B5EF4-FFF2-40B4-BE49-F238E27FC236}">
                  <a16:creationId xmlns:a16="http://schemas.microsoft.com/office/drawing/2014/main" id="{20A26582-E828-197F-0A1F-CBB68529DC50}"/>
                </a:ext>
              </a:extLst>
            </p:cNvPr>
            <p:cNvPicPr/>
            <p:nvPr/>
          </p:nvPicPr>
          <p:blipFill>
            <a:blip r:embed="rId4" cstate="print"/>
            <a:stretch>
              <a:fillRect/>
            </a:stretch>
          </p:blipFill>
          <p:spPr>
            <a:xfrm>
              <a:off x="3048000" y="3026663"/>
              <a:ext cx="3581400" cy="2688336"/>
            </a:xfrm>
            <a:prstGeom prst="rect">
              <a:avLst/>
            </a:prstGeom>
          </p:spPr>
        </p:pic>
      </p:grpSp>
      <p:sp>
        <p:nvSpPr>
          <p:cNvPr id="5" name="Rounded Rectangular Callout 4">
            <a:extLst>
              <a:ext uri="{FF2B5EF4-FFF2-40B4-BE49-F238E27FC236}">
                <a16:creationId xmlns:a16="http://schemas.microsoft.com/office/drawing/2014/main" id="{3F319E3D-591B-7F95-09BD-8B5FA8D9ED9F}"/>
              </a:ext>
            </a:extLst>
          </p:cNvPr>
          <p:cNvSpPr/>
          <p:nvPr/>
        </p:nvSpPr>
        <p:spPr>
          <a:xfrm>
            <a:off x="5476612" y="6106510"/>
            <a:ext cx="2502463" cy="599090"/>
          </a:xfrm>
          <a:prstGeom prst="wedgeRoundRectCallout">
            <a:avLst>
              <a:gd name="adj1" fmla="val -10467"/>
              <a:gd name="adj2" fmla="val -132237"/>
              <a:gd name="adj3" fmla="val 16667"/>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along a common scale</a:t>
            </a:r>
          </a:p>
        </p:txBody>
      </p:sp>
      <p:sp>
        <p:nvSpPr>
          <p:cNvPr id="10" name="Rounded Rectangular Callout 9">
            <a:extLst>
              <a:ext uri="{FF2B5EF4-FFF2-40B4-BE49-F238E27FC236}">
                <a16:creationId xmlns:a16="http://schemas.microsoft.com/office/drawing/2014/main" id="{EF7873CE-7E78-ADE3-A430-985718835776}"/>
              </a:ext>
            </a:extLst>
          </p:cNvPr>
          <p:cNvSpPr/>
          <p:nvPr/>
        </p:nvSpPr>
        <p:spPr>
          <a:xfrm>
            <a:off x="9698775" y="6068037"/>
            <a:ext cx="1599846" cy="599090"/>
          </a:xfrm>
          <a:prstGeom prst="wedgeRoundRectCallout">
            <a:avLst>
              <a:gd name="adj1" fmla="val -17187"/>
              <a:gd name="adj2" fmla="val -95395"/>
              <a:gd name="adj3" fmla="val 16667"/>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spatial region</a:t>
            </a:r>
          </a:p>
        </p:txBody>
      </p:sp>
    </p:spTree>
    <p:extLst>
      <p:ext uri="{BB962C8B-B14F-4D97-AF65-F5344CB8AC3E}">
        <p14:creationId xmlns:p14="http://schemas.microsoft.com/office/powerpoint/2010/main" val="3106253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Visual Channels / Dimensions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8" y="864108"/>
            <a:ext cx="7315200" cy="5841492"/>
          </a:xfrm>
        </p:spPr>
        <p:txBody>
          <a:bodyPr anchor="t">
            <a:normAutofit/>
          </a:bodyPr>
          <a:lstStyle/>
          <a:p>
            <a:pPr marL="0" indent="0">
              <a:buNone/>
            </a:pPr>
            <a:r>
              <a:rPr lang="en-US" sz="3600" i="1" dirty="0"/>
              <a:t>Size / Area</a:t>
            </a:r>
            <a:r>
              <a:rPr lang="en-US" sz="3000" i="1" dirty="0"/>
              <a:t> </a:t>
            </a:r>
          </a:p>
          <a:p>
            <a:r>
              <a:rPr lang="en-US" sz="2800" dirty="0"/>
              <a:t>Encode information using </a:t>
            </a:r>
            <a:r>
              <a:rPr lang="en-US" sz="2800" i="1" dirty="0"/>
              <a:t>how big</a:t>
            </a:r>
            <a:r>
              <a:rPr lang="en-US" sz="2800" dirty="0"/>
              <a:t> mark is drawn</a:t>
            </a:r>
          </a:p>
          <a:p>
            <a:r>
              <a:rPr lang="en-US" sz="2800" dirty="0"/>
              <a:t>Ex. </a:t>
            </a:r>
          </a:p>
          <a:p>
            <a:pPr marL="0" indent="0">
              <a:buNone/>
            </a:pPr>
            <a:endParaRPr lang="en-US" sz="3000" dirty="0"/>
          </a:p>
          <a:p>
            <a:pPr lvl="1"/>
            <a:endParaRPr lang="en-US" sz="3000" dirty="0"/>
          </a:p>
        </p:txBody>
      </p:sp>
      <p:pic>
        <p:nvPicPr>
          <p:cNvPr id="11" name="Picture 10" descr="A diagram of a number of percents&#10;&#10;AI-generated content may be incorrect.">
            <a:extLst>
              <a:ext uri="{FF2B5EF4-FFF2-40B4-BE49-F238E27FC236}">
                <a16:creationId xmlns:a16="http://schemas.microsoft.com/office/drawing/2014/main" id="{2855DC51-E97D-A235-9CAF-BB7123D0D06B}"/>
              </a:ext>
            </a:extLst>
          </p:cNvPr>
          <p:cNvPicPr>
            <a:picLocks noChangeAspect="1"/>
          </p:cNvPicPr>
          <p:nvPr/>
        </p:nvPicPr>
        <p:blipFill>
          <a:blip r:embed="rId2"/>
          <a:stretch>
            <a:fillRect/>
          </a:stretch>
        </p:blipFill>
        <p:spPr>
          <a:xfrm>
            <a:off x="4696935" y="2469930"/>
            <a:ext cx="2798129" cy="4587766"/>
          </a:xfrm>
          <a:prstGeom prst="rect">
            <a:avLst/>
          </a:prstGeom>
        </p:spPr>
      </p:pic>
      <p:pic>
        <p:nvPicPr>
          <p:cNvPr id="13" name="Picture 12" descr="A green rectangular box with white text&#10;&#10;AI-generated content may be incorrect.">
            <a:extLst>
              <a:ext uri="{FF2B5EF4-FFF2-40B4-BE49-F238E27FC236}">
                <a16:creationId xmlns:a16="http://schemas.microsoft.com/office/drawing/2014/main" id="{D079DEB6-E323-9E5F-3116-2C842C27868B}"/>
              </a:ext>
            </a:extLst>
          </p:cNvPr>
          <p:cNvPicPr>
            <a:picLocks noChangeAspect="1"/>
          </p:cNvPicPr>
          <p:nvPr/>
        </p:nvPicPr>
        <p:blipFill>
          <a:blip r:embed="rId3"/>
          <a:stretch>
            <a:fillRect/>
          </a:stretch>
        </p:blipFill>
        <p:spPr>
          <a:xfrm>
            <a:off x="7388598" y="2677394"/>
            <a:ext cx="5018619" cy="3773445"/>
          </a:xfrm>
          <a:prstGeom prst="rect">
            <a:avLst/>
          </a:prstGeom>
        </p:spPr>
      </p:pic>
    </p:spTree>
    <p:extLst>
      <p:ext uri="{BB962C8B-B14F-4D97-AF65-F5344CB8AC3E}">
        <p14:creationId xmlns:p14="http://schemas.microsoft.com/office/powerpoint/2010/main" val="2419542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3CD61-3858-1D6F-D5EB-A3E0BFA53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3B5F9-948F-67EF-B53C-4F65B6377BE8}"/>
              </a:ext>
            </a:extLst>
          </p:cNvPr>
          <p:cNvSpPr>
            <a:spLocks noGrp="1"/>
          </p:cNvSpPr>
          <p:nvPr>
            <p:ph type="title"/>
          </p:nvPr>
        </p:nvSpPr>
        <p:spPr/>
        <p:txBody>
          <a:bodyPr/>
          <a:lstStyle/>
          <a:p>
            <a:r>
              <a:rPr lang="en-US" dirty="0"/>
              <a:t>Visual Channels / Dimensions</a:t>
            </a:r>
          </a:p>
        </p:txBody>
      </p:sp>
      <p:sp>
        <p:nvSpPr>
          <p:cNvPr id="3" name="Content Placeholder 2">
            <a:extLst>
              <a:ext uri="{FF2B5EF4-FFF2-40B4-BE49-F238E27FC236}">
                <a16:creationId xmlns:a16="http://schemas.microsoft.com/office/drawing/2014/main" id="{14336C9A-3A29-6ABD-5B60-20F0836A635F}"/>
              </a:ext>
            </a:extLst>
          </p:cNvPr>
          <p:cNvSpPr>
            <a:spLocks noGrp="1"/>
          </p:cNvSpPr>
          <p:nvPr>
            <p:ph idx="1"/>
          </p:nvPr>
        </p:nvSpPr>
        <p:spPr>
          <a:xfrm>
            <a:off x="3869268" y="864108"/>
            <a:ext cx="7315200" cy="5841492"/>
          </a:xfrm>
        </p:spPr>
        <p:txBody>
          <a:bodyPr anchor="t">
            <a:normAutofit/>
          </a:bodyPr>
          <a:lstStyle/>
          <a:p>
            <a:pPr marL="0" indent="0">
              <a:buNone/>
            </a:pPr>
            <a:r>
              <a:rPr lang="en-US" sz="3600" i="1" dirty="0"/>
              <a:t>Length</a:t>
            </a:r>
            <a:endParaRPr lang="en-US" sz="3000" i="1" dirty="0"/>
          </a:p>
          <a:p>
            <a:r>
              <a:rPr lang="en-US" sz="2800" dirty="0"/>
              <a:t>Encode information using </a:t>
            </a:r>
            <a:r>
              <a:rPr lang="en-US" sz="2800" i="1" dirty="0"/>
              <a:t>how long</a:t>
            </a:r>
            <a:r>
              <a:rPr lang="en-US" sz="2800" dirty="0"/>
              <a:t> mark is drawn</a:t>
            </a:r>
          </a:p>
          <a:p>
            <a:r>
              <a:rPr lang="en-US" sz="2800" dirty="0"/>
              <a:t>Ex. </a:t>
            </a:r>
          </a:p>
          <a:p>
            <a:pPr marL="0" indent="0">
              <a:buNone/>
            </a:pPr>
            <a:endParaRPr lang="en-US" sz="3000" dirty="0"/>
          </a:p>
          <a:p>
            <a:pPr lvl="1"/>
            <a:endParaRPr lang="en-US" sz="3000" dirty="0"/>
          </a:p>
        </p:txBody>
      </p:sp>
      <p:pic>
        <p:nvPicPr>
          <p:cNvPr id="8" name="object 5">
            <a:extLst>
              <a:ext uri="{FF2B5EF4-FFF2-40B4-BE49-F238E27FC236}">
                <a16:creationId xmlns:a16="http://schemas.microsoft.com/office/drawing/2014/main" id="{9B7C1B8A-303A-0C4B-81D9-CAD30CADFAAC}"/>
              </a:ext>
            </a:extLst>
          </p:cNvPr>
          <p:cNvPicPr/>
          <p:nvPr/>
        </p:nvPicPr>
        <p:blipFill>
          <a:blip r:embed="rId2" cstate="print"/>
          <a:stretch>
            <a:fillRect/>
          </a:stretch>
        </p:blipFill>
        <p:spPr>
          <a:xfrm>
            <a:off x="4088243" y="3010518"/>
            <a:ext cx="3358506" cy="2832374"/>
          </a:xfrm>
          <a:prstGeom prst="rect">
            <a:avLst/>
          </a:prstGeom>
        </p:spPr>
      </p:pic>
      <p:pic>
        <p:nvPicPr>
          <p:cNvPr id="10" name="Picture 9" descr="A poster of a prescription&#10;&#10;AI-generated content may be incorrect.">
            <a:extLst>
              <a:ext uri="{FF2B5EF4-FFF2-40B4-BE49-F238E27FC236}">
                <a16:creationId xmlns:a16="http://schemas.microsoft.com/office/drawing/2014/main" id="{44C5BBD0-9DB8-D326-7BAE-D1D851F08DA8}"/>
              </a:ext>
            </a:extLst>
          </p:cNvPr>
          <p:cNvPicPr>
            <a:picLocks noChangeAspect="1"/>
          </p:cNvPicPr>
          <p:nvPr/>
        </p:nvPicPr>
        <p:blipFill>
          <a:blip r:embed="rId3"/>
          <a:stretch>
            <a:fillRect/>
          </a:stretch>
        </p:blipFill>
        <p:spPr>
          <a:xfrm>
            <a:off x="7665724" y="2201140"/>
            <a:ext cx="3171431" cy="4451131"/>
          </a:xfrm>
          <a:prstGeom prst="rect">
            <a:avLst/>
          </a:prstGeom>
        </p:spPr>
      </p:pic>
    </p:spTree>
    <p:extLst>
      <p:ext uri="{BB962C8B-B14F-4D97-AF65-F5344CB8AC3E}">
        <p14:creationId xmlns:p14="http://schemas.microsoft.com/office/powerpoint/2010/main" val="15430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Visual Channels / Dimensions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8" y="864108"/>
            <a:ext cx="7315200" cy="5841492"/>
          </a:xfrm>
        </p:spPr>
        <p:txBody>
          <a:bodyPr anchor="t">
            <a:normAutofit/>
          </a:bodyPr>
          <a:lstStyle/>
          <a:p>
            <a:pPr marL="0" indent="0">
              <a:buNone/>
            </a:pPr>
            <a:r>
              <a:rPr lang="en-US" sz="3600" i="1" dirty="0"/>
              <a:t>Color: Luminance</a:t>
            </a:r>
            <a:r>
              <a:rPr lang="en-US" sz="3000" i="1" dirty="0"/>
              <a:t> </a:t>
            </a:r>
          </a:p>
          <a:p>
            <a:r>
              <a:rPr lang="en-US" sz="2800" dirty="0"/>
              <a:t>Encode information using </a:t>
            </a:r>
            <a:r>
              <a:rPr lang="en-US" sz="2800" i="1" dirty="0"/>
              <a:t>how dark</a:t>
            </a:r>
            <a:r>
              <a:rPr lang="en-US" sz="2800" dirty="0"/>
              <a:t> mark is drawn</a:t>
            </a:r>
          </a:p>
          <a:p>
            <a:r>
              <a:rPr lang="en-US" sz="2800" dirty="0"/>
              <a:t>Ex. </a:t>
            </a:r>
          </a:p>
          <a:p>
            <a:pPr marL="0" indent="0">
              <a:buNone/>
            </a:pPr>
            <a:endParaRPr lang="en-US" sz="3000" dirty="0"/>
          </a:p>
          <a:p>
            <a:pPr lvl="1"/>
            <a:endParaRPr lang="en-US" sz="3000" dirty="0"/>
          </a:p>
        </p:txBody>
      </p:sp>
      <p:pic>
        <p:nvPicPr>
          <p:cNvPr id="1028" name="Picture 4" descr="GEBCO Grayscale Basemap (NOAA NCEI Visualization) thumbnail">
            <a:extLst>
              <a:ext uri="{FF2B5EF4-FFF2-40B4-BE49-F238E27FC236}">
                <a16:creationId xmlns:a16="http://schemas.microsoft.com/office/drawing/2014/main" id="{C6744B98-DFA8-225C-114F-82D870FECA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1695" y="2423161"/>
            <a:ext cx="6286647" cy="4180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01385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56370-5193-0616-14DA-E74F27DF6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601F9-B247-3E38-BF24-B2A2FA8BF39E}"/>
              </a:ext>
            </a:extLst>
          </p:cNvPr>
          <p:cNvSpPr>
            <a:spLocks noGrp="1"/>
          </p:cNvSpPr>
          <p:nvPr>
            <p:ph type="title"/>
          </p:nvPr>
        </p:nvSpPr>
        <p:spPr/>
        <p:txBody>
          <a:bodyPr/>
          <a:lstStyle/>
          <a:p>
            <a:r>
              <a:rPr lang="en-US" dirty="0"/>
              <a:t>Visual Channels / Dimensions</a:t>
            </a:r>
          </a:p>
        </p:txBody>
      </p:sp>
      <p:sp>
        <p:nvSpPr>
          <p:cNvPr id="3" name="Content Placeholder 2">
            <a:extLst>
              <a:ext uri="{FF2B5EF4-FFF2-40B4-BE49-F238E27FC236}">
                <a16:creationId xmlns:a16="http://schemas.microsoft.com/office/drawing/2014/main" id="{BD4BD52C-B866-2664-D708-E44032032975}"/>
              </a:ext>
            </a:extLst>
          </p:cNvPr>
          <p:cNvSpPr>
            <a:spLocks noGrp="1"/>
          </p:cNvSpPr>
          <p:nvPr>
            <p:ph idx="1"/>
          </p:nvPr>
        </p:nvSpPr>
        <p:spPr>
          <a:xfrm>
            <a:off x="3869268" y="864108"/>
            <a:ext cx="7315200" cy="5841492"/>
          </a:xfrm>
        </p:spPr>
        <p:txBody>
          <a:bodyPr anchor="t">
            <a:normAutofit/>
          </a:bodyPr>
          <a:lstStyle/>
          <a:p>
            <a:pPr marL="0" indent="0">
              <a:buNone/>
            </a:pPr>
            <a:r>
              <a:rPr lang="en-US" sz="3600" i="1" dirty="0"/>
              <a:t>Color: Saturation</a:t>
            </a:r>
            <a:r>
              <a:rPr lang="en-US" sz="3000" i="1" dirty="0"/>
              <a:t> </a:t>
            </a:r>
          </a:p>
          <a:p>
            <a:r>
              <a:rPr lang="en-US" sz="2800" dirty="0"/>
              <a:t>Encode information using </a:t>
            </a:r>
            <a:r>
              <a:rPr lang="en-US" sz="2800" i="1" dirty="0"/>
              <a:t>how much color</a:t>
            </a:r>
            <a:r>
              <a:rPr lang="en-US" sz="2800" dirty="0"/>
              <a:t> mark has</a:t>
            </a:r>
          </a:p>
          <a:p>
            <a:r>
              <a:rPr lang="en-US" sz="2800" dirty="0"/>
              <a:t>Ex. </a:t>
            </a:r>
          </a:p>
          <a:p>
            <a:pPr marL="0" indent="0">
              <a:buNone/>
            </a:pPr>
            <a:endParaRPr lang="en-US" sz="3000" dirty="0"/>
          </a:p>
          <a:p>
            <a:pPr lvl="1"/>
            <a:endParaRPr lang="en-US" sz="3000" dirty="0"/>
          </a:p>
        </p:txBody>
      </p:sp>
      <p:pic>
        <p:nvPicPr>
          <p:cNvPr id="8" name="Picture 7" descr="A map of the united states of america&#10;&#10;AI-generated content may be incorrect.">
            <a:extLst>
              <a:ext uri="{FF2B5EF4-FFF2-40B4-BE49-F238E27FC236}">
                <a16:creationId xmlns:a16="http://schemas.microsoft.com/office/drawing/2014/main" id="{5D761B8C-75D3-AF1E-7A5C-12451E180309}"/>
              </a:ext>
            </a:extLst>
          </p:cNvPr>
          <p:cNvPicPr>
            <a:picLocks noChangeAspect="1"/>
          </p:cNvPicPr>
          <p:nvPr/>
        </p:nvPicPr>
        <p:blipFill>
          <a:blip r:embed="rId2"/>
          <a:stretch>
            <a:fillRect/>
          </a:stretch>
        </p:blipFill>
        <p:spPr>
          <a:xfrm>
            <a:off x="4729654" y="2317205"/>
            <a:ext cx="6317593" cy="4388395"/>
          </a:xfrm>
          <a:prstGeom prst="rect">
            <a:avLst/>
          </a:prstGeom>
        </p:spPr>
      </p:pic>
    </p:spTree>
    <p:extLst>
      <p:ext uri="{BB962C8B-B14F-4D97-AF65-F5344CB8AC3E}">
        <p14:creationId xmlns:p14="http://schemas.microsoft.com/office/powerpoint/2010/main" val="1066559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Visual Channels / Dimensions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8" y="864108"/>
            <a:ext cx="7315200" cy="5841492"/>
          </a:xfrm>
        </p:spPr>
        <p:txBody>
          <a:bodyPr anchor="t">
            <a:normAutofit/>
          </a:bodyPr>
          <a:lstStyle/>
          <a:p>
            <a:pPr marL="0" indent="0">
              <a:buNone/>
            </a:pPr>
            <a:r>
              <a:rPr lang="en-US" sz="3600" i="1" dirty="0"/>
              <a:t>Color: Hue</a:t>
            </a:r>
            <a:r>
              <a:rPr lang="en-US" sz="3000" i="1" dirty="0"/>
              <a:t> </a:t>
            </a:r>
          </a:p>
          <a:p>
            <a:r>
              <a:rPr lang="en-US" sz="2800" dirty="0"/>
              <a:t>Encode information using </a:t>
            </a:r>
            <a:r>
              <a:rPr lang="en-US" sz="2800" i="1" dirty="0"/>
              <a:t>hue </a:t>
            </a:r>
            <a:r>
              <a:rPr lang="en-US" sz="2800" dirty="0"/>
              <a:t>of mark</a:t>
            </a:r>
          </a:p>
          <a:p>
            <a:r>
              <a:rPr lang="en-US" sz="2800" dirty="0"/>
              <a:t>Ex. </a:t>
            </a:r>
          </a:p>
          <a:p>
            <a:pPr marL="0" indent="0">
              <a:buNone/>
            </a:pPr>
            <a:endParaRPr lang="en-US" sz="3000" dirty="0"/>
          </a:p>
          <a:p>
            <a:pPr lvl="1"/>
            <a:endParaRPr lang="en-US" sz="3000" dirty="0"/>
          </a:p>
        </p:txBody>
      </p:sp>
      <p:pic>
        <p:nvPicPr>
          <p:cNvPr id="4" name="object 4">
            <a:extLst>
              <a:ext uri="{FF2B5EF4-FFF2-40B4-BE49-F238E27FC236}">
                <a16:creationId xmlns:a16="http://schemas.microsoft.com/office/drawing/2014/main" id="{05298C36-BE84-72FF-F457-FE51301A78B0}"/>
              </a:ext>
            </a:extLst>
          </p:cNvPr>
          <p:cNvPicPr/>
          <p:nvPr/>
        </p:nvPicPr>
        <p:blipFill>
          <a:blip r:embed="rId2" cstate="print"/>
          <a:stretch>
            <a:fillRect/>
          </a:stretch>
        </p:blipFill>
        <p:spPr>
          <a:xfrm>
            <a:off x="7663989" y="2970037"/>
            <a:ext cx="4035619" cy="2754983"/>
          </a:xfrm>
          <a:prstGeom prst="rect">
            <a:avLst/>
          </a:prstGeom>
        </p:spPr>
      </p:pic>
      <p:pic>
        <p:nvPicPr>
          <p:cNvPr id="5" name="object 5">
            <a:extLst>
              <a:ext uri="{FF2B5EF4-FFF2-40B4-BE49-F238E27FC236}">
                <a16:creationId xmlns:a16="http://schemas.microsoft.com/office/drawing/2014/main" id="{58AEFA85-8E9A-B3F5-5E38-9773C2AC4DD2}"/>
              </a:ext>
            </a:extLst>
          </p:cNvPr>
          <p:cNvPicPr/>
          <p:nvPr/>
        </p:nvPicPr>
        <p:blipFill>
          <a:blip r:embed="rId3" cstate="print"/>
          <a:stretch>
            <a:fillRect/>
          </a:stretch>
        </p:blipFill>
        <p:spPr>
          <a:xfrm>
            <a:off x="3588026" y="2502943"/>
            <a:ext cx="3758184" cy="3334511"/>
          </a:xfrm>
          <a:prstGeom prst="rect">
            <a:avLst/>
          </a:prstGeom>
        </p:spPr>
      </p:pic>
    </p:spTree>
    <p:extLst>
      <p:ext uri="{BB962C8B-B14F-4D97-AF65-F5344CB8AC3E}">
        <p14:creationId xmlns:p14="http://schemas.microsoft.com/office/powerpoint/2010/main" val="1925315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Visual Channels / Dimensions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8" y="864108"/>
            <a:ext cx="7315200" cy="5841492"/>
          </a:xfrm>
        </p:spPr>
        <p:txBody>
          <a:bodyPr anchor="t">
            <a:normAutofit/>
          </a:bodyPr>
          <a:lstStyle/>
          <a:p>
            <a:pPr marL="0" indent="0">
              <a:buNone/>
            </a:pPr>
            <a:r>
              <a:rPr lang="en-US" sz="3600" i="1" dirty="0"/>
              <a:t>Orientation</a:t>
            </a:r>
            <a:r>
              <a:rPr lang="en-US" sz="3000" i="1" dirty="0"/>
              <a:t> / Tilt / Angle</a:t>
            </a:r>
          </a:p>
          <a:p>
            <a:r>
              <a:rPr lang="en-US" sz="2800" dirty="0"/>
              <a:t>Encode information using how mark is </a:t>
            </a:r>
            <a:r>
              <a:rPr lang="en-US" sz="2800" i="1" dirty="0"/>
              <a:t>rotated</a:t>
            </a:r>
          </a:p>
          <a:p>
            <a:r>
              <a:rPr lang="en-US" sz="2800" dirty="0"/>
              <a:t>Ex. </a:t>
            </a:r>
          </a:p>
          <a:p>
            <a:pPr marL="0" indent="0">
              <a:buNone/>
            </a:pPr>
            <a:endParaRPr lang="en-US" sz="3000" dirty="0"/>
          </a:p>
          <a:p>
            <a:pPr lvl="1"/>
            <a:endParaRPr lang="en-US" sz="3000" dirty="0"/>
          </a:p>
        </p:txBody>
      </p:sp>
      <p:pic>
        <p:nvPicPr>
          <p:cNvPr id="4" name="object 4">
            <a:extLst>
              <a:ext uri="{FF2B5EF4-FFF2-40B4-BE49-F238E27FC236}">
                <a16:creationId xmlns:a16="http://schemas.microsoft.com/office/drawing/2014/main" id="{5A705B33-401D-7D0C-26E4-625C1049058F}"/>
              </a:ext>
            </a:extLst>
          </p:cNvPr>
          <p:cNvPicPr/>
          <p:nvPr/>
        </p:nvPicPr>
        <p:blipFill>
          <a:blip r:embed="rId2" cstate="print"/>
          <a:stretch>
            <a:fillRect/>
          </a:stretch>
        </p:blipFill>
        <p:spPr>
          <a:xfrm>
            <a:off x="3538331" y="2710069"/>
            <a:ext cx="4159792" cy="2807046"/>
          </a:xfrm>
          <a:prstGeom prst="rect">
            <a:avLst/>
          </a:prstGeom>
        </p:spPr>
      </p:pic>
      <p:pic>
        <p:nvPicPr>
          <p:cNvPr id="5" name="object 5">
            <a:extLst>
              <a:ext uri="{FF2B5EF4-FFF2-40B4-BE49-F238E27FC236}">
                <a16:creationId xmlns:a16="http://schemas.microsoft.com/office/drawing/2014/main" id="{63E1AD40-7B41-3F73-BDBC-33DDFF9881F3}"/>
              </a:ext>
            </a:extLst>
          </p:cNvPr>
          <p:cNvPicPr/>
          <p:nvPr/>
        </p:nvPicPr>
        <p:blipFill>
          <a:blip r:embed="rId3" cstate="print"/>
          <a:stretch>
            <a:fillRect/>
          </a:stretch>
        </p:blipFill>
        <p:spPr>
          <a:xfrm>
            <a:off x="8003041" y="2797851"/>
            <a:ext cx="3730752" cy="2551175"/>
          </a:xfrm>
          <a:prstGeom prst="rect">
            <a:avLst/>
          </a:prstGeom>
        </p:spPr>
      </p:pic>
    </p:spTree>
    <p:extLst>
      <p:ext uri="{BB962C8B-B14F-4D97-AF65-F5344CB8AC3E}">
        <p14:creationId xmlns:p14="http://schemas.microsoft.com/office/powerpoint/2010/main" val="2187258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Visual Channels / Dimensions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8" y="864108"/>
            <a:ext cx="7315200" cy="5841492"/>
          </a:xfrm>
        </p:spPr>
        <p:txBody>
          <a:bodyPr anchor="t">
            <a:normAutofit/>
          </a:bodyPr>
          <a:lstStyle/>
          <a:p>
            <a:pPr marL="0" indent="0">
              <a:buNone/>
            </a:pPr>
            <a:r>
              <a:rPr lang="en-US" sz="3600" i="1" dirty="0"/>
              <a:t>Shape</a:t>
            </a:r>
            <a:r>
              <a:rPr lang="en-US" sz="3000" i="1" dirty="0"/>
              <a:t> </a:t>
            </a:r>
          </a:p>
          <a:p>
            <a:r>
              <a:rPr lang="en-US" sz="2800" dirty="0"/>
              <a:t>Encode information using how mark is </a:t>
            </a:r>
            <a:r>
              <a:rPr lang="en-US" sz="2800" i="1" dirty="0"/>
              <a:t>shaped</a:t>
            </a:r>
          </a:p>
          <a:p>
            <a:r>
              <a:rPr lang="en-US" sz="2800" dirty="0"/>
              <a:t>Ex. </a:t>
            </a:r>
          </a:p>
          <a:p>
            <a:pPr marL="0" indent="0">
              <a:buNone/>
            </a:pPr>
            <a:endParaRPr lang="en-US" sz="3000" dirty="0"/>
          </a:p>
          <a:p>
            <a:pPr lvl="1"/>
            <a:endParaRPr lang="en-US" sz="3000" dirty="0"/>
          </a:p>
        </p:txBody>
      </p:sp>
      <p:pic>
        <p:nvPicPr>
          <p:cNvPr id="4" name="object 4">
            <a:extLst>
              <a:ext uri="{FF2B5EF4-FFF2-40B4-BE49-F238E27FC236}">
                <a16:creationId xmlns:a16="http://schemas.microsoft.com/office/drawing/2014/main" id="{1D023853-71BA-59EF-04B0-6A3A08D538E2}"/>
              </a:ext>
            </a:extLst>
          </p:cNvPr>
          <p:cNvPicPr/>
          <p:nvPr/>
        </p:nvPicPr>
        <p:blipFill>
          <a:blip r:embed="rId2" cstate="print"/>
          <a:stretch>
            <a:fillRect/>
          </a:stretch>
        </p:blipFill>
        <p:spPr>
          <a:xfrm>
            <a:off x="6966937" y="2787861"/>
            <a:ext cx="2377439" cy="2380487"/>
          </a:xfrm>
          <a:prstGeom prst="rect">
            <a:avLst/>
          </a:prstGeom>
        </p:spPr>
      </p:pic>
      <p:pic>
        <p:nvPicPr>
          <p:cNvPr id="5" name="object 5">
            <a:extLst>
              <a:ext uri="{FF2B5EF4-FFF2-40B4-BE49-F238E27FC236}">
                <a16:creationId xmlns:a16="http://schemas.microsoft.com/office/drawing/2014/main" id="{E9FFD80B-EDAB-E6EE-268F-9E79CD253EEB}"/>
              </a:ext>
            </a:extLst>
          </p:cNvPr>
          <p:cNvPicPr/>
          <p:nvPr/>
        </p:nvPicPr>
        <p:blipFill>
          <a:blip r:embed="rId3" cstate="print"/>
          <a:stretch>
            <a:fillRect/>
          </a:stretch>
        </p:blipFill>
        <p:spPr>
          <a:xfrm>
            <a:off x="9206948" y="2729948"/>
            <a:ext cx="2438400" cy="2438400"/>
          </a:xfrm>
          <a:prstGeom prst="rect">
            <a:avLst/>
          </a:prstGeom>
        </p:spPr>
      </p:pic>
      <p:pic>
        <p:nvPicPr>
          <p:cNvPr id="1026" name="Picture 2" descr="gender neutral bathroom sign - Clip Art Library">
            <a:extLst>
              <a:ext uri="{FF2B5EF4-FFF2-40B4-BE49-F238E27FC236}">
                <a16:creationId xmlns:a16="http://schemas.microsoft.com/office/drawing/2014/main" id="{550E4C68-0355-1B0D-31A7-271501E15A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4763" y="2848820"/>
            <a:ext cx="3097669" cy="206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24465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7" y="864108"/>
            <a:ext cx="7779393" cy="5841492"/>
          </a:xfrm>
        </p:spPr>
        <p:txBody>
          <a:bodyPr anchor="t">
            <a:normAutofit/>
          </a:bodyPr>
          <a:lstStyle/>
          <a:p>
            <a:r>
              <a:rPr lang="en-US" sz="3200" dirty="0"/>
              <a:t>Remember… </a:t>
            </a:r>
            <a:r>
              <a:rPr lang="en-US" sz="3200" b="1" dirty="0"/>
              <a:t>Big idea behind visualization</a:t>
            </a:r>
          </a:p>
          <a:p>
            <a:pPr lvl="1"/>
            <a:r>
              <a:rPr lang="en-US" sz="3000" b="1" dirty="0">
                <a:effectLst>
                  <a:glow rad="228600">
                    <a:schemeClr val="accent3">
                      <a:satMod val="175000"/>
                      <a:alpha val="40000"/>
                    </a:schemeClr>
                  </a:glow>
                </a:effectLst>
              </a:rPr>
              <a:t>Visual Encoding: </a:t>
            </a:r>
            <a:r>
              <a:rPr lang="en-US" sz="3000" dirty="0"/>
              <a:t>Map data dimensions  to visual dimensions in a principled way</a:t>
            </a:r>
            <a:endParaRPr lang="en-US" sz="3000" b="1" dirty="0"/>
          </a:p>
        </p:txBody>
      </p:sp>
    </p:spTree>
    <p:extLst>
      <p:ext uri="{BB962C8B-B14F-4D97-AF65-F5344CB8AC3E}">
        <p14:creationId xmlns:p14="http://schemas.microsoft.com/office/powerpoint/2010/main" val="521826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7" y="864108"/>
            <a:ext cx="7779393" cy="5841492"/>
          </a:xfrm>
        </p:spPr>
        <p:txBody>
          <a:bodyPr anchor="t">
            <a:normAutofit/>
          </a:bodyPr>
          <a:lstStyle/>
          <a:p>
            <a:r>
              <a:rPr lang="en-US" sz="2400" dirty="0"/>
              <a:t>Remember… </a:t>
            </a:r>
            <a:r>
              <a:rPr lang="en-US" sz="2400" b="1" dirty="0"/>
              <a:t>Big idea behind visualization</a:t>
            </a:r>
          </a:p>
          <a:p>
            <a:pPr lvl="1"/>
            <a:r>
              <a:rPr lang="en-US" sz="2400" b="1" dirty="0">
                <a:effectLst>
                  <a:glow rad="228600">
                    <a:schemeClr val="accent3">
                      <a:satMod val="175000"/>
                      <a:alpha val="40000"/>
                    </a:schemeClr>
                  </a:glow>
                </a:effectLst>
              </a:rPr>
              <a:t>Visual Encoding: </a:t>
            </a:r>
            <a:r>
              <a:rPr lang="en-US" sz="2400" dirty="0"/>
              <a:t>Map data dimensions  to visual dimensions in a principled way </a:t>
            </a:r>
          </a:p>
        </p:txBody>
      </p:sp>
      <p:pic>
        <p:nvPicPr>
          <p:cNvPr id="4" name="Content Placeholder 4" descr="Diagram&#10;&#10;Description automatically generated">
            <a:extLst>
              <a:ext uri="{FF2B5EF4-FFF2-40B4-BE49-F238E27FC236}">
                <a16:creationId xmlns:a16="http://schemas.microsoft.com/office/drawing/2014/main" id="{C9C93A0E-886E-D52F-CE30-A98C26206767}"/>
              </a:ext>
            </a:extLst>
          </p:cNvPr>
          <p:cNvPicPr>
            <a:picLocks noChangeAspect="1"/>
          </p:cNvPicPr>
          <p:nvPr/>
        </p:nvPicPr>
        <p:blipFill rotWithShape="1">
          <a:blip r:embed="rId3"/>
          <a:srcRect l="-1" r="67650"/>
          <a:stretch/>
        </p:blipFill>
        <p:spPr>
          <a:xfrm>
            <a:off x="4117341" y="1983459"/>
            <a:ext cx="1846136" cy="1601849"/>
          </a:xfrm>
          <a:prstGeom prst="rect">
            <a:avLst/>
          </a:prstGeom>
        </p:spPr>
      </p:pic>
      <p:pic>
        <p:nvPicPr>
          <p:cNvPr id="9" name="Content Placeholder 4" descr="Diagram&#10;&#10;Description automatically generated">
            <a:extLst>
              <a:ext uri="{FF2B5EF4-FFF2-40B4-BE49-F238E27FC236}">
                <a16:creationId xmlns:a16="http://schemas.microsoft.com/office/drawing/2014/main" id="{D564A240-23A3-E853-52DD-B8CD1C414C20}"/>
              </a:ext>
            </a:extLst>
          </p:cNvPr>
          <p:cNvPicPr>
            <a:picLocks noChangeAspect="1"/>
          </p:cNvPicPr>
          <p:nvPr/>
        </p:nvPicPr>
        <p:blipFill rotWithShape="1">
          <a:blip r:embed="rId3"/>
          <a:srcRect l="32351" r="35298"/>
          <a:stretch/>
        </p:blipFill>
        <p:spPr>
          <a:xfrm>
            <a:off x="4117341" y="3446558"/>
            <a:ext cx="1957981" cy="1698895"/>
          </a:xfrm>
          <a:prstGeom prst="rect">
            <a:avLst/>
          </a:prstGeom>
        </p:spPr>
      </p:pic>
      <p:pic>
        <p:nvPicPr>
          <p:cNvPr id="11" name="Content Placeholder 4" descr="Diagram&#10;&#10;Description automatically generated">
            <a:extLst>
              <a:ext uri="{FF2B5EF4-FFF2-40B4-BE49-F238E27FC236}">
                <a16:creationId xmlns:a16="http://schemas.microsoft.com/office/drawing/2014/main" id="{CCCDD8B4-04AE-0482-6EF3-E47FD2E51C01}"/>
              </a:ext>
            </a:extLst>
          </p:cNvPr>
          <p:cNvPicPr>
            <a:picLocks noChangeAspect="1"/>
          </p:cNvPicPr>
          <p:nvPr/>
        </p:nvPicPr>
        <p:blipFill rotWithShape="1">
          <a:blip r:embed="rId3"/>
          <a:srcRect l="65026" r="3612"/>
          <a:stretch/>
        </p:blipFill>
        <p:spPr>
          <a:xfrm>
            <a:off x="4117341" y="5048407"/>
            <a:ext cx="1957981" cy="1752473"/>
          </a:xfrm>
          <a:prstGeom prst="rect">
            <a:avLst/>
          </a:prstGeom>
        </p:spPr>
      </p:pic>
      <p:pic>
        <p:nvPicPr>
          <p:cNvPr id="12" name="Picture 11" descr="Diagram&#10;&#10;Description automatically generated with low confidence">
            <a:extLst>
              <a:ext uri="{FF2B5EF4-FFF2-40B4-BE49-F238E27FC236}">
                <a16:creationId xmlns:a16="http://schemas.microsoft.com/office/drawing/2014/main" id="{3C3FDAC5-1051-FB25-C4A9-A5317D361E99}"/>
              </a:ext>
            </a:extLst>
          </p:cNvPr>
          <p:cNvPicPr>
            <a:picLocks noChangeAspect="1"/>
          </p:cNvPicPr>
          <p:nvPr/>
        </p:nvPicPr>
        <p:blipFill>
          <a:blip r:embed="rId4"/>
          <a:stretch>
            <a:fillRect/>
          </a:stretch>
        </p:blipFill>
        <p:spPr>
          <a:xfrm>
            <a:off x="3891584" y="5485964"/>
            <a:ext cx="2409494" cy="651347"/>
          </a:xfrm>
          <a:prstGeom prst="rect">
            <a:avLst/>
          </a:prstGeom>
          <a:ln>
            <a:solidFill>
              <a:schemeClr val="tx1"/>
            </a:solidFill>
          </a:ln>
        </p:spPr>
      </p:pic>
      <p:sp>
        <p:nvSpPr>
          <p:cNvPr id="13" name="Right Arrow 12">
            <a:extLst>
              <a:ext uri="{FF2B5EF4-FFF2-40B4-BE49-F238E27FC236}">
                <a16:creationId xmlns:a16="http://schemas.microsoft.com/office/drawing/2014/main" id="{C4AD24C0-2177-FD74-FFDB-9FB6A2828DB0}"/>
              </a:ext>
            </a:extLst>
          </p:cNvPr>
          <p:cNvSpPr/>
          <p:nvPr/>
        </p:nvSpPr>
        <p:spPr>
          <a:xfrm>
            <a:off x="6264454" y="3916612"/>
            <a:ext cx="1782748" cy="5228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Question Mark with solid fill">
            <a:extLst>
              <a:ext uri="{FF2B5EF4-FFF2-40B4-BE49-F238E27FC236}">
                <a16:creationId xmlns:a16="http://schemas.microsoft.com/office/drawing/2014/main" id="{DE9BF950-5B12-80E5-F825-37E4E2B941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98628" y="3784854"/>
            <a:ext cx="914400" cy="914400"/>
          </a:xfrm>
          <a:prstGeom prst="rect">
            <a:avLst/>
          </a:prstGeom>
        </p:spPr>
      </p:pic>
      <p:grpSp>
        <p:nvGrpSpPr>
          <p:cNvPr id="19" name="Group 18">
            <a:extLst>
              <a:ext uri="{FF2B5EF4-FFF2-40B4-BE49-F238E27FC236}">
                <a16:creationId xmlns:a16="http://schemas.microsoft.com/office/drawing/2014/main" id="{F4DA79CF-AF26-DA96-51EE-1DF56C8088DD}"/>
              </a:ext>
            </a:extLst>
          </p:cNvPr>
          <p:cNvGrpSpPr/>
          <p:nvPr/>
        </p:nvGrpSpPr>
        <p:grpSpPr>
          <a:xfrm>
            <a:off x="8068171" y="2014989"/>
            <a:ext cx="3580489" cy="4038371"/>
            <a:chOff x="8099752" y="2268137"/>
            <a:chExt cx="3580489" cy="4038371"/>
          </a:xfrm>
        </p:grpSpPr>
        <p:pic>
          <p:nvPicPr>
            <p:cNvPr id="2050"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A9D7800D-1A71-DEC1-232B-FF2AC8E26CA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63606" r="53150" b="17230"/>
            <a:stretch/>
          </p:blipFill>
          <p:spPr bwMode="auto">
            <a:xfrm>
              <a:off x="8099752" y="4439477"/>
              <a:ext cx="3569979" cy="99788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A6818CB5-CC32-BA9C-C950-253C937285B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8229" t="20002" r="23604" b="72810"/>
            <a:stretch/>
          </p:blipFill>
          <p:spPr bwMode="auto">
            <a:xfrm>
              <a:off x="8211597" y="5437361"/>
              <a:ext cx="1384348" cy="37427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E597DA02-C3AB-14B0-81A3-8440530F60B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8229" t="38364" r="30362" b="54448"/>
            <a:stretch/>
          </p:blipFill>
          <p:spPr bwMode="auto">
            <a:xfrm>
              <a:off x="8211597" y="5882183"/>
              <a:ext cx="869341" cy="37427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C2699FE2-3482-9A94-7A59-CE59830EB15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8672" t="38364" r="3535" b="52769"/>
            <a:stretch/>
          </p:blipFill>
          <p:spPr bwMode="auto">
            <a:xfrm>
              <a:off x="10313933" y="5844757"/>
              <a:ext cx="1355798" cy="46175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2512EE7A-AD98-A191-0335-2B6EAE7E7C6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8673" t="20002" r="3810" b="72810"/>
            <a:stretch/>
          </p:blipFill>
          <p:spPr bwMode="auto">
            <a:xfrm>
              <a:off x="10313933" y="5472634"/>
              <a:ext cx="1334728" cy="37427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FB1294F0-726E-8EC7-214F-C5878A191F1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1634" r="53150" b="45657"/>
            <a:stretch/>
          </p:blipFill>
          <p:spPr bwMode="auto">
            <a:xfrm>
              <a:off x="8110262" y="2268137"/>
              <a:ext cx="3569979" cy="22238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42390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EB92EB5-C40C-C135-17AC-F23B0F596D27}"/>
              </a:ext>
            </a:extLst>
          </p:cNvPr>
          <p:cNvGrpSpPr/>
          <p:nvPr/>
        </p:nvGrpSpPr>
        <p:grpSpPr>
          <a:xfrm>
            <a:off x="8068171" y="2014989"/>
            <a:ext cx="3580489" cy="4038371"/>
            <a:chOff x="8099752" y="2268137"/>
            <a:chExt cx="3580489" cy="4038371"/>
          </a:xfrm>
        </p:grpSpPr>
        <p:pic>
          <p:nvPicPr>
            <p:cNvPr id="21"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85C393A1-47AE-F319-51DE-413C2A1C8D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606" r="53150" b="17230"/>
            <a:stretch/>
          </p:blipFill>
          <p:spPr bwMode="auto">
            <a:xfrm>
              <a:off x="8099752" y="4439477"/>
              <a:ext cx="3569979" cy="99788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685106B5-C99F-F35D-9010-97CEDB0541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229" t="20002" r="23604" b="72810"/>
            <a:stretch/>
          </p:blipFill>
          <p:spPr bwMode="auto">
            <a:xfrm>
              <a:off x="8211597" y="5437361"/>
              <a:ext cx="1384348" cy="37427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5B14E7CA-B57B-FF8B-FAA6-BF2ADF7354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229" t="38364" r="30362" b="54448"/>
            <a:stretch/>
          </p:blipFill>
          <p:spPr bwMode="auto">
            <a:xfrm>
              <a:off x="8211597" y="5882183"/>
              <a:ext cx="869341" cy="37427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FF7133BA-6E98-8797-1DCC-732B414F5E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72" t="38364" r="3535" b="52769"/>
            <a:stretch/>
          </p:blipFill>
          <p:spPr bwMode="auto">
            <a:xfrm>
              <a:off x="10313933" y="5844757"/>
              <a:ext cx="1355798" cy="46175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9D546912-6516-DCAE-1E81-B32B7D616E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73" t="20002" r="3810" b="72810"/>
            <a:stretch/>
          </p:blipFill>
          <p:spPr bwMode="auto">
            <a:xfrm>
              <a:off x="10313933" y="5472634"/>
              <a:ext cx="1334728" cy="37427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9F2F6353-B685-6E29-E834-CAE6013353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34" r="53150" b="45657"/>
            <a:stretch/>
          </p:blipFill>
          <p:spPr bwMode="auto">
            <a:xfrm>
              <a:off x="8110262" y="2268137"/>
              <a:ext cx="3569979" cy="2223890"/>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869267" y="864108"/>
            <a:ext cx="7779393" cy="5841492"/>
          </a:xfrm>
        </p:spPr>
        <p:txBody>
          <a:bodyPr anchor="t">
            <a:normAutofit/>
          </a:bodyPr>
          <a:lstStyle/>
          <a:p>
            <a:r>
              <a:rPr lang="en-US" sz="2400" dirty="0"/>
              <a:t>Remember… </a:t>
            </a:r>
            <a:r>
              <a:rPr lang="en-US" sz="2400" b="1" dirty="0"/>
              <a:t>Big idea behind visualization</a:t>
            </a:r>
          </a:p>
          <a:p>
            <a:pPr lvl="1"/>
            <a:r>
              <a:rPr lang="en-US" sz="2400" b="1" dirty="0">
                <a:effectLst>
                  <a:glow rad="228600">
                    <a:schemeClr val="accent3">
                      <a:satMod val="175000"/>
                      <a:alpha val="40000"/>
                    </a:schemeClr>
                  </a:glow>
                </a:effectLst>
              </a:rPr>
              <a:t>Visual Encoding: </a:t>
            </a:r>
            <a:r>
              <a:rPr lang="en-US" sz="2400" dirty="0"/>
              <a:t>Map data dimensions  to visual dimensions in a principled way </a:t>
            </a:r>
          </a:p>
        </p:txBody>
      </p:sp>
      <p:pic>
        <p:nvPicPr>
          <p:cNvPr id="4" name="Content Placeholder 4" descr="Diagram&#10;&#10;Description automatically generated">
            <a:extLst>
              <a:ext uri="{FF2B5EF4-FFF2-40B4-BE49-F238E27FC236}">
                <a16:creationId xmlns:a16="http://schemas.microsoft.com/office/drawing/2014/main" id="{C9C93A0E-886E-D52F-CE30-A98C26206767}"/>
              </a:ext>
            </a:extLst>
          </p:cNvPr>
          <p:cNvPicPr>
            <a:picLocks noChangeAspect="1"/>
          </p:cNvPicPr>
          <p:nvPr/>
        </p:nvPicPr>
        <p:blipFill rotWithShape="1">
          <a:blip r:embed="rId3"/>
          <a:srcRect l="-1" r="67650"/>
          <a:stretch/>
        </p:blipFill>
        <p:spPr>
          <a:xfrm>
            <a:off x="4117341" y="1983459"/>
            <a:ext cx="1846136" cy="1601849"/>
          </a:xfrm>
          <a:prstGeom prst="rect">
            <a:avLst/>
          </a:prstGeom>
        </p:spPr>
      </p:pic>
      <p:pic>
        <p:nvPicPr>
          <p:cNvPr id="9" name="Content Placeholder 4" descr="Diagram&#10;&#10;Description automatically generated">
            <a:extLst>
              <a:ext uri="{FF2B5EF4-FFF2-40B4-BE49-F238E27FC236}">
                <a16:creationId xmlns:a16="http://schemas.microsoft.com/office/drawing/2014/main" id="{D564A240-23A3-E853-52DD-B8CD1C414C20}"/>
              </a:ext>
            </a:extLst>
          </p:cNvPr>
          <p:cNvPicPr>
            <a:picLocks noChangeAspect="1"/>
          </p:cNvPicPr>
          <p:nvPr/>
        </p:nvPicPr>
        <p:blipFill rotWithShape="1">
          <a:blip r:embed="rId3"/>
          <a:srcRect l="32351" r="35298"/>
          <a:stretch/>
        </p:blipFill>
        <p:spPr>
          <a:xfrm>
            <a:off x="4117341" y="3446558"/>
            <a:ext cx="1957981" cy="1698895"/>
          </a:xfrm>
          <a:prstGeom prst="rect">
            <a:avLst/>
          </a:prstGeom>
        </p:spPr>
      </p:pic>
      <p:pic>
        <p:nvPicPr>
          <p:cNvPr id="11" name="Content Placeholder 4" descr="Diagram&#10;&#10;Description automatically generated">
            <a:extLst>
              <a:ext uri="{FF2B5EF4-FFF2-40B4-BE49-F238E27FC236}">
                <a16:creationId xmlns:a16="http://schemas.microsoft.com/office/drawing/2014/main" id="{CCCDD8B4-04AE-0482-6EF3-E47FD2E51C01}"/>
              </a:ext>
            </a:extLst>
          </p:cNvPr>
          <p:cNvPicPr>
            <a:picLocks noChangeAspect="1"/>
          </p:cNvPicPr>
          <p:nvPr/>
        </p:nvPicPr>
        <p:blipFill rotWithShape="1">
          <a:blip r:embed="rId3"/>
          <a:srcRect l="65026" r="3612"/>
          <a:stretch/>
        </p:blipFill>
        <p:spPr>
          <a:xfrm>
            <a:off x="4117341" y="5048407"/>
            <a:ext cx="1957981" cy="1752473"/>
          </a:xfrm>
          <a:prstGeom prst="rect">
            <a:avLst/>
          </a:prstGeom>
        </p:spPr>
      </p:pic>
      <p:pic>
        <p:nvPicPr>
          <p:cNvPr id="12" name="Picture 11" descr="Diagram&#10;&#10;Description automatically generated with low confidence">
            <a:extLst>
              <a:ext uri="{FF2B5EF4-FFF2-40B4-BE49-F238E27FC236}">
                <a16:creationId xmlns:a16="http://schemas.microsoft.com/office/drawing/2014/main" id="{3C3FDAC5-1051-FB25-C4A9-A5317D361E99}"/>
              </a:ext>
            </a:extLst>
          </p:cNvPr>
          <p:cNvPicPr>
            <a:picLocks noChangeAspect="1"/>
          </p:cNvPicPr>
          <p:nvPr/>
        </p:nvPicPr>
        <p:blipFill>
          <a:blip r:embed="rId4"/>
          <a:stretch>
            <a:fillRect/>
          </a:stretch>
        </p:blipFill>
        <p:spPr>
          <a:xfrm>
            <a:off x="3891584" y="5485964"/>
            <a:ext cx="2409494" cy="651347"/>
          </a:xfrm>
          <a:prstGeom prst="rect">
            <a:avLst/>
          </a:prstGeom>
          <a:ln>
            <a:solidFill>
              <a:schemeClr val="tx1"/>
            </a:solidFill>
          </a:ln>
        </p:spPr>
      </p:pic>
      <p:sp>
        <p:nvSpPr>
          <p:cNvPr id="13" name="Right Arrow 12">
            <a:extLst>
              <a:ext uri="{FF2B5EF4-FFF2-40B4-BE49-F238E27FC236}">
                <a16:creationId xmlns:a16="http://schemas.microsoft.com/office/drawing/2014/main" id="{C4AD24C0-2177-FD74-FFDB-9FB6A2828DB0}"/>
              </a:ext>
            </a:extLst>
          </p:cNvPr>
          <p:cNvSpPr/>
          <p:nvPr/>
        </p:nvSpPr>
        <p:spPr>
          <a:xfrm>
            <a:off x="6341742" y="2861187"/>
            <a:ext cx="1782748" cy="5228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Question Mark with solid fill">
            <a:extLst>
              <a:ext uri="{FF2B5EF4-FFF2-40B4-BE49-F238E27FC236}">
                <a16:creationId xmlns:a16="http://schemas.microsoft.com/office/drawing/2014/main" id="{DE9BF950-5B12-80E5-F825-37E4E2B941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75916" y="2729429"/>
            <a:ext cx="914400" cy="914400"/>
          </a:xfrm>
          <a:prstGeom prst="rect">
            <a:avLst/>
          </a:prstGeom>
        </p:spPr>
      </p:pic>
      <p:sp>
        <p:nvSpPr>
          <p:cNvPr id="5" name="TextBox 4">
            <a:extLst>
              <a:ext uri="{FF2B5EF4-FFF2-40B4-BE49-F238E27FC236}">
                <a16:creationId xmlns:a16="http://schemas.microsoft.com/office/drawing/2014/main" id="{E09DE604-5AA9-1FB9-28C2-4FF3ACDA90B2}"/>
              </a:ext>
            </a:extLst>
          </p:cNvPr>
          <p:cNvSpPr txBox="1"/>
          <p:nvPr/>
        </p:nvSpPr>
        <p:spPr>
          <a:xfrm>
            <a:off x="5285488" y="2976841"/>
            <a:ext cx="4100638" cy="1532334"/>
          </a:xfrm>
          <a:prstGeom prst="round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800" dirty="0">
                <a:solidFill>
                  <a:schemeClr val="bg1"/>
                </a:solidFill>
              </a:rPr>
              <a:t>Let’s experiment. Form 7 groups and find a spot on the board. </a:t>
            </a:r>
          </a:p>
        </p:txBody>
      </p:sp>
    </p:spTree>
    <p:extLst>
      <p:ext uri="{BB962C8B-B14F-4D97-AF65-F5344CB8AC3E}">
        <p14:creationId xmlns:p14="http://schemas.microsoft.com/office/powerpoint/2010/main" val="2138404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5" name="TextBox 4">
            <a:extLst>
              <a:ext uri="{FF2B5EF4-FFF2-40B4-BE49-F238E27FC236}">
                <a16:creationId xmlns:a16="http://schemas.microsoft.com/office/drawing/2014/main" id="{E09DE604-5AA9-1FB9-28C2-4FF3ACDA90B2}"/>
              </a:ext>
            </a:extLst>
          </p:cNvPr>
          <p:cNvSpPr txBox="1"/>
          <p:nvPr/>
        </p:nvSpPr>
        <p:spPr>
          <a:xfrm>
            <a:off x="609600" y="164578"/>
            <a:ext cx="11329481" cy="2485787"/>
          </a:xfrm>
          <a:prstGeom prst="round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800" dirty="0">
                <a:solidFill>
                  <a:schemeClr val="bg1"/>
                </a:solidFill>
              </a:rPr>
              <a:t>Work with your group to represent each observation in this dataset as a point (mark) styled only using the visual channel you were assigned.</a:t>
            </a:r>
          </a:p>
          <a:p>
            <a:endParaRPr lang="en-US" sz="2800" dirty="0">
              <a:solidFill>
                <a:schemeClr val="bg1"/>
              </a:solidFill>
            </a:endParaRPr>
          </a:p>
          <a:p>
            <a:r>
              <a:rPr lang="en-US" sz="2800" dirty="0">
                <a:solidFill>
                  <a:schemeClr val="bg1"/>
                </a:solidFill>
              </a:rPr>
              <a:t>You goal is for other groups to easily infer which point represents which observation. </a:t>
            </a:r>
          </a:p>
        </p:txBody>
      </p:sp>
      <p:graphicFrame>
        <p:nvGraphicFramePr>
          <p:cNvPr id="3" name="Table 2">
            <a:extLst>
              <a:ext uri="{FF2B5EF4-FFF2-40B4-BE49-F238E27FC236}">
                <a16:creationId xmlns:a16="http://schemas.microsoft.com/office/drawing/2014/main" id="{4DD73F49-FF79-6645-1712-F5B12BCE6E2D}"/>
              </a:ext>
            </a:extLst>
          </p:cNvPr>
          <p:cNvGraphicFramePr>
            <a:graphicFrameLocks noGrp="1"/>
          </p:cNvGraphicFramePr>
          <p:nvPr>
            <p:extLst>
              <p:ext uri="{D42A27DB-BD31-4B8C-83A1-F6EECF244321}">
                <p14:modId xmlns:p14="http://schemas.microsoft.com/office/powerpoint/2010/main" val="3841004431"/>
              </p:ext>
            </p:extLst>
          </p:nvPr>
        </p:nvGraphicFramePr>
        <p:xfrm>
          <a:off x="4680264" y="2568793"/>
          <a:ext cx="2468681" cy="4124631"/>
        </p:xfrm>
        <a:graphic>
          <a:graphicData uri="http://schemas.openxmlformats.org/drawingml/2006/table">
            <a:tbl>
              <a:tblPr firstRow="1" bandRow="1">
                <a:tableStyleId>{93296810-A885-4BE3-A3E7-6D5BEEA58F35}</a:tableStyleId>
              </a:tblPr>
              <a:tblGrid>
                <a:gridCol w="2468681">
                  <a:extLst>
                    <a:ext uri="{9D8B030D-6E8A-4147-A177-3AD203B41FA5}">
                      <a16:colId xmlns:a16="http://schemas.microsoft.com/office/drawing/2014/main" val="3886664144"/>
                    </a:ext>
                  </a:extLst>
                </a:gridCol>
              </a:tblGrid>
              <a:tr h="589233">
                <a:tc>
                  <a:txBody>
                    <a:bodyPr/>
                    <a:lstStyle/>
                    <a:p>
                      <a:pPr algn="ctr"/>
                      <a:r>
                        <a:rPr lang="en-US" sz="2400" dirty="0"/>
                        <a:t>Name</a:t>
                      </a:r>
                    </a:p>
                  </a:txBody>
                  <a:tcPr anchor="ctr"/>
                </a:tc>
                <a:extLst>
                  <a:ext uri="{0D108BD9-81ED-4DB2-BD59-A6C34878D82A}">
                    <a16:rowId xmlns:a16="http://schemas.microsoft.com/office/drawing/2014/main" val="4142006161"/>
                  </a:ext>
                </a:extLst>
              </a:tr>
              <a:tr h="589233">
                <a:tc>
                  <a:txBody>
                    <a:bodyPr/>
                    <a:lstStyle/>
                    <a:p>
                      <a:pPr algn="ctr"/>
                      <a:r>
                        <a:rPr lang="en-US" sz="2400" dirty="0"/>
                        <a:t>blueberry</a:t>
                      </a:r>
                    </a:p>
                  </a:txBody>
                  <a:tcPr anchor="ctr"/>
                </a:tc>
                <a:extLst>
                  <a:ext uri="{0D108BD9-81ED-4DB2-BD59-A6C34878D82A}">
                    <a16:rowId xmlns:a16="http://schemas.microsoft.com/office/drawing/2014/main" val="3696000551"/>
                  </a:ext>
                </a:extLst>
              </a:tr>
              <a:tr h="589233">
                <a:tc>
                  <a:txBody>
                    <a:bodyPr/>
                    <a:lstStyle/>
                    <a:p>
                      <a:pPr algn="ctr"/>
                      <a:r>
                        <a:rPr lang="en-US" sz="2400" dirty="0"/>
                        <a:t>asparagus</a:t>
                      </a:r>
                    </a:p>
                  </a:txBody>
                  <a:tcPr anchor="ctr"/>
                </a:tc>
                <a:extLst>
                  <a:ext uri="{0D108BD9-81ED-4DB2-BD59-A6C34878D82A}">
                    <a16:rowId xmlns:a16="http://schemas.microsoft.com/office/drawing/2014/main" val="154332391"/>
                  </a:ext>
                </a:extLst>
              </a:tr>
              <a:tr h="589233">
                <a:tc>
                  <a:txBody>
                    <a:bodyPr/>
                    <a:lstStyle/>
                    <a:p>
                      <a:pPr algn="ctr"/>
                      <a:r>
                        <a:rPr lang="en-US" sz="2400" dirty="0"/>
                        <a:t>pumpkin</a:t>
                      </a:r>
                    </a:p>
                  </a:txBody>
                  <a:tcPr anchor="ctr"/>
                </a:tc>
                <a:extLst>
                  <a:ext uri="{0D108BD9-81ED-4DB2-BD59-A6C34878D82A}">
                    <a16:rowId xmlns:a16="http://schemas.microsoft.com/office/drawing/2014/main" val="839353059"/>
                  </a:ext>
                </a:extLst>
              </a:tr>
              <a:tr h="589233">
                <a:tc>
                  <a:txBody>
                    <a:bodyPr/>
                    <a:lstStyle/>
                    <a:p>
                      <a:pPr algn="ctr"/>
                      <a:r>
                        <a:rPr lang="en-US" sz="2400" dirty="0"/>
                        <a:t>pea</a:t>
                      </a:r>
                    </a:p>
                  </a:txBody>
                  <a:tcPr anchor="ctr"/>
                </a:tc>
                <a:extLst>
                  <a:ext uri="{0D108BD9-81ED-4DB2-BD59-A6C34878D82A}">
                    <a16:rowId xmlns:a16="http://schemas.microsoft.com/office/drawing/2014/main" val="2979703101"/>
                  </a:ext>
                </a:extLst>
              </a:tr>
              <a:tr h="589233">
                <a:tc>
                  <a:txBody>
                    <a:bodyPr/>
                    <a:lstStyle/>
                    <a:p>
                      <a:pPr algn="ctr"/>
                      <a:r>
                        <a:rPr lang="en-US" sz="2400" dirty="0"/>
                        <a:t>watermelon</a:t>
                      </a:r>
                    </a:p>
                  </a:txBody>
                  <a:tcPr anchor="ctr"/>
                </a:tc>
                <a:extLst>
                  <a:ext uri="{0D108BD9-81ED-4DB2-BD59-A6C34878D82A}">
                    <a16:rowId xmlns:a16="http://schemas.microsoft.com/office/drawing/2014/main" val="1449710678"/>
                  </a:ext>
                </a:extLst>
              </a:tr>
              <a:tr h="589233">
                <a:tc>
                  <a:txBody>
                    <a:bodyPr/>
                    <a:lstStyle/>
                    <a:p>
                      <a:pPr algn="ctr"/>
                      <a:r>
                        <a:rPr lang="en-US" sz="2400" dirty="0"/>
                        <a:t>long bean</a:t>
                      </a:r>
                    </a:p>
                  </a:txBody>
                  <a:tcPr anchor="ctr"/>
                </a:tc>
                <a:extLst>
                  <a:ext uri="{0D108BD9-81ED-4DB2-BD59-A6C34878D82A}">
                    <a16:rowId xmlns:a16="http://schemas.microsoft.com/office/drawing/2014/main" val="4117961281"/>
                  </a:ext>
                </a:extLst>
              </a:tr>
            </a:tbl>
          </a:graphicData>
        </a:graphic>
      </p:graphicFrame>
      <p:grpSp>
        <p:nvGrpSpPr>
          <p:cNvPr id="14" name="Group 13">
            <a:extLst>
              <a:ext uri="{FF2B5EF4-FFF2-40B4-BE49-F238E27FC236}">
                <a16:creationId xmlns:a16="http://schemas.microsoft.com/office/drawing/2014/main" id="{0D7614BB-CF26-A4DB-0F3D-1EF945B5C8D5}"/>
              </a:ext>
            </a:extLst>
          </p:cNvPr>
          <p:cNvGrpSpPr/>
          <p:nvPr/>
        </p:nvGrpSpPr>
        <p:grpSpPr>
          <a:xfrm>
            <a:off x="8068171" y="2014989"/>
            <a:ext cx="3580489" cy="4038371"/>
            <a:chOff x="8099752" y="2268137"/>
            <a:chExt cx="3580489" cy="4038371"/>
          </a:xfrm>
        </p:grpSpPr>
        <p:pic>
          <p:nvPicPr>
            <p:cNvPr id="15"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DA8BEA44-3BA0-71E5-E49E-B35D5D1111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606" r="53150" b="17230"/>
            <a:stretch/>
          </p:blipFill>
          <p:spPr bwMode="auto">
            <a:xfrm>
              <a:off x="8099752" y="4439477"/>
              <a:ext cx="3569979" cy="99788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DAC85603-8112-B346-AE94-FB09F74119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229" t="20002" r="23604" b="72810"/>
            <a:stretch/>
          </p:blipFill>
          <p:spPr bwMode="auto">
            <a:xfrm>
              <a:off x="8211597" y="5437361"/>
              <a:ext cx="1384348" cy="3742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E236A08B-E4FF-F579-FF14-99BDDDED7B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229" t="38364" r="30362" b="54448"/>
            <a:stretch/>
          </p:blipFill>
          <p:spPr bwMode="auto">
            <a:xfrm>
              <a:off x="8211597" y="5882183"/>
              <a:ext cx="869341" cy="37427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C516EB0C-23AC-5BCF-CA30-9935AE5865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72" t="38364" r="3535" b="52769"/>
            <a:stretch/>
          </p:blipFill>
          <p:spPr bwMode="auto">
            <a:xfrm>
              <a:off x="10313933" y="5844757"/>
              <a:ext cx="1355798" cy="46175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88EA814C-8F59-13B4-11AA-E022697285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73" t="20002" r="3810" b="72810"/>
            <a:stretch/>
          </p:blipFill>
          <p:spPr bwMode="auto">
            <a:xfrm>
              <a:off x="10313933" y="5472634"/>
              <a:ext cx="1334728" cy="37427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56869257-FDBA-A419-1E43-037C05E49D4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34" r="53150" b="45657"/>
            <a:stretch/>
          </p:blipFill>
          <p:spPr bwMode="auto">
            <a:xfrm>
              <a:off x="8110262" y="2268137"/>
              <a:ext cx="3569979" cy="22238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63951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3" name="TextBox 2">
            <a:extLst>
              <a:ext uri="{FF2B5EF4-FFF2-40B4-BE49-F238E27FC236}">
                <a16:creationId xmlns:a16="http://schemas.microsoft.com/office/drawing/2014/main" id="{8CFB5D66-6B0C-E446-D3E2-A5F9BAEDF91A}"/>
              </a:ext>
            </a:extLst>
          </p:cNvPr>
          <p:cNvSpPr txBox="1"/>
          <p:nvPr/>
        </p:nvSpPr>
        <p:spPr>
          <a:xfrm>
            <a:off x="609600" y="164578"/>
            <a:ext cx="11329481" cy="2485787"/>
          </a:xfrm>
          <a:prstGeom prst="round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800" dirty="0">
                <a:solidFill>
                  <a:schemeClr val="bg1"/>
                </a:solidFill>
              </a:rPr>
              <a:t>Work with your group to represent each observation in this dataset as a point (mark) styled using the visual channel you were assigned.</a:t>
            </a:r>
          </a:p>
          <a:p>
            <a:endParaRPr lang="en-US" sz="2800" dirty="0">
              <a:solidFill>
                <a:schemeClr val="bg1"/>
              </a:solidFill>
            </a:endParaRPr>
          </a:p>
          <a:p>
            <a:r>
              <a:rPr lang="en-US" sz="2800" dirty="0">
                <a:solidFill>
                  <a:schemeClr val="bg1"/>
                </a:solidFill>
              </a:rPr>
              <a:t>You goal is for other groups to easily infer which point represents which observation. </a:t>
            </a:r>
          </a:p>
        </p:txBody>
      </p:sp>
      <p:graphicFrame>
        <p:nvGraphicFramePr>
          <p:cNvPr id="4" name="Table 3">
            <a:extLst>
              <a:ext uri="{FF2B5EF4-FFF2-40B4-BE49-F238E27FC236}">
                <a16:creationId xmlns:a16="http://schemas.microsoft.com/office/drawing/2014/main" id="{3B531507-B517-B60A-9553-4A1E6367CF0A}"/>
              </a:ext>
            </a:extLst>
          </p:cNvPr>
          <p:cNvGraphicFramePr>
            <a:graphicFrameLocks noGrp="1"/>
          </p:cNvGraphicFramePr>
          <p:nvPr>
            <p:extLst>
              <p:ext uri="{D42A27DB-BD31-4B8C-83A1-F6EECF244321}">
                <p14:modId xmlns:p14="http://schemas.microsoft.com/office/powerpoint/2010/main" val="370878038"/>
              </p:ext>
            </p:extLst>
          </p:nvPr>
        </p:nvGraphicFramePr>
        <p:xfrm>
          <a:off x="4680264" y="2568793"/>
          <a:ext cx="2468681" cy="4124631"/>
        </p:xfrm>
        <a:graphic>
          <a:graphicData uri="http://schemas.openxmlformats.org/drawingml/2006/table">
            <a:tbl>
              <a:tblPr firstRow="1" bandRow="1">
                <a:tableStyleId>{93296810-A885-4BE3-A3E7-6D5BEEA58F35}</a:tableStyleId>
              </a:tblPr>
              <a:tblGrid>
                <a:gridCol w="2468681">
                  <a:extLst>
                    <a:ext uri="{9D8B030D-6E8A-4147-A177-3AD203B41FA5}">
                      <a16:colId xmlns:a16="http://schemas.microsoft.com/office/drawing/2014/main" val="3886664144"/>
                    </a:ext>
                  </a:extLst>
                </a:gridCol>
              </a:tblGrid>
              <a:tr h="589233">
                <a:tc>
                  <a:txBody>
                    <a:bodyPr/>
                    <a:lstStyle/>
                    <a:p>
                      <a:pPr algn="ctr"/>
                      <a:r>
                        <a:rPr lang="en-US" sz="2400" dirty="0"/>
                        <a:t>Peak</a:t>
                      </a:r>
                    </a:p>
                  </a:txBody>
                  <a:tcPr anchor="ctr"/>
                </a:tc>
                <a:extLst>
                  <a:ext uri="{0D108BD9-81ED-4DB2-BD59-A6C34878D82A}">
                    <a16:rowId xmlns:a16="http://schemas.microsoft.com/office/drawing/2014/main" val="4142006161"/>
                  </a:ext>
                </a:extLst>
              </a:tr>
              <a:tr h="589233">
                <a:tc>
                  <a:txBody>
                    <a:bodyPr/>
                    <a:lstStyle/>
                    <a:p>
                      <a:pPr algn="ctr"/>
                      <a:r>
                        <a:rPr lang="en-US" sz="2400" dirty="0"/>
                        <a:t>July</a:t>
                      </a:r>
                    </a:p>
                  </a:txBody>
                  <a:tcPr anchor="ctr"/>
                </a:tc>
                <a:extLst>
                  <a:ext uri="{0D108BD9-81ED-4DB2-BD59-A6C34878D82A}">
                    <a16:rowId xmlns:a16="http://schemas.microsoft.com/office/drawing/2014/main" val="3696000551"/>
                  </a:ext>
                </a:extLst>
              </a:tr>
              <a:tr h="589233">
                <a:tc>
                  <a:txBody>
                    <a:bodyPr/>
                    <a:lstStyle/>
                    <a:p>
                      <a:pPr algn="ctr"/>
                      <a:r>
                        <a:rPr lang="en-US" sz="2400" dirty="0"/>
                        <a:t>April</a:t>
                      </a:r>
                    </a:p>
                  </a:txBody>
                  <a:tcPr anchor="ctr"/>
                </a:tc>
                <a:extLst>
                  <a:ext uri="{0D108BD9-81ED-4DB2-BD59-A6C34878D82A}">
                    <a16:rowId xmlns:a16="http://schemas.microsoft.com/office/drawing/2014/main" val="154332391"/>
                  </a:ext>
                </a:extLst>
              </a:tr>
              <a:tr h="589233">
                <a:tc>
                  <a:txBody>
                    <a:bodyPr/>
                    <a:lstStyle/>
                    <a:p>
                      <a:pPr algn="ctr"/>
                      <a:r>
                        <a:rPr lang="en-US" sz="2400" dirty="0"/>
                        <a:t>October</a:t>
                      </a:r>
                    </a:p>
                  </a:txBody>
                  <a:tcPr anchor="ctr"/>
                </a:tc>
                <a:extLst>
                  <a:ext uri="{0D108BD9-81ED-4DB2-BD59-A6C34878D82A}">
                    <a16:rowId xmlns:a16="http://schemas.microsoft.com/office/drawing/2014/main" val="839353059"/>
                  </a:ext>
                </a:extLst>
              </a:tr>
              <a:tr h="589233">
                <a:tc>
                  <a:txBody>
                    <a:bodyPr/>
                    <a:lstStyle/>
                    <a:p>
                      <a:pPr algn="ctr"/>
                      <a:r>
                        <a:rPr lang="en-US" sz="2400" dirty="0"/>
                        <a:t>June</a:t>
                      </a:r>
                    </a:p>
                  </a:txBody>
                  <a:tcPr anchor="ctr"/>
                </a:tc>
                <a:extLst>
                  <a:ext uri="{0D108BD9-81ED-4DB2-BD59-A6C34878D82A}">
                    <a16:rowId xmlns:a16="http://schemas.microsoft.com/office/drawing/2014/main" val="2042468029"/>
                  </a:ext>
                </a:extLst>
              </a:tr>
              <a:tr h="589233">
                <a:tc>
                  <a:txBody>
                    <a:bodyPr/>
                    <a:lstStyle/>
                    <a:p>
                      <a:pPr algn="ctr"/>
                      <a:r>
                        <a:rPr lang="en-US" sz="2400" dirty="0"/>
                        <a:t>August</a:t>
                      </a:r>
                    </a:p>
                  </a:txBody>
                  <a:tcPr anchor="ctr"/>
                </a:tc>
                <a:extLst>
                  <a:ext uri="{0D108BD9-81ED-4DB2-BD59-A6C34878D82A}">
                    <a16:rowId xmlns:a16="http://schemas.microsoft.com/office/drawing/2014/main" val="4248445016"/>
                  </a:ext>
                </a:extLst>
              </a:tr>
              <a:tr h="589233">
                <a:tc>
                  <a:txBody>
                    <a:bodyPr/>
                    <a:lstStyle/>
                    <a:p>
                      <a:pPr algn="ctr"/>
                      <a:r>
                        <a:rPr lang="en-US" sz="2400" dirty="0"/>
                        <a:t>September</a:t>
                      </a:r>
                    </a:p>
                  </a:txBody>
                  <a:tcPr anchor="ctr"/>
                </a:tc>
                <a:extLst>
                  <a:ext uri="{0D108BD9-81ED-4DB2-BD59-A6C34878D82A}">
                    <a16:rowId xmlns:a16="http://schemas.microsoft.com/office/drawing/2014/main" val="3963348579"/>
                  </a:ext>
                </a:extLst>
              </a:tr>
            </a:tbl>
          </a:graphicData>
        </a:graphic>
      </p:graphicFrame>
      <p:grpSp>
        <p:nvGrpSpPr>
          <p:cNvPr id="14" name="Group 13">
            <a:extLst>
              <a:ext uri="{FF2B5EF4-FFF2-40B4-BE49-F238E27FC236}">
                <a16:creationId xmlns:a16="http://schemas.microsoft.com/office/drawing/2014/main" id="{922FA60E-0003-D4F3-1923-1640519E034E}"/>
              </a:ext>
            </a:extLst>
          </p:cNvPr>
          <p:cNvGrpSpPr/>
          <p:nvPr/>
        </p:nvGrpSpPr>
        <p:grpSpPr>
          <a:xfrm>
            <a:off x="8068171" y="2014989"/>
            <a:ext cx="3580489" cy="4038371"/>
            <a:chOff x="8099752" y="2268137"/>
            <a:chExt cx="3580489" cy="4038371"/>
          </a:xfrm>
        </p:grpSpPr>
        <p:pic>
          <p:nvPicPr>
            <p:cNvPr id="15"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1B810FF3-A728-1E74-CFE0-4E44492379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606" r="53150" b="17230"/>
            <a:stretch/>
          </p:blipFill>
          <p:spPr bwMode="auto">
            <a:xfrm>
              <a:off x="8099752" y="4439477"/>
              <a:ext cx="3569979" cy="99788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7436EDC3-309C-B2E3-568E-A84E83D469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229" t="20002" r="23604" b="72810"/>
            <a:stretch/>
          </p:blipFill>
          <p:spPr bwMode="auto">
            <a:xfrm>
              <a:off x="8211597" y="5437361"/>
              <a:ext cx="1384348" cy="3742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134F959F-DAF2-259F-9412-412AC2B74A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229" t="38364" r="30362" b="54448"/>
            <a:stretch/>
          </p:blipFill>
          <p:spPr bwMode="auto">
            <a:xfrm>
              <a:off x="8211597" y="5882183"/>
              <a:ext cx="869341" cy="37427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DACAF809-C8EA-32D1-5339-2C4000F456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672" t="38364" r="3535" b="52769"/>
            <a:stretch/>
          </p:blipFill>
          <p:spPr bwMode="auto">
            <a:xfrm>
              <a:off x="10313933" y="5844757"/>
              <a:ext cx="1355798" cy="46175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572BD1FB-EB84-C891-F3AC-9D8FF0C7F9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673" t="20002" r="3810" b="72810"/>
            <a:stretch/>
          </p:blipFill>
          <p:spPr bwMode="auto">
            <a:xfrm>
              <a:off x="10313933" y="5472634"/>
              <a:ext cx="1334728" cy="37427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B9EDC87E-F2A5-4B8E-BD29-84A683DED6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634" r="53150" b="45657"/>
            <a:stretch/>
          </p:blipFill>
          <p:spPr bwMode="auto">
            <a:xfrm>
              <a:off x="8110262" y="2268137"/>
              <a:ext cx="3569979" cy="22238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558623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3" name="TextBox 2">
            <a:extLst>
              <a:ext uri="{FF2B5EF4-FFF2-40B4-BE49-F238E27FC236}">
                <a16:creationId xmlns:a16="http://schemas.microsoft.com/office/drawing/2014/main" id="{BD045158-63BC-3A17-0A45-F3D0E1F2FEA4}"/>
              </a:ext>
            </a:extLst>
          </p:cNvPr>
          <p:cNvSpPr txBox="1"/>
          <p:nvPr/>
        </p:nvSpPr>
        <p:spPr>
          <a:xfrm>
            <a:off x="609600" y="164578"/>
            <a:ext cx="11329481" cy="2485787"/>
          </a:xfrm>
          <a:prstGeom prst="round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800" dirty="0">
                <a:solidFill>
                  <a:schemeClr val="bg1"/>
                </a:solidFill>
              </a:rPr>
              <a:t>Work with your group to represent each observation in this dataset as a point (mark) styled using the visual channel you were assigned.</a:t>
            </a:r>
          </a:p>
          <a:p>
            <a:endParaRPr lang="en-US" sz="2800" dirty="0">
              <a:solidFill>
                <a:schemeClr val="bg1"/>
              </a:solidFill>
            </a:endParaRPr>
          </a:p>
          <a:p>
            <a:r>
              <a:rPr lang="en-US" sz="2800" dirty="0">
                <a:solidFill>
                  <a:schemeClr val="bg1"/>
                </a:solidFill>
              </a:rPr>
              <a:t>You goal is for other groups to easily infer which point represents which observation. </a:t>
            </a:r>
          </a:p>
        </p:txBody>
      </p:sp>
      <p:graphicFrame>
        <p:nvGraphicFramePr>
          <p:cNvPr id="4" name="Table 3">
            <a:extLst>
              <a:ext uri="{FF2B5EF4-FFF2-40B4-BE49-F238E27FC236}">
                <a16:creationId xmlns:a16="http://schemas.microsoft.com/office/drawing/2014/main" id="{24F126CE-7896-777D-5891-6E86D5C1E1D1}"/>
              </a:ext>
            </a:extLst>
          </p:cNvPr>
          <p:cNvGraphicFramePr>
            <a:graphicFrameLocks noGrp="1"/>
          </p:cNvGraphicFramePr>
          <p:nvPr>
            <p:extLst>
              <p:ext uri="{D42A27DB-BD31-4B8C-83A1-F6EECF244321}">
                <p14:modId xmlns:p14="http://schemas.microsoft.com/office/powerpoint/2010/main" val="3118946360"/>
              </p:ext>
            </p:extLst>
          </p:nvPr>
        </p:nvGraphicFramePr>
        <p:xfrm>
          <a:off x="4680264" y="2568793"/>
          <a:ext cx="2468681" cy="4124631"/>
        </p:xfrm>
        <a:graphic>
          <a:graphicData uri="http://schemas.openxmlformats.org/drawingml/2006/table">
            <a:tbl>
              <a:tblPr firstRow="1" bandRow="1">
                <a:tableStyleId>{93296810-A885-4BE3-A3E7-6D5BEEA58F35}</a:tableStyleId>
              </a:tblPr>
              <a:tblGrid>
                <a:gridCol w="2468681">
                  <a:extLst>
                    <a:ext uri="{9D8B030D-6E8A-4147-A177-3AD203B41FA5}">
                      <a16:colId xmlns:a16="http://schemas.microsoft.com/office/drawing/2014/main" val="3886664144"/>
                    </a:ext>
                  </a:extLst>
                </a:gridCol>
              </a:tblGrid>
              <a:tr h="589233">
                <a:tc>
                  <a:txBody>
                    <a:bodyPr/>
                    <a:lstStyle/>
                    <a:p>
                      <a:pPr algn="ctr"/>
                      <a:r>
                        <a:rPr lang="en-US" sz="2400" dirty="0"/>
                        <a:t>Price (per </a:t>
                      </a:r>
                      <a:r>
                        <a:rPr lang="en-US" sz="2400" dirty="0" err="1"/>
                        <a:t>lb</a:t>
                      </a:r>
                      <a:r>
                        <a:rPr lang="en-US" sz="2400" dirty="0"/>
                        <a:t>)</a:t>
                      </a:r>
                    </a:p>
                  </a:txBody>
                  <a:tcPr anchor="ctr"/>
                </a:tc>
                <a:extLst>
                  <a:ext uri="{0D108BD9-81ED-4DB2-BD59-A6C34878D82A}">
                    <a16:rowId xmlns:a16="http://schemas.microsoft.com/office/drawing/2014/main" val="4142006161"/>
                  </a:ext>
                </a:extLst>
              </a:tr>
              <a:tr h="589233">
                <a:tc>
                  <a:txBody>
                    <a:bodyPr/>
                    <a:lstStyle/>
                    <a:p>
                      <a:pPr algn="ctr"/>
                      <a:r>
                        <a:rPr lang="en-US" sz="2400" dirty="0"/>
                        <a:t>6.45</a:t>
                      </a:r>
                    </a:p>
                  </a:txBody>
                  <a:tcPr anchor="ctr"/>
                </a:tc>
                <a:extLst>
                  <a:ext uri="{0D108BD9-81ED-4DB2-BD59-A6C34878D82A}">
                    <a16:rowId xmlns:a16="http://schemas.microsoft.com/office/drawing/2014/main" val="3696000551"/>
                  </a:ext>
                </a:extLst>
              </a:tr>
              <a:tr h="589233">
                <a:tc>
                  <a:txBody>
                    <a:bodyPr/>
                    <a:lstStyle/>
                    <a:p>
                      <a:pPr algn="ctr"/>
                      <a:r>
                        <a:rPr lang="en-US" sz="2400" dirty="0"/>
                        <a:t>4.99</a:t>
                      </a:r>
                    </a:p>
                  </a:txBody>
                  <a:tcPr anchor="ctr"/>
                </a:tc>
                <a:extLst>
                  <a:ext uri="{0D108BD9-81ED-4DB2-BD59-A6C34878D82A}">
                    <a16:rowId xmlns:a16="http://schemas.microsoft.com/office/drawing/2014/main" val="154332391"/>
                  </a:ext>
                </a:extLst>
              </a:tr>
              <a:tr h="589233">
                <a:tc>
                  <a:txBody>
                    <a:bodyPr/>
                    <a:lstStyle/>
                    <a:p>
                      <a:pPr algn="ctr"/>
                      <a:r>
                        <a:rPr lang="en-US" sz="2400" dirty="0"/>
                        <a:t>0.24</a:t>
                      </a:r>
                    </a:p>
                  </a:txBody>
                  <a:tcPr anchor="ctr"/>
                </a:tc>
                <a:extLst>
                  <a:ext uri="{0D108BD9-81ED-4DB2-BD59-A6C34878D82A}">
                    <a16:rowId xmlns:a16="http://schemas.microsoft.com/office/drawing/2014/main" val="839353059"/>
                  </a:ext>
                </a:extLst>
              </a:tr>
              <a:tr h="589233">
                <a:tc>
                  <a:txBody>
                    <a:bodyPr/>
                    <a:lstStyle/>
                    <a:p>
                      <a:pPr algn="ctr"/>
                      <a:r>
                        <a:rPr lang="en-US" sz="2400" dirty="0"/>
                        <a:t>7.00</a:t>
                      </a:r>
                    </a:p>
                  </a:txBody>
                  <a:tcPr anchor="ctr"/>
                </a:tc>
                <a:extLst>
                  <a:ext uri="{0D108BD9-81ED-4DB2-BD59-A6C34878D82A}">
                    <a16:rowId xmlns:a16="http://schemas.microsoft.com/office/drawing/2014/main" val="1077640110"/>
                  </a:ext>
                </a:extLst>
              </a:tr>
              <a:tr h="589233">
                <a:tc>
                  <a:txBody>
                    <a:bodyPr/>
                    <a:lstStyle/>
                    <a:p>
                      <a:pPr algn="ctr"/>
                      <a:r>
                        <a:rPr lang="en-US" sz="2400" dirty="0"/>
                        <a:t>3.65</a:t>
                      </a:r>
                    </a:p>
                  </a:txBody>
                  <a:tcPr anchor="ctr"/>
                </a:tc>
                <a:extLst>
                  <a:ext uri="{0D108BD9-81ED-4DB2-BD59-A6C34878D82A}">
                    <a16:rowId xmlns:a16="http://schemas.microsoft.com/office/drawing/2014/main" val="1269033791"/>
                  </a:ext>
                </a:extLst>
              </a:tr>
              <a:tr h="589233">
                <a:tc>
                  <a:txBody>
                    <a:bodyPr/>
                    <a:lstStyle/>
                    <a:p>
                      <a:pPr algn="ctr"/>
                      <a:r>
                        <a:rPr lang="en-US" sz="2400" dirty="0"/>
                        <a:t>3.64</a:t>
                      </a:r>
                    </a:p>
                  </a:txBody>
                  <a:tcPr anchor="ctr"/>
                </a:tc>
                <a:extLst>
                  <a:ext uri="{0D108BD9-81ED-4DB2-BD59-A6C34878D82A}">
                    <a16:rowId xmlns:a16="http://schemas.microsoft.com/office/drawing/2014/main" val="2419254466"/>
                  </a:ext>
                </a:extLst>
              </a:tr>
            </a:tbl>
          </a:graphicData>
        </a:graphic>
      </p:graphicFrame>
      <p:grpSp>
        <p:nvGrpSpPr>
          <p:cNvPr id="14" name="Group 13">
            <a:extLst>
              <a:ext uri="{FF2B5EF4-FFF2-40B4-BE49-F238E27FC236}">
                <a16:creationId xmlns:a16="http://schemas.microsoft.com/office/drawing/2014/main" id="{C50398EB-99C1-46E7-EBDD-57652ECBFC98}"/>
              </a:ext>
            </a:extLst>
          </p:cNvPr>
          <p:cNvGrpSpPr/>
          <p:nvPr/>
        </p:nvGrpSpPr>
        <p:grpSpPr>
          <a:xfrm>
            <a:off x="8068171" y="2014989"/>
            <a:ext cx="3580489" cy="4038371"/>
            <a:chOff x="8099752" y="2268137"/>
            <a:chExt cx="3580489" cy="4038371"/>
          </a:xfrm>
        </p:grpSpPr>
        <p:pic>
          <p:nvPicPr>
            <p:cNvPr id="15"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2B08A1C5-89F3-2225-CA55-582E205C74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606" r="53150" b="17230"/>
            <a:stretch/>
          </p:blipFill>
          <p:spPr bwMode="auto">
            <a:xfrm>
              <a:off x="8099752" y="4439477"/>
              <a:ext cx="3569979" cy="99788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F5F3BCDD-1EED-FD15-1782-55A6C9AD5D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229" t="20002" r="23604" b="72810"/>
            <a:stretch/>
          </p:blipFill>
          <p:spPr bwMode="auto">
            <a:xfrm>
              <a:off x="8211597" y="5437361"/>
              <a:ext cx="1384348" cy="3742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DAEB9F30-0DD3-C5F0-E1BB-9F09FE424F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229" t="38364" r="30362" b="54448"/>
            <a:stretch/>
          </p:blipFill>
          <p:spPr bwMode="auto">
            <a:xfrm>
              <a:off x="8211597" y="5882183"/>
              <a:ext cx="869341" cy="37427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E57A9228-0C4E-3EA6-43A7-BEA774E6986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72" t="38364" r="3535" b="52769"/>
            <a:stretch/>
          </p:blipFill>
          <p:spPr bwMode="auto">
            <a:xfrm>
              <a:off x="10313933" y="5844757"/>
              <a:ext cx="1355798" cy="46175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A91D7562-14DB-183D-F2DC-D614922F80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73" t="20002" r="3810" b="72810"/>
            <a:stretch/>
          </p:blipFill>
          <p:spPr bwMode="auto">
            <a:xfrm>
              <a:off x="10313933" y="5472634"/>
              <a:ext cx="1334728" cy="37427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7B03F0A9-C96C-754A-570B-135A1025CC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34" r="53150" b="45657"/>
            <a:stretch/>
          </p:blipFill>
          <p:spPr bwMode="auto">
            <a:xfrm>
              <a:off x="8110262" y="2268137"/>
              <a:ext cx="3569979" cy="22238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55788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5" name="TextBox 4">
            <a:extLst>
              <a:ext uri="{FF2B5EF4-FFF2-40B4-BE49-F238E27FC236}">
                <a16:creationId xmlns:a16="http://schemas.microsoft.com/office/drawing/2014/main" id="{E09DE604-5AA9-1FB9-28C2-4FF3ACDA90B2}"/>
              </a:ext>
            </a:extLst>
          </p:cNvPr>
          <p:cNvSpPr txBox="1"/>
          <p:nvPr/>
        </p:nvSpPr>
        <p:spPr>
          <a:xfrm>
            <a:off x="3528802" y="1088726"/>
            <a:ext cx="5552136" cy="578882"/>
          </a:xfrm>
          <a:prstGeom prst="round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800" dirty="0">
                <a:solidFill>
                  <a:schemeClr val="bg1"/>
                </a:solidFill>
              </a:rPr>
              <a:t>What type of variable is Name?</a:t>
            </a:r>
          </a:p>
        </p:txBody>
      </p:sp>
      <p:grpSp>
        <p:nvGrpSpPr>
          <p:cNvPr id="14" name="Group 13">
            <a:extLst>
              <a:ext uri="{FF2B5EF4-FFF2-40B4-BE49-F238E27FC236}">
                <a16:creationId xmlns:a16="http://schemas.microsoft.com/office/drawing/2014/main" id="{783B5E06-3BD6-D314-AC14-4EAAA793369C}"/>
              </a:ext>
            </a:extLst>
          </p:cNvPr>
          <p:cNvGrpSpPr/>
          <p:nvPr/>
        </p:nvGrpSpPr>
        <p:grpSpPr>
          <a:xfrm>
            <a:off x="8068171" y="2014989"/>
            <a:ext cx="3580489" cy="4038371"/>
            <a:chOff x="8099752" y="2268137"/>
            <a:chExt cx="3580489" cy="4038371"/>
          </a:xfrm>
        </p:grpSpPr>
        <p:pic>
          <p:nvPicPr>
            <p:cNvPr id="15"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40D8700E-5A15-17BA-5836-896D20A0B9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606" r="53150" b="17230"/>
            <a:stretch/>
          </p:blipFill>
          <p:spPr bwMode="auto">
            <a:xfrm>
              <a:off x="8099752" y="4439477"/>
              <a:ext cx="3569979" cy="99788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056BC1D0-C188-A1D1-56CE-6887618E6A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229" t="20002" r="23604" b="72810"/>
            <a:stretch/>
          </p:blipFill>
          <p:spPr bwMode="auto">
            <a:xfrm>
              <a:off x="8211597" y="5437361"/>
              <a:ext cx="1384348" cy="3742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0273F7BF-C030-0188-9A2C-F230A8CB2E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229" t="38364" r="30362" b="54448"/>
            <a:stretch/>
          </p:blipFill>
          <p:spPr bwMode="auto">
            <a:xfrm>
              <a:off x="8211597" y="5882183"/>
              <a:ext cx="869341" cy="37427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8031F518-0BE5-3626-4906-04C1617A60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72" t="38364" r="3535" b="52769"/>
            <a:stretch/>
          </p:blipFill>
          <p:spPr bwMode="auto">
            <a:xfrm>
              <a:off x="10313933" y="5844757"/>
              <a:ext cx="1355798" cy="46175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866148C9-9A68-6D26-1517-F0F4924FC2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73" t="20002" r="3810" b="72810"/>
            <a:stretch/>
          </p:blipFill>
          <p:spPr bwMode="auto">
            <a:xfrm>
              <a:off x="10313933" y="5472634"/>
              <a:ext cx="1334728" cy="37427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FD9AE79F-69E1-0CB8-C4D6-78BC230941C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34" r="53150" b="45657"/>
            <a:stretch/>
          </p:blipFill>
          <p:spPr bwMode="auto">
            <a:xfrm>
              <a:off x="8110262" y="2268137"/>
              <a:ext cx="3569979" cy="222389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4" name="Table 3">
            <a:extLst>
              <a:ext uri="{FF2B5EF4-FFF2-40B4-BE49-F238E27FC236}">
                <a16:creationId xmlns:a16="http://schemas.microsoft.com/office/drawing/2014/main" id="{7DB2B1EB-628E-EF02-B5F5-4C335B4A425F}"/>
              </a:ext>
            </a:extLst>
          </p:cNvPr>
          <p:cNvGraphicFramePr>
            <a:graphicFrameLocks noGrp="1"/>
          </p:cNvGraphicFramePr>
          <p:nvPr>
            <p:extLst>
              <p:ext uri="{D42A27DB-BD31-4B8C-83A1-F6EECF244321}">
                <p14:modId xmlns:p14="http://schemas.microsoft.com/office/powerpoint/2010/main" val="1459443064"/>
              </p:ext>
            </p:extLst>
          </p:nvPr>
        </p:nvGraphicFramePr>
        <p:xfrm>
          <a:off x="4680264" y="2568793"/>
          <a:ext cx="2468681" cy="4124631"/>
        </p:xfrm>
        <a:graphic>
          <a:graphicData uri="http://schemas.openxmlformats.org/drawingml/2006/table">
            <a:tbl>
              <a:tblPr firstRow="1" bandRow="1">
                <a:tableStyleId>{93296810-A885-4BE3-A3E7-6D5BEEA58F35}</a:tableStyleId>
              </a:tblPr>
              <a:tblGrid>
                <a:gridCol w="2468681">
                  <a:extLst>
                    <a:ext uri="{9D8B030D-6E8A-4147-A177-3AD203B41FA5}">
                      <a16:colId xmlns:a16="http://schemas.microsoft.com/office/drawing/2014/main" val="3886664144"/>
                    </a:ext>
                  </a:extLst>
                </a:gridCol>
              </a:tblGrid>
              <a:tr h="589233">
                <a:tc>
                  <a:txBody>
                    <a:bodyPr/>
                    <a:lstStyle/>
                    <a:p>
                      <a:pPr algn="ctr"/>
                      <a:r>
                        <a:rPr lang="en-US" sz="2400" dirty="0"/>
                        <a:t>Name</a:t>
                      </a:r>
                    </a:p>
                  </a:txBody>
                  <a:tcPr anchor="ctr"/>
                </a:tc>
                <a:extLst>
                  <a:ext uri="{0D108BD9-81ED-4DB2-BD59-A6C34878D82A}">
                    <a16:rowId xmlns:a16="http://schemas.microsoft.com/office/drawing/2014/main" val="4142006161"/>
                  </a:ext>
                </a:extLst>
              </a:tr>
              <a:tr h="589233">
                <a:tc>
                  <a:txBody>
                    <a:bodyPr/>
                    <a:lstStyle/>
                    <a:p>
                      <a:pPr algn="ctr"/>
                      <a:r>
                        <a:rPr lang="en-US" sz="2400" dirty="0"/>
                        <a:t>blueberry</a:t>
                      </a:r>
                    </a:p>
                  </a:txBody>
                  <a:tcPr anchor="ctr"/>
                </a:tc>
                <a:extLst>
                  <a:ext uri="{0D108BD9-81ED-4DB2-BD59-A6C34878D82A}">
                    <a16:rowId xmlns:a16="http://schemas.microsoft.com/office/drawing/2014/main" val="3696000551"/>
                  </a:ext>
                </a:extLst>
              </a:tr>
              <a:tr h="589233">
                <a:tc>
                  <a:txBody>
                    <a:bodyPr/>
                    <a:lstStyle/>
                    <a:p>
                      <a:pPr algn="ctr"/>
                      <a:r>
                        <a:rPr lang="en-US" sz="2400" dirty="0"/>
                        <a:t>asparagus</a:t>
                      </a:r>
                    </a:p>
                  </a:txBody>
                  <a:tcPr anchor="ctr"/>
                </a:tc>
                <a:extLst>
                  <a:ext uri="{0D108BD9-81ED-4DB2-BD59-A6C34878D82A}">
                    <a16:rowId xmlns:a16="http://schemas.microsoft.com/office/drawing/2014/main" val="154332391"/>
                  </a:ext>
                </a:extLst>
              </a:tr>
              <a:tr h="589233">
                <a:tc>
                  <a:txBody>
                    <a:bodyPr/>
                    <a:lstStyle/>
                    <a:p>
                      <a:pPr algn="ctr"/>
                      <a:r>
                        <a:rPr lang="en-US" sz="2400" dirty="0"/>
                        <a:t>pumpkin</a:t>
                      </a:r>
                    </a:p>
                  </a:txBody>
                  <a:tcPr anchor="ctr"/>
                </a:tc>
                <a:extLst>
                  <a:ext uri="{0D108BD9-81ED-4DB2-BD59-A6C34878D82A}">
                    <a16:rowId xmlns:a16="http://schemas.microsoft.com/office/drawing/2014/main" val="839353059"/>
                  </a:ext>
                </a:extLst>
              </a:tr>
              <a:tr h="589233">
                <a:tc>
                  <a:txBody>
                    <a:bodyPr/>
                    <a:lstStyle/>
                    <a:p>
                      <a:pPr algn="ctr"/>
                      <a:r>
                        <a:rPr lang="en-US" sz="2400" dirty="0"/>
                        <a:t>pea</a:t>
                      </a:r>
                    </a:p>
                  </a:txBody>
                  <a:tcPr anchor="ctr"/>
                </a:tc>
                <a:extLst>
                  <a:ext uri="{0D108BD9-81ED-4DB2-BD59-A6C34878D82A}">
                    <a16:rowId xmlns:a16="http://schemas.microsoft.com/office/drawing/2014/main" val="2979703101"/>
                  </a:ext>
                </a:extLst>
              </a:tr>
              <a:tr h="589233">
                <a:tc>
                  <a:txBody>
                    <a:bodyPr/>
                    <a:lstStyle/>
                    <a:p>
                      <a:pPr algn="ctr"/>
                      <a:r>
                        <a:rPr lang="en-US" sz="2400" dirty="0"/>
                        <a:t>watermelon</a:t>
                      </a:r>
                    </a:p>
                  </a:txBody>
                  <a:tcPr anchor="ctr"/>
                </a:tc>
                <a:extLst>
                  <a:ext uri="{0D108BD9-81ED-4DB2-BD59-A6C34878D82A}">
                    <a16:rowId xmlns:a16="http://schemas.microsoft.com/office/drawing/2014/main" val="1449710678"/>
                  </a:ext>
                </a:extLst>
              </a:tr>
              <a:tr h="589233">
                <a:tc>
                  <a:txBody>
                    <a:bodyPr/>
                    <a:lstStyle/>
                    <a:p>
                      <a:pPr algn="ctr"/>
                      <a:r>
                        <a:rPr lang="en-US" sz="2400" dirty="0"/>
                        <a:t>long bean</a:t>
                      </a:r>
                    </a:p>
                  </a:txBody>
                  <a:tcPr anchor="ctr"/>
                </a:tc>
                <a:extLst>
                  <a:ext uri="{0D108BD9-81ED-4DB2-BD59-A6C34878D82A}">
                    <a16:rowId xmlns:a16="http://schemas.microsoft.com/office/drawing/2014/main" val="4117961281"/>
                  </a:ext>
                </a:extLst>
              </a:tr>
            </a:tbl>
          </a:graphicData>
        </a:graphic>
      </p:graphicFrame>
    </p:spTree>
    <p:extLst>
      <p:ext uri="{BB962C8B-B14F-4D97-AF65-F5344CB8AC3E}">
        <p14:creationId xmlns:p14="http://schemas.microsoft.com/office/powerpoint/2010/main" val="9942265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5" name="TextBox 4">
            <a:extLst>
              <a:ext uri="{FF2B5EF4-FFF2-40B4-BE49-F238E27FC236}">
                <a16:creationId xmlns:a16="http://schemas.microsoft.com/office/drawing/2014/main" id="{DF4F81EF-929C-E044-3F31-B96DE92DB3D9}"/>
              </a:ext>
            </a:extLst>
          </p:cNvPr>
          <p:cNvSpPr txBox="1"/>
          <p:nvPr/>
        </p:nvSpPr>
        <p:spPr>
          <a:xfrm>
            <a:off x="3618902" y="998992"/>
            <a:ext cx="5552136" cy="578882"/>
          </a:xfrm>
          <a:prstGeom prst="round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800" dirty="0">
                <a:solidFill>
                  <a:schemeClr val="bg1"/>
                </a:solidFill>
              </a:rPr>
              <a:t>What type of variable is Peak?</a:t>
            </a:r>
          </a:p>
        </p:txBody>
      </p:sp>
      <p:grpSp>
        <p:nvGrpSpPr>
          <p:cNvPr id="14" name="Group 13">
            <a:extLst>
              <a:ext uri="{FF2B5EF4-FFF2-40B4-BE49-F238E27FC236}">
                <a16:creationId xmlns:a16="http://schemas.microsoft.com/office/drawing/2014/main" id="{85111E68-5D69-62A8-C48E-F7CDF3C946DA}"/>
              </a:ext>
            </a:extLst>
          </p:cNvPr>
          <p:cNvGrpSpPr/>
          <p:nvPr/>
        </p:nvGrpSpPr>
        <p:grpSpPr>
          <a:xfrm>
            <a:off x="8068171" y="2014989"/>
            <a:ext cx="3580489" cy="4038371"/>
            <a:chOff x="8099752" y="2268137"/>
            <a:chExt cx="3580489" cy="4038371"/>
          </a:xfrm>
        </p:grpSpPr>
        <p:pic>
          <p:nvPicPr>
            <p:cNvPr id="15"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D42B2C51-A701-527C-8A2D-C81FDE6B86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606" r="53150" b="17230"/>
            <a:stretch/>
          </p:blipFill>
          <p:spPr bwMode="auto">
            <a:xfrm>
              <a:off x="8099752" y="4439477"/>
              <a:ext cx="3569979" cy="99788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413245BB-1597-58F4-B0D3-13A14C4082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229" t="20002" r="23604" b="72810"/>
            <a:stretch/>
          </p:blipFill>
          <p:spPr bwMode="auto">
            <a:xfrm>
              <a:off x="8211597" y="5437361"/>
              <a:ext cx="1384348" cy="3742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A477B7FB-BB46-7197-D29D-12358141CB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229" t="38364" r="30362" b="54448"/>
            <a:stretch/>
          </p:blipFill>
          <p:spPr bwMode="auto">
            <a:xfrm>
              <a:off x="8211597" y="5882183"/>
              <a:ext cx="869341" cy="37427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11A4BE89-696C-4FAC-BC28-F45A3E544A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72" t="38364" r="3535" b="52769"/>
            <a:stretch/>
          </p:blipFill>
          <p:spPr bwMode="auto">
            <a:xfrm>
              <a:off x="10313933" y="5844757"/>
              <a:ext cx="1355798" cy="46175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C654E349-3BC6-0004-9356-C3E8097578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73" t="20002" r="3810" b="72810"/>
            <a:stretch/>
          </p:blipFill>
          <p:spPr bwMode="auto">
            <a:xfrm>
              <a:off x="10313933" y="5472634"/>
              <a:ext cx="1334728" cy="37427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8EB91FC5-2486-287F-9A72-41C366492B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34" r="53150" b="45657"/>
            <a:stretch/>
          </p:blipFill>
          <p:spPr bwMode="auto">
            <a:xfrm>
              <a:off x="8110262" y="2268137"/>
              <a:ext cx="3569979" cy="222389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3" name="Table 2">
            <a:extLst>
              <a:ext uri="{FF2B5EF4-FFF2-40B4-BE49-F238E27FC236}">
                <a16:creationId xmlns:a16="http://schemas.microsoft.com/office/drawing/2014/main" id="{21680BBB-18B5-52A0-E671-1159720FD564}"/>
              </a:ext>
            </a:extLst>
          </p:cNvPr>
          <p:cNvGraphicFramePr>
            <a:graphicFrameLocks noGrp="1"/>
          </p:cNvGraphicFramePr>
          <p:nvPr>
            <p:extLst>
              <p:ext uri="{D42A27DB-BD31-4B8C-83A1-F6EECF244321}">
                <p14:modId xmlns:p14="http://schemas.microsoft.com/office/powerpoint/2010/main" val="1760451595"/>
              </p:ext>
            </p:extLst>
          </p:nvPr>
        </p:nvGraphicFramePr>
        <p:xfrm>
          <a:off x="4680264" y="2568793"/>
          <a:ext cx="2468681" cy="4124631"/>
        </p:xfrm>
        <a:graphic>
          <a:graphicData uri="http://schemas.openxmlformats.org/drawingml/2006/table">
            <a:tbl>
              <a:tblPr firstRow="1" bandRow="1">
                <a:tableStyleId>{93296810-A885-4BE3-A3E7-6D5BEEA58F35}</a:tableStyleId>
              </a:tblPr>
              <a:tblGrid>
                <a:gridCol w="2468681">
                  <a:extLst>
                    <a:ext uri="{9D8B030D-6E8A-4147-A177-3AD203B41FA5}">
                      <a16:colId xmlns:a16="http://schemas.microsoft.com/office/drawing/2014/main" val="3886664144"/>
                    </a:ext>
                  </a:extLst>
                </a:gridCol>
              </a:tblGrid>
              <a:tr h="589233">
                <a:tc>
                  <a:txBody>
                    <a:bodyPr/>
                    <a:lstStyle/>
                    <a:p>
                      <a:pPr algn="ctr"/>
                      <a:r>
                        <a:rPr lang="en-US" sz="2400" dirty="0"/>
                        <a:t>Peak</a:t>
                      </a:r>
                    </a:p>
                  </a:txBody>
                  <a:tcPr anchor="ctr"/>
                </a:tc>
                <a:extLst>
                  <a:ext uri="{0D108BD9-81ED-4DB2-BD59-A6C34878D82A}">
                    <a16:rowId xmlns:a16="http://schemas.microsoft.com/office/drawing/2014/main" val="4142006161"/>
                  </a:ext>
                </a:extLst>
              </a:tr>
              <a:tr h="589233">
                <a:tc>
                  <a:txBody>
                    <a:bodyPr/>
                    <a:lstStyle/>
                    <a:p>
                      <a:pPr algn="ctr"/>
                      <a:r>
                        <a:rPr lang="en-US" sz="2400" dirty="0"/>
                        <a:t>July</a:t>
                      </a:r>
                    </a:p>
                  </a:txBody>
                  <a:tcPr anchor="ctr"/>
                </a:tc>
                <a:extLst>
                  <a:ext uri="{0D108BD9-81ED-4DB2-BD59-A6C34878D82A}">
                    <a16:rowId xmlns:a16="http://schemas.microsoft.com/office/drawing/2014/main" val="3696000551"/>
                  </a:ext>
                </a:extLst>
              </a:tr>
              <a:tr h="589233">
                <a:tc>
                  <a:txBody>
                    <a:bodyPr/>
                    <a:lstStyle/>
                    <a:p>
                      <a:pPr algn="ctr"/>
                      <a:r>
                        <a:rPr lang="en-US" sz="2400" dirty="0"/>
                        <a:t>April</a:t>
                      </a:r>
                    </a:p>
                  </a:txBody>
                  <a:tcPr anchor="ctr"/>
                </a:tc>
                <a:extLst>
                  <a:ext uri="{0D108BD9-81ED-4DB2-BD59-A6C34878D82A}">
                    <a16:rowId xmlns:a16="http://schemas.microsoft.com/office/drawing/2014/main" val="154332391"/>
                  </a:ext>
                </a:extLst>
              </a:tr>
              <a:tr h="589233">
                <a:tc>
                  <a:txBody>
                    <a:bodyPr/>
                    <a:lstStyle/>
                    <a:p>
                      <a:pPr algn="ctr"/>
                      <a:r>
                        <a:rPr lang="en-US" sz="2400" dirty="0"/>
                        <a:t>October</a:t>
                      </a:r>
                    </a:p>
                  </a:txBody>
                  <a:tcPr anchor="ctr"/>
                </a:tc>
                <a:extLst>
                  <a:ext uri="{0D108BD9-81ED-4DB2-BD59-A6C34878D82A}">
                    <a16:rowId xmlns:a16="http://schemas.microsoft.com/office/drawing/2014/main" val="839353059"/>
                  </a:ext>
                </a:extLst>
              </a:tr>
              <a:tr h="589233">
                <a:tc>
                  <a:txBody>
                    <a:bodyPr/>
                    <a:lstStyle/>
                    <a:p>
                      <a:pPr algn="ctr"/>
                      <a:r>
                        <a:rPr lang="en-US" sz="2400" dirty="0"/>
                        <a:t>June</a:t>
                      </a:r>
                    </a:p>
                  </a:txBody>
                  <a:tcPr anchor="ctr"/>
                </a:tc>
                <a:extLst>
                  <a:ext uri="{0D108BD9-81ED-4DB2-BD59-A6C34878D82A}">
                    <a16:rowId xmlns:a16="http://schemas.microsoft.com/office/drawing/2014/main" val="2042468029"/>
                  </a:ext>
                </a:extLst>
              </a:tr>
              <a:tr h="589233">
                <a:tc>
                  <a:txBody>
                    <a:bodyPr/>
                    <a:lstStyle/>
                    <a:p>
                      <a:pPr algn="ctr"/>
                      <a:r>
                        <a:rPr lang="en-US" sz="2400" dirty="0"/>
                        <a:t>August</a:t>
                      </a:r>
                    </a:p>
                  </a:txBody>
                  <a:tcPr anchor="ctr"/>
                </a:tc>
                <a:extLst>
                  <a:ext uri="{0D108BD9-81ED-4DB2-BD59-A6C34878D82A}">
                    <a16:rowId xmlns:a16="http://schemas.microsoft.com/office/drawing/2014/main" val="4248445016"/>
                  </a:ext>
                </a:extLst>
              </a:tr>
              <a:tr h="589233">
                <a:tc>
                  <a:txBody>
                    <a:bodyPr/>
                    <a:lstStyle/>
                    <a:p>
                      <a:pPr algn="ctr"/>
                      <a:r>
                        <a:rPr lang="en-US" sz="2400" dirty="0"/>
                        <a:t>September</a:t>
                      </a:r>
                    </a:p>
                  </a:txBody>
                  <a:tcPr anchor="ctr"/>
                </a:tc>
                <a:extLst>
                  <a:ext uri="{0D108BD9-81ED-4DB2-BD59-A6C34878D82A}">
                    <a16:rowId xmlns:a16="http://schemas.microsoft.com/office/drawing/2014/main" val="3963348579"/>
                  </a:ext>
                </a:extLst>
              </a:tr>
            </a:tbl>
          </a:graphicData>
        </a:graphic>
      </p:graphicFrame>
    </p:spTree>
    <p:extLst>
      <p:ext uri="{BB962C8B-B14F-4D97-AF65-F5344CB8AC3E}">
        <p14:creationId xmlns:p14="http://schemas.microsoft.com/office/powerpoint/2010/main" val="9867449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5" name="TextBox 4">
            <a:extLst>
              <a:ext uri="{FF2B5EF4-FFF2-40B4-BE49-F238E27FC236}">
                <a16:creationId xmlns:a16="http://schemas.microsoft.com/office/drawing/2014/main" id="{2A80AF07-C10C-CC28-1122-AC889276E140}"/>
              </a:ext>
            </a:extLst>
          </p:cNvPr>
          <p:cNvSpPr txBox="1"/>
          <p:nvPr/>
        </p:nvSpPr>
        <p:spPr>
          <a:xfrm>
            <a:off x="3724005" y="998992"/>
            <a:ext cx="5552136" cy="578882"/>
          </a:xfrm>
          <a:prstGeom prst="round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800" dirty="0">
                <a:solidFill>
                  <a:schemeClr val="bg1"/>
                </a:solidFill>
              </a:rPr>
              <a:t>What type of variable is Price?</a:t>
            </a:r>
          </a:p>
        </p:txBody>
      </p:sp>
      <p:grpSp>
        <p:nvGrpSpPr>
          <p:cNvPr id="14" name="Group 13">
            <a:extLst>
              <a:ext uri="{FF2B5EF4-FFF2-40B4-BE49-F238E27FC236}">
                <a16:creationId xmlns:a16="http://schemas.microsoft.com/office/drawing/2014/main" id="{72265170-B465-6849-C111-F60273B23A51}"/>
              </a:ext>
            </a:extLst>
          </p:cNvPr>
          <p:cNvGrpSpPr/>
          <p:nvPr/>
        </p:nvGrpSpPr>
        <p:grpSpPr>
          <a:xfrm>
            <a:off x="8068171" y="2014989"/>
            <a:ext cx="3580489" cy="4038371"/>
            <a:chOff x="8099752" y="2268137"/>
            <a:chExt cx="3580489" cy="4038371"/>
          </a:xfrm>
        </p:grpSpPr>
        <p:pic>
          <p:nvPicPr>
            <p:cNvPr id="15"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99CDCB31-1126-68A8-9734-C3FB831439A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606" r="53150" b="17230"/>
            <a:stretch/>
          </p:blipFill>
          <p:spPr bwMode="auto">
            <a:xfrm>
              <a:off x="8099752" y="4439477"/>
              <a:ext cx="3569979" cy="99788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178C900E-44FA-9F61-561B-2E8CB9EB82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229" t="20002" r="23604" b="72810"/>
            <a:stretch/>
          </p:blipFill>
          <p:spPr bwMode="auto">
            <a:xfrm>
              <a:off x="8211597" y="5437361"/>
              <a:ext cx="1384348" cy="3742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9BC0888F-1494-7209-48F0-9FD4426B93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229" t="38364" r="30362" b="54448"/>
            <a:stretch/>
          </p:blipFill>
          <p:spPr bwMode="auto">
            <a:xfrm>
              <a:off x="8211597" y="5882183"/>
              <a:ext cx="869341" cy="37427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214FFA27-A9B0-74E1-F95E-F4D28DF306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72" t="38364" r="3535" b="52769"/>
            <a:stretch/>
          </p:blipFill>
          <p:spPr bwMode="auto">
            <a:xfrm>
              <a:off x="10313933" y="5844757"/>
              <a:ext cx="1355798" cy="46175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12B14E62-A8B0-F39B-00BE-55060F42B8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73" t="20002" r="3810" b="72810"/>
            <a:stretch/>
          </p:blipFill>
          <p:spPr bwMode="auto">
            <a:xfrm>
              <a:off x="10313933" y="5472634"/>
              <a:ext cx="1334728" cy="37427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1F254DFD-7681-0736-A38D-B368F8BE29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34" r="53150" b="45657"/>
            <a:stretch/>
          </p:blipFill>
          <p:spPr bwMode="auto">
            <a:xfrm>
              <a:off x="8110262" y="2268137"/>
              <a:ext cx="3569979" cy="222389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3" name="Table 2">
            <a:extLst>
              <a:ext uri="{FF2B5EF4-FFF2-40B4-BE49-F238E27FC236}">
                <a16:creationId xmlns:a16="http://schemas.microsoft.com/office/drawing/2014/main" id="{9A21986D-35FB-9EDD-715D-8E0701E8934F}"/>
              </a:ext>
            </a:extLst>
          </p:cNvPr>
          <p:cNvGraphicFramePr>
            <a:graphicFrameLocks noGrp="1"/>
          </p:cNvGraphicFramePr>
          <p:nvPr>
            <p:extLst>
              <p:ext uri="{D42A27DB-BD31-4B8C-83A1-F6EECF244321}">
                <p14:modId xmlns:p14="http://schemas.microsoft.com/office/powerpoint/2010/main" val="1452173949"/>
              </p:ext>
            </p:extLst>
          </p:nvPr>
        </p:nvGraphicFramePr>
        <p:xfrm>
          <a:off x="4680264" y="2568793"/>
          <a:ext cx="2468681" cy="4124631"/>
        </p:xfrm>
        <a:graphic>
          <a:graphicData uri="http://schemas.openxmlformats.org/drawingml/2006/table">
            <a:tbl>
              <a:tblPr firstRow="1" bandRow="1">
                <a:tableStyleId>{93296810-A885-4BE3-A3E7-6D5BEEA58F35}</a:tableStyleId>
              </a:tblPr>
              <a:tblGrid>
                <a:gridCol w="2468681">
                  <a:extLst>
                    <a:ext uri="{9D8B030D-6E8A-4147-A177-3AD203B41FA5}">
                      <a16:colId xmlns:a16="http://schemas.microsoft.com/office/drawing/2014/main" val="3886664144"/>
                    </a:ext>
                  </a:extLst>
                </a:gridCol>
              </a:tblGrid>
              <a:tr h="589233">
                <a:tc>
                  <a:txBody>
                    <a:bodyPr/>
                    <a:lstStyle/>
                    <a:p>
                      <a:pPr algn="ctr"/>
                      <a:r>
                        <a:rPr lang="en-US" sz="2400" dirty="0"/>
                        <a:t>Price (per </a:t>
                      </a:r>
                      <a:r>
                        <a:rPr lang="en-US" sz="2400" dirty="0" err="1"/>
                        <a:t>lb</a:t>
                      </a:r>
                      <a:r>
                        <a:rPr lang="en-US" sz="2400" dirty="0"/>
                        <a:t>)</a:t>
                      </a:r>
                    </a:p>
                  </a:txBody>
                  <a:tcPr anchor="ctr"/>
                </a:tc>
                <a:extLst>
                  <a:ext uri="{0D108BD9-81ED-4DB2-BD59-A6C34878D82A}">
                    <a16:rowId xmlns:a16="http://schemas.microsoft.com/office/drawing/2014/main" val="4142006161"/>
                  </a:ext>
                </a:extLst>
              </a:tr>
              <a:tr h="589233">
                <a:tc>
                  <a:txBody>
                    <a:bodyPr/>
                    <a:lstStyle/>
                    <a:p>
                      <a:pPr algn="ctr"/>
                      <a:r>
                        <a:rPr lang="en-US" sz="2400" dirty="0"/>
                        <a:t>6.45</a:t>
                      </a:r>
                    </a:p>
                  </a:txBody>
                  <a:tcPr anchor="ctr"/>
                </a:tc>
                <a:extLst>
                  <a:ext uri="{0D108BD9-81ED-4DB2-BD59-A6C34878D82A}">
                    <a16:rowId xmlns:a16="http://schemas.microsoft.com/office/drawing/2014/main" val="3696000551"/>
                  </a:ext>
                </a:extLst>
              </a:tr>
              <a:tr h="589233">
                <a:tc>
                  <a:txBody>
                    <a:bodyPr/>
                    <a:lstStyle/>
                    <a:p>
                      <a:pPr algn="ctr"/>
                      <a:r>
                        <a:rPr lang="en-US" sz="2400" dirty="0"/>
                        <a:t>4.99</a:t>
                      </a:r>
                    </a:p>
                  </a:txBody>
                  <a:tcPr anchor="ctr"/>
                </a:tc>
                <a:extLst>
                  <a:ext uri="{0D108BD9-81ED-4DB2-BD59-A6C34878D82A}">
                    <a16:rowId xmlns:a16="http://schemas.microsoft.com/office/drawing/2014/main" val="154332391"/>
                  </a:ext>
                </a:extLst>
              </a:tr>
              <a:tr h="589233">
                <a:tc>
                  <a:txBody>
                    <a:bodyPr/>
                    <a:lstStyle/>
                    <a:p>
                      <a:pPr algn="ctr"/>
                      <a:r>
                        <a:rPr lang="en-US" sz="2400" dirty="0"/>
                        <a:t>0.24</a:t>
                      </a:r>
                    </a:p>
                  </a:txBody>
                  <a:tcPr anchor="ctr"/>
                </a:tc>
                <a:extLst>
                  <a:ext uri="{0D108BD9-81ED-4DB2-BD59-A6C34878D82A}">
                    <a16:rowId xmlns:a16="http://schemas.microsoft.com/office/drawing/2014/main" val="839353059"/>
                  </a:ext>
                </a:extLst>
              </a:tr>
              <a:tr h="589233">
                <a:tc>
                  <a:txBody>
                    <a:bodyPr/>
                    <a:lstStyle/>
                    <a:p>
                      <a:pPr algn="ctr"/>
                      <a:r>
                        <a:rPr lang="en-US" sz="2400" dirty="0"/>
                        <a:t>7.00</a:t>
                      </a:r>
                    </a:p>
                  </a:txBody>
                  <a:tcPr anchor="ctr"/>
                </a:tc>
                <a:extLst>
                  <a:ext uri="{0D108BD9-81ED-4DB2-BD59-A6C34878D82A}">
                    <a16:rowId xmlns:a16="http://schemas.microsoft.com/office/drawing/2014/main" val="1077640110"/>
                  </a:ext>
                </a:extLst>
              </a:tr>
              <a:tr h="589233">
                <a:tc>
                  <a:txBody>
                    <a:bodyPr/>
                    <a:lstStyle/>
                    <a:p>
                      <a:pPr algn="ctr"/>
                      <a:r>
                        <a:rPr lang="en-US" sz="2400" dirty="0"/>
                        <a:t>3.65</a:t>
                      </a:r>
                    </a:p>
                  </a:txBody>
                  <a:tcPr anchor="ctr"/>
                </a:tc>
                <a:extLst>
                  <a:ext uri="{0D108BD9-81ED-4DB2-BD59-A6C34878D82A}">
                    <a16:rowId xmlns:a16="http://schemas.microsoft.com/office/drawing/2014/main" val="1269033791"/>
                  </a:ext>
                </a:extLst>
              </a:tr>
              <a:tr h="589233">
                <a:tc>
                  <a:txBody>
                    <a:bodyPr/>
                    <a:lstStyle/>
                    <a:p>
                      <a:pPr algn="ctr"/>
                      <a:r>
                        <a:rPr lang="en-US" sz="2400" dirty="0"/>
                        <a:t>3.64</a:t>
                      </a:r>
                    </a:p>
                  </a:txBody>
                  <a:tcPr anchor="ctr"/>
                </a:tc>
                <a:extLst>
                  <a:ext uri="{0D108BD9-81ED-4DB2-BD59-A6C34878D82A}">
                    <a16:rowId xmlns:a16="http://schemas.microsoft.com/office/drawing/2014/main" val="2419254466"/>
                  </a:ext>
                </a:extLst>
              </a:tr>
            </a:tbl>
          </a:graphicData>
        </a:graphic>
      </p:graphicFrame>
    </p:spTree>
    <p:extLst>
      <p:ext uri="{BB962C8B-B14F-4D97-AF65-F5344CB8AC3E}">
        <p14:creationId xmlns:p14="http://schemas.microsoft.com/office/powerpoint/2010/main" val="26363263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5A44-4336-F365-2E3B-C55C1123CF37}"/>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3" name="Content Placeholder 2">
            <a:extLst>
              <a:ext uri="{FF2B5EF4-FFF2-40B4-BE49-F238E27FC236}">
                <a16:creationId xmlns:a16="http://schemas.microsoft.com/office/drawing/2014/main" id="{75C8B22C-A666-2A7A-6887-C8064FE00251}"/>
              </a:ext>
            </a:extLst>
          </p:cNvPr>
          <p:cNvSpPr>
            <a:spLocks noGrp="1"/>
          </p:cNvSpPr>
          <p:nvPr>
            <p:ph idx="1"/>
          </p:nvPr>
        </p:nvSpPr>
        <p:spPr>
          <a:xfrm>
            <a:off x="3150910" y="184113"/>
            <a:ext cx="8991599" cy="6316717"/>
          </a:xfrm>
        </p:spPr>
        <p:txBody>
          <a:bodyPr anchor="t">
            <a:normAutofit/>
          </a:bodyPr>
          <a:lstStyle/>
          <a:p>
            <a:r>
              <a:rPr lang="en-US" sz="2400" dirty="0"/>
              <a:t>Remember… </a:t>
            </a:r>
            <a:r>
              <a:rPr lang="en-US" sz="2400" b="1" dirty="0"/>
              <a:t>Big idea behind visualization</a:t>
            </a:r>
          </a:p>
          <a:p>
            <a:pPr lvl="1"/>
            <a:r>
              <a:rPr lang="en-US" sz="2400" b="1" dirty="0">
                <a:effectLst>
                  <a:glow rad="228600">
                    <a:schemeClr val="accent3">
                      <a:satMod val="175000"/>
                      <a:alpha val="40000"/>
                    </a:schemeClr>
                  </a:glow>
                </a:effectLst>
              </a:rPr>
              <a:t>Visual Encoding: </a:t>
            </a:r>
            <a:r>
              <a:rPr lang="en-US" sz="2400" dirty="0"/>
              <a:t>Map data dimensions  to visual dimensions in a principled way </a:t>
            </a:r>
          </a:p>
          <a:p>
            <a:pPr lvl="1"/>
            <a:r>
              <a:rPr lang="en-US" sz="2400" b="1" dirty="0"/>
              <a:t>Insight 1: Not all visual dimensions can represent all data types</a:t>
            </a:r>
          </a:p>
          <a:p>
            <a:pPr lvl="1"/>
            <a:endParaRPr lang="en-US" sz="2400" dirty="0"/>
          </a:p>
        </p:txBody>
      </p:sp>
      <p:graphicFrame>
        <p:nvGraphicFramePr>
          <p:cNvPr id="19" name="object 9">
            <a:extLst>
              <a:ext uri="{FF2B5EF4-FFF2-40B4-BE49-F238E27FC236}">
                <a16:creationId xmlns:a16="http://schemas.microsoft.com/office/drawing/2014/main" id="{601F61F2-AE83-CDAE-472E-75E2498F0907}"/>
              </a:ext>
            </a:extLst>
          </p:cNvPr>
          <p:cNvGraphicFramePr>
            <a:graphicFrameLocks noGrp="1"/>
          </p:cNvGraphicFramePr>
          <p:nvPr>
            <p:extLst>
              <p:ext uri="{D42A27DB-BD31-4B8C-83A1-F6EECF244321}">
                <p14:modId xmlns:p14="http://schemas.microsoft.com/office/powerpoint/2010/main" val="2696370932"/>
              </p:ext>
            </p:extLst>
          </p:nvPr>
        </p:nvGraphicFramePr>
        <p:xfrm>
          <a:off x="7431429" y="2615861"/>
          <a:ext cx="3120957" cy="4012857"/>
        </p:xfrm>
        <a:graphic>
          <a:graphicData uri="http://schemas.openxmlformats.org/drawingml/2006/table">
            <a:tbl>
              <a:tblPr firstRow="1" bandRow="1">
                <a:tableStyleId>{2D5ABB26-0587-4C30-8999-92F81FD0307C}</a:tableStyleId>
              </a:tblPr>
              <a:tblGrid>
                <a:gridCol w="1040319">
                  <a:extLst>
                    <a:ext uri="{9D8B030D-6E8A-4147-A177-3AD203B41FA5}">
                      <a16:colId xmlns:a16="http://schemas.microsoft.com/office/drawing/2014/main" val="20000"/>
                    </a:ext>
                  </a:extLst>
                </a:gridCol>
                <a:gridCol w="1040319">
                  <a:extLst>
                    <a:ext uri="{9D8B030D-6E8A-4147-A177-3AD203B41FA5}">
                      <a16:colId xmlns:a16="http://schemas.microsoft.com/office/drawing/2014/main" val="20001"/>
                    </a:ext>
                  </a:extLst>
                </a:gridCol>
                <a:gridCol w="1040319">
                  <a:extLst>
                    <a:ext uri="{9D8B030D-6E8A-4147-A177-3AD203B41FA5}">
                      <a16:colId xmlns:a16="http://schemas.microsoft.com/office/drawing/2014/main" val="2381195527"/>
                    </a:ext>
                  </a:extLst>
                </a:gridCol>
              </a:tblGrid>
              <a:tr h="445873">
                <a:tc>
                  <a:txBody>
                    <a:bodyPr/>
                    <a:lstStyle/>
                    <a:p>
                      <a:pPr>
                        <a:lnSpc>
                          <a:spcPct val="100000"/>
                        </a:lnSpc>
                      </a:pPr>
                      <a:r>
                        <a:rPr lang="en-US" sz="1900" dirty="0">
                          <a:latin typeface="Times New Roman"/>
                          <a:cs typeface="Times New Roman"/>
                        </a:rPr>
                        <a:t> </a:t>
                      </a:r>
                      <a:endParaRPr sz="1900" dirty="0">
                        <a:latin typeface="Times New Roman"/>
                        <a:cs typeface="Times New Roman"/>
                      </a:endParaRPr>
                    </a:p>
                  </a:txBody>
                  <a:tcPr marL="0" marR="0" marT="0" marB="0">
                    <a:lnL w="19050">
                      <a:solidFill>
                        <a:srgbClr val="292934"/>
                      </a:solidFill>
                      <a:prstDash val="solid"/>
                    </a:lnL>
                    <a:lnR w="19050">
                      <a:solidFill>
                        <a:srgbClr val="292934"/>
                      </a:solidFill>
                      <a:prstDash val="solid"/>
                    </a:lnR>
                    <a:lnT w="19050">
                      <a:solidFill>
                        <a:srgbClr val="292934"/>
                      </a:solidFill>
                      <a:prstDash val="solid"/>
                    </a:lnT>
                    <a:lnB w="19050">
                      <a:solidFill>
                        <a:srgbClr val="292934"/>
                      </a:solidFill>
                      <a:prstDash val="solid"/>
                    </a:lnB>
                  </a:tcPr>
                </a:tc>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cap="flat" cmpd="sng" algn="ctr">
                      <a:solidFill>
                        <a:srgbClr val="292934"/>
                      </a:solidFill>
                      <a:prstDash val="solid"/>
                      <a:round/>
                      <a:headEnd type="none" w="med" len="med"/>
                      <a:tailEnd type="none" w="med" len="med"/>
                    </a:lnR>
                    <a:lnT w="19050">
                      <a:solidFill>
                        <a:srgbClr val="292934"/>
                      </a:solidFill>
                      <a:prstDash val="solid"/>
                    </a:lnT>
                    <a:lnB w="19050">
                      <a:solidFill>
                        <a:srgbClr val="292934"/>
                      </a:solidFill>
                      <a:prstDash val="solid"/>
                    </a:lnB>
                  </a:tcPr>
                </a:tc>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a:solidFill>
                        <a:srgbClr val="292934"/>
                      </a:solidFill>
                      <a:prstDash val="solid"/>
                    </a:lnR>
                    <a:lnT w="19050">
                      <a:solidFill>
                        <a:srgbClr val="292934"/>
                      </a:solidFill>
                      <a:prstDash val="solid"/>
                    </a:lnT>
                    <a:lnB w="19050" cap="flat" cmpd="sng" algn="ctr">
                      <a:solidFill>
                        <a:srgbClr val="292934"/>
                      </a:solidFill>
                      <a:prstDash val="solid"/>
                      <a:round/>
                      <a:headEnd type="none" w="med" len="med"/>
                      <a:tailEnd type="none" w="med" len="med"/>
                    </a:lnB>
                  </a:tcPr>
                </a:tc>
                <a:extLst>
                  <a:ext uri="{0D108BD9-81ED-4DB2-BD59-A6C34878D82A}">
                    <a16:rowId xmlns:a16="http://schemas.microsoft.com/office/drawing/2014/main" val="10000"/>
                  </a:ext>
                </a:extLst>
              </a:tr>
              <a:tr h="445873">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a:solidFill>
                        <a:srgbClr val="292934"/>
                      </a:solidFill>
                      <a:prstDash val="solid"/>
                    </a:lnR>
                    <a:lnT w="19050">
                      <a:solidFill>
                        <a:srgbClr val="292934"/>
                      </a:solidFill>
                      <a:prstDash val="solid"/>
                    </a:lnT>
                    <a:lnB w="19050">
                      <a:solidFill>
                        <a:srgbClr val="292934"/>
                      </a:solidFill>
                      <a:prstDash val="solid"/>
                    </a:lnB>
                  </a:tcPr>
                </a:tc>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cap="flat" cmpd="sng" algn="ctr">
                      <a:solidFill>
                        <a:srgbClr val="292934"/>
                      </a:solidFill>
                      <a:prstDash val="solid"/>
                      <a:round/>
                      <a:headEnd type="none" w="med" len="med"/>
                      <a:tailEnd type="none" w="med" len="med"/>
                    </a:lnR>
                    <a:lnT w="19050">
                      <a:solidFill>
                        <a:srgbClr val="292934"/>
                      </a:solidFill>
                      <a:prstDash val="solid"/>
                    </a:lnT>
                    <a:lnB w="19050">
                      <a:solidFill>
                        <a:srgbClr val="292934"/>
                      </a:solidFill>
                      <a:prstDash val="solid"/>
                    </a:lnB>
                  </a:tcPr>
                </a:tc>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a:solidFill>
                        <a:srgbClr val="292934"/>
                      </a:solidFill>
                      <a:prstDash val="solid"/>
                    </a:lnR>
                    <a:lnT w="19050" cap="flat" cmpd="sng" algn="ctr">
                      <a:solidFill>
                        <a:srgbClr val="292934"/>
                      </a:solidFill>
                      <a:prstDash val="solid"/>
                      <a:round/>
                      <a:headEnd type="none" w="med" len="med"/>
                      <a:tailEnd type="none" w="med" len="med"/>
                    </a:lnT>
                    <a:lnB w="19050" cap="flat" cmpd="sng" algn="ctr">
                      <a:solidFill>
                        <a:srgbClr val="292934"/>
                      </a:solidFill>
                      <a:prstDash val="solid"/>
                      <a:round/>
                      <a:headEnd type="none" w="med" len="med"/>
                      <a:tailEnd type="none" w="med" len="med"/>
                    </a:lnB>
                  </a:tcPr>
                </a:tc>
                <a:extLst>
                  <a:ext uri="{0D108BD9-81ED-4DB2-BD59-A6C34878D82A}">
                    <a16:rowId xmlns:a16="http://schemas.microsoft.com/office/drawing/2014/main" val="10001"/>
                  </a:ext>
                </a:extLst>
              </a:tr>
              <a:tr h="445873">
                <a:tc>
                  <a:txBody>
                    <a:bodyPr/>
                    <a:lstStyle/>
                    <a:p>
                      <a:pPr>
                        <a:lnSpc>
                          <a:spcPct val="100000"/>
                        </a:lnSpc>
                      </a:pPr>
                      <a:endParaRPr sz="1900">
                        <a:latin typeface="Times New Roman"/>
                        <a:cs typeface="Times New Roman"/>
                      </a:endParaRPr>
                    </a:p>
                  </a:txBody>
                  <a:tcPr marL="0" marR="0" marT="0" marB="0">
                    <a:lnL w="19050">
                      <a:solidFill>
                        <a:srgbClr val="292934"/>
                      </a:solidFill>
                      <a:prstDash val="solid"/>
                    </a:lnL>
                    <a:lnR w="19050">
                      <a:solidFill>
                        <a:srgbClr val="292934"/>
                      </a:solidFill>
                      <a:prstDash val="solid"/>
                    </a:lnR>
                    <a:lnT w="19050">
                      <a:solidFill>
                        <a:srgbClr val="292934"/>
                      </a:solidFill>
                      <a:prstDash val="solid"/>
                    </a:lnT>
                    <a:lnB w="19050">
                      <a:solidFill>
                        <a:srgbClr val="292934"/>
                      </a:solidFill>
                      <a:prstDash val="solid"/>
                    </a:lnB>
                  </a:tcPr>
                </a:tc>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cap="flat" cmpd="sng" algn="ctr">
                      <a:solidFill>
                        <a:srgbClr val="292934"/>
                      </a:solidFill>
                      <a:prstDash val="solid"/>
                      <a:round/>
                      <a:headEnd type="none" w="med" len="med"/>
                      <a:tailEnd type="none" w="med" len="med"/>
                    </a:lnR>
                    <a:lnT w="19050">
                      <a:solidFill>
                        <a:srgbClr val="292934"/>
                      </a:solidFill>
                      <a:prstDash val="solid"/>
                    </a:lnT>
                    <a:lnB w="19050">
                      <a:solidFill>
                        <a:srgbClr val="292934"/>
                      </a:solidFill>
                      <a:prstDash val="solid"/>
                    </a:lnB>
                  </a:tcPr>
                </a:tc>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a:solidFill>
                        <a:srgbClr val="292934"/>
                      </a:solidFill>
                      <a:prstDash val="solid"/>
                    </a:lnR>
                    <a:lnT w="19050" cap="flat" cmpd="sng" algn="ctr">
                      <a:solidFill>
                        <a:srgbClr val="292934"/>
                      </a:solidFill>
                      <a:prstDash val="solid"/>
                      <a:round/>
                      <a:headEnd type="none" w="med" len="med"/>
                      <a:tailEnd type="none" w="med" len="med"/>
                    </a:lnT>
                    <a:lnB w="19050" cap="flat" cmpd="sng" algn="ctr">
                      <a:solidFill>
                        <a:srgbClr val="292934"/>
                      </a:solidFill>
                      <a:prstDash val="solid"/>
                      <a:round/>
                      <a:headEnd type="none" w="med" len="med"/>
                      <a:tailEnd type="none" w="med" len="med"/>
                    </a:lnB>
                  </a:tcPr>
                </a:tc>
                <a:extLst>
                  <a:ext uri="{0D108BD9-81ED-4DB2-BD59-A6C34878D82A}">
                    <a16:rowId xmlns:a16="http://schemas.microsoft.com/office/drawing/2014/main" val="10002"/>
                  </a:ext>
                </a:extLst>
              </a:tr>
              <a:tr h="445873">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a:solidFill>
                        <a:srgbClr val="292934"/>
                      </a:solidFill>
                      <a:prstDash val="solid"/>
                    </a:lnR>
                    <a:lnT w="19050">
                      <a:solidFill>
                        <a:srgbClr val="292934"/>
                      </a:solidFill>
                      <a:prstDash val="solid"/>
                    </a:lnT>
                    <a:lnB w="19050">
                      <a:solidFill>
                        <a:srgbClr val="292934"/>
                      </a:solidFill>
                      <a:prstDash val="solid"/>
                    </a:lnB>
                  </a:tcPr>
                </a:tc>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cap="flat" cmpd="sng" algn="ctr">
                      <a:solidFill>
                        <a:srgbClr val="292934"/>
                      </a:solidFill>
                      <a:prstDash val="solid"/>
                      <a:round/>
                      <a:headEnd type="none" w="med" len="med"/>
                      <a:tailEnd type="none" w="med" len="med"/>
                    </a:lnR>
                    <a:lnT w="19050">
                      <a:solidFill>
                        <a:srgbClr val="292934"/>
                      </a:solidFill>
                      <a:prstDash val="solid"/>
                    </a:lnT>
                    <a:lnB w="19050">
                      <a:solidFill>
                        <a:srgbClr val="292934"/>
                      </a:solidFill>
                      <a:prstDash val="solid"/>
                    </a:lnB>
                  </a:tcPr>
                </a:tc>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a:solidFill>
                        <a:srgbClr val="292934"/>
                      </a:solidFill>
                      <a:prstDash val="solid"/>
                    </a:lnR>
                    <a:lnT w="19050" cap="flat" cmpd="sng" algn="ctr">
                      <a:solidFill>
                        <a:srgbClr val="292934"/>
                      </a:solidFill>
                      <a:prstDash val="solid"/>
                      <a:round/>
                      <a:headEnd type="none" w="med" len="med"/>
                      <a:tailEnd type="none" w="med" len="med"/>
                    </a:lnT>
                    <a:lnB w="19050" cap="flat" cmpd="sng" algn="ctr">
                      <a:solidFill>
                        <a:srgbClr val="292934"/>
                      </a:solidFill>
                      <a:prstDash val="solid"/>
                      <a:round/>
                      <a:headEnd type="none" w="med" len="med"/>
                      <a:tailEnd type="none" w="med" len="med"/>
                    </a:lnB>
                  </a:tcPr>
                </a:tc>
                <a:extLst>
                  <a:ext uri="{0D108BD9-81ED-4DB2-BD59-A6C34878D82A}">
                    <a16:rowId xmlns:a16="http://schemas.microsoft.com/office/drawing/2014/main" val="10003"/>
                  </a:ext>
                </a:extLst>
              </a:tr>
              <a:tr h="445873">
                <a:tc>
                  <a:txBody>
                    <a:bodyPr/>
                    <a:lstStyle/>
                    <a:p>
                      <a:pPr>
                        <a:lnSpc>
                          <a:spcPct val="100000"/>
                        </a:lnSpc>
                      </a:pPr>
                      <a:endParaRPr sz="1900">
                        <a:latin typeface="Times New Roman"/>
                        <a:cs typeface="Times New Roman"/>
                      </a:endParaRPr>
                    </a:p>
                  </a:txBody>
                  <a:tcPr marL="0" marR="0" marT="0" marB="0">
                    <a:lnL w="19050">
                      <a:solidFill>
                        <a:srgbClr val="292934"/>
                      </a:solidFill>
                      <a:prstDash val="solid"/>
                    </a:lnL>
                    <a:lnR w="19050">
                      <a:solidFill>
                        <a:srgbClr val="292934"/>
                      </a:solidFill>
                      <a:prstDash val="solid"/>
                    </a:lnR>
                    <a:lnT w="19050">
                      <a:solidFill>
                        <a:srgbClr val="292934"/>
                      </a:solidFill>
                      <a:prstDash val="solid"/>
                    </a:lnT>
                    <a:lnB w="19050">
                      <a:solidFill>
                        <a:srgbClr val="292934"/>
                      </a:solidFill>
                      <a:prstDash val="solid"/>
                    </a:lnB>
                  </a:tcPr>
                </a:tc>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cap="flat" cmpd="sng" algn="ctr">
                      <a:solidFill>
                        <a:srgbClr val="292934"/>
                      </a:solidFill>
                      <a:prstDash val="solid"/>
                      <a:round/>
                      <a:headEnd type="none" w="med" len="med"/>
                      <a:tailEnd type="none" w="med" len="med"/>
                    </a:lnR>
                    <a:lnT w="19050">
                      <a:solidFill>
                        <a:srgbClr val="292934"/>
                      </a:solidFill>
                      <a:prstDash val="solid"/>
                    </a:lnT>
                    <a:lnB w="19050">
                      <a:solidFill>
                        <a:srgbClr val="292934"/>
                      </a:solidFill>
                      <a:prstDash val="solid"/>
                    </a:lnB>
                  </a:tcPr>
                </a:tc>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a:solidFill>
                        <a:srgbClr val="292934"/>
                      </a:solidFill>
                      <a:prstDash val="solid"/>
                    </a:lnR>
                    <a:lnT w="19050" cap="flat" cmpd="sng" algn="ctr">
                      <a:solidFill>
                        <a:srgbClr val="292934"/>
                      </a:solidFill>
                      <a:prstDash val="solid"/>
                      <a:round/>
                      <a:headEnd type="none" w="med" len="med"/>
                      <a:tailEnd type="none" w="med" len="med"/>
                    </a:lnT>
                    <a:lnB w="19050" cap="flat" cmpd="sng" algn="ctr">
                      <a:solidFill>
                        <a:srgbClr val="292934"/>
                      </a:solidFill>
                      <a:prstDash val="solid"/>
                      <a:round/>
                      <a:headEnd type="none" w="med" len="med"/>
                      <a:tailEnd type="none" w="med" len="med"/>
                    </a:lnB>
                  </a:tcPr>
                </a:tc>
                <a:extLst>
                  <a:ext uri="{0D108BD9-81ED-4DB2-BD59-A6C34878D82A}">
                    <a16:rowId xmlns:a16="http://schemas.microsoft.com/office/drawing/2014/main" val="10004"/>
                  </a:ext>
                </a:extLst>
              </a:tr>
              <a:tr h="445873">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a:solidFill>
                        <a:srgbClr val="292934"/>
                      </a:solidFill>
                      <a:prstDash val="solid"/>
                    </a:lnR>
                    <a:lnT w="19050">
                      <a:solidFill>
                        <a:srgbClr val="292934"/>
                      </a:solidFill>
                      <a:prstDash val="solid"/>
                    </a:lnT>
                    <a:lnB w="19050" cap="flat" cmpd="sng" algn="ctr">
                      <a:solidFill>
                        <a:srgbClr val="292934"/>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cap="flat" cmpd="sng" algn="ctr">
                      <a:solidFill>
                        <a:srgbClr val="292934"/>
                      </a:solidFill>
                      <a:prstDash val="solid"/>
                      <a:round/>
                      <a:headEnd type="none" w="med" len="med"/>
                      <a:tailEnd type="none" w="med" len="med"/>
                    </a:lnR>
                    <a:lnT w="19050">
                      <a:solidFill>
                        <a:srgbClr val="292934"/>
                      </a:solidFill>
                      <a:prstDash val="solid"/>
                    </a:lnT>
                    <a:lnB w="19050" cap="flat" cmpd="sng" algn="ctr">
                      <a:solidFill>
                        <a:srgbClr val="292934"/>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a:solidFill>
                        <a:srgbClr val="292934"/>
                      </a:solidFill>
                      <a:prstDash val="solid"/>
                    </a:lnR>
                    <a:lnT w="19050" cap="flat" cmpd="sng" algn="ctr">
                      <a:solidFill>
                        <a:srgbClr val="292934"/>
                      </a:solidFill>
                      <a:prstDash val="solid"/>
                      <a:round/>
                      <a:headEnd type="none" w="med" len="med"/>
                      <a:tailEnd type="none" w="med" len="med"/>
                    </a:lnT>
                    <a:lnB w="19050" cap="flat" cmpd="sng" algn="ctr">
                      <a:solidFill>
                        <a:srgbClr val="292934"/>
                      </a:solidFill>
                      <a:prstDash val="solid"/>
                      <a:round/>
                      <a:headEnd type="none" w="med" len="med"/>
                      <a:tailEnd type="none" w="med" len="med"/>
                    </a:lnB>
                  </a:tcPr>
                </a:tc>
                <a:extLst>
                  <a:ext uri="{0D108BD9-81ED-4DB2-BD59-A6C34878D82A}">
                    <a16:rowId xmlns:a16="http://schemas.microsoft.com/office/drawing/2014/main" val="10005"/>
                  </a:ext>
                </a:extLst>
              </a:tr>
              <a:tr h="445873">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cap="flat" cmpd="sng" algn="ctr">
                      <a:solidFill>
                        <a:srgbClr val="292934"/>
                      </a:solidFill>
                      <a:prstDash val="solid"/>
                      <a:round/>
                      <a:headEnd type="none" w="med" len="med"/>
                      <a:tailEnd type="none" w="med" len="med"/>
                    </a:lnR>
                    <a:lnT w="19050">
                      <a:solidFill>
                        <a:srgbClr val="292934"/>
                      </a:solidFill>
                      <a:prstDash val="solid"/>
                    </a:lnT>
                    <a:lnB w="19050" cap="flat" cmpd="sng" algn="ctr">
                      <a:solidFill>
                        <a:srgbClr val="292934"/>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txBody>
                  <a:tcPr marL="0" marR="0" marT="0" marB="0">
                    <a:lnL w="19050" cap="flat" cmpd="sng" algn="ctr">
                      <a:solidFill>
                        <a:srgbClr val="292934"/>
                      </a:solidFill>
                      <a:prstDash val="solid"/>
                      <a:round/>
                      <a:headEnd type="none" w="med" len="med"/>
                      <a:tailEnd type="none" w="med" len="med"/>
                    </a:lnL>
                    <a:lnR w="19050" cap="flat" cmpd="sng" algn="ctr">
                      <a:solidFill>
                        <a:srgbClr val="292934"/>
                      </a:solidFill>
                      <a:prstDash val="solid"/>
                      <a:round/>
                      <a:headEnd type="none" w="med" len="med"/>
                      <a:tailEnd type="none" w="med" len="med"/>
                    </a:lnR>
                    <a:lnT w="19050">
                      <a:solidFill>
                        <a:srgbClr val="292934"/>
                      </a:solidFill>
                      <a:prstDash val="solid"/>
                    </a:lnT>
                    <a:lnB w="19050" cap="flat" cmpd="sng" algn="ctr">
                      <a:solidFill>
                        <a:srgbClr val="292934"/>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txBody>
                  <a:tcPr marL="0" marR="0" marT="0" marB="0">
                    <a:lnL w="19050" cap="flat" cmpd="sng" algn="ctr">
                      <a:solidFill>
                        <a:srgbClr val="292934"/>
                      </a:solidFill>
                      <a:prstDash val="solid"/>
                      <a:round/>
                      <a:headEnd type="none" w="med" len="med"/>
                      <a:tailEnd type="none" w="med" len="med"/>
                    </a:lnL>
                    <a:lnR w="19050">
                      <a:solidFill>
                        <a:srgbClr val="292934"/>
                      </a:solidFill>
                      <a:prstDash val="solid"/>
                    </a:lnR>
                    <a:lnT w="19050" cap="flat" cmpd="sng" algn="ctr">
                      <a:solidFill>
                        <a:srgbClr val="292934"/>
                      </a:solidFill>
                      <a:prstDash val="solid"/>
                      <a:round/>
                      <a:headEnd type="none" w="med" len="med"/>
                      <a:tailEnd type="none" w="med" len="med"/>
                    </a:lnT>
                    <a:lnB w="19050" cap="flat" cmpd="sng" algn="ctr">
                      <a:solidFill>
                        <a:srgbClr val="292934"/>
                      </a:solidFill>
                      <a:prstDash val="solid"/>
                      <a:round/>
                      <a:headEnd type="none" w="med" len="med"/>
                      <a:tailEnd type="none" w="med" len="med"/>
                    </a:lnB>
                  </a:tcPr>
                </a:tc>
                <a:extLst>
                  <a:ext uri="{0D108BD9-81ED-4DB2-BD59-A6C34878D82A}">
                    <a16:rowId xmlns:a16="http://schemas.microsoft.com/office/drawing/2014/main" val="3307309517"/>
                  </a:ext>
                </a:extLst>
              </a:tr>
              <a:tr h="445873">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cap="flat" cmpd="sng" algn="ctr">
                      <a:solidFill>
                        <a:srgbClr val="292934"/>
                      </a:solidFill>
                      <a:prstDash val="solid"/>
                      <a:round/>
                      <a:headEnd type="none" w="med" len="med"/>
                      <a:tailEnd type="none" w="med" len="med"/>
                    </a:lnR>
                    <a:lnT w="19050">
                      <a:solidFill>
                        <a:srgbClr val="292934"/>
                      </a:solidFill>
                      <a:prstDash val="solid"/>
                    </a:lnT>
                    <a:lnB w="19050" cap="flat" cmpd="sng" algn="ctr">
                      <a:solidFill>
                        <a:srgbClr val="292934"/>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txBody>
                  <a:tcPr marL="0" marR="0" marT="0" marB="0">
                    <a:lnL w="19050" cap="flat" cmpd="sng" algn="ctr">
                      <a:solidFill>
                        <a:srgbClr val="292934"/>
                      </a:solidFill>
                      <a:prstDash val="solid"/>
                      <a:round/>
                      <a:headEnd type="none" w="med" len="med"/>
                      <a:tailEnd type="none" w="med" len="med"/>
                    </a:lnL>
                    <a:lnR w="19050" cap="flat" cmpd="sng" algn="ctr">
                      <a:solidFill>
                        <a:srgbClr val="292934"/>
                      </a:solidFill>
                      <a:prstDash val="solid"/>
                      <a:round/>
                      <a:headEnd type="none" w="med" len="med"/>
                      <a:tailEnd type="none" w="med" len="med"/>
                    </a:lnR>
                    <a:lnT w="19050">
                      <a:solidFill>
                        <a:srgbClr val="292934"/>
                      </a:solidFill>
                      <a:prstDash val="solid"/>
                    </a:lnT>
                    <a:lnB w="19050" cap="flat" cmpd="sng" algn="ctr">
                      <a:solidFill>
                        <a:srgbClr val="292934"/>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txBody>
                  <a:tcPr marL="0" marR="0" marT="0" marB="0">
                    <a:lnL w="19050" cap="flat" cmpd="sng" algn="ctr">
                      <a:solidFill>
                        <a:srgbClr val="292934"/>
                      </a:solidFill>
                      <a:prstDash val="solid"/>
                      <a:round/>
                      <a:headEnd type="none" w="med" len="med"/>
                      <a:tailEnd type="none" w="med" len="med"/>
                    </a:lnL>
                    <a:lnR w="19050">
                      <a:solidFill>
                        <a:srgbClr val="292934"/>
                      </a:solidFill>
                      <a:prstDash val="solid"/>
                    </a:lnR>
                    <a:lnT w="19050" cap="flat" cmpd="sng" algn="ctr">
                      <a:solidFill>
                        <a:srgbClr val="292934"/>
                      </a:solidFill>
                      <a:prstDash val="solid"/>
                      <a:round/>
                      <a:headEnd type="none" w="med" len="med"/>
                      <a:tailEnd type="none" w="med" len="med"/>
                    </a:lnT>
                    <a:lnB w="19050" cap="flat" cmpd="sng" algn="ctr">
                      <a:solidFill>
                        <a:srgbClr val="292934"/>
                      </a:solidFill>
                      <a:prstDash val="solid"/>
                      <a:round/>
                      <a:headEnd type="none" w="med" len="med"/>
                      <a:tailEnd type="none" w="med" len="med"/>
                    </a:lnB>
                  </a:tcPr>
                </a:tc>
                <a:extLst>
                  <a:ext uri="{0D108BD9-81ED-4DB2-BD59-A6C34878D82A}">
                    <a16:rowId xmlns:a16="http://schemas.microsoft.com/office/drawing/2014/main" val="4038886972"/>
                  </a:ext>
                </a:extLst>
              </a:tr>
              <a:tr h="445873">
                <a:tc>
                  <a:txBody>
                    <a:bodyPr/>
                    <a:lstStyle/>
                    <a:p>
                      <a:pPr>
                        <a:lnSpc>
                          <a:spcPct val="100000"/>
                        </a:lnSpc>
                      </a:pPr>
                      <a:endParaRPr sz="1900" dirty="0">
                        <a:latin typeface="Times New Roman"/>
                        <a:cs typeface="Times New Roman"/>
                      </a:endParaRPr>
                    </a:p>
                  </a:txBody>
                  <a:tcPr marL="0" marR="0" marT="0" marB="0">
                    <a:lnL w="19050">
                      <a:solidFill>
                        <a:srgbClr val="292934"/>
                      </a:solidFill>
                      <a:prstDash val="solid"/>
                    </a:lnL>
                    <a:lnR w="19050" cap="flat" cmpd="sng" algn="ctr">
                      <a:solidFill>
                        <a:srgbClr val="292934"/>
                      </a:solidFill>
                      <a:prstDash val="solid"/>
                      <a:round/>
                      <a:headEnd type="none" w="med" len="med"/>
                      <a:tailEnd type="none" w="med" len="med"/>
                    </a:lnR>
                    <a:lnT w="19050">
                      <a:solidFill>
                        <a:srgbClr val="292934"/>
                      </a:solidFill>
                      <a:prstDash val="solid"/>
                    </a:lnT>
                    <a:lnB w="19050" cap="flat" cmpd="sng" algn="ctr">
                      <a:solidFill>
                        <a:srgbClr val="292934"/>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txBody>
                  <a:tcPr marL="0" marR="0" marT="0" marB="0">
                    <a:lnL w="19050" cap="flat" cmpd="sng" algn="ctr">
                      <a:solidFill>
                        <a:srgbClr val="292934"/>
                      </a:solidFill>
                      <a:prstDash val="solid"/>
                      <a:round/>
                      <a:headEnd type="none" w="med" len="med"/>
                      <a:tailEnd type="none" w="med" len="med"/>
                    </a:lnL>
                    <a:lnR w="19050" cap="flat" cmpd="sng" algn="ctr">
                      <a:solidFill>
                        <a:srgbClr val="292934"/>
                      </a:solidFill>
                      <a:prstDash val="solid"/>
                      <a:round/>
                      <a:headEnd type="none" w="med" len="med"/>
                      <a:tailEnd type="none" w="med" len="med"/>
                    </a:lnR>
                    <a:lnT w="19050">
                      <a:solidFill>
                        <a:srgbClr val="292934"/>
                      </a:solidFill>
                      <a:prstDash val="solid"/>
                    </a:lnT>
                    <a:lnB w="19050" cap="flat" cmpd="sng" algn="ctr">
                      <a:solidFill>
                        <a:srgbClr val="292934"/>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txBody>
                  <a:tcPr marL="0" marR="0" marT="0" marB="0">
                    <a:lnL w="19050" cap="flat" cmpd="sng" algn="ctr">
                      <a:solidFill>
                        <a:srgbClr val="292934"/>
                      </a:solidFill>
                      <a:prstDash val="solid"/>
                      <a:round/>
                      <a:headEnd type="none" w="med" len="med"/>
                      <a:tailEnd type="none" w="med" len="med"/>
                    </a:lnL>
                    <a:lnR w="19050">
                      <a:solidFill>
                        <a:srgbClr val="292934"/>
                      </a:solidFill>
                      <a:prstDash val="solid"/>
                    </a:lnR>
                    <a:lnT w="19050" cap="flat" cmpd="sng" algn="ctr">
                      <a:solidFill>
                        <a:srgbClr val="292934"/>
                      </a:solidFill>
                      <a:prstDash val="solid"/>
                      <a:round/>
                      <a:headEnd type="none" w="med" len="med"/>
                      <a:tailEnd type="none" w="med" len="med"/>
                    </a:lnT>
                    <a:lnB w="19050" cap="flat" cmpd="sng" algn="ctr">
                      <a:solidFill>
                        <a:srgbClr val="292934"/>
                      </a:solidFill>
                      <a:prstDash val="solid"/>
                      <a:round/>
                      <a:headEnd type="none" w="med" len="med"/>
                      <a:tailEnd type="none" w="med" len="med"/>
                    </a:lnB>
                  </a:tcPr>
                </a:tc>
                <a:extLst>
                  <a:ext uri="{0D108BD9-81ED-4DB2-BD59-A6C34878D82A}">
                    <a16:rowId xmlns:a16="http://schemas.microsoft.com/office/drawing/2014/main" val="3222747"/>
                  </a:ext>
                </a:extLst>
              </a:tr>
            </a:tbl>
          </a:graphicData>
        </a:graphic>
      </p:graphicFrame>
      <p:pic>
        <p:nvPicPr>
          <p:cNvPr id="20" name="Picture 19" descr="Diagram&#10;&#10;Description automatically generated with low confidence">
            <a:extLst>
              <a:ext uri="{FF2B5EF4-FFF2-40B4-BE49-F238E27FC236}">
                <a16:creationId xmlns:a16="http://schemas.microsoft.com/office/drawing/2014/main" id="{02519ACC-A9D6-5E9B-A050-359974C87A14}"/>
              </a:ext>
            </a:extLst>
          </p:cNvPr>
          <p:cNvPicPr>
            <a:picLocks noChangeAspect="1"/>
          </p:cNvPicPr>
          <p:nvPr/>
        </p:nvPicPr>
        <p:blipFill>
          <a:blip r:embed="rId2"/>
          <a:stretch>
            <a:fillRect/>
          </a:stretch>
        </p:blipFill>
        <p:spPr>
          <a:xfrm>
            <a:off x="7418176" y="1704336"/>
            <a:ext cx="3222029" cy="870996"/>
          </a:xfrm>
          <a:prstGeom prst="rect">
            <a:avLst/>
          </a:prstGeom>
          <a:ln>
            <a:solidFill>
              <a:schemeClr val="tx1"/>
            </a:solidFill>
          </a:ln>
        </p:spPr>
      </p:pic>
      <p:pic>
        <p:nvPicPr>
          <p:cNvPr id="10" name="Graphic 9" descr="Checkmark with solid fill">
            <a:extLst>
              <a:ext uri="{FF2B5EF4-FFF2-40B4-BE49-F238E27FC236}">
                <a16:creationId xmlns:a16="http://schemas.microsoft.com/office/drawing/2014/main" id="{FF15FD23-419F-FE93-B36A-3240028B81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48981" y="2525524"/>
            <a:ext cx="619830" cy="619830"/>
          </a:xfrm>
          <a:prstGeom prst="rect">
            <a:avLst/>
          </a:prstGeom>
        </p:spPr>
      </p:pic>
      <p:pic>
        <p:nvPicPr>
          <p:cNvPr id="22" name="Graphic 21" descr="Checkmark with solid fill">
            <a:extLst>
              <a:ext uri="{FF2B5EF4-FFF2-40B4-BE49-F238E27FC236}">
                <a16:creationId xmlns:a16="http://schemas.microsoft.com/office/drawing/2014/main" id="{DC14EECC-1561-982F-F309-AEFDB322F6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19275" y="2525322"/>
            <a:ext cx="619830" cy="619830"/>
          </a:xfrm>
          <a:prstGeom prst="rect">
            <a:avLst/>
          </a:prstGeom>
        </p:spPr>
      </p:pic>
      <p:pic>
        <p:nvPicPr>
          <p:cNvPr id="23" name="Graphic 22" descr="Checkmark with solid fill">
            <a:extLst>
              <a:ext uri="{FF2B5EF4-FFF2-40B4-BE49-F238E27FC236}">
                <a16:creationId xmlns:a16="http://schemas.microsoft.com/office/drawing/2014/main" id="{0984F51F-F7CE-9B35-EA06-0BB1138294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25323" y="2512272"/>
            <a:ext cx="619830" cy="619830"/>
          </a:xfrm>
          <a:prstGeom prst="rect">
            <a:avLst/>
          </a:prstGeom>
        </p:spPr>
      </p:pic>
      <p:pic>
        <p:nvPicPr>
          <p:cNvPr id="25" name="Graphic 24" descr="Checkmark with solid fill">
            <a:extLst>
              <a:ext uri="{FF2B5EF4-FFF2-40B4-BE49-F238E27FC236}">
                <a16:creationId xmlns:a16="http://schemas.microsoft.com/office/drawing/2014/main" id="{2D657055-C630-FB00-820B-365208F422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1992" y="2968474"/>
            <a:ext cx="619830" cy="619830"/>
          </a:xfrm>
          <a:prstGeom prst="rect">
            <a:avLst/>
          </a:prstGeom>
        </p:spPr>
      </p:pic>
      <p:pic>
        <p:nvPicPr>
          <p:cNvPr id="26" name="Graphic 25" descr="Checkmark with solid fill">
            <a:extLst>
              <a:ext uri="{FF2B5EF4-FFF2-40B4-BE49-F238E27FC236}">
                <a16:creationId xmlns:a16="http://schemas.microsoft.com/office/drawing/2014/main" id="{A971F191-5B4E-1C10-DA0B-D9126964ED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25323" y="2968474"/>
            <a:ext cx="619830" cy="619830"/>
          </a:xfrm>
          <a:prstGeom prst="rect">
            <a:avLst/>
          </a:prstGeom>
        </p:spPr>
      </p:pic>
      <p:pic>
        <p:nvPicPr>
          <p:cNvPr id="28" name="Graphic 27" descr="Checkmark with solid fill">
            <a:extLst>
              <a:ext uri="{FF2B5EF4-FFF2-40B4-BE49-F238E27FC236}">
                <a16:creationId xmlns:a16="http://schemas.microsoft.com/office/drawing/2014/main" id="{71961211-96FF-BC32-1A22-2535FD2156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79721" y="3422161"/>
            <a:ext cx="619830" cy="619830"/>
          </a:xfrm>
          <a:prstGeom prst="rect">
            <a:avLst/>
          </a:prstGeom>
        </p:spPr>
      </p:pic>
      <p:pic>
        <p:nvPicPr>
          <p:cNvPr id="29" name="Graphic 28" descr="Checkmark with solid fill">
            <a:extLst>
              <a:ext uri="{FF2B5EF4-FFF2-40B4-BE49-F238E27FC236}">
                <a16:creationId xmlns:a16="http://schemas.microsoft.com/office/drawing/2014/main" id="{8E41BD06-9F9F-96AA-A79F-F872C4BDE2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25323" y="3422161"/>
            <a:ext cx="619830" cy="619830"/>
          </a:xfrm>
          <a:prstGeom prst="rect">
            <a:avLst/>
          </a:prstGeom>
        </p:spPr>
      </p:pic>
      <p:pic>
        <p:nvPicPr>
          <p:cNvPr id="34" name="Graphic 33" descr="Checkmark with solid fill">
            <a:extLst>
              <a:ext uri="{FF2B5EF4-FFF2-40B4-BE49-F238E27FC236}">
                <a16:creationId xmlns:a16="http://schemas.microsoft.com/office/drawing/2014/main" id="{838C0547-31E2-54FC-886E-013EE7A54C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24394" y="4762152"/>
            <a:ext cx="619830" cy="619830"/>
          </a:xfrm>
          <a:prstGeom prst="rect">
            <a:avLst/>
          </a:prstGeom>
        </p:spPr>
      </p:pic>
      <p:pic>
        <p:nvPicPr>
          <p:cNvPr id="35" name="Graphic 34" descr="Checkmark with solid fill">
            <a:extLst>
              <a:ext uri="{FF2B5EF4-FFF2-40B4-BE49-F238E27FC236}">
                <a16:creationId xmlns:a16="http://schemas.microsoft.com/office/drawing/2014/main" id="{77674BD4-0686-159F-8484-24535E3DE7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30442" y="4749102"/>
            <a:ext cx="619830" cy="619830"/>
          </a:xfrm>
          <a:prstGeom prst="rect">
            <a:avLst/>
          </a:prstGeom>
        </p:spPr>
      </p:pic>
      <p:pic>
        <p:nvPicPr>
          <p:cNvPr id="11" name="Graphic 10" descr="Checkmark with solid fill">
            <a:extLst>
              <a:ext uri="{FF2B5EF4-FFF2-40B4-BE49-F238E27FC236}">
                <a16:creationId xmlns:a16="http://schemas.microsoft.com/office/drawing/2014/main" id="{094FC2C4-DED3-3103-8A03-035070FFCF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46710" y="2964956"/>
            <a:ext cx="619830" cy="619830"/>
          </a:xfrm>
          <a:prstGeom prst="rect">
            <a:avLst/>
          </a:prstGeom>
        </p:spPr>
      </p:pic>
      <p:pic>
        <p:nvPicPr>
          <p:cNvPr id="12" name="Graphic 11" descr="Checkmark with solid fill">
            <a:extLst>
              <a:ext uri="{FF2B5EF4-FFF2-40B4-BE49-F238E27FC236}">
                <a16:creationId xmlns:a16="http://schemas.microsoft.com/office/drawing/2014/main" id="{4B88F1D9-4EA0-4E92-B438-F03B94F5F5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19275" y="3878363"/>
            <a:ext cx="619830" cy="619830"/>
          </a:xfrm>
          <a:prstGeom prst="rect">
            <a:avLst/>
          </a:prstGeom>
        </p:spPr>
      </p:pic>
      <p:pic>
        <p:nvPicPr>
          <p:cNvPr id="13" name="Graphic 12" descr="Checkmark with solid fill">
            <a:extLst>
              <a:ext uri="{FF2B5EF4-FFF2-40B4-BE49-F238E27FC236}">
                <a16:creationId xmlns:a16="http://schemas.microsoft.com/office/drawing/2014/main" id="{387D2973-0823-0BFB-7942-CB975ECE3A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64877" y="3878363"/>
            <a:ext cx="619830" cy="619830"/>
          </a:xfrm>
          <a:prstGeom prst="rect">
            <a:avLst/>
          </a:prstGeom>
        </p:spPr>
      </p:pic>
      <p:pic>
        <p:nvPicPr>
          <p:cNvPr id="15" name="Graphic 14" descr="Checkmark with solid fill">
            <a:extLst>
              <a:ext uri="{FF2B5EF4-FFF2-40B4-BE49-F238E27FC236}">
                <a16:creationId xmlns:a16="http://schemas.microsoft.com/office/drawing/2014/main" id="{9B04ADC9-C998-9283-00E7-00E11136AE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79721" y="4326891"/>
            <a:ext cx="619830" cy="619830"/>
          </a:xfrm>
          <a:prstGeom prst="rect">
            <a:avLst/>
          </a:prstGeom>
        </p:spPr>
      </p:pic>
      <p:pic>
        <p:nvPicPr>
          <p:cNvPr id="18" name="Graphic 17" descr="Checkmark with solid fill">
            <a:extLst>
              <a:ext uri="{FF2B5EF4-FFF2-40B4-BE49-F238E27FC236}">
                <a16:creationId xmlns:a16="http://schemas.microsoft.com/office/drawing/2014/main" id="{40060F67-001E-D077-4950-9377CD7B21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25323" y="4326891"/>
            <a:ext cx="619830" cy="619830"/>
          </a:xfrm>
          <a:prstGeom prst="rect">
            <a:avLst/>
          </a:prstGeom>
        </p:spPr>
      </p:pic>
      <p:grpSp>
        <p:nvGrpSpPr>
          <p:cNvPr id="24" name="Group 23">
            <a:extLst>
              <a:ext uri="{FF2B5EF4-FFF2-40B4-BE49-F238E27FC236}">
                <a16:creationId xmlns:a16="http://schemas.microsoft.com/office/drawing/2014/main" id="{6682ABC3-5707-FF40-8618-7CFD1C119D6D}"/>
              </a:ext>
            </a:extLst>
          </p:cNvPr>
          <p:cNvGrpSpPr/>
          <p:nvPr/>
        </p:nvGrpSpPr>
        <p:grpSpPr>
          <a:xfrm>
            <a:off x="3611311" y="2617620"/>
            <a:ext cx="3580489" cy="4038371"/>
            <a:chOff x="8099752" y="2268137"/>
            <a:chExt cx="3580489" cy="4038371"/>
          </a:xfrm>
        </p:grpSpPr>
        <p:pic>
          <p:nvPicPr>
            <p:cNvPr id="27"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0407A91B-CB96-3F62-39A1-96F2EA0F47C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3606" r="53150" b="17230"/>
            <a:stretch/>
          </p:blipFill>
          <p:spPr bwMode="auto">
            <a:xfrm>
              <a:off x="8099752" y="4439477"/>
              <a:ext cx="3569979" cy="99788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82889C28-B81B-02B5-CCF4-9401216C582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8229" t="20002" r="23604" b="72810"/>
            <a:stretch/>
          </p:blipFill>
          <p:spPr bwMode="auto">
            <a:xfrm>
              <a:off x="8211597" y="5437361"/>
              <a:ext cx="1384348" cy="374276"/>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E665DC1D-B1B3-CA3E-5065-06B60E64A39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8229" t="38364" r="30362" b="54448"/>
            <a:stretch/>
          </p:blipFill>
          <p:spPr bwMode="auto">
            <a:xfrm>
              <a:off x="8211597" y="5882183"/>
              <a:ext cx="869341" cy="37427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A5E732EF-3E4B-659D-7F84-F87647984C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8672" t="38364" r="3535" b="52769"/>
            <a:stretch/>
          </p:blipFill>
          <p:spPr bwMode="auto">
            <a:xfrm>
              <a:off x="10313933" y="5844757"/>
              <a:ext cx="1355798" cy="46175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AACB5976-7621-3F48-E786-9BF855A78FC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8673" t="20002" r="3810" b="72810"/>
            <a:stretch/>
          </p:blipFill>
          <p:spPr bwMode="auto">
            <a:xfrm>
              <a:off x="10313933" y="5472634"/>
              <a:ext cx="1334728" cy="374276"/>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FD3BDDC1-75C6-71E1-A3AB-CFD9F8D1373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1634" r="53150" b="45657"/>
            <a:stretch/>
          </p:blipFill>
          <p:spPr bwMode="auto">
            <a:xfrm>
              <a:off x="8110262" y="2268137"/>
              <a:ext cx="3569979" cy="2223890"/>
            </a:xfrm>
            <a:prstGeom prst="rect">
              <a:avLst/>
            </a:prstGeom>
            <a:noFill/>
            <a:extLst>
              <a:ext uri="{909E8E84-426E-40DD-AFC4-6F175D3DCCD1}">
                <a14:hiddenFill xmlns:a14="http://schemas.microsoft.com/office/drawing/2010/main">
                  <a:solidFill>
                    <a:srgbClr val="FFFFFF"/>
                  </a:solidFill>
                </a14:hiddenFill>
              </a:ext>
            </a:extLst>
          </p:spPr>
        </p:pic>
      </p:grpSp>
      <p:pic>
        <p:nvPicPr>
          <p:cNvPr id="39" name="Graphic 38" descr="Checkmark with solid fill">
            <a:extLst>
              <a:ext uri="{FF2B5EF4-FFF2-40B4-BE49-F238E27FC236}">
                <a16:creationId xmlns:a16="http://schemas.microsoft.com/office/drawing/2014/main" id="{6453C3AE-CE46-4CDF-98D1-1ED75E17EC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19275" y="5209387"/>
            <a:ext cx="619830" cy="619830"/>
          </a:xfrm>
          <a:prstGeom prst="rect">
            <a:avLst/>
          </a:prstGeom>
        </p:spPr>
      </p:pic>
      <p:pic>
        <p:nvPicPr>
          <p:cNvPr id="40" name="Graphic 39" descr="Checkmark with solid fill">
            <a:extLst>
              <a:ext uri="{FF2B5EF4-FFF2-40B4-BE49-F238E27FC236}">
                <a16:creationId xmlns:a16="http://schemas.microsoft.com/office/drawing/2014/main" id="{50EC2338-3460-9BF6-17F8-9FD350AE9E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25323" y="5196337"/>
            <a:ext cx="619830" cy="619830"/>
          </a:xfrm>
          <a:prstGeom prst="rect">
            <a:avLst/>
          </a:prstGeom>
        </p:spPr>
      </p:pic>
      <p:pic>
        <p:nvPicPr>
          <p:cNvPr id="41" name="Graphic 40" descr="Checkmark with solid fill">
            <a:extLst>
              <a:ext uri="{FF2B5EF4-FFF2-40B4-BE49-F238E27FC236}">
                <a16:creationId xmlns:a16="http://schemas.microsoft.com/office/drawing/2014/main" id="{A1700725-E407-1602-07E3-210B7FCF1E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43590" y="5648911"/>
            <a:ext cx="619830" cy="619830"/>
          </a:xfrm>
          <a:prstGeom prst="rect">
            <a:avLst/>
          </a:prstGeom>
        </p:spPr>
      </p:pic>
      <p:pic>
        <p:nvPicPr>
          <p:cNvPr id="42" name="Graphic 41" descr="Checkmark with solid fill">
            <a:extLst>
              <a:ext uri="{FF2B5EF4-FFF2-40B4-BE49-F238E27FC236}">
                <a16:creationId xmlns:a16="http://schemas.microsoft.com/office/drawing/2014/main" id="{924256DA-6E62-6337-0B40-A526C9A941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41319" y="6088343"/>
            <a:ext cx="619830" cy="619830"/>
          </a:xfrm>
          <a:prstGeom prst="rect">
            <a:avLst/>
          </a:prstGeom>
        </p:spPr>
      </p:pic>
      <p:sp>
        <p:nvSpPr>
          <p:cNvPr id="4" name="Rectangle 3">
            <a:extLst>
              <a:ext uri="{FF2B5EF4-FFF2-40B4-BE49-F238E27FC236}">
                <a16:creationId xmlns:a16="http://schemas.microsoft.com/office/drawing/2014/main" id="{C19989D4-A433-CC56-048E-61F835A6DDE7}"/>
              </a:ext>
            </a:extLst>
          </p:cNvPr>
          <p:cNvSpPr/>
          <p:nvPr/>
        </p:nvSpPr>
        <p:spPr>
          <a:xfrm>
            <a:off x="7585899" y="1807779"/>
            <a:ext cx="1038402" cy="307777"/>
          </a:xfrm>
          <a:prstGeom prst="rect">
            <a:avLst/>
          </a:prstGeom>
          <a:solidFill>
            <a:schemeClr val="bg1"/>
          </a:solidFill>
          <a:ln>
            <a:noFill/>
          </a:ln>
        </p:spPr>
        <p:txBody>
          <a:bodyPr wrap="square" lIns="91440" tIns="45720" rIns="91440" bIns="45720">
            <a:spAutoFit/>
          </a:bodyPr>
          <a:lstStyle/>
          <a:p>
            <a:pPr algn="ctr"/>
            <a:r>
              <a:rPr lang="en-US" sz="1400" b="0" cap="none" spc="0" dirty="0">
                <a:ln w="0"/>
                <a:solidFill>
                  <a:schemeClr val="accent2">
                    <a:lumMod val="50000"/>
                  </a:schemeClr>
                </a:solidFill>
                <a:effectLst>
                  <a:outerShdw blurRad="38100" dist="19050" dir="2700000" algn="tl" rotWithShape="0">
                    <a:schemeClr val="dk1">
                      <a:alpha val="40000"/>
                    </a:schemeClr>
                  </a:outerShdw>
                </a:effectLst>
              </a:rPr>
              <a:t>Nominal</a:t>
            </a:r>
            <a:endParaRPr lang="en-US" sz="5400" b="0" cap="none" spc="0" dirty="0">
              <a:ln w="0"/>
              <a:solidFill>
                <a:schemeClr val="accent2">
                  <a:lumMod val="50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0623228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8F6C0-C1B3-A960-7989-435F51A86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FF133-B538-F14E-6342-A9A4883449A3}"/>
              </a:ext>
            </a:extLst>
          </p:cNvPr>
          <p:cNvSpPr>
            <a:spLocks noGrp="1"/>
          </p:cNvSpPr>
          <p:nvPr>
            <p:ph type="title"/>
          </p:nvPr>
        </p:nvSpPr>
        <p:spPr/>
        <p:txBody>
          <a:bodyPr/>
          <a:lstStyle/>
          <a:p>
            <a:r>
              <a:rPr lang="en-US" dirty="0"/>
              <a:t>Data </a:t>
            </a:r>
            <a:r>
              <a:rPr lang="en-US" dirty="0">
                <a:sym typeface="Wingdings" pitchFamily="2" charset="2"/>
              </a:rPr>
              <a:t></a:t>
            </a:r>
            <a:r>
              <a:rPr lang="en-US" dirty="0"/>
              <a:t> Visuals</a:t>
            </a:r>
          </a:p>
        </p:txBody>
      </p:sp>
      <p:sp>
        <p:nvSpPr>
          <p:cNvPr id="3" name="Content Placeholder 2">
            <a:extLst>
              <a:ext uri="{FF2B5EF4-FFF2-40B4-BE49-F238E27FC236}">
                <a16:creationId xmlns:a16="http://schemas.microsoft.com/office/drawing/2014/main" id="{D6559D99-D4E7-523C-BEED-741140A7B048}"/>
              </a:ext>
            </a:extLst>
          </p:cNvPr>
          <p:cNvSpPr>
            <a:spLocks noGrp="1"/>
          </p:cNvSpPr>
          <p:nvPr>
            <p:ph idx="1"/>
          </p:nvPr>
        </p:nvSpPr>
        <p:spPr>
          <a:xfrm>
            <a:off x="3150910" y="184113"/>
            <a:ext cx="8991599" cy="6316717"/>
          </a:xfrm>
        </p:spPr>
        <p:txBody>
          <a:bodyPr anchor="t">
            <a:normAutofit/>
          </a:bodyPr>
          <a:lstStyle/>
          <a:p>
            <a:r>
              <a:rPr lang="en-US" sz="2400" dirty="0"/>
              <a:t>Remember… </a:t>
            </a:r>
            <a:r>
              <a:rPr lang="en-US" sz="2400" b="1" dirty="0"/>
              <a:t>Big idea behind visualization</a:t>
            </a:r>
          </a:p>
          <a:p>
            <a:pPr lvl="1"/>
            <a:r>
              <a:rPr lang="en-US" sz="2400" b="1" dirty="0">
                <a:effectLst>
                  <a:glow rad="228600">
                    <a:schemeClr val="accent3">
                      <a:satMod val="175000"/>
                      <a:alpha val="40000"/>
                    </a:schemeClr>
                  </a:glow>
                </a:effectLst>
              </a:rPr>
              <a:t>Visual Encoding: </a:t>
            </a:r>
            <a:r>
              <a:rPr lang="en-US" sz="2400" dirty="0"/>
              <a:t>Map data dimensions  to visual dimensions in a principled way </a:t>
            </a:r>
          </a:p>
          <a:p>
            <a:pPr lvl="1"/>
            <a:r>
              <a:rPr lang="en-US" sz="2400" b="1" dirty="0"/>
              <a:t>Insight 1: Not all visual dimensions can represent all data types</a:t>
            </a:r>
          </a:p>
          <a:p>
            <a:pPr lvl="1"/>
            <a:endParaRPr lang="en-US" sz="2400" dirty="0"/>
          </a:p>
        </p:txBody>
      </p:sp>
      <p:pic>
        <p:nvPicPr>
          <p:cNvPr id="11266"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4B0C74F8-2090-3C95-7726-9B7EF72AFC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34"/>
          <a:stretch/>
        </p:blipFill>
        <p:spPr bwMode="auto">
          <a:xfrm>
            <a:off x="3726293" y="2028681"/>
            <a:ext cx="7377136" cy="478224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F79225E-B508-B3B4-9458-69AEFB8D509B}"/>
              </a:ext>
            </a:extLst>
          </p:cNvPr>
          <p:cNvSpPr/>
          <p:nvPr/>
        </p:nvSpPr>
        <p:spPr>
          <a:xfrm>
            <a:off x="7153041" y="1661037"/>
            <a:ext cx="725214" cy="51498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505A120-2FEE-7C39-9821-C0161D112AB9}"/>
              </a:ext>
            </a:extLst>
          </p:cNvPr>
          <p:cNvSpPr txBox="1"/>
          <p:nvPr/>
        </p:nvSpPr>
        <p:spPr>
          <a:xfrm>
            <a:off x="8693077" y="6304622"/>
            <a:ext cx="3721039" cy="392415"/>
          </a:xfrm>
          <a:prstGeom prst="rect">
            <a:avLst/>
          </a:prstGeom>
          <a:noFill/>
        </p:spPr>
        <p:txBody>
          <a:bodyPr wrap="square">
            <a:spAutoFit/>
          </a:bodyPr>
          <a:lstStyle/>
          <a:p>
            <a:r>
              <a:rPr lang="en-US" sz="975" b="0" i="0" dirty="0" err="1">
                <a:solidFill>
                  <a:srgbClr val="222222"/>
                </a:solidFill>
                <a:effectLst/>
                <a:latin typeface="Arial" panose="020B0604020202020204" pitchFamily="34" charset="0"/>
              </a:rPr>
              <a:t>Munzner</a:t>
            </a:r>
            <a:r>
              <a:rPr lang="en-US" sz="975" b="0" i="0" dirty="0">
                <a:solidFill>
                  <a:srgbClr val="222222"/>
                </a:solidFill>
                <a:effectLst/>
                <a:latin typeface="Arial" panose="020B0604020202020204" pitchFamily="34" charset="0"/>
              </a:rPr>
              <a:t>, T. (2015). </a:t>
            </a:r>
            <a:r>
              <a:rPr lang="en-US" sz="975" b="0" i="1" dirty="0">
                <a:solidFill>
                  <a:srgbClr val="222222"/>
                </a:solidFill>
                <a:effectLst/>
                <a:latin typeface="Arial" panose="020B0604020202020204" pitchFamily="34" charset="0"/>
              </a:rPr>
              <a:t>Visualization analysis &amp; design</a:t>
            </a:r>
            <a:r>
              <a:rPr lang="en-US" sz="975" b="0" i="0" dirty="0">
                <a:solidFill>
                  <a:srgbClr val="222222"/>
                </a:solidFill>
                <a:effectLst/>
                <a:latin typeface="Arial" panose="020B0604020202020204" pitchFamily="34" charset="0"/>
              </a:rPr>
              <a:t> (Vol. 1). Boca Raton: CRC press.</a:t>
            </a:r>
            <a:endParaRPr lang="en-US" dirty="0"/>
          </a:p>
        </p:txBody>
      </p:sp>
    </p:spTree>
    <p:extLst>
      <p:ext uri="{BB962C8B-B14F-4D97-AF65-F5344CB8AC3E}">
        <p14:creationId xmlns:p14="http://schemas.microsoft.com/office/powerpoint/2010/main" val="17470387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CF213-0DE7-2C6A-0186-95C547DF9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61ADC-6A14-02C9-F8E2-146A9F9057BA}"/>
              </a:ext>
            </a:extLst>
          </p:cNvPr>
          <p:cNvSpPr>
            <a:spLocks noGrp="1"/>
          </p:cNvSpPr>
          <p:nvPr>
            <p:ph type="title"/>
          </p:nvPr>
        </p:nvSpPr>
        <p:spPr/>
        <p:txBody>
          <a:bodyPr/>
          <a:lstStyle/>
          <a:p>
            <a:r>
              <a:rPr lang="en-US" dirty="0"/>
              <a:t>Practice</a:t>
            </a:r>
          </a:p>
        </p:txBody>
      </p:sp>
      <p:pic>
        <p:nvPicPr>
          <p:cNvPr id="8" name="Picture 7" descr="A graph showing a number of weight&#10;&#10;Description automatically generated">
            <a:extLst>
              <a:ext uri="{FF2B5EF4-FFF2-40B4-BE49-F238E27FC236}">
                <a16:creationId xmlns:a16="http://schemas.microsoft.com/office/drawing/2014/main" id="{03E323E4-0E10-F79C-D2AE-F934CAC5B951}"/>
              </a:ext>
            </a:extLst>
          </p:cNvPr>
          <p:cNvPicPr>
            <a:picLocks noChangeAspect="1"/>
          </p:cNvPicPr>
          <p:nvPr/>
        </p:nvPicPr>
        <p:blipFill>
          <a:blip r:embed="rId2"/>
          <a:stretch>
            <a:fillRect/>
          </a:stretch>
        </p:blipFill>
        <p:spPr>
          <a:xfrm>
            <a:off x="3754525" y="2390720"/>
            <a:ext cx="7772400" cy="4130713"/>
          </a:xfrm>
          <a:prstGeom prst="rect">
            <a:avLst/>
          </a:prstGeom>
        </p:spPr>
      </p:pic>
      <p:sp>
        <p:nvSpPr>
          <p:cNvPr id="9" name="Rounded Rectangle 8">
            <a:extLst>
              <a:ext uri="{FF2B5EF4-FFF2-40B4-BE49-F238E27FC236}">
                <a16:creationId xmlns:a16="http://schemas.microsoft.com/office/drawing/2014/main" id="{1EC4C8D6-2327-EF77-10AF-FD17E8BFE522}"/>
              </a:ext>
            </a:extLst>
          </p:cNvPr>
          <p:cNvSpPr/>
          <p:nvPr/>
        </p:nvSpPr>
        <p:spPr>
          <a:xfrm>
            <a:off x="2816945" y="248079"/>
            <a:ext cx="9271819" cy="2054153"/>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marL="285750" indent="-285750" algn="ctr">
              <a:buFont typeface="Arial" panose="020B0604020202020204" pitchFamily="34" charset="0"/>
              <a:buChar char="•"/>
            </a:pPr>
            <a:r>
              <a:rPr lang="en-US" sz="2400" dirty="0"/>
              <a:t>What are the marks in this visualization?</a:t>
            </a:r>
          </a:p>
          <a:p>
            <a:pPr marL="285750" indent="-285750" algn="ctr">
              <a:buFont typeface="Arial" panose="020B0604020202020204" pitchFamily="34" charset="0"/>
              <a:buChar char="•"/>
            </a:pPr>
            <a:r>
              <a:rPr lang="en-US" sz="2400" dirty="0"/>
              <a:t>What variables are shown?</a:t>
            </a:r>
          </a:p>
          <a:p>
            <a:pPr marL="285750" indent="-285750" algn="ctr">
              <a:buFont typeface="Arial" panose="020B0604020202020204" pitchFamily="34" charset="0"/>
              <a:buChar char="•"/>
            </a:pPr>
            <a:r>
              <a:rPr lang="en-US" sz="2400" dirty="0"/>
              <a:t>What visual channel(s) encode(s) each variable?</a:t>
            </a:r>
          </a:p>
          <a:p>
            <a:pPr marL="285750" indent="-285750" algn="ctr">
              <a:buFont typeface="Arial" panose="020B0604020202020204" pitchFamily="34" charset="0"/>
              <a:buChar char="•"/>
            </a:pPr>
            <a:r>
              <a:rPr lang="en-US" sz="2400" dirty="0"/>
              <a:t>Based on data type and channel type, is the encoding appropriate? </a:t>
            </a:r>
          </a:p>
        </p:txBody>
      </p:sp>
    </p:spTree>
    <p:extLst>
      <p:ext uri="{BB962C8B-B14F-4D97-AF65-F5344CB8AC3E}">
        <p14:creationId xmlns:p14="http://schemas.microsoft.com/office/powerpoint/2010/main" val="15720527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0CECE-7755-409A-5590-55821A5D0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990233-F6DF-A7EB-E07F-EA0A354C63BF}"/>
              </a:ext>
            </a:extLst>
          </p:cNvPr>
          <p:cNvSpPr>
            <a:spLocks noGrp="1"/>
          </p:cNvSpPr>
          <p:nvPr>
            <p:ph type="title"/>
          </p:nvPr>
        </p:nvSpPr>
        <p:spPr/>
        <p:txBody>
          <a:bodyPr/>
          <a:lstStyle/>
          <a:p>
            <a:r>
              <a:rPr lang="en-US" dirty="0"/>
              <a:t>Practice</a:t>
            </a:r>
          </a:p>
        </p:txBody>
      </p:sp>
      <p:pic>
        <p:nvPicPr>
          <p:cNvPr id="1026" name="Picture 2" descr="Pie Charts | Data Literacy | Writing Support">
            <a:extLst>
              <a:ext uri="{FF2B5EF4-FFF2-40B4-BE49-F238E27FC236}">
                <a16:creationId xmlns:a16="http://schemas.microsoft.com/office/drawing/2014/main" id="{3857367B-B19A-ECD3-60CF-82361D3DC4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0152" y="2404736"/>
            <a:ext cx="5608860" cy="4205185"/>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a:extLst>
              <a:ext uri="{FF2B5EF4-FFF2-40B4-BE49-F238E27FC236}">
                <a16:creationId xmlns:a16="http://schemas.microsoft.com/office/drawing/2014/main" id="{AA11FD17-CE95-D510-45E7-2F91206BFAEF}"/>
              </a:ext>
            </a:extLst>
          </p:cNvPr>
          <p:cNvSpPr/>
          <p:nvPr/>
        </p:nvSpPr>
        <p:spPr>
          <a:xfrm>
            <a:off x="2816945" y="248079"/>
            <a:ext cx="9271819" cy="2054153"/>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marL="285750" indent="-285750" algn="ctr">
              <a:buFont typeface="Arial" panose="020B0604020202020204" pitchFamily="34" charset="0"/>
              <a:buChar char="•"/>
            </a:pPr>
            <a:r>
              <a:rPr lang="en-US" sz="2400" dirty="0"/>
              <a:t>What are the marks in this visualization?</a:t>
            </a:r>
          </a:p>
          <a:p>
            <a:pPr marL="285750" indent="-285750" algn="ctr">
              <a:buFont typeface="Arial" panose="020B0604020202020204" pitchFamily="34" charset="0"/>
              <a:buChar char="•"/>
            </a:pPr>
            <a:r>
              <a:rPr lang="en-US" sz="2400" dirty="0"/>
              <a:t>What variables are shown?</a:t>
            </a:r>
          </a:p>
          <a:p>
            <a:pPr marL="285750" indent="-285750" algn="ctr">
              <a:buFont typeface="Arial" panose="020B0604020202020204" pitchFamily="34" charset="0"/>
              <a:buChar char="•"/>
            </a:pPr>
            <a:r>
              <a:rPr lang="en-US" sz="2400" dirty="0"/>
              <a:t>What visual channel(s) encode(s) each variable?</a:t>
            </a:r>
          </a:p>
          <a:p>
            <a:pPr marL="285750" indent="-285750" algn="ctr">
              <a:buFont typeface="Arial" panose="020B0604020202020204" pitchFamily="34" charset="0"/>
              <a:buChar char="•"/>
            </a:pPr>
            <a:r>
              <a:rPr lang="en-US" sz="2400" dirty="0"/>
              <a:t>Based on data type and channel type, is the encoding appropriate? </a:t>
            </a:r>
          </a:p>
        </p:txBody>
      </p:sp>
    </p:spTree>
    <p:extLst>
      <p:ext uri="{BB962C8B-B14F-4D97-AF65-F5344CB8AC3E}">
        <p14:creationId xmlns:p14="http://schemas.microsoft.com/office/powerpoint/2010/main" val="5232759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99814-422D-B7D6-E583-148654C14C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D4D53-D404-6A03-9C98-2314BE73F873}"/>
              </a:ext>
            </a:extLst>
          </p:cNvPr>
          <p:cNvSpPr>
            <a:spLocks noGrp="1"/>
          </p:cNvSpPr>
          <p:nvPr>
            <p:ph type="title"/>
          </p:nvPr>
        </p:nvSpPr>
        <p:spPr/>
        <p:txBody>
          <a:bodyPr/>
          <a:lstStyle/>
          <a:p>
            <a:r>
              <a:rPr lang="en-US" dirty="0"/>
              <a:t>Practice</a:t>
            </a:r>
          </a:p>
        </p:txBody>
      </p:sp>
      <p:pic>
        <p:nvPicPr>
          <p:cNvPr id="5" name="Picture 4" descr="A graph with colorful bars&#10;&#10;AI-generated content may be incorrect.">
            <a:extLst>
              <a:ext uri="{FF2B5EF4-FFF2-40B4-BE49-F238E27FC236}">
                <a16:creationId xmlns:a16="http://schemas.microsoft.com/office/drawing/2014/main" id="{7E36213F-6AB2-1D0B-B619-C3CD93C83048}"/>
              </a:ext>
            </a:extLst>
          </p:cNvPr>
          <p:cNvPicPr>
            <a:picLocks noChangeAspect="1"/>
          </p:cNvPicPr>
          <p:nvPr/>
        </p:nvPicPr>
        <p:blipFill>
          <a:blip r:embed="rId3"/>
          <a:stretch>
            <a:fillRect/>
          </a:stretch>
        </p:blipFill>
        <p:spPr>
          <a:xfrm>
            <a:off x="3996813" y="1692693"/>
            <a:ext cx="6876028" cy="5726152"/>
          </a:xfrm>
          <a:prstGeom prst="rect">
            <a:avLst/>
          </a:prstGeom>
        </p:spPr>
      </p:pic>
      <p:sp>
        <p:nvSpPr>
          <p:cNvPr id="3" name="Rounded Rectangle 2">
            <a:extLst>
              <a:ext uri="{FF2B5EF4-FFF2-40B4-BE49-F238E27FC236}">
                <a16:creationId xmlns:a16="http://schemas.microsoft.com/office/drawing/2014/main" id="{49388000-DDDC-12E6-61F6-CFA801228FFD}"/>
              </a:ext>
            </a:extLst>
          </p:cNvPr>
          <p:cNvSpPr/>
          <p:nvPr/>
        </p:nvSpPr>
        <p:spPr>
          <a:xfrm>
            <a:off x="2816945" y="248079"/>
            <a:ext cx="9271819" cy="2054153"/>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marL="285750" indent="-285750" algn="ctr">
              <a:buFont typeface="Arial" panose="020B0604020202020204" pitchFamily="34" charset="0"/>
              <a:buChar char="•"/>
            </a:pPr>
            <a:r>
              <a:rPr lang="en-US" sz="2400" dirty="0"/>
              <a:t>What are the marks in this visualization?</a:t>
            </a:r>
          </a:p>
          <a:p>
            <a:pPr marL="285750" indent="-285750" algn="ctr">
              <a:buFont typeface="Arial" panose="020B0604020202020204" pitchFamily="34" charset="0"/>
              <a:buChar char="•"/>
            </a:pPr>
            <a:r>
              <a:rPr lang="en-US" sz="2400" dirty="0"/>
              <a:t>What variables are shown?</a:t>
            </a:r>
          </a:p>
          <a:p>
            <a:pPr marL="285750" indent="-285750" algn="ctr">
              <a:buFont typeface="Arial" panose="020B0604020202020204" pitchFamily="34" charset="0"/>
              <a:buChar char="•"/>
            </a:pPr>
            <a:r>
              <a:rPr lang="en-US" sz="2400" dirty="0"/>
              <a:t>What visual channel(s) encode(s) each variable?</a:t>
            </a:r>
          </a:p>
          <a:p>
            <a:pPr marL="285750" indent="-285750" algn="ctr">
              <a:buFont typeface="Arial" panose="020B0604020202020204" pitchFamily="34" charset="0"/>
              <a:buChar char="•"/>
            </a:pPr>
            <a:r>
              <a:rPr lang="en-US" sz="2400" dirty="0"/>
              <a:t>Based on data type and channel type, is the encoding appropriate? </a:t>
            </a:r>
          </a:p>
        </p:txBody>
      </p:sp>
      <p:sp>
        <p:nvSpPr>
          <p:cNvPr id="6" name="Rounded Rectangular Callout 5">
            <a:extLst>
              <a:ext uri="{FF2B5EF4-FFF2-40B4-BE49-F238E27FC236}">
                <a16:creationId xmlns:a16="http://schemas.microsoft.com/office/drawing/2014/main" id="{1F2252ED-B6B7-D95A-C7B6-5016D688196B}"/>
              </a:ext>
            </a:extLst>
          </p:cNvPr>
          <p:cNvSpPr/>
          <p:nvPr/>
        </p:nvSpPr>
        <p:spPr>
          <a:xfrm>
            <a:off x="132735" y="4660490"/>
            <a:ext cx="4173794" cy="1949431"/>
          </a:xfrm>
          <a:prstGeom prst="wedgeRoundRectCallout">
            <a:avLst>
              <a:gd name="adj1" fmla="val 51249"/>
              <a:gd name="adj2" fmla="val -72300"/>
              <a:gd name="adj3" fmla="val 16667"/>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t>Dual (or double) encoding </a:t>
            </a:r>
            <a:r>
              <a:rPr lang="en-US" sz="2400" dirty="0"/>
              <a:t>== encoding one variable via more than one channel</a:t>
            </a:r>
          </a:p>
        </p:txBody>
      </p:sp>
    </p:spTree>
    <p:extLst>
      <p:ext uri="{BB962C8B-B14F-4D97-AF65-F5344CB8AC3E}">
        <p14:creationId xmlns:p14="http://schemas.microsoft.com/office/powerpoint/2010/main" val="2884522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D112A-CD61-1744-DA01-4FCD0B13D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EA7A8-0E3D-62CB-A311-14BC828BA842}"/>
              </a:ext>
            </a:extLst>
          </p:cNvPr>
          <p:cNvSpPr>
            <a:spLocks noGrp="1"/>
          </p:cNvSpPr>
          <p:nvPr>
            <p:ph type="title"/>
          </p:nvPr>
        </p:nvSpPr>
        <p:spPr/>
        <p:txBody>
          <a:bodyPr/>
          <a:lstStyle/>
          <a:p>
            <a:r>
              <a:rPr lang="en-US" dirty="0"/>
              <a:t>Practice</a:t>
            </a:r>
          </a:p>
        </p:txBody>
      </p:sp>
      <p:sp>
        <p:nvSpPr>
          <p:cNvPr id="3" name="Rounded Rectangle 2">
            <a:extLst>
              <a:ext uri="{FF2B5EF4-FFF2-40B4-BE49-F238E27FC236}">
                <a16:creationId xmlns:a16="http://schemas.microsoft.com/office/drawing/2014/main" id="{B5C8CBB5-D0DD-95CD-847F-D740EFC95D22}"/>
              </a:ext>
            </a:extLst>
          </p:cNvPr>
          <p:cNvSpPr/>
          <p:nvPr/>
        </p:nvSpPr>
        <p:spPr>
          <a:xfrm>
            <a:off x="3876366" y="88490"/>
            <a:ext cx="7654416" cy="1535316"/>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marL="285750" indent="-285750" algn="ctr">
              <a:buFont typeface="Arial" panose="020B0604020202020204" pitchFamily="34" charset="0"/>
              <a:buChar char="•"/>
            </a:pPr>
            <a:r>
              <a:rPr lang="en-US" sz="2000" dirty="0"/>
              <a:t>What are the marks in this visualization?</a:t>
            </a:r>
          </a:p>
          <a:p>
            <a:pPr marL="285750" indent="-285750" algn="ctr">
              <a:buFont typeface="Arial" panose="020B0604020202020204" pitchFamily="34" charset="0"/>
              <a:buChar char="•"/>
            </a:pPr>
            <a:r>
              <a:rPr lang="en-US" sz="2000" dirty="0"/>
              <a:t>What variables are shown?</a:t>
            </a:r>
          </a:p>
          <a:p>
            <a:pPr marL="285750" indent="-285750" algn="ctr">
              <a:buFont typeface="Arial" panose="020B0604020202020204" pitchFamily="34" charset="0"/>
              <a:buChar char="•"/>
            </a:pPr>
            <a:r>
              <a:rPr lang="en-US" sz="2000" dirty="0"/>
              <a:t>What visual channel(s) encode(s) each variable?</a:t>
            </a:r>
          </a:p>
          <a:p>
            <a:pPr marL="285750" indent="-285750" algn="ctr">
              <a:buFont typeface="Arial" panose="020B0604020202020204" pitchFamily="34" charset="0"/>
              <a:buChar char="•"/>
            </a:pPr>
            <a:r>
              <a:rPr lang="en-US" sz="2000" dirty="0"/>
              <a:t>Based on data type and channel type, is the encoding appropriate? </a:t>
            </a:r>
          </a:p>
        </p:txBody>
      </p:sp>
      <p:pic>
        <p:nvPicPr>
          <p:cNvPr id="7" name="Picture 6">
            <a:extLst>
              <a:ext uri="{FF2B5EF4-FFF2-40B4-BE49-F238E27FC236}">
                <a16:creationId xmlns:a16="http://schemas.microsoft.com/office/drawing/2014/main" id="{57EFDCC5-740C-5A17-DC20-664939C1EF85}"/>
              </a:ext>
            </a:extLst>
          </p:cNvPr>
          <p:cNvPicPr>
            <a:picLocks noChangeAspect="1"/>
          </p:cNvPicPr>
          <p:nvPr/>
        </p:nvPicPr>
        <p:blipFill>
          <a:blip r:embed="rId3"/>
          <a:stretch>
            <a:fillRect/>
          </a:stretch>
        </p:blipFill>
        <p:spPr>
          <a:xfrm>
            <a:off x="3758382" y="1727568"/>
            <a:ext cx="7772400" cy="5538416"/>
          </a:xfrm>
          <a:prstGeom prst="rect">
            <a:avLst/>
          </a:prstGeom>
        </p:spPr>
      </p:pic>
      <p:sp>
        <p:nvSpPr>
          <p:cNvPr id="9" name="TextBox 8">
            <a:extLst>
              <a:ext uri="{FF2B5EF4-FFF2-40B4-BE49-F238E27FC236}">
                <a16:creationId xmlns:a16="http://schemas.microsoft.com/office/drawing/2014/main" id="{47C0655B-0E6C-940B-E7AE-20AAAE0373E3}"/>
              </a:ext>
            </a:extLst>
          </p:cNvPr>
          <p:cNvSpPr txBox="1"/>
          <p:nvPr/>
        </p:nvSpPr>
        <p:spPr>
          <a:xfrm>
            <a:off x="8684341" y="6581001"/>
            <a:ext cx="6100916" cy="276999"/>
          </a:xfrm>
          <a:prstGeom prst="rect">
            <a:avLst/>
          </a:prstGeom>
          <a:noFill/>
        </p:spPr>
        <p:txBody>
          <a:bodyPr wrap="square">
            <a:spAutoFit/>
          </a:bodyPr>
          <a:lstStyle/>
          <a:p>
            <a:r>
              <a:rPr lang="en-US" sz="1200" dirty="0"/>
              <a:t>https://</a:t>
            </a:r>
            <a:r>
              <a:rPr lang="en-US" sz="1200" dirty="0" err="1"/>
              <a:t>flourish.studio</a:t>
            </a:r>
            <a:r>
              <a:rPr lang="en-US" sz="1200" dirty="0"/>
              <a:t>/examples/?Industry=Featured</a:t>
            </a:r>
          </a:p>
        </p:txBody>
      </p:sp>
    </p:spTree>
    <p:extLst>
      <p:ext uri="{BB962C8B-B14F-4D97-AF65-F5344CB8AC3E}">
        <p14:creationId xmlns:p14="http://schemas.microsoft.com/office/powerpoint/2010/main" val="2426599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00DDA-5510-0F22-3C5C-F05EA72A3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D8F65-833E-1A82-6F35-AC0EAE706721}"/>
              </a:ext>
            </a:extLst>
          </p:cNvPr>
          <p:cNvSpPr>
            <a:spLocks noGrp="1"/>
          </p:cNvSpPr>
          <p:nvPr>
            <p:ph type="title"/>
          </p:nvPr>
        </p:nvSpPr>
        <p:spPr/>
        <p:txBody>
          <a:bodyPr/>
          <a:lstStyle/>
          <a:p>
            <a:r>
              <a:rPr lang="en-US" dirty="0"/>
              <a:t>Practice</a:t>
            </a:r>
          </a:p>
        </p:txBody>
      </p:sp>
      <p:sp>
        <p:nvSpPr>
          <p:cNvPr id="4" name="Rectangle 3">
            <a:extLst>
              <a:ext uri="{FF2B5EF4-FFF2-40B4-BE49-F238E27FC236}">
                <a16:creationId xmlns:a16="http://schemas.microsoft.com/office/drawing/2014/main" id="{7B97EE78-B0B9-A640-252D-51EADEE5EEC1}"/>
              </a:ext>
            </a:extLst>
          </p:cNvPr>
          <p:cNvSpPr/>
          <p:nvPr/>
        </p:nvSpPr>
        <p:spPr>
          <a:xfrm>
            <a:off x="7052254" y="1708113"/>
            <a:ext cx="725214" cy="51498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24EA787B-18D6-826C-3552-62D76DE1CFF0}"/>
              </a:ext>
            </a:extLst>
          </p:cNvPr>
          <p:cNvSpPr>
            <a:spLocks noGrp="1"/>
          </p:cNvSpPr>
          <p:nvPr>
            <p:ph idx="1"/>
          </p:nvPr>
        </p:nvSpPr>
        <p:spPr>
          <a:xfrm>
            <a:off x="3569110" y="324464"/>
            <a:ext cx="7875639" cy="5309420"/>
          </a:xfrm>
        </p:spPr>
        <p:txBody>
          <a:bodyPr anchor="t">
            <a:normAutofit/>
          </a:bodyPr>
          <a:lstStyle/>
          <a:p>
            <a:r>
              <a:rPr lang="en-US" sz="2400" dirty="0"/>
              <a:t>How could you visually represent the following data? Sketch your idea</a:t>
            </a:r>
          </a:p>
          <a:p>
            <a:pPr lvl="1"/>
            <a:endParaRPr lang="en-US" sz="2400" dirty="0"/>
          </a:p>
        </p:txBody>
      </p:sp>
      <p:graphicFrame>
        <p:nvGraphicFramePr>
          <p:cNvPr id="8" name="Table 7">
            <a:extLst>
              <a:ext uri="{FF2B5EF4-FFF2-40B4-BE49-F238E27FC236}">
                <a16:creationId xmlns:a16="http://schemas.microsoft.com/office/drawing/2014/main" id="{2DED50EF-24C1-4615-28B7-0420D1065884}"/>
              </a:ext>
            </a:extLst>
          </p:cNvPr>
          <p:cNvGraphicFramePr>
            <a:graphicFrameLocks noGrp="1"/>
          </p:cNvGraphicFramePr>
          <p:nvPr>
            <p:extLst>
              <p:ext uri="{D42A27DB-BD31-4B8C-83A1-F6EECF244321}">
                <p14:modId xmlns:p14="http://schemas.microsoft.com/office/powerpoint/2010/main" val="3710421412"/>
              </p:ext>
            </p:extLst>
          </p:nvPr>
        </p:nvGraphicFramePr>
        <p:xfrm>
          <a:off x="3800658" y="1042218"/>
          <a:ext cx="2625213" cy="5673212"/>
        </p:xfrm>
        <a:graphic>
          <a:graphicData uri="http://schemas.openxmlformats.org/drawingml/2006/table">
            <a:tbl>
              <a:tblPr>
                <a:tableStyleId>{5940675A-B579-460E-94D1-54222C63F5DA}</a:tableStyleId>
              </a:tblPr>
              <a:tblGrid>
                <a:gridCol w="2625213">
                  <a:extLst>
                    <a:ext uri="{9D8B030D-6E8A-4147-A177-3AD203B41FA5}">
                      <a16:colId xmlns:a16="http://schemas.microsoft.com/office/drawing/2014/main" val="2729378066"/>
                    </a:ext>
                  </a:extLst>
                </a:gridCol>
              </a:tblGrid>
              <a:tr h="792255">
                <a:tc>
                  <a:txBody>
                    <a:bodyPr/>
                    <a:lstStyle/>
                    <a:p>
                      <a:pPr algn="ctr" fontAlgn="b">
                        <a:buNone/>
                      </a:pPr>
                      <a:r>
                        <a:rPr lang="en-US" sz="2400" b="0" u="none" strike="noStrike" dirty="0">
                          <a:solidFill>
                            <a:srgbClr val="000000"/>
                          </a:solidFill>
                          <a:effectLst/>
                          <a:latin typeface="+mj-lt"/>
                        </a:rPr>
                        <a:t>Total Time (minutes)</a:t>
                      </a:r>
                      <a:endParaRPr lang="en-US" sz="2400" b="0" i="0" u="none" strike="noStrike" dirty="0">
                        <a:solidFill>
                          <a:srgbClr val="000000"/>
                        </a:solidFill>
                        <a:effectLst/>
                        <a:latin typeface="+mj-lt"/>
                      </a:endParaRPr>
                    </a:p>
                  </a:txBody>
                  <a:tcPr marL="9233" marR="9233" marT="9233" marB="0" anchor="b">
                    <a:solidFill>
                      <a:schemeClr val="accent5"/>
                    </a:solidFill>
                  </a:tcPr>
                </a:tc>
                <a:extLst>
                  <a:ext uri="{0D108BD9-81ED-4DB2-BD59-A6C34878D82A}">
                    <a16:rowId xmlns:a16="http://schemas.microsoft.com/office/drawing/2014/main" val="2994657855"/>
                  </a:ext>
                </a:extLst>
              </a:tr>
              <a:tr h="408839">
                <a:tc>
                  <a:txBody>
                    <a:bodyPr/>
                    <a:lstStyle/>
                    <a:p>
                      <a:pPr algn="ctr" fontAlgn="b">
                        <a:buNone/>
                      </a:pPr>
                      <a:r>
                        <a:rPr lang="en-US" sz="2400" b="0" u="none" strike="noStrike">
                          <a:solidFill>
                            <a:srgbClr val="000000"/>
                          </a:solidFill>
                          <a:effectLst/>
                          <a:latin typeface="+mj-lt"/>
                        </a:rPr>
                        <a:t>51</a:t>
                      </a:r>
                      <a:endParaRPr lang="en-US" sz="2400" b="0" i="0" u="none" strike="noStrike">
                        <a:solidFill>
                          <a:srgbClr val="000000"/>
                        </a:solidFill>
                        <a:effectLst/>
                        <a:latin typeface="+mj-lt"/>
                      </a:endParaRPr>
                    </a:p>
                  </a:txBody>
                  <a:tcPr marL="9233" marR="9233" marT="9233" marB="0" anchor="b"/>
                </a:tc>
                <a:extLst>
                  <a:ext uri="{0D108BD9-81ED-4DB2-BD59-A6C34878D82A}">
                    <a16:rowId xmlns:a16="http://schemas.microsoft.com/office/drawing/2014/main" val="3354460669"/>
                  </a:ext>
                </a:extLst>
              </a:tr>
              <a:tr h="408839">
                <a:tc>
                  <a:txBody>
                    <a:bodyPr/>
                    <a:lstStyle/>
                    <a:p>
                      <a:pPr algn="ctr" fontAlgn="b">
                        <a:buNone/>
                      </a:pPr>
                      <a:r>
                        <a:rPr lang="en-US" sz="2400" b="0" u="none" strike="noStrike">
                          <a:solidFill>
                            <a:srgbClr val="000000"/>
                          </a:solidFill>
                          <a:effectLst/>
                          <a:latin typeface="+mj-lt"/>
                        </a:rPr>
                        <a:t>30</a:t>
                      </a:r>
                      <a:endParaRPr lang="en-US" sz="2400" b="0" i="0" u="none" strike="noStrike">
                        <a:solidFill>
                          <a:srgbClr val="000000"/>
                        </a:solidFill>
                        <a:effectLst/>
                        <a:latin typeface="+mj-lt"/>
                      </a:endParaRPr>
                    </a:p>
                  </a:txBody>
                  <a:tcPr marL="9233" marR="9233" marT="9233" marB="0" anchor="b"/>
                </a:tc>
                <a:extLst>
                  <a:ext uri="{0D108BD9-81ED-4DB2-BD59-A6C34878D82A}">
                    <a16:rowId xmlns:a16="http://schemas.microsoft.com/office/drawing/2014/main" val="189814044"/>
                  </a:ext>
                </a:extLst>
              </a:tr>
              <a:tr h="408839">
                <a:tc>
                  <a:txBody>
                    <a:bodyPr/>
                    <a:lstStyle/>
                    <a:p>
                      <a:pPr algn="ctr" fontAlgn="b">
                        <a:buNone/>
                      </a:pPr>
                      <a:r>
                        <a:rPr lang="en-US" sz="2400" b="0" u="none" strike="noStrike">
                          <a:solidFill>
                            <a:srgbClr val="000000"/>
                          </a:solidFill>
                          <a:effectLst/>
                          <a:latin typeface="+mj-lt"/>
                        </a:rPr>
                        <a:t>54</a:t>
                      </a:r>
                      <a:endParaRPr lang="en-US" sz="2400" b="0" i="0" u="none" strike="noStrike">
                        <a:solidFill>
                          <a:srgbClr val="000000"/>
                        </a:solidFill>
                        <a:effectLst/>
                        <a:latin typeface="+mj-lt"/>
                      </a:endParaRPr>
                    </a:p>
                  </a:txBody>
                  <a:tcPr marL="9233" marR="9233" marT="9233" marB="0" anchor="b"/>
                </a:tc>
                <a:extLst>
                  <a:ext uri="{0D108BD9-81ED-4DB2-BD59-A6C34878D82A}">
                    <a16:rowId xmlns:a16="http://schemas.microsoft.com/office/drawing/2014/main" val="1541399637"/>
                  </a:ext>
                </a:extLst>
              </a:tr>
              <a:tr h="408839">
                <a:tc>
                  <a:txBody>
                    <a:bodyPr/>
                    <a:lstStyle/>
                    <a:p>
                      <a:pPr algn="ctr" fontAlgn="b">
                        <a:buNone/>
                      </a:pPr>
                      <a:r>
                        <a:rPr lang="en-US" sz="2400" b="0" u="none" strike="noStrike">
                          <a:solidFill>
                            <a:srgbClr val="000000"/>
                          </a:solidFill>
                          <a:effectLst/>
                          <a:latin typeface="+mj-lt"/>
                        </a:rPr>
                        <a:t>30</a:t>
                      </a:r>
                      <a:endParaRPr lang="en-US" sz="2400" b="0" i="0" u="none" strike="noStrike">
                        <a:solidFill>
                          <a:srgbClr val="000000"/>
                        </a:solidFill>
                        <a:effectLst/>
                        <a:latin typeface="+mj-lt"/>
                      </a:endParaRPr>
                    </a:p>
                  </a:txBody>
                  <a:tcPr marL="9233" marR="9233" marT="9233" marB="0" anchor="b"/>
                </a:tc>
                <a:extLst>
                  <a:ext uri="{0D108BD9-81ED-4DB2-BD59-A6C34878D82A}">
                    <a16:rowId xmlns:a16="http://schemas.microsoft.com/office/drawing/2014/main" val="2624430705"/>
                  </a:ext>
                </a:extLst>
              </a:tr>
              <a:tr h="408839">
                <a:tc>
                  <a:txBody>
                    <a:bodyPr/>
                    <a:lstStyle/>
                    <a:p>
                      <a:pPr algn="ctr" fontAlgn="b">
                        <a:buNone/>
                      </a:pPr>
                      <a:r>
                        <a:rPr lang="en-US" sz="2400" b="0" u="none" strike="noStrike" dirty="0">
                          <a:solidFill>
                            <a:srgbClr val="000000"/>
                          </a:solidFill>
                          <a:effectLst/>
                          <a:latin typeface="+mj-lt"/>
                        </a:rPr>
                        <a:t>30</a:t>
                      </a:r>
                      <a:endParaRPr lang="en-US" sz="2400" b="0" i="0" u="none" strike="noStrike" dirty="0">
                        <a:solidFill>
                          <a:srgbClr val="000000"/>
                        </a:solidFill>
                        <a:effectLst/>
                        <a:latin typeface="+mj-lt"/>
                      </a:endParaRPr>
                    </a:p>
                  </a:txBody>
                  <a:tcPr marL="9233" marR="9233" marT="9233" marB="0" anchor="b"/>
                </a:tc>
                <a:extLst>
                  <a:ext uri="{0D108BD9-81ED-4DB2-BD59-A6C34878D82A}">
                    <a16:rowId xmlns:a16="http://schemas.microsoft.com/office/drawing/2014/main" val="3315314288"/>
                  </a:ext>
                </a:extLst>
              </a:tr>
              <a:tr h="408839">
                <a:tc>
                  <a:txBody>
                    <a:bodyPr/>
                    <a:lstStyle/>
                    <a:p>
                      <a:pPr algn="ctr" fontAlgn="b">
                        <a:buNone/>
                      </a:pPr>
                      <a:r>
                        <a:rPr lang="en-US" sz="2400" b="0" u="none" strike="noStrike">
                          <a:solidFill>
                            <a:srgbClr val="000000"/>
                          </a:solidFill>
                          <a:effectLst/>
                          <a:latin typeface="+mj-lt"/>
                        </a:rPr>
                        <a:t>30</a:t>
                      </a:r>
                      <a:endParaRPr lang="en-US" sz="2400" b="0" i="0" u="none" strike="noStrike">
                        <a:solidFill>
                          <a:srgbClr val="000000"/>
                        </a:solidFill>
                        <a:effectLst/>
                        <a:latin typeface="+mj-lt"/>
                      </a:endParaRPr>
                    </a:p>
                  </a:txBody>
                  <a:tcPr marL="9233" marR="9233" marT="9233" marB="0" anchor="b"/>
                </a:tc>
                <a:extLst>
                  <a:ext uri="{0D108BD9-81ED-4DB2-BD59-A6C34878D82A}">
                    <a16:rowId xmlns:a16="http://schemas.microsoft.com/office/drawing/2014/main" val="2844951594"/>
                  </a:ext>
                </a:extLst>
              </a:tr>
              <a:tr h="408839">
                <a:tc>
                  <a:txBody>
                    <a:bodyPr/>
                    <a:lstStyle/>
                    <a:p>
                      <a:pPr algn="ctr" fontAlgn="b">
                        <a:buNone/>
                      </a:pPr>
                      <a:r>
                        <a:rPr lang="en-US" sz="2400" b="0" u="none" strike="noStrike">
                          <a:solidFill>
                            <a:srgbClr val="000000"/>
                          </a:solidFill>
                          <a:effectLst/>
                          <a:latin typeface="+mj-lt"/>
                        </a:rPr>
                        <a:t>80</a:t>
                      </a:r>
                      <a:endParaRPr lang="en-US" sz="2400" b="0" i="0" u="none" strike="noStrike">
                        <a:solidFill>
                          <a:srgbClr val="000000"/>
                        </a:solidFill>
                        <a:effectLst/>
                        <a:latin typeface="+mj-lt"/>
                      </a:endParaRPr>
                    </a:p>
                  </a:txBody>
                  <a:tcPr marL="9233" marR="9233" marT="9233" marB="0" anchor="b"/>
                </a:tc>
                <a:extLst>
                  <a:ext uri="{0D108BD9-81ED-4DB2-BD59-A6C34878D82A}">
                    <a16:rowId xmlns:a16="http://schemas.microsoft.com/office/drawing/2014/main" val="2939709753"/>
                  </a:ext>
                </a:extLst>
              </a:tr>
              <a:tr h="408839">
                <a:tc>
                  <a:txBody>
                    <a:bodyPr/>
                    <a:lstStyle/>
                    <a:p>
                      <a:pPr algn="ctr" fontAlgn="b">
                        <a:buNone/>
                      </a:pPr>
                      <a:r>
                        <a:rPr lang="en-US" sz="2400" b="0" u="none" strike="noStrike">
                          <a:solidFill>
                            <a:srgbClr val="000000"/>
                          </a:solidFill>
                          <a:effectLst/>
                          <a:latin typeface="+mj-lt"/>
                        </a:rPr>
                        <a:t>30</a:t>
                      </a:r>
                      <a:endParaRPr lang="en-US" sz="2400" b="0" i="0" u="none" strike="noStrike">
                        <a:solidFill>
                          <a:srgbClr val="000000"/>
                        </a:solidFill>
                        <a:effectLst/>
                        <a:latin typeface="+mj-lt"/>
                      </a:endParaRPr>
                    </a:p>
                  </a:txBody>
                  <a:tcPr marL="9233" marR="9233" marT="9233" marB="0" anchor="b"/>
                </a:tc>
                <a:extLst>
                  <a:ext uri="{0D108BD9-81ED-4DB2-BD59-A6C34878D82A}">
                    <a16:rowId xmlns:a16="http://schemas.microsoft.com/office/drawing/2014/main" val="3685254134"/>
                  </a:ext>
                </a:extLst>
              </a:tr>
              <a:tr h="408839">
                <a:tc>
                  <a:txBody>
                    <a:bodyPr/>
                    <a:lstStyle/>
                    <a:p>
                      <a:pPr algn="ctr" fontAlgn="b">
                        <a:buNone/>
                      </a:pPr>
                      <a:r>
                        <a:rPr lang="en-US" sz="2400" b="0" u="none" strike="noStrike">
                          <a:solidFill>
                            <a:srgbClr val="000000"/>
                          </a:solidFill>
                          <a:effectLst/>
                          <a:latin typeface="+mj-lt"/>
                        </a:rPr>
                        <a:t>60</a:t>
                      </a:r>
                      <a:endParaRPr lang="en-US" sz="2400" b="0" i="0" u="none" strike="noStrike">
                        <a:solidFill>
                          <a:srgbClr val="000000"/>
                        </a:solidFill>
                        <a:effectLst/>
                        <a:latin typeface="+mj-lt"/>
                      </a:endParaRPr>
                    </a:p>
                  </a:txBody>
                  <a:tcPr marL="9233" marR="9233" marT="9233" marB="0" anchor="b"/>
                </a:tc>
                <a:extLst>
                  <a:ext uri="{0D108BD9-81ED-4DB2-BD59-A6C34878D82A}">
                    <a16:rowId xmlns:a16="http://schemas.microsoft.com/office/drawing/2014/main" val="1661502834"/>
                  </a:ext>
                </a:extLst>
              </a:tr>
              <a:tr h="792567">
                <a:tc>
                  <a:txBody>
                    <a:bodyPr/>
                    <a:lstStyle/>
                    <a:p>
                      <a:pPr algn="ctr" fontAlgn="b">
                        <a:buNone/>
                      </a:pPr>
                      <a:r>
                        <a:rPr lang="en-US" sz="2400" b="0" u="none" strike="noStrike">
                          <a:solidFill>
                            <a:srgbClr val="000000"/>
                          </a:solidFill>
                          <a:effectLst/>
                          <a:latin typeface="+mj-lt"/>
                        </a:rPr>
                        <a:t>40</a:t>
                      </a:r>
                      <a:endParaRPr lang="en-US" sz="2400" b="0" i="0" u="none" strike="noStrike">
                        <a:solidFill>
                          <a:srgbClr val="000000"/>
                        </a:solidFill>
                        <a:effectLst/>
                        <a:latin typeface="+mj-lt"/>
                      </a:endParaRPr>
                    </a:p>
                  </a:txBody>
                  <a:tcPr marL="9233" marR="9233" marT="9233" marB="0" anchor="b"/>
                </a:tc>
                <a:extLst>
                  <a:ext uri="{0D108BD9-81ED-4DB2-BD59-A6C34878D82A}">
                    <a16:rowId xmlns:a16="http://schemas.microsoft.com/office/drawing/2014/main" val="622056382"/>
                  </a:ext>
                </a:extLst>
              </a:tr>
              <a:tr h="408839">
                <a:tc>
                  <a:txBody>
                    <a:bodyPr/>
                    <a:lstStyle/>
                    <a:p>
                      <a:pPr algn="ctr" fontAlgn="b">
                        <a:buNone/>
                      </a:pPr>
                      <a:r>
                        <a:rPr lang="en-US" sz="2400" b="0" u="none" strike="noStrike" dirty="0">
                          <a:solidFill>
                            <a:srgbClr val="000000"/>
                          </a:solidFill>
                          <a:effectLst/>
                          <a:latin typeface="+mj-lt"/>
                        </a:rPr>
                        <a:t>30</a:t>
                      </a:r>
                      <a:endParaRPr lang="en-US" sz="2400" b="0" i="0" u="none" strike="noStrike" dirty="0">
                        <a:solidFill>
                          <a:srgbClr val="000000"/>
                        </a:solidFill>
                        <a:effectLst/>
                        <a:latin typeface="+mj-lt"/>
                      </a:endParaRPr>
                    </a:p>
                  </a:txBody>
                  <a:tcPr marL="9233" marR="9233" marT="9233" marB="0" anchor="b"/>
                </a:tc>
                <a:extLst>
                  <a:ext uri="{0D108BD9-81ED-4DB2-BD59-A6C34878D82A}">
                    <a16:rowId xmlns:a16="http://schemas.microsoft.com/office/drawing/2014/main" val="1678968350"/>
                  </a:ext>
                </a:extLst>
              </a:tr>
            </a:tbl>
          </a:graphicData>
        </a:graphic>
      </p:graphicFrame>
    </p:spTree>
    <p:extLst>
      <p:ext uri="{BB962C8B-B14F-4D97-AF65-F5344CB8AC3E}">
        <p14:creationId xmlns:p14="http://schemas.microsoft.com/office/powerpoint/2010/main" val="1858159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EEFD3-7150-26D6-EA01-67E021D33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248D3B-0F98-8C8C-4781-B0FFAD5FC0FD}"/>
              </a:ext>
            </a:extLst>
          </p:cNvPr>
          <p:cNvSpPr>
            <a:spLocks noGrp="1"/>
          </p:cNvSpPr>
          <p:nvPr>
            <p:ph type="title"/>
          </p:nvPr>
        </p:nvSpPr>
        <p:spPr/>
        <p:txBody>
          <a:bodyPr/>
          <a:lstStyle/>
          <a:p>
            <a:r>
              <a:rPr lang="en-US" dirty="0"/>
              <a:t>Practice</a:t>
            </a:r>
          </a:p>
        </p:txBody>
      </p:sp>
      <p:sp>
        <p:nvSpPr>
          <p:cNvPr id="4" name="Rectangle 3">
            <a:extLst>
              <a:ext uri="{FF2B5EF4-FFF2-40B4-BE49-F238E27FC236}">
                <a16:creationId xmlns:a16="http://schemas.microsoft.com/office/drawing/2014/main" id="{6555B65B-C56F-8952-944A-076015D83F5A}"/>
              </a:ext>
            </a:extLst>
          </p:cNvPr>
          <p:cNvSpPr/>
          <p:nvPr/>
        </p:nvSpPr>
        <p:spPr>
          <a:xfrm>
            <a:off x="7052254" y="1708113"/>
            <a:ext cx="725214" cy="51498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092A10E7-B2BB-8C7A-3917-BF2C62EBC035}"/>
              </a:ext>
            </a:extLst>
          </p:cNvPr>
          <p:cNvSpPr>
            <a:spLocks noGrp="1"/>
          </p:cNvSpPr>
          <p:nvPr>
            <p:ph idx="1"/>
          </p:nvPr>
        </p:nvSpPr>
        <p:spPr>
          <a:xfrm>
            <a:off x="3569110" y="324464"/>
            <a:ext cx="7875639" cy="5309420"/>
          </a:xfrm>
        </p:spPr>
        <p:txBody>
          <a:bodyPr anchor="t">
            <a:normAutofit/>
          </a:bodyPr>
          <a:lstStyle/>
          <a:p>
            <a:r>
              <a:rPr lang="en-US" sz="2400" dirty="0"/>
              <a:t>How could you visually represent the following data? Sketch your idea</a:t>
            </a:r>
          </a:p>
          <a:p>
            <a:pPr lvl="1"/>
            <a:endParaRPr lang="en-US" sz="2400" dirty="0"/>
          </a:p>
        </p:txBody>
      </p:sp>
      <p:graphicFrame>
        <p:nvGraphicFramePr>
          <p:cNvPr id="8" name="Table 7">
            <a:extLst>
              <a:ext uri="{FF2B5EF4-FFF2-40B4-BE49-F238E27FC236}">
                <a16:creationId xmlns:a16="http://schemas.microsoft.com/office/drawing/2014/main" id="{ABBD3634-8B14-6B80-C3B8-0F180D133E54}"/>
              </a:ext>
            </a:extLst>
          </p:cNvPr>
          <p:cNvGraphicFramePr>
            <a:graphicFrameLocks noGrp="1"/>
          </p:cNvGraphicFramePr>
          <p:nvPr>
            <p:extLst>
              <p:ext uri="{D42A27DB-BD31-4B8C-83A1-F6EECF244321}">
                <p14:modId xmlns:p14="http://schemas.microsoft.com/office/powerpoint/2010/main" val="126540397"/>
              </p:ext>
            </p:extLst>
          </p:nvPr>
        </p:nvGraphicFramePr>
        <p:xfrm>
          <a:off x="3800658" y="1042218"/>
          <a:ext cx="5250426" cy="5673212"/>
        </p:xfrm>
        <a:graphic>
          <a:graphicData uri="http://schemas.openxmlformats.org/drawingml/2006/table">
            <a:tbl>
              <a:tblPr>
                <a:tableStyleId>{5940675A-B579-460E-94D1-54222C63F5DA}</a:tableStyleId>
              </a:tblPr>
              <a:tblGrid>
                <a:gridCol w="2625213">
                  <a:extLst>
                    <a:ext uri="{9D8B030D-6E8A-4147-A177-3AD203B41FA5}">
                      <a16:colId xmlns:a16="http://schemas.microsoft.com/office/drawing/2014/main" val="2729378066"/>
                    </a:ext>
                  </a:extLst>
                </a:gridCol>
                <a:gridCol w="2625213">
                  <a:extLst>
                    <a:ext uri="{9D8B030D-6E8A-4147-A177-3AD203B41FA5}">
                      <a16:colId xmlns:a16="http://schemas.microsoft.com/office/drawing/2014/main" val="1951730331"/>
                    </a:ext>
                  </a:extLst>
                </a:gridCol>
              </a:tblGrid>
              <a:tr h="792255">
                <a:tc>
                  <a:txBody>
                    <a:bodyPr/>
                    <a:lstStyle/>
                    <a:p>
                      <a:pPr algn="ctr" fontAlgn="b">
                        <a:buNone/>
                      </a:pPr>
                      <a:r>
                        <a:rPr lang="en-US" sz="2400" b="0" u="none" strike="noStrike" dirty="0">
                          <a:solidFill>
                            <a:srgbClr val="000000"/>
                          </a:solidFill>
                          <a:effectLst/>
                          <a:latin typeface="+mj-lt"/>
                        </a:rPr>
                        <a:t>Total Time (minutes)</a:t>
                      </a:r>
                      <a:endParaRPr lang="en-US" sz="2400" b="0" i="0" u="none" strike="noStrike" dirty="0">
                        <a:solidFill>
                          <a:srgbClr val="000000"/>
                        </a:solidFill>
                        <a:effectLst/>
                        <a:latin typeface="+mj-lt"/>
                      </a:endParaRPr>
                    </a:p>
                  </a:txBody>
                  <a:tcPr marL="9233" marR="9233" marT="9233" marB="0" anchor="b">
                    <a:solidFill>
                      <a:schemeClr val="accent5"/>
                    </a:solidFill>
                  </a:tcPr>
                </a:tc>
                <a:tc>
                  <a:txBody>
                    <a:bodyPr/>
                    <a:lstStyle/>
                    <a:p>
                      <a:pPr algn="ctr" fontAlgn="b">
                        <a:buNone/>
                      </a:pPr>
                      <a:r>
                        <a:rPr lang="en-US" sz="2400" b="0" i="0" u="none" strike="noStrike" dirty="0">
                          <a:solidFill>
                            <a:srgbClr val="000000"/>
                          </a:solidFill>
                          <a:effectLst/>
                          <a:latin typeface="+mj-lt"/>
                        </a:rPr>
                        <a:t>Number of </a:t>
                      </a:r>
                      <a:r>
                        <a:rPr lang="en-US" sz="2400" b="0" u="none" strike="noStrike" kern="1200" dirty="0">
                          <a:solidFill>
                            <a:srgbClr val="000000"/>
                          </a:solidFill>
                          <a:effectLst/>
                          <a:latin typeface="+mj-lt"/>
                          <a:ea typeface="+mn-ea"/>
                          <a:cs typeface="+mn-cs"/>
                        </a:rPr>
                        <a:t>Squirrels</a:t>
                      </a:r>
                    </a:p>
                  </a:txBody>
                  <a:tcPr marL="9233" marR="9233" marT="9233" marB="0" anchor="b">
                    <a:solidFill>
                      <a:schemeClr val="accent5"/>
                    </a:solidFill>
                  </a:tcPr>
                </a:tc>
                <a:extLst>
                  <a:ext uri="{0D108BD9-81ED-4DB2-BD59-A6C34878D82A}">
                    <a16:rowId xmlns:a16="http://schemas.microsoft.com/office/drawing/2014/main" val="2994657855"/>
                  </a:ext>
                </a:extLst>
              </a:tr>
              <a:tr h="408839">
                <a:tc>
                  <a:txBody>
                    <a:bodyPr/>
                    <a:lstStyle/>
                    <a:p>
                      <a:pPr algn="ctr" fontAlgn="b">
                        <a:buNone/>
                      </a:pPr>
                      <a:r>
                        <a:rPr lang="en-US" sz="2400" b="0" u="none" strike="noStrike">
                          <a:solidFill>
                            <a:srgbClr val="000000"/>
                          </a:solidFill>
                          <a:effectLst/>
                          <a:latin typeface="+mj-lt"/>
                        </a:rPr>
                        <a:t>51</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12</a:t>
                      </a:r>
                    </a:p>
                  </a:txBody>
                  <a:tcPr marL="9233" marR="9233" marT="9233" marB="0" anchor="b"/>
                </a:tc>
                <a:extLst>
                  <a:ext uri="{0D108BD9-81ED-4DB2-BD59-A6C34878D82A}">
                    <a16:rowId xmlns:a16="http://schemas.microsoft.com/office/drawing/2014/main" val="3354460669"/>
                  </a:ext>
                </a:extLst>
              </a:tr>
              <a:tr h="408839">
                <a:tc>
                  <a:txBody>
                    <a:bodyPr/>
                    <a:lstStyle/>
                    <a:p>
                      <a:pPr algn="ctr" fontAlgn="b">
                        <a:buNone/>
                      </a:pPr>
                      <a:r>
                        <a:rPr lang="en-US" sz="2400" b="0" u="none" strike="noStrike">
                          <a:solidFill>
                            <a:srgbClr val="000000"/>
                          </a:solidFill>
                          <a:effectLst/>
                          <a:latin typeface="+mj-lt"/>
                        </a:rPr>
                        <a:t>30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24</a:t>
                      </a:r>
                    </a:p>
                  </a:txBody>
                  <a:tcPr marL="9233" marR="9233" marT="9233" marB="0" anchor="b"/>
                </a:tc>
                <a:extLst>
                  <a:ext uri="{0D108BD9-81ED-4DB2-BD59-A6C34878D82A}">
                    <a16:rowId xmlns:a16="http://schemas.microsoft.com/office/drawing/2014/main" val="189814044"/>
                  </a:ext>
                </a:extLst>
              </a:tr>
              <a:tr h="408839">
                <a:tc>
                  <a:txBody>
                    <a:bodyPr/>
                    <a:lstStyle/>
                    <a:p>
                      <a:pPr algn="ctr" fontAlgn="b">
                        <a:buNone/>
                      </a:pPr>
                      <a:r>
                        <a:rPr lang="en-US" sz="2400" b="0" u="none" strike="noStrike">
                          <a:solidFill>
                            <a:srgbClr val="000000"/>
                          </a:solidFill>
                          <a:effectLst/>
                          <a:latin typeface="+mj-lt"/>
                        </a:rPr>
                        <a:t>54</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16</a:t>
                      </a:r>
                    </a:p>
                  </a:txBody>
                  <a:tcPr marL="9233" marR="9233" marT="9233" marB="0" anchor="b"/>
                </a:tc>
                <a:extLst>
                  <a:ext uri="{0D108BD9-81ED-4DB2-BD59-A6C34878D82A}">
                    <a16:rowId xmlns:a16="http://schemas.microsoft.com/office/drawing/2014/main" val="1541399637"/>
                  </a:ext>
                </a:extLst>
              </a:tr>
              <a:tr h="408839">
                <a:tc>
                  <a:txBody>
                    <a:bodyPr/>
                    <a:lstStyle/>
                    <a:p>
                      <a:pPr algn="ctr" fontAlgn="b">
                        <a:buNone/>
                      </a:pPr>
                      <a:r>
                        <a:rPr lang="en-US" sz="2400" b="0" u="none" strike="noStrike">
                          <a:solidFill>
                            <a:srgbClr val="000000"/>
                          </a:solidFill>
                          <a:effectLst/>
                          <a:latin typeface="+mj-lt"/>
                        </a:rPr>
                        <a:t>30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15</a:t>
                      </a:r>
                    </a:p>
                  </a:txBody>
                  <a:tcPr marL="9233" marR="9233" marT="9233" marB="0" anchor="b"/>
                </a:tc>
                <a:extLst>
                  <a:ext uri="{0D108BD9-81ED-4DB2-BD59-A6C34878D82A}">
                    <a16:rowId xmlns:a16="http://schemas.microsoft.com/office/drawing/2014/main" val="2624430705"/>
                  </a:ext>
                </a:extLst>
              </a:tr>
              <a:tr h="408839">
                <a:tc>
                  <a:txBody>
                    <a:bodyPr/>
                    <a:lstStyle/>
                    <a:p>
                      <a:pPr algn="ctr" fontAlgn="b">
                        <a:buNone/>
                      </a:pPr>
                      <a:r>
                        <a:rPr lang="en-US" sz="2400" b="0" u="none" strike="noStrike" dirty="0">
                          <a:solidFill>
                            <a:srgbClr val="000000"/>
                          </a:solidFill>
                          <a:effectLst/>
                          <a:latin typeface="+mj-lt"/>
                        </a:rPr>
                        <a:t>30</a:t>
                      </a:r>
                      <a:endParaRPr lang="en-US" sz="2400" b="0" i="0" u="none" strike="noStrike" dirty="0">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28</a:t>
                      </a:r>
                    </a:p>
                  </a:txBody>
                  <a:tcPr marL="9233" marR="9233" marT="9233" marB="0" anchor="b"/>
                </a:tc>
                <a:extLst>
                  <a:ext uri="{0D108BD9-81ED-4DB2-BD59-A6C34878D82A}">
                    <a16:rowId xmlns:a16="http://schemas.microsoft.com/office/drawing/2014/main" val="3315314288"/>
                  </a:ext>
                </a:extLst>
              </a:tr>
              <a:tr h="408839">
                <a:tc>
                  <a:txBody>
                    <a:bodyPr/>
                    <a:lstStyle/>
                    <a:p>
                      <a:pPr algn="ctr" fontAlgn="b">
                        <a:buNone/>
                      </a:pPr>
                      <a:r>
                        <a:rPr lang="en-US" sz="2400" b="0" u="none" strike="noStrike">
                          <a:solidFill>
                            <a:srgbClr val="000000"/>
                          </a:solidFill>
                          <a:effectLst/>
                          <a:latin typeface="+mj-lt"/>
                        </a:rPr>
                        <a:t>30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34</a:t>
                      </a:r>
                    </a:p>
                  </a:txBody>
                  <a:tcPr marL="9233" marR="9233" marT="9233" marB="0" anchor="b"/>
                </a:tc>
                <a:extLst>
                  <a:ext uri="{0D108BD9-81ED-4DB2-BD59-A6C34878D82A}">
                    <a16:rowId xmlns:a16="http://schemas.microsoft.com/office/drawing/2014/main" val="2844951594"/>
                  </a:ext>
                </a:extLst>
              </a:tr>
              <a:tr h="408839">
                <a:tc>
                  <a:txBody>
                    <a:bodyPr/>
                    <a:lstStyle/>
                    <a:p>
                      <a:pPr algn="ctr" fontAlgn="b">
                        <a:buNone/>
                      </a:pPr>
                      <a:r>
                        <a:rPr lang="en-US" sz="2400" b="0" u="none" strike="noStrike">
                          <a:solidFill>
                            <a:srgbClr val="000000"/>
                          </a:solidFill>
                          <a:effectLst/>
                          <a:latin typeface="+mj-lt"/>
                        </a:rPr>
                        <a:t>80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11</a:t>
                      </a:r>
                    </a:p>
                  </a:txBody>
                  <a:tcPr marL="9233" marR="9233" marT="9233" marB="0" anchor="b"/>
                </a:tc>
                <a:extLst>
                  <a:ext uri="{0D108BD9-81ED-4DB2-BD59-A6C34878D82A}">
                    <a16:rowId xmlns:a16="http://schemas.microsoft.com/office/drawing/2014/main" val="2939709753"/>
                  </a:ext>
                </a:extLst>
              </a:tr>
              <a:tr h="408839">
                <a:tc>
                  <a:txBody>
                    <a:bodyPr/>
                    <a:lstStyle/>
                    <a:p>
                      <a:pPr algn="ctr" fontAlgn="b">
                        <a:buNone/>
                      </a:pPr>
                      <a:r>
                        <a:rPr lang="en-US" sz="2400" b="0" u="none" strike="noStrike">
                          <a:solidFill>
                            <a:srgbClr val="000000"/>
                          </a:solidFill>
                          <a:effectLst/>
                          <a:latin typeface="+mj-lt"/>
                        </a:rPr>
                        <a:t>30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16</a:t>
                      </a:r>
                    </a:p>
                  </a:txBody>
                  <a:tcPr marL="9233" marR="9233" marT="9233" marB="0" anchor="b"/>
                </a:tc>
                <a:extLst>
                  <a:ext uri="{0D108BD9-81ED-4DB2-BD59-A6C34878D82A}">
                    <a16:rowId xmlns:a16="http://schemas.microsoft.com/office/drawing/2014/main" val="3685254134"/>
                  </a:ext>
                </a:extLst>
              </a:tr>
              <a:tr h="408839">
                <a:tc>
                  <a:txBody>
                    <a:bodyPr/>
                    <a:lstStyle/>
                    <a:p>
                      <a:pPr algn="ctr" fontAlgn="b">
                        <a:buNone/>
                      </a:pPr>
                      <a:r>
                        <a:rPr lang="en-US" sz="2400" b="0" u="none" strike="noStrike">
                          <a:solidFill>
                            <a:srgbClr val="000000"/>
                          </a:solidFill>
                          <a:effectLst/>
                          <a:latin typeface="+mj-lt"/>
                        </a:rPr>
                        <a:t>60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25</a:t>
                      </a:r>
                    </a:p>
                  </a:txBody>
                  <a:tcPr marL="9233" marR="9233" marT="9233" marB="0" anchor="b"/>
                </a:tc>
                <a:extLst>
                  <a:ext uri="{0D108BD9-81ED-4DB2-BD59-A6C34878D82A}">
                    <a16:rowId xmlns:a16="http://schemas.microsoft.com/office/drawing/2014/main" val="1661502834"/>
                  </a:ext>
                </a:extLst>
              </a:tr>
              <a:tr h="792567">
                <a:tc>
                  <a:txBody>
                    <a:bodyPr/>
                    <a:lstStyle/>
                    <a:p>
                      <a:pPr algn="ctr" fontAlgn="b">
                        <a:buNone/>
                      </a:pPr>
                      <a:r>
                        <a:rPr lang="en-US" sz="2400" b="0" u="none" strike="noStrike">
                          <a:solidFill>
                            <a:srgbClr val="000000"/>
                          </a:solidFill>
                          <a:effectLst/>
                          <a:latin typeface="+mj-lt"/>
                        </a:rPr>
                        <a:t>40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51</a:t>
                      </a:r>
                    </a:p>
                  </a:txBody>
                  <a:tcPr marL="9233" marR="9233" marT="9233" marB="0" anchor="b"/>
                </a:tc>
                <a:extLst>
                  <a:ext uri="{0D108BD9-81ED-4DB2-BD59-A6C34878D82A}">
                    <a16:rowId xmlns:a16="http://schemas.microsoft.com/office/drawing/2014/main" val="622056382"/>
                  </a:ext>
                </a:extLst>
              </a:tr>
              <a:tr h="408839">
                <a:tc>
                  <a:txBody>
                    <a:bodyPr/>
                    <a:lstStyle/>
                    <a:p>
                      <a:pPr algn="ctr" fontAlgn="b">
                        <a:buNone/>
                      </a:pPr>
                      <a:r>
                        <a:rPr lang="en-US" sz="2400" b="0" u="none" strike="noStrike" dirty="0">
                          <a:solidFill>
                            <a:srgbClr val="000000"/>
                          </a:solidFill>
                          <a:effectLst/>
                          <a:latin typeface="+mj-lt"/>
                        </a:rPr>
                        <a:t>30</a:t>
                      </a:r>
                      <a:endParaRPr lang="en-US" sz="2400" b="0" i="0" u="none" strike="noStrike" dirty="0">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59</a:t>
                      </a:r>
                    </a:p>
                  </a:txBody>
                  <a:tcPr marL="9233" marR="9233" marT="9233" marB="0" anchor="b"/>
                </a:tc>
                <a:extLst>
                  <a:ext uri="{0D108BD9-81ED-4DB2-BD59-A6C34878D82A}">
                    <a16:rowId xmlns:a16="http://schemas.microsoft.com/office/drawing/2014/main" val="1678968350"/>
                  </a:ext>
                </a:extLst>
              </a:tr>
            </a:tbl>
          </a:graphicData>
        </a:graphic>
      </p:graphicFrame>
    </p:spTree>
    <p:extLst>
      <p:ext uri="{BB962C8B-B14F-4D97-AF65-F5344CB8AC3E}">
        <p14:creationId xmlns:p14="http://schemas.microsoft.com/office/powerpoint/2010/main" val="42342045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52223-8E20-601E-590C-1A99654EB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F1BF0-3139-4EFF-42DD-D4BF8D2E3954}"/>
              </a:ext>
            </a:extLst>
          </p:cNvPr>
          <p:cNvSpPr>
            <a:spLocks noGrp="1"/>
          </p:cNvSpPr>
          <p:nvPr>
            <p:ph type="title"/>
          </p:nvPr>
        </p:nvSpPr>
        <p:spPr/>
        <p:txBody>
          <a:bodyPr/>
          <a:lstStyle/>
          <a:p>
            <a:r>
              <a:rPr lang="en-US" dirty="0"/>
              <a:t>Practice</a:t>
            </a:r>
          </a:p>
        </p:txBody>
      </p:sp>
      <p:sp>
        <p:nvSpPr>
          <p:cNvPr id="4" name="Rectangle 3">
            <a:extLst>
              <a:ext uri="{FF2B5EF4-FFF2-40B4-BE49-F238E27FC236}">
                <a16:creationId xmlns:a16="http://schemas.microsoft.com/office/drawing/2014/main" id="{3E61032D-5491-1675-7CB3-7543BAE9190F}"/>
              </a:ext>
            </a:extLst>
          </p:cNvPr>
          <p:cNvSpPr/>
          <p:nvPr/>
        </p:nvSpPr>
        <p:spPr>
          <a:xfrm>
            <a:off x="7052254" y="1708113"/>
            <a:ext cx="725214" cy="51498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DD1BE653-996F-DADC-9E33-D5548BC0F330}"/>
              </a:ext>
            </a:extLst>
          </p:cNvPr>
          <p:cNvSpPr>
            <a:spLocks noGrp="1"/>
          </p:cNvSpPr>
          <p:nvPr>
            <p:ph idx="1"/>
          </p:nvPr>
        </p:nvSpPr>
        <p:spPr>
          <a:xfrm>
            <a:off x="3569110" y="324464"/>
            <a:ext cx="7875639" cy="5309420"/>
          </a:xfrm>
        </p:spPr>
        <p:txBody>
          <a:bodyPr anchor="t">
            <a:normAutofit/>
          </a:bodyPr>
          <a:lstStyle/>
          <a:p>
            <a:r>
              <a:rPr lang="en-US" sz="2400" dirty="0"/>
              <a:t>How could you visually represent the following data? Sketch your idea</a:t>
            </a:r>
          </a:p>
          <a:p>
            <a:pPr lvl="1"/>
            <a:endParaRPr lang="en-US" sz="2400" dirty="0"/>
          </a:p>
        </p:txBody>
      </p:sp>
      <p:graphicFrame>
        <p:nvGraphicFramePr>
          <p:cNvPr id="8" name="Table 7">
            <a:extLst>
              <a:ext uri="{FF2B5EF4-FFF2-40B4-BE49-F238E27FC236}">
                <a16:creationId xmlns:a16="http://schemas.microsoft.com/office/drawing/2014/main" id="{0FA2B9CE-DCF1-8BE9-AC64-239DD1F88198}"/>
              </a:ext>
            </a:extLst>
          </p:cNvPr>
          <p:cNvGraphicFramePr>
            <a:graphicFrameLocks noGrp="1"/>
          </p:cNvGraphicFramePr>
          <p:nvPr/>
        </p:nvGraphicFramePr>
        <p:xfrm>
          <a:off x="3800658" y="1042218"/>
          <a:ext cx="7875639" cy="5673212"/>
        </p:xfrm>
        <a:graphic>
          <a:graphicData uri="http://schemas.openxmlformats.org/drawingml/2006/table">
            <a:tbl>
              <a:tblPr>
                <a:tableStyleId>{5940675A-B579-460E-94D1-54222C63F5DA}</a:tableStyleId>
              </a:tblPr>
              <a:tblGrid>
                <a:gridCol w="2625213">
                  <a:extLst>
                    <a:ext uri="{9D8B030D-6E8A-4147-A177-3AD203B41FA5}">
                      <a16:colId xmlns:a16="http://schemas.microsoft.com/office/drawing/2014/main" val="2729378066"/>
                    </a:ext>
                  </a:extLst>
                </a:gridCol>
                <a:gridCol w="2625213">
                  <a:extLst>
                    <a:ext uri="{9D8B030D-6E8A-4147-A177-3AD203B41FA5}">
                      <a16:colId xmlns:a16="http://schemas.microsoft.com/office/drawing/2014/main" val="1951730331"/>
                    </a:ext>
                  </a:extLst>
                </a:gridCol>
                <a:gridCol w="2625213">
                  <a:extLst>
                    <a:ext uri="{9D8B030D-6E8A-4147-A177-3AD203B41FA5}">
                      <a16:colId xmlns:a16="http://schemas.microsoft.com/office/drawing/2014/main" val="2091043473"/>
                    </a:ext>
                  </a:extLst>
                </a:gridCol>
              </a:tblGrid>
              <a:tr h="792255">
                <a:tc>
                  <a:txBody>
                    <a:bodyPr/>
                    <a:lstStyle/>
                    <a:p>
                      <a:pPr algn="ctr" fontAlgn="b">
                        <a:buNone/>
                      </a:pPr>
                      <a:r>
                        <a:rPr lang="en-US" sz="2400" b="0" u="none" strike="noStrike" dirty="0">
                          <a:solidFill>
                            <a:srgbClr val="000000"/>
                          </a:solidFill>
                          <a:effectLst/>
                          <a:latin typeface="+mj-lt"/>
                        </a:rPr>
                        <a:t>Total Time (minutes)</a:t>
                      </a:r>
                      <a:endParaRPr lang="en-US" sz="2400" b="0" i="0" u="none" strike="noStrike" dirty="0">
                        <a:solidFill>
                          <a:srgbClr val="000000"/>
                        </a:solidFill>
                        <a:effectLst/>
                        <a:latin typeface="+mj-lt"/>
                      </a:endParaRPr>
                    </a:p>
                  </a:txBody>
                  <a:tcPr marL="9233" marR="9233" marT="9233" marB="0" anchor="b">
                    <a:solidFill>
                      <a:schemeClr val="accent5"/>
                    </a:solidFill>
                  </a:tcPr>
                </a:tc>
                <a:tc>
                  <a:txBody>
                    <a:bodyPr/>
                    <a:lstStyle/>
                    <a:p>
                      <a:pPr algn="ctr" fontAlgn="b">
                        <a:buNone/>
                      </a:pPr>
                      <a:r>
                        <a:rPr lang="en-US" sz="2400" b="0" i="0" u="none" strike="noStrike" dirty="0">
                          <a:solidFill>
                            <a:srgbClr val="000000"/>
                          </a:solidFill>
                          <a:effectLst/>
                          <a:latin typeface="+mj-lt"/>
                        </a:rPr>
                        <a:t>Number of </a:t>
                      </a:r>
                      <a:r>
                        <a:rPr lang="en-US" sz="2400" b="0" u="none" strike="noStrike" kern="1200" dirty="0">
                          <a:solidFill>
                            <a:srgbClr val="000000"/>
                          </a:solidFill>
                          <a:effectLst/>
                          <a:latin typeface="+mj-lt"/>
                          <a:ea typeface="+mn-ea"/>
                          <a:cs typeface="+mn-cs"/>
                        </a:rPr>
                        <a:t>Squirrels</a:t>
                      </a:r>
                    </a:p>
                  </a:txBody>
                  <a:tcPr marL="9233" marR="9233" marT="9233" marB="0" anchor="b">
                    <a:solidFill>
                      <a:schemeClr val="accent5"/>
                    </a:solidFill>
                  </a:tcPr>
                </a:tc>
                <a:tc>
                  <a:txBody>
                    <a:bodyPr/>
                    <a:lstStyle/>
                    <a:p>
                      <a:pPr algn="ctr" fontAlgn="b">
                        <a:buNone/>
                      </a:pPr>
                      <a:r>
                        <a:rPr lang="en-US" sz="2400" b="0" i="0" u="none" strike="noStrike" dirty="0">
                          <a:solidFill>
                            <a:srgbClr val="000000"/>
                          </a:solidFill>
                          <a:effectLst/>
                          <a:latin typeface="+mj-lt"/>
                        </a:rPr>
                        <a:t>Weather</a:t>
                      </a:r>
                    </a:p>
                  </a:txBody>
                  <a:tcPr marL="9525" marR="9525" marT="9525" marB="0" anchor="b">
                    <a:solidFill>
                      <a:schemeClr val="accent5"/>
                    </a:solidFill>
                  </a:tcPr>
                </a:tc>
                <a:extLst>
                  <a:ext uri="{0D108BD9-81ED-4DB2-BD59-A6C34878D82A}">
                    <a16:rowId xmlns:a16="http://schemas.microsoft.com/office/drawing/2014/main" val="2994657855"/>
                  </a:ext>
                </a:extLst>
              </a:tr>
              <a:tr h="408839">
                <a:tc>
                  <a:txBody>
                    <a:bodyPr/>
                    <a:lstStyle/>
                    <a:p>
                      <a:pPr algn="ctr" fontAlgn="b">
                        <a:buNone/>
                      </a:pPr>
                      <a:r>
                        <a:rPr lang="en-US" sz="2400" b="0" u="none" strike="noStrike">
                          <a:solidFill>
                            <a:srgbClr val="000000"/>
                          </a:solidFill>
                          <a:effectLst/>
                          <a:latin typeface="+mj-lt"/>
                        </a:rPr>
                        <a:t>51</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12</a:t>
                      </a:r>
                    </a:p>
                  </a:txBody>
                  <a:tcPr marL="9233" marR="9233" marT="9233" marB="0" anchor="b"/>
                </a:tc>
                <a:tc>
                  <a:txBody>
                    <a:bodyPr/>
                    <a:lstStyle/>
                    <a:p>
                      <a:pPr algn="ctr" fontAlgn="b">
                        <a:buNone/>
                      </a:pPr>
                      <a:r>
                        <a:rPr lang="en-US" sz="2400" b="0" i="0" u="none" strike="noStrike">
                          <a:solidFill>
                            <a:srgbClr val="000000"/>
                          </a:solidFill>
                          <a:effectLst/>
                          <a:latin typeface="+mj-lt"/>
                        </a:rPr>
                        <a:t>43 degrees, sunny</a:t>
                      </a:r>
                    </a:p>
                  </a:txBody>
                  <a:tcPr marL="9525" marR="9525" marT="9525" marB="0" anchor="b"/>
                </a:tc>
                <a:extLst>
                  <a:ext uri="{0D108BD9-81ED-4DB2-BD59-A6C34878D82A}">
                    <a16:rowId xmlns:a16="http://schemas.microsoft.com/office/drawing/2014/main" val="3354460669"/>
                  </a:ext>
                </a:extLst>
              </a:tr>
              <a:tr h="408839">
                <a:tc>
                  <a:txBody>
                    <a:bodyPr/>
                    <a:lstStyle/>
                    <a:p>
                      <a:pPr algn="ctr" fontAlgn="b">
                        <a:buNone/>
                      </a:pPr>
                      <a:r>
                        <a:rPr lang="en-US" sz="2400" b="0" u="none" strike="noStrike">
                          <a:solidFill>
                            <a:srgbClr val="000000"/>
                          </a:solidFill>
                          <a:effectLst/>
                          <a:latin typeface="+mj-lt"/>
                        </a:rPr>
                        <a:t>30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24</a:t>
                      </a:r>
                    </a:p>
                  </a:txBody>
                  <a:tcPr marL="9233" marR="9233" marT="9233" marB="0" anchor="b"/>
                </a:tc>
                <a:tc>
                  <a:txBody>
                    <a:bodyPr/>
                    <a:lstStyle/>
                    <a:p>
                      <a:pPr algn="ctr" fontAlgn="b">
                        <a:buNone/>
                      </a:pPr>
                      <a:r>
                        <a:rPr lang="en-US" sz="2400" b="0" i="0" u="none" strike="noStrike">
                          <a:solidFill>
                            <a:srgbClr val="000000"/>
                          </a:solidFill>
                          <a:effectLst/>
                          <a:latin typeface="+mj-lt"/>
                        </a:rPr>
                        <a:t>cold, clear</a:t>
                      </a:r>
                    </a:p>
                  </a:txBody>
                  <a:tcPr marL="9525" marR="9525" marT="9525" marB="0" anchor="b"/>
                </a:tc>
                <a:extLst>
                  <a:ext uri="{0D108BD9-81ED-4DB2-BD59-A6C34878D82A}">
                    <a16:rowId xmlns:a16="http://schemas.microsoft.com/office/drawing/2014/main" val="189814044"/>
                  </a:ext>
                </a:extLst>
              </a:tr>
              <a:tr h="408839">
                <a:tc>
                  <a:txBody>
                    <a:bodyPr/>
                    <a:lstStyle/>
                    <a:p>
                      <a:pPr algn="ctr" fontAlgn="b">
                        <a:buNone/>
                      </a:pPr>
                      <a:r>
                        <a:rPr lang="en-US" sz="2400" b="0" u="none" strike="noStrike">
                          <a:solidFill>
                            <a:srgbClr val="000000"/>
                          </a:solidFill>
                          <a:effectLst/>
                          <a:latin typeface="+mj-lt"/>
                        </a:rPr>
                        <a:t>54</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16</a:t>
                      </a:r>
                    </a:p>
                  </a:txBody>
                  <a:tcPr marL="9233" marR="9233" marT="9233" marB="0" anchor="b"/>
                </a:tc>
                <a:tc>
                  <a:txBody>
                    <a:bodyPr/>
                    <a:lstStyle/>
                    <a:p>
                      <a:pPr algn="ctr" fontAlgn="b">
                        <a:buNone/>
                      </a:pPr>
                      <a:r>
                        <a:rPr lang="en-US" sz="2400" b="0" i="0" u="none" strike="noStrike">
                          <a:solidFill>
                            <a:srgbClr val="000000"/>
                          </a:solidFill>
                          <a:effectLst/>
                          <a:latin typeface="+mj-lt"/>
                        </a:rPr>
                        <a:t>43 degrees</a:t>
                      </a:r>
                    </a:p>
                  </a:txBody>
                  <a:tcPr marL="9525" marR="9525" marT="9525" marB="0" anchor="b"/>
                </a:tc>
                <a:extLst>
                  <a:ext uri="{0D108BD9-81ED-4DB2-BD59-A6C34878D82A}">
                    <a16:rowId xmlns:a16="http://schemas.microsoft.com/office/drawing/2014/main" val="1541399637"/>
                  </a:ext>
                </a:extLst>
              </a:tr>
              <a:tr h="408839">
                <a:tc>
                  <a:txBody>
                    <a:bodyPr/>
                    <a:lstStyle/>
                    <a:p>
                      <a:pPr algn="ctr" fontAlgn="b">
                        <a:buNone/>
                      </a:pPr>
                      <a:r>
                        <a:rPr lang="en-US" sz="2400" b="0" u="none" strike="noStrike">
                          <a:solidFill>
                            <a:srgbClr val="000000"/>
                          </a:solidFill>
                          <a:effectLst/>
                          <a:latin typeface="+mj-lt"/>
                        </a:rPr>
                        <a:t>30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15</a:t>
                      </a:r>
                    </a:p>
                  </a:txBody>
                  <a:tcPr marL="9233" marR="9233" marT="9233" marB="0" anchor="b"/>
                </a:tc>
                <a:tc>
                  <a:txBody>
                    <a:bodyPr/>
                    <a:lstStyle/>
                    <a:p>
                      <a:pPr algn="ctr" fontAlgn="b">
                        <a:buNone/>
                      </a:pPr>
                      <a:r>
                        <a:rPr lang="en-US" sz="2400" b="0" i="0" u="none" strike="noStrike">
                          <a:solidFill>
                            <a:srgbClr val="000000"/>
                          </a:solidFill>
                          <a:effectLst/>
                          <a:latin typeface="+mj-lt"/>
                        </a:rPr>
                        <a:t>43 degrees, clear</a:t>
                      </a:r>
                    </a:p>
                  </a:txBody>
                  <a:tcPr marL="9525" marR="9525" marT="9525" marB="0" anchor="b"/>
                </a:tc>
                <a:extLst>
                  <a:ext uri="{0D108BD9-81ED-4DB2-BD59-A6C34878D82A}">
                    <a16:rowId xmlns:a16="http://schemas.microsoft.com/office/drawing/2014/main" val="2624430705"/>
                  </a:ext>
                </a:extLst>
              </a:tr>
              <a:tr h="408839">
                <a:tc>
                  <a:txBody>
                    <a:bodyPr/>
                    <a:lstStyle/>
                    <a:p>
                      <a:pPr algn="ctr" fontAlgn="b">
                        <a:buNone/>
                      </a:pPr>
                      <a:r>
                        <a:rPr lang="en-US" sz="2400" b="0" u="none" strike="noStrike" dirty="0">
                          <a:solidFill>
                            <a:srgbClr val="000000"/>
                          </a:solidFill>
                          <a:effectLst/>
                          <a:latin typeface="+mj-lt"/>
                        </a:rPr>
                        <a:t>30</a:t>
                      </a:r>
                      <a:endParaRPr lang="en-US" sz="2400" b="0" i="0" u="none" strike="noStrike" dirty="0">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28</a:t>
                      </a:r>
                    </a:p>
                  </a:txBody>
                  <a:tcPr marL="9233" marR="9233" marT="9233" marB="0" anchor="b"/>
                </a:tc>
                <a:tc>
                  <a:txBody>
                    <a:bodyPr/>
                    <a:lstStyle/>
                    <a:p>
                      <a:pPr algn="ctr" fontAlgn="b">
                        <a:buNone/>
                      </a:pPr>
                      <a:endParaRPr lang="en-US" sz="24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3315314288"/>
                  </a:ext>
                </a:extLst>
              </a:tr>
              <a:tr h="408839">
                <a:tc>
                  <a:txBody>
                    <a:bodyPr/>
                    <a:lstStyle/>
                    <a:p>
                      <a:pPr algn="ctr" fontAlgn="b">
                        <a:buNone/>
                      </a:pPr>
                      <a:r>
                        <a:rPr lang="en-US" sz="2400" b="0" u="none" strike="noStrike">
                          <a:solidFill>
                            <a:srgbClr val="000000"/>
                          </a:solidFill>
                          <a:effectLst/>
                          <a:latin typeface="+mj-lt"/>
                        </a:rPr>
                        <a:t>30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34</a:t>
                      </a:r>
                    </a:p>
                  </a:txBody>
                  <a:tcPr marL="9233" marR="9233" marT="9233" marB="0" anchor="b"/>
                </a:tc>
                <a:tc>
                  <a:txBody>
                    <a:bodyPr/>
                    <a:lstStyle/>
                    <a:p>
                      <a:pPr algn="ctr" fontAlgn="b">
                        <a:buNone/>
                      </a:pPr>
                      <a:r>
                        <a:rPr lang="en-US" sz="2400" b="0" i="0" u="none" strike="noStrike">
                          <a:solidFill>
                            <a:srgbClr val="000000"/>
                          </a:solidFill>
                          <a:effectLst/>
                          <a:latin typeface="+mj-lt"/>
                        </a:rPr>
                        <a:t>42 degrees, clear</a:t>
                      </a:r>
                    </a:p>
                  </a:txBody>
                  <a:tcPr marL="9525" marR="9525" marT="9525" marB="0" anchor="b"/>
                </a:tc>
                <a:extLst>
                  <a:ext uri="{0D108BD9-81ED-4DB2-BD59-A6C34878D82A}">
                    <a16:rowId xmlns:a16="http://schemas.microsoft.com/office/drawing/2014/main" val="2844951594"/>
                  </a:ext>
                </a:extLst>
              </a:tr>
              <a:tr h="408839">
                <a:tc>
                  <a:txBody>
                    <a:bodyPr/>
                    <a:lstStyle/>
                    <a:p>
                      <a:pPr algn="ctr" fontAlgn="b">
                        <a:buNone/>
                      </a:pPr>
                      <a:r>
                        <a:rPr lang="en-US" sz="2400" b="0" u="none" strike="noStrike">
                          <a:solidFill>
                            <a:srgbClr val="000000"/>
                          </a:solidFill>
                          <a:effectLst/>
                          <a:latin typeface="+mj-lt"/>
                        </a:rPr>
                        <a:t>80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11</a:t>
                      </a:r>
                    </a:p>
                  </a:txBody>
                  <a:tcPr marL="9233" marR="9233" marT="9233" marB="0" anchor="b"/>
                </a:tc>
                <a:tc>
                  <a:txBody>
                    <a:bodyPr/>
                    <a:lstStyle/>
                    <a:p>
                      <a:pPr algn="ctr" fontAlgn="b">
                        <a:buNone/>
                      </a:pPr>
                      <a:r>
                        <a:rPr lang="en-US" sz="2400" b="0" i="0" u="none" strike="noStrike">
                          <a:solidFill>
                            <a:srgbClr val="000000"/>
                          </a:solidFill>
                          <a:effectLst/>
                          <a:latin typeface="+mj-lt"/>
                        </a:rPr>
                        <a:t>43 degrees, sunny</a:t>
                      </a:r>
                    </a:p>
                  </a:txBody>
                  <a:tcPr marL="9525" marR="9525" marT="9525" marB="0" anchor="b"/>
                </a:tc>
                <a:extLst>
                  <a:ext uri="{0D108BD9-81ED-4DB2-BD59-A6C34878D82A}">
                    <a16:rowId xmlns:a16="http://schemas.microsoft.com/office/drawing/2014/main" val="2939709753"/>
                  </a:ext>
                </a:extLst>
              </a:tr>
              <a:tr h="408839">
                <a:tc>
                  <a:txBody>
                    <a:bodyPr/>
                    <a:lstStyle/>
                    <a:p>
                      <a:pPr algn="ctr" fontAlgn="b">
                        <a:buNone/>
                      </a:pPr>
                      <a:r>
                        <a:rPr lang="en-US" sz="2400" b="0" u="none" strike="noStrike">
                          <a:solidFill>
                            <a:srgbClr val="000000"/>
                          </a:solidFill>
                          <a:effectLst/>
                          <a:latin typeface="+mj-lt"/>
                        </a:rPr>
                        <a:t>30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16</a:t>
                      </a:r>
                    </a:p>
                  </a:txBody>
                  <a:tcPr marL="9233" marR="9233" marT="9233" marB="0" anchor="b"/>
                </a:tc>
                <a:tc>
                  <a:txBody>
                    <a:bodyPr/>
                    <a:lstStyle/>
                    <a:p>
                      <a:pPr algn="ctr" fontAlgn="b">
                        <a:buNone/>
                      </a:pPr>
                      <a:r>
                        <a:rPr lang="en-US" sz="2400" b="0" i="0" u="none" strike="noStrike">
                          <a:solidFill>
                            <a:srgbClr val="000000"/>
                          </a:solidFill>
                          <a:effectLst/>
                          <a:latin typeface="+mj-lt"/>
                        </a:rPr>
                        <a:t>40 degrees, sunny</a:t>
                      </a:r>
                    </a:p>
                  </a:txBody>
                  <a:tcPr marL="9525" marR="9525" marT="9525" marB="0" anchor="b"/>
                </a:tc>
                <a:extLst>
                  <a:ext uri="{0D108BD9-81ED-4DB2-BD59-A6C34878D82A}">
                    <a16:rowId xmlns:a16="http://schemas.microsoft.com/office/drawing/2014/main" val="3685254134"/>
                  </a:ext>
                </a:extLst>
              </a:tr>
              <a:tr h="408839">
                <a:tc>
                  <a:txBody>
                    <a:bodyPr/>
                    <a:lstStyle/>
                    <a:p>
                      <a:pPr algn="ctr" fontAlgn="b">
                        <a:buNone/>
                      </a:pPr>
                      <a:r>
                        <a:rPr lang="en-US" sz="2400" b="0" u="none" strike="noStrike">
                          <a:solidFill>
                            <a:srgbClr val="000000"/>
                          </a:solidFill>
                          <a:effectLst/>
                          <a:latin typeface="+mj-lt"/>
                        </a:rPr>
                        <a:t>60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25</a:t>
                      </a:r>
                    </a:p>
                  </a:txBody>
                  <a:tcPr marL="9233" marR="9233" marT="9233" marB="0" anchor="b"/>
                </a:tc>
                <a:tc>
                  <a:txBody>
                    <a:bodyPr/>
                    <a:lstStyle/>
                    <a:p>
                      <a:pPr algn="ctr" fontAlgn="b">
                        <a:buNone/>
                      </a:pPr>
                      <a:r>
                        <a:rPr lang="en-US" sz="2400" b="0" i="0" u="none" strike="noStrike">
                          <a:solidFill>
                            <a:srgbClr val="000000"/>
                          </a:solidFill>
                          <a:effectLst/>
                          <a:latin typeface="+mj-lt"/>
                        </a:rPr>
                        <a:t>45 degrees, sunny</a:t>
                      </a:r>
                    </a:p>
                  </a:txBody>
                  <a:tcPr marL="9525" marR="9525" marT="9525" marB="0" anchor="b"/>
                </a:tc>
                <a:extLst>
                  <a:ext uri="{0D108BD9-81ED-4DB2-BD59-A6C34878D82A}">
                    <a16:rowId xmlns:a16="http://schemas.microsoft.com/office/drawing/2014/main" val="1661502834"/>
                  </a:ext>
                </a:extLst>
              </a:tr>
              <a:tr h="792567">
                <a:tc>
                  <a:txBody>
                    <a:bodyPr/>
                    <a:lstStyle/>
                    <a:p>
                      <a:pPr algn="ctr" fontAlgn="b">
                        <a:buNone/>
                      </a:pPr>
                      <a:r>
                        <a:rPr lang="en-US" sz="2400" b="0" u="none" strike="noStrike">
                          <a:solidFill>
                            <a:srgbClr val="000000"/>
                          </a:solidFill>
                          <a:effectLst/>
                          <a:latin typeface="+mj-lt"/>
                        </a:rPr>
                        <a:t>40</a:t>
                      </a:r>
                      <a:endParaRPr lang="en-US" sz="2400" b="0" i="0" u="none" strike="noStrike">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51</a:t>
                      </a:r>
                    </a:p>
                  </a:txBody>
                  <a:tcPr marL="9233" marR="9233" marT="9233" marB="0" anchor="b"/>
                </a:tc>
                <a:tc>
                  <a:txBody>
                    <a:bodyPr/>
                    <a:lstStyle/>
                    <a:p>
                      <a:pPr algn="ctr" fontAlgn="b">
                        <a:buNone/>
                      </a:pPr>
                      <a:r>
                        <a:rPr lang="en-US" sz="2400" b="0" i="0" u="none" strike="noStrike">
                          <a:solidFill>
                            <a:srgbClr val="000000"/>
                          </a:solidFill>
                          <a:effectLst/>
                          <a:latin typeface="+mj-lt"/>
                        </a:rPr>
                        <a:t>45 degrees, sunny with shade spots</a:t>
                      </a:r>
                    </a:p>
                  </a:txBody>
                  <a:tcPr marL="9525" marR="9525" marT="9525" marB="0" anchor="b"/>
                </a:tc>
                <a:extLst>
                  <a:ext uri="{0D108BD9-81ED-4DB2-BD59-A6C34878D82A}">
                    <a16:rowId xmlns:a16="http://schemas.microsoft.com/office/drawing/2014/main" val="622056382"/>
                  </a:ext>
                </a:extLst>
              </a:tr>
              <a:tr h="408839">
                <a:tc>
                  <a:txBody>
                    <a:bodyPr/>
                    <a:lstStyle/>
                    <a:p>
                      <a:pPr algn="ctr" fontAlgn="b">
                        <a:buNone/>
                      </a:pPr>
                      <a:r>
                        <a:rPr lang="en-US" sz="2400" b="0" u="none" strike="noStrike" dirty="0">
                          <a:solidFill>
                            <a:srgbClr val="000000"/>
                          </a:solidFill>
                          <a:effectLst/>
                          <a:latin typeface="+mj-lt"/>
                        </a:rPr>
                        <a:t>30</a:t>
                      </a:r>
                      <a:endParaRPr lang="en-US" sz="2400" b="0" i="0" u="none" strike="noStrike" dirty="0">
                        <a:solidFill>
                          <a:srgbClr val="000000"/>
                        </a:solidFill>
                        <a:effectLst/>
                        <a:latin typeface="+mj-lt"/>
                      </a:endParaRPr>
                    </a:p>
                  </a:txBody>
                  <a:tcPr marL="9233" marR="9233" marT="9233" marB="0" anchor="b"/>
                </a:tc>
                <a:tc>
                  <a:txBody>
                    <a:bodyPr/>
                    <a:lstStyle/>
                    <a:p>
                      <a:pPr algn="ctr" fontAlgn="b">
                        <a:buNone/>
                      </a:pPr>
                      <a:r>
                        <a:rPr lang="en-US" sz="2400" b="0" i="0" u="none" strike="noStrike" dirty="0">
                          <a:solidFill>
                            <a:srgbClr val="000000"/>
                          </a:solidFill>
                          <a:effectLst/>
                          <a:latin typeface="+mj-lt"/>
                        </a:rPr>
                        <a:t>59</a:t>
                      </a:r>
                    </a:p>
                  </a:txBody>
                  <a:tcPr marL="9233" marR="9233" marT="9233" marB="0" anchor="b"/>
                </a:tc>
                <a:tc>
                  <a:txBody>
                    <a:bodyPr/>
                    <a:lstStyle/>
                    <a:p>
                      <a:pPr algn="ctr" fontAlgn="b">
                        <a:buNone/>
                      </a:pPr>
                      <a:endParaRPr lang="en-US" sz="2400" b="0" i="0" u="none" strike="noStrike" dirty="0">
                        <a:solidFill>
                          <a:srgbClr val="000000"/>
                        </a:solidFill>
                        <a:effectLst/>
                        <a:latin typeface="+mj-lt"/>
                      </a:endParaRPr>
                    </a:p>
                  </a:txBody>
                  <a:tcPr marL="9525" marR="9525" marT="9525" marB="0" anchor="b"/>
                </a:tc>
                <a:extLst>
                  <a:ext uri="{0D108BD9-81ED-4DB2-BD59-A6C34878D82A}">
                    <a16:rowId xmlns:a16="http://schemas.microsoft.com/office/drawing/2014/main" val="1678968350"/>
                  </a:ext>
                </a:extLst>
              </a:tr>
            </a:tbl>
          </a:graphicData>
        </a:graphic>
      </p:graphicFrame>
    </p:spTree>
    <p:extLst>
      <p:ext uri="{BB962C8B-B14F-4D97-AF65-F5344CB8AC3E}">
        <p14:creationId xmlns:p14="http://schemas.microsoft.com/office/powerpoint/2010/main" val="2525498912"/>
      </p:ext>
    </p:extLst>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608</TotalTime>
  <Words>1848</Words>
  <Application>Microsoft Macintosh PowerPoint</Application>
  <PresentationFormat>Widescreen</PresentationFormat>
  <Paragraphs>353</Paragraphs>
  <Slides>49</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Calibri</vt:lpstr>
      <vt:lpstr>Corbel</vt:lpstr>
      <vt:lpstr>Times New Roman</vt:lpstr>
      <vt:lpstr>Wingdings</vt:lpstr>
      <vt:lpstr>Wingdings 2</vt:lpstr>
      <vt:lpstr>Frame</vt:lpstr>
      <vt:lpstr>Communicating with Data – Visual Encoding</vt:lpstr>
      <vt:lpstr>Event</vt:lpstr>
      <vt:lpstr>Plan for Today</vt:lpstr>
      <vt:lpstr>Checking in </vt:lpstr>
      <vt:lpstr>Looking forward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We tend to see what we expect to see</vt:lpstr>
      <vt:lpstr>2. Mental models form quickly, &amp; update slowly</vt:lpstr>
      <vt:lpstr>3. New information gets incorporated      into the existing model</vt:lpstr>
      <vt:lpstr>4. Initial exposure interferes with      accurate perception</vt:lpstr>
      <vt:lpstr>PowerPoint Presentation</vt:lpstr>
      <vt:lpstr>So what do we have to work with?</vt:lpstr>
      <vt:lpstr>Data</vt:lpstr>
      <vt:lpstr>Data  Visuals</vt:lpstr>
      <vt:lpstr>Data  Visuals</vt:lpstr>
      <vt:lpstr>Data  Visuals</vt:lpstr>
      <vt:lpstr>Data  Visuals</vt:lpstr>
      <vt:lpstr>Visual Channels / Dimensions</vt:lpstr>
      <vt:lpstr>Visual Channels / Dimensions</vt:lpstr>
      <vt:lpstr>Visual Channels / Dimensions</vt:lpstr>
      <vt:lpstr>Visual Channels / Dimensions</vt:lpstr>
      <vt:lpstr>Visual Channels / Dimensions</vt:lpstr>
      <vt:lpstr>Visual Channels / Dimensions</vt:lpstr>
      <vt:lpstr>Visual Channels / Dimensions</vt:lpstr>
      <vt:lpstr>Visual Channels / Dimensions</vt:lpstr>
      <vt:lpstr>Data  Visuals</vt:lpstr>
      <vt:lpstr>Data  Visuals</vt:lpstr>
      <vt:lpstr>Data  Visuals</vt:lpstr>
      <vt:lpstr>Data  Visuals</vt:lpstr>
      <vt:lpstr>Data  Visuals</vt:lpstr>
      <vt:lpstr>Data  Visuals</vt:lpstr>
      <vt:lpstr>Data  Visuals</vt:lpstr>
      <vt:lpstr>Data  Visuals</vt:lpstr>
      <vt:lpstr>Data  Visuals</vt:lpstr>
      <vt:lpstr>Data  Visuals</vt:lpstr>
      <vt:lpstr>Data  Visuals</vt:lpstr>
      <vt:lpstr>Practice</vt:lpstr>
      <vt:lpstr>Practice</vt:lpstr>
      <vt:lpstr>Practice</vt:lpstr>
      <vt:lpstr>Practice</vt:lpstr>
      <vt:lpstr>Practice</vt:lpstr>
      <vt:lpstr>Practice</vt:lpstr>
      <vt:lpstr>Practice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for Everyone – Welcome!</dc:title>
  <dc:creator>Mosca, Ab</dc:creator>
  <cp:lastModifiedBy>Ab Mosca</cp:lastModifiedBy>
  <cp:revision>35</cp:revision>
  <dcterms:created xsi:type="dcterms:W3CDTF">2023-08-03T18:49:17Z</dcterms:created>
  <dcterms:modified xsi:type="dcterms:W3CDTF">2026-09-11T11:19:38Z</dcterms:modified>
</cp:coreProperties>
</file>