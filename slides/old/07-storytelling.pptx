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852" r:id="rId1"/>
  </p:sldMasterIdLst>
  <p:notesMasterIdLst>
    <p:notesMasterId r:id="rId35"/>
  </p:notesMasterIdLst>
  <p:sldIdLst>
    <p:sldId id="256" r:id="rId2"/>
    <p:sldId id="295" r:id="rId3"/>
    <p:sldId id="257" r:id="rId4"/>
    <p:sldId id="263" r:id="rId5"/>
    <p:sldId id="264" r:id="rId6"/>
    <p:sldId id="265" r:id="rId7"/>
    <p:sldId id="266" r:id="rId8"/>
    <p:sldId id="267" r:id="rId9"/>
    <p:sldId id="268" r:id="rId10"/>
    <p:sldId id="269" r:id="rId11"/>
    <p:sldId id="270" r:id="rId12"/>
    <p:sldId id="271" r:id="rId13"/>
    <p:sldId id="272" r:id="rId14"/>
    <p:sldId id="273" r:id="rId15"/>
    <p:sldId id="293" r:id="rId16"/>
    <p:sldId id="274" r:id="rId17"/>
    <p:sldId id="276" r:id="rId18"/>
    <p:sldId id="277" r:id="rId19"/>
    <p:sldId id="278" r:id="rId20"/>
    <p:sldId id="279" r:id="rId21"/>
    <p:sldId id="280" r:id="rId22"/>
    <p:sldId id="285" r:id="rId23"/>
    <p:sldId id="286" r:id="rId24"/>
    <p:sldId id="289" r:id="rId25"/>
    <p:sldId id="288" r:id="rId26"/>
    <p:sldId id="290" r:id="rId27"/>
    <p:sldId id="291" r:id="rId28"/>
    <p:sldId id="292" r:id="rId29"/>
    <p:sldId id="281" r:id="rId30"/>
    <p:sldId id="282" r:id="rId31"/>
    <p:sldId id="283" r:id="rId32"/>
    <p:sldId id="294" r:id="rId33"/>
    <p:sldId id="284" r:id="rId3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9342"/>
    <p:restoredTop sz="71918"/>
  </p:normalViewPr>
  <p:slideViewPr>
    <p:cSldViewPr snapToGrid="0">
      <p:cViewPr varScale="1">
        <p:scale>
          <a:sx n="89" d="100"/>
          <a:sy n="89" d="100"/>
        </p:scale>
        <p:origin x="1736" y="17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ableStyles" Target="tableStyles.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notesMaster" Target="notesMasters/notesMaster1.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CBB8A52-8AC5-C74C-97FB-632C448F3674}" type="datetimeFigureOut">
              <a:rPr lang="en-US" smtClean="0"/>
              <a:t>9/10/26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666506D-5C9B-294C-B2AE-15ACE8B5B9F7}" type="slidenum">
              <a:rPr lang="en-US" smtClean="0"/>
              <a:t>‹#›</a:t>
            </a:fld>
            <a:endParaRPr lang="en-US"/>
          </a:p>
        </p:txBody>
      </p:sp>
    </p:spTree>
    <p:extLst>
      <p:ext uri="{BB962C8B-B14F-4D97-AF65-F5344CB8AC3E}">
        <p14:creationId xmlns:p14="http://schemas.microsoft.com/office/powerpoint/2010/main" val="193716142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5"/>
        <p:cNvGrpSpPr/>
        <p:nvPr/>
      </p:nvGrpSpPr>
      <p:grpSpPr>
        <a:xfrm>
          <a:off x="0" y="0"/>
          <a:ext cx="0" cy="0"/>
          <a:chOff x="0" y="0"/>
          <a:chExt cx="0" cy="0"/>
        </a:xfrm>
      </p:grpSpPr>
      <p:sp>
        <p:nvSpPr>
          <p:cNvPr id="136" name="Google Shape;136;p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7" name="Google Shape;137;p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4"/>
        <p:cNvGrpSpPr/>
        <p:nvPr/>
      </p:nvGrpSpPr>
      <p:grpSpPr>
        <a:xfrm>
          <a:off x="0" y="0"/>
          <a:ext cx="0" cy="0"/>
          <a:chOff x="0" y="0"/>
          <a:chExt cx="0" cy="0"/>
        </a:xfrm>
      </p:grpSpPr>
      <p:sp>
        <p:nvSpPr>
          <p:cNvPr id="145" name="Google Shape;145;p1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46" name="Google Shape;146;p1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8"/>
        <p:cNvGrpSpPr/>
        <p:nvPr/>
      </p:nvGrpSpPr>
      <p:grpSpPr>
        <a:xfrm>
          <a:off x="0" y="0"/>
          <a:ext cx="0" cy="0"/>
          <a:chOff x="0" y="0"/>
          <a:chExt cx="0" cy="0"/>
        </a:xfrm>
      </p:grpSpPr>
      <p:sp>
        <p:nvSpPr>
          <p:cNvPr id="159" name="Google Shape;159;p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Audience for each film?</a:t>
            </a:r>
          </a:p>
          <a:p>
            <a:pPr marL="0" lvl="0" indent="0" algn="l" rtl="0">
              <a:spcBef>
                <a:spcPts val="0"/>
              </a:spcBef>
              <a:spcAft>
                <a:spcPts val="0"/>
              </a:spcAft>
              <a:buNone/>
            </a:pPr>
            <a:r>
              <a:rPr lang="en-US" dirty="0"/>
              <a:t>Differences in story telling? (linear vs not, why would they choose one over the other?) </a:t>
            </a:r>
            <a:endParaRPr dirty="0"/>
          </a:p>
        </p:txBody>
      </p:sp>
      <p:sp>
        <p:nvSpPr>
          <p:cNvPr id="160" name="Google Shape;160;p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4"/>
        <p:cNvGrpSpPr/>
        <p:nvPr/>
      </p:nvGrpSpPr>
      <p:grpSpPr>
        <a:xfrm>
          <a:off x="0" y="0"/>
          <a:ext cx="0" cy="0"/>
          <a:chOff x="0" y="0"/>
          <a:chExt cx="0" cy="0"/>
        </a:xfrm>
      </p:grpSpPr>
      <p:sp>
        <p:nvSpPr>
          <p:cNvPr id="165" name="Google Shape;165;p1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66" name="Google Shape;166;p1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3"/>
        <p:cNvGrpSpPr/>
        <p:nvPr/>
      </p:nvGrpSpPr>
      <p:grpSpPr>
        <a:xfrm>
          <a:off x="0" y="0"/>
          <a:ext cx="0" cy="0"/>
          <a:chOff x="0" y="0"/>
          <a:chExt cx="0" cy="0"/>
        </a:xfrm>
      </p:grpSpPr>
      <p:sp>
        <p:nvSpPr>
          <p:cNvPr id="184" name="Google Shape;184;p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85" name="Google Shape;185;p1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9"/>
        <p:cNvGrpSpPr/>
        <p:nvPr/>
      </p:nvGrpSpPr>
      <p:grpSpPr>
        <a:xfrm>
          <a:off x="0" y="0"/>
          <a:ext cx="0" cy="0"/>
          <a:chOff x="0" y="0"/>
          <a:chExt cx="0" cy="0"/>
        </a:xfrm>
      </p:grpSpPr>
      <p:sp>
        <p:nvSpPr>
          <p:cNvPr id="190" name="Google Shape;190;p1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1" name="Google Shape;191;p1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6"/>
        <p:cNvGrpSpPr/>
        <p:nvPr/>
      </p:nvGrpSpPr>
      <p:grpSpPr>
        <a:xfrm>
          <a:off x="0" y="0"/>
          <a:ext cx="0" cy="0"/>
          <a:chOff x="0" y="0"/>
          <a:chExt cx="0" cy="0"/>
        </a:xfrm>
      </p:grpSpPr>
      <p:sp>
        <p:nvSpPr>
          <p:cNvPr id="197" name="Google Shape;197;p1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8" name="Google Shape;198;p1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5"/>
        <p:cNvGrpSpPr/>
        <p:nvPr/>
      </p:nvGrpSpPr>
      <p:grpSpPr>
        <a:xfrm>
          <a:off x="0" y="0"/>
          <a:ext cx="0" cy="0"/>
          <a:chOff x="0" y="0"/>
          <a:chExt cx="0" cy="0"/>
        </a:xfrm>
      </p:grpSpPr>
      <p:sp>
        <p:nvSpPr>
          <p:cNvPr id="206" name="Google Shape;206;p1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07" name="Google Shape;207;p1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8"/>
        <p:cNvGrpSpPr/>
        <p:nvPr/>
      </p:nvGrpSpPr>
      <p:grpSpPr>
        <a:xfrm>
          <a:off x="0" y="0"/>
          <a:ext cx="0" cy="0"/>
          <a:chOff x="0" y="0"/>
          <a:chExt cx="0" cy="0"/>
        </a:xfrm>
      </p:grpSpPr>
      <p:sp>
        <p:nvSpPr>
          <p:cNvPr id="219" name="Google Shape;219;p1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20" name="Google Shape;220;p1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5"/>
        <p:cNvGrpSpPr/>
        <p:nvPr/>
      </p:nvGrpSpPr>
      <p:grpSpPr>
        <a:xfrm>
          <a:off x="0" y="0"/>
          <a:ext cx="0" cy="0"/>
          <a:chOff x="0" y="0"/>
          <a:chExt cx="0" cy="0"/>
        </a:xfrm>
      </p:grpSpPr>
      <p:sp>
        <p:nvSpPr>
          <p:cNvPr id="246" name="Google Shape;246;p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47" name="Google Shape;247;p20: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200" b="0" i="0" u="none" strike="noStrike" cap="none">
              <a:solidFill>
                <a:schemeClr val="dk1"/>
              </a:solidFill>
              <a:latin typeface="Calibri"/>
              <a:ea typeface="Calibri"/>
              <a:cs typeface="Calibri"/>
              <a:sym typeface="Calibri"/>
            </a:endParaRPr>
          </a:p>
        </p:txBody>
      </p:sp>
      <p:sp>
        <p:nvSpPr>
          <p:cNvPr id="248" name="Google Shape;248;p20: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a:solidFill>
                  <a:schemeClr val="dk1"/>
                </a:solidFill>
                <a:latin typeface="Calibri"/>
                <a:ea typeface="Calibri"/>
                <a:cs typeface="Calibri"/>
                <a:sym typeface="Calibri"/>
              </a:rPr>
              <a:t>13</a:t>
            </a:fld>
            <a:endParaRPr sz="1200">
              <a:solidFill>
                <a:schemeClr val="dk1"/>
              </a:solidFill>
              <a:latin typeface="Calibri"/>
              <a:ea typeface="Calibri"/>
              <a:cs typeface="Calibri"/>
              <a:sym typeface="Calibri"/>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5"/>
        <p:cNvGrpSpPr/>
        <p:nvPr/>
      </p:nvGrpSpPr>
      <p:grpSpPr>
        <a:xfrm>
          <a:off x="0" y="0"/>
          <a:ext cx="0" cy="0"/>
          <a:chOff x="0" y="0"/>
          <a:chExt cx="0" cy="0"/>
        </a:xfrm>
      </p:grpSpPr>
      <p:sp>
        <p:nvSpPr>
          <p:cNvPr id="286" name="Google Shape;286;p2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87" name="Google Shape;287;p2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7">
          <a:extLst>
            <a:ext uri="{FF2B5EF4-FFF2-40B4-BE49-F238E27FC236}">
              <a16:creationId xmlns:a16="http://schemas.microsoft.com/office/drawing/2014/main" id="{17A6341D-10EA-3344-829E-A124A5666BE1}"/>
            </a:ext>
          </a:extLst>
        </p:cNvPr>
        <p:cNvGrpSpPr/>
        <p:nvPr/>
      </p:nvGrpSpPr>
      <p:grpSpPr>
        <a:xfrm>
          <a:off x="0" y="0"/>
          <a:ext cx="0" cy="0"/>
          <a:chOff x="0" y="0"/>
          <a:chExt cx="0" cy="0"/>
        </a:xfrm>
      </p:grpSpPr>
      <p:sp>
        <p:nvSpPr>
          <p:cNvPr id="308" name="Google Shape;308;p25:notes">
            <a:extLst>
              <a:ext uri="{FF2B5EF4-FFF2-40B4-BE49-F238E27FC236}">
                <a16:creationId xmlns:a16="http://schemas.microsoft.com/office/drawing/2014/main" id="{92050721-2E35-9485-0857-990DF24DC782}"/>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09" name="Google Shape;309;p25:notes">
            <a:extLst>
              <a:ext uri="{FF2B5EF4-FFF2-40B4-BE49-F238E27FC236}">
                <a16:creationId xmlns:a16="http://schemas.microsoft.com/office/drawing/2014/main" id="{3C6105A3-0E21-A996-482F-7978C6BBC2E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8408077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1"/>
        <p:cNvGrpSpPr/>
        <p:nvPr/>
      </p:nvGrpSpPr>
      <p:grpSpPr>
        <a:xfrm>
          <a:off x="0" y="0"/>
          <a:ext cx="0" cy="0"/>
          <a:chOff x="0" y="0"/>
          <a:chExt cx="0" cy="0"/>
        </a:xfrm>
      </p:grpSpPr>
      <p:sp>
        <p:nvSpPr>
          <p:cNvPr id="292" name="Google Shape;292;p2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Author of Slaughterhouse 5 </a:t>
            </a:r>
            <a:endParaRPr dirty="0"/>
          </a:p>
        </p:txBody>
      </p:sp>
      <p:sp>
        <p:nvSpPr>
          <p:cNvPr id="293" name="Google Shape;293;p2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7"/>
        <p:cNvGrpSpPr/>
        <p:nvPr/>
      </p:nvGrpSpPr>
      <p:grpSpPr>
        <a:xfrm>
          <a:off x="0" y="0"/>
          <a:ext cx="0" cy="0"/>
          <a:chOff x="0" y="0"/>
          <a:chExt cx="0" cy="0"/>
        </a:xfrm>
      </p:grpSpPr>
      <p:sp>
        <p:nvSpPr>
          <p:cNvPr id="308" name="Google Shape;308;p2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09" name="Google Shape;309;p2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6"/>
        <p:cNvGrpSpPr/>
        <p:nvPr/>
      </p:nvGrpSpPr>
      <p:grpSpPr>
        <a:xfrm>
          <a:off x="0" y="0"/>
          <a:ext cx="0" cy="0"/>
          <a:chOff x="0" y="0"/>
          <a:chExt cx="0" cy="0"/>
        </a:xfrm>
      </p:grpSpPr>
      <p:sp>
        <p:nvSpPr>
          <p:cNvPr id="317" name="Google Shape;317;p2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18" name="Google Shape;318;p2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3"/>
        <p:cNvGrpSpPr/>
        <p:nvPr/>
      </p:nvGrpSpPr>
      <p:grpSpPr>
        <a:xfrm>
          <a:off x="0" y="0"/>
          <a:ext cx="0" cy="0"/>
          <a:chOff x="0" y="0"/>
          <a:chExt cx="0" cy="0"/>
        </a:xfrm>
      </p:grpSpPr>
      <p:sp>
        <p:nvSpPr>
          <p:cNvPr id="354" name="Google Shape;354;p2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55" name="Google Shape;355;p2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2"/>
        <p:cNvGrpSpPr/>
        <p:nvPr/>
      </p:nvGrpSpPr>
      <p:grpSpPr>
        <a:xfrm>
          <a:off x="0" y="0"/>
          <a:ext cx="0" cy="0"/>
          <a:chOff x="0" y="0"/>
          <a:chExt cx="0" cy="0"/>
        </a:xfrm>
      </p:grpSpPr>
      <p:sp>
        <p:nvSpPr>
          <p:cNvPr id="363" name="Google Shape;363;p2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64" name="Google Shape;364;p2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1"/>
        <p:cNvGrpSpPr/>
        <p:nvPr/>
      </p:nvGrpSpPr>
      <p:grpSpPr>
        <a:xfrm>
          <a:off x="0" y="0"/>
          <a:ext cx="0" cy="0"/>
          <a:chOff x="0" y="0"/>
          <a:chExt cx="0" cy="0"/>
        </a:xfrm>
      </p:grpSpPr>
      <p:sp>
        <p:nvSpPr>
          <p:cNvPr id="372" name="Google Shape;372;p2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Why does Tufte think this is such an effective graphic? </a:t>
            </a:r>
            <a:endParaRPr dirty="0"/>
          </a:p>
        </p:txBody>
      </p:sp>
      <p:sp>
        <p:nvSpPr>
          <p:cNvPr id="373" name="Google Shape;373;p2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t>Visual structuring refers to mechanisms that communicate the overall structure of the narrative to the viewer and allow him to identify his position within the larger organization of the visualization. These design strategies help orient the viewer early on (establishing shot, checklist, consistent visual platform) and allow the viewer to track his progress through the visualization (progress bar, timeline slider).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t>Highlighting refers to visual mechanisms that help direct the viewer’s attention to particular elements in the display. This can be achieved through the use of color, motion, framing, size, audio, and more, which augment the salience of an element relative to its surroundings. Many of these strategies are also used in film, art, and comics.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t>Transition guidance concerns techniques for moving within or between visual scenes without disorienting the viewer. A common technique from film is continuity editing, though other strategies (e.g., animated transitions, object continuity, camera motion) also exist.</a:t>
            </a:r>
          </a:p>
          <a:p>
            <a:endParaRPr lang="en-US" dirty="0"/>
          </a:p>
        </p:txBody>
      </p:sp>
      <p:sp>
        <p:nvSpPr>
          <p:cNvPr id="4" name="Slide Number Placeholder 3"/>
          <p:cNvSpPr>
            <a:spLocks noGrp="1"/>
          </p:cNvSpPr>
          <p:nvPr>
            <p:ph type="sldNum" sz="quarter" idx="5"/>
          </p:nvPr>
        </p:nvSpPr>
        <p:spPr/>
        <p:txBody>
          <a:bodyPr/>
          <a:lstStyle/>
          <a:p>
            <a:fld id="{E666506D-5C9B-294C-B2AE-15ACE8B5B9F7}" type="slidenum">
              <a:rPr lang="en-US" smtClean="0"/>
              <a:t>24</a:t>
            </a:fld>
            <a:endParaRPr lang="en-US"/>
          </a:p>
        </p:txBody>
      </p:sp>
    </p:spTree>
    <p:extLst>
      <p:ext uri="{BB962C8B-B14F-4D97-AF65-F5344CB8AC3E}">
        <p14:creationId xmlns:p14="http://schemas.microsoft.com/office/powerpoint/2010/main" val="324557991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85289A-51E3-DDF0-0F1A-952D575C1F0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0A98AD4-5DAB-4A6B-3170-D245CE80CE6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89A8C3F-34F1-A849-5F86-2B3D201B31AE}"/>
              </a:ext>
            </a:extLst>
          </p:cNvPr>
          <p:cNvSpPr>
            <a:spLocks noGrp="1"/>
          </p:cNvSpPr>
          <p:nvPr>
            <p:ph type="body" idx="1"/>
          </p:nvPr>
        </p:nvSpPr>
        <p:spPr/>
        <p:txBody>
          <a:bodyPr/>
          <a:lstStyle/>
          <a:p>
            <a:r>
              <a:rPr lang="en-US" dirty="0"/>
              <a:t>must balance a narrative intended by the author with story discovery on the part of the reader.</a:t>
            </a:r>
          </a:p>
        </p:txBody>
      </p:sp>
      <p:sp>
        <p:nvSpPr>
          <p:cNvPr id="4" name="Slide Number Placeholder 3">
            <a:extLst>
              <a:ext uri="{FF2B5EF4-FFF2-40B4-BE49-F238E27FC236}">
                <a16:creationId xmlns:a16="http://schemas.microsoft.com/office/drawing/2014/main" id="{EA56AF43-C834-E6F3-A56F-8E386E967A11}"/>
              </a:ext>
            </a:extLst>
          </p:cNvPr>
          <p:cNvSpPr>
            <a:spLocks noGrp="1"/>
          </p:cNvSpPr>
          <p:nvPr>
            <p:ph type="sldNum" sz="quarter" idx="5"/>
          </p:nvPr>
        </p:nvSpPr>
        <p:spPr/>
        <p:txBody>
          <a:bodyPr/>
          <a:lstStyle/>
          <a:p>
            <a:fld id="{E666506D-5C9B-294C-B2AE-15ACE8B5B9F7}" type="slidenum">
              <a:rPr lang="en-US" smtClean="0"/>
              <a:t>25</a:t>
            </a:fld>
            <a:endParaRPr lang="en-US"/>
          </a:p>
        </p:txBody>
      </p:sp>
    </p:spTree>
    <p:extLst>
      <p:ext uri="{BB962C8B-B14F-4D97-AF65-F5344CB8AC3E}">
        <p14:creationId xmlns:p14="http://schemas.microsoft.com/office/powerpoint/2010/main" val="12520249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513C11-5463-2803-8413-FCC861E75BB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D79AC39-F6B2-F35F-BA4D-3069965B8E7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BE361ED-C046-01FE-9B0C-C2B769FBF988}"/>
              </a:ext>
            </a:extLst>
          </p:cNvPr>
          <p:cNvSpPr>
            <a:spLocks noGrp="1"/>
          </p:cNvSpPr>
          <p:nvPr>
            <p:ph type="body" idx="1"/>
          </p:nvPr>
        </p:nvSpPr>
        <p:spPr/>
        <p:txBody>
          <a:bodyPr/>
          <a:lstStyle/>
          <a:p>
            <a:r>
              <a:rPr lang="en-US" dirty="0"/>
              <a:t>must balance a narrative intended by the author with story discovery on the part of the reader.</a:t>
            </a:r>
          </a:p>
        </p:txBody>
      </p:sp>
      <p:sp>
        <p:nvSpPr>
          <p:cNvPr id="4" name="Slide Number Placeholder 3">
            <a:extLst>
              <a:ext uri="{FF2B5EF4-FFF2-40B4-BE49-F238E27FC236}">
                <a16:creationId xmlns:a16="http://schemas.microsoft.com/office/drawing/2014/main" id="{9DA8C756-BDB5-B24D-7B9F-A3C25A2BD43C}"/>
              </a:ext>
            </a:extLst>
          </p:cNvPr>
          <p:cNvSpPr>
            <a:spLocks noGrp="1"/>
          </p:cNvSpPr>
          <p:nvPr>
            <p:ph type="sldNum" sz="quarter" idx="5"/>
          </p:nvPr>
        </p:nvSpPr>
        <p:spPr/>
        <p:txBody>
          <a:bodyPr/>
          <a:lstStyle/>
          <a:p>
            <a:fld id="{E666506D-5C9B-294C-B2AE-15ACE8B5B9F7}" type="slidenum">
              <a:rPr lang="en-US" smtClean="0"/>
              <a:t>26</a:t>
            </a:fld>
            <a:endParaRPr lang="en-US"/>
          </a:p>
        </p:txBody>
      </p:sp>
    </p:spTree>
    <p:extLst>
      <p:ext uri="{BB962C8B-B14F-4D97-AF65-F5344CB8AC3E}">
        <p14:creationId xmlns:p14="http://schemas.microsoft.com/office/powerpoint/2010/main" val="2391524633"/>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90DA77-1912-8253-B2B6-77287C4A37C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BE53290-36CD-0F5C-E292-56C794633EB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28277DB-5909-3AC5-C153-2C2503E01357}"/>
              </a:ext>
            </a:extLst>
          </p:cNvPr>
          <p:cNvSpPr>
            <a:spLocks noGrp="1"/>
          </p:cNvSpPr>
          <p:nvPr>
            <p:ph type="body" idx="1"/>
          </p:nvPr>
        </p:nvSpPr>
        <p:spPr/>
        <p:txBody>
          <a:bodyPr/>
          <a:lstStyle/>
          <a:p>
            <a:r>
              <a:rPr lang="en-US" dirty="0"/>
              <a:t>must balance a narrative intended by the author with story discovery on the part of the reader.</a:t>
            </a:r>
          </a:p>
        </p:txBody>
      </p:sp>
      <p:sp>
        <p:nvSpPr>
          <p:cNvPr id="4" name="Slide Number Placeholder 3">
            <a:extLst>
              <a:ext uri="{FF2B5EF4-FFF2-40B4-BE49-F238E27FC236}">
                <a16:creationId xmlns:a16="http://schemas.microsoft.com/office/drawing/2014/main" id="{207C409E-D3D0-6912-6A20-E7E4939D6E87}"/>
              </a:ext>
            </a:extLst>
          </p:cNvPr>
          <p:cNvSpPr>
            <a:spLocks noGrp="1"/>
          </p:cNvSpPr>
          <p:nvPr>
            <p:ph type="sldNum" sz="quarter" idx="5"/>
          </p:nvPr>
        </p:nvSpPr>
        <p:spPr/>
        <p:txBody>
          <a:bodyPr/>
          <a:lstStyle/>
          <a:p>
            <a:fld id="{E666506D-5C9B-294C-B2AE-15ACE8B5B9F7}" type="slidenum">
              <a:rPr lang="en-US" smtClean="0"/>
              <a:t>27</a:t>
            </a:fld>
            <a:endParaRPr lang="en-US"/>
          </a:p>
        </p:txBody>
      </p:sp>
    </p:spTree>
    <p:extLst>
      <p:ext uri="{BB962C8B-B14F-4D97-AF65-F5344CB8AC3E}">
        <p14:creationId xmlns:p14="http://schemas.microsoft.com/office/powerpoint/2010/main" val="483585993"/>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AEF78F-73B0-FF9F-4110-F9FA85B6F72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515B814-E8E2-F285-2095-D7436ED4019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2E3C00A-01A3-F8DF-7847-B2FE11F09C83}"/>
              </a:ext>
            </a:extLst>
          </p:cNvPr>
          <p:cNvSpPr>
            <a:spLocks noGrp="1"/>
          </p:cNvSpPr>
          <p:nvPr>
            <p:ph type="body" idx="1"/>
          </p:nvPr>
        </p:nvSpPr>
        <p:spPr/>
        <p:txBody>
          <a:bodyPr/>
          <a:lstStyle/>
          <a:p>
            <a:r>
              <a:rPr lang="en-US" dirty="0"/>
              <a:t>must balance a narrative intended by the author with story discovery on the part of the reader.</a:t>
            </a:r>
          </a:p>
        </p:txBody>
      </p:sp>
      <p:sp>
        <p:nvSpPr>
          <p:cNvPr id="4" name="Slide Number Placeholder 3">
            <a:extLst>
              <a:ext uri="{FF2B5EF4-FFF2-40B4-BE49-F238E27FC236}">
                <a16:creationId xmlns:a16="http://schemas.microsoft.com/office/drawing/2014/main" id="{F5690083-F133-14F8-485C-84832809A0D3}"/>
              </a:ext>
            </a:extLst>
          </p:cNvPr>
          <p:cNvSpPr>
            <a:spLocks noGrp="1"/>
          </p:cNvSpPr>
          <p:nvPr>
            <p:ph type="sldNum" sz="quarter" idx="5"/>
          </p:nvPr>
        </p:nvSpPr>
        <p:spPr/>
        <p:txBody>
          <a:bodyPr/>
          <a:lstStyle/>
          <a:p>
            <a:fld id="{E666506D-5C9B-294C-B2AE-15ACE8B5B9F7}" type="slidenum">
              <a:rPr lang="en-US" smtClean="0"/>
              <a:t>28</a:t>
            </a:fld>
            <a:endParaRPr lang="en-US"/>
          </a:p>
        </p:txBody>
      </p:sp>
    </p:spTree>
    <p:extLst>
      <p:ext uri="{BB962C8B-B14F-4D97-AF65-F5344CB8AC3E}">
        <p14:creationId xmlns:p14="http://schemas.microsoft.com/office/powerpoint/2010/main" val="3845635875"/>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9"/>
        <p:cNvGrpSpPr/>
        <p:nvPr/>
      </p:nvGrpSpPr>
      <p:grpSpPr>
        <a:xfrm>
          <a:off x="0" y="0"/>
          <a:ext cx="0" cy="0"/>
          <a:chOff x="0" y="0"/>
          <a:chExt cx="0" cy="0"/>
        </a:xfrm>
      </p:grpSpPr>
      <p:sp>
        <p:nvSpPr>
          <p:cNvPr id="380" name="Google Shape;380;p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171450" lvl="0" indent="-171450" algn="l" rtl="0">
              <a:spcBef>
                <a:spcPts val="0"/>
              </a:spcBef>
              <a:spcAft>
                <a:spcPts val="0"/>
              </a:spcAft>
              <a:buFont typeface="Arial" panose="020B0604020202020204" pitchFamily="34" charset="0"/>
              <a:buChar char="•"/>
            </a:pPr>
            <a:r>
              <a:rPr lang="en-US" dirty="0"/>
              <a:t>Sized prominently and placed in the upper left corner of the page, the image of Bonds grabs the eye and points the viewer towards the title, establishing the topic for the rest of the graphic. </a:t>
            </a:r>
          </a:p>
          <a:p>
            <a:pPr marL="171450" lvl="0" indent="-171450" algn="l" rtl="0">
              <a:spcBef>
                <a:spcPts val="0"/>
              </a:spcBef>
              <a:spcAft>
                <a:spcPts val="0"/>
              </a:spcAft>
              <a:buFont typeface="Arial" panose="020B0604020202020204" pitchFamily="34" charset="0"/>
              <a:buChar char="•"/>
            </a:pPr>
            <a:r>
              <a:rPr lang="en-US" dirty="0"/>
              <a:t>A legend consisting of photos and text introduce Hank Aaron and Babe Ruth, previous home run leaders whose careers provide points of comparison for Bonds’ career. </a:t>
            </a:r>
          </a:p>
          <a:p>
            <a:pPr marL="171450" lvl="0" indent="-171450" algn="l" rtl="0">
              <a:spcBef>
                <a:spcPts val="0"/>
              </a:spcBef>
              <a:spcAft>
                <a:spcPts val="0"/>
              </a:spcAft>
              <a:buFont typeface="Arial" panose="020B0604020202020204" pitchFamily="34" charset="0"/>
              <a:buChar char="•"/>
            </a:pPr>
            <a:r>
              <a:rPr lang="en-US" dirty="0"/>
              <a:t>A line-chart of accumulated home runs shows the three hitters’ careers in alignment, with Bonds’ home runs accelerating at a time when the other hitters slow down.</a:t>
            </a:r>
          </a:p>
          <a:p>
            <a:pPr marL="171450" lvl="0" indent="-171450" algn="l" rtl="0">
              <a:spcBef>
                <a:spcPts val="0"/>
              </a:spcBef>
              <a:spcAft>
                <a:spcPts val="0"/>
              </a:spcAft>
              <a:buFont typeface="Arial" panose="020B0604020202020204" pitchFamily="34" charset="0"/>
              <a:buChar char="•"/>
            </a:pPr>
            <a:r>
              <a:rPr lang="en-US" dirty="0"/>
              <a:t>A shaded annotation notes that the acceleration coincides with the first reports of steroid use in Bonds’ 14th season, accompanied by a second annotation just two years later when Bond takes the lead over Ruth and Aaron. </a:t>
            </a:r>
          </a:p>
          <a:p>
            <a:pPr marL="171450" lvl="0" indent="-171450" algn="l" rtl="0">
              <a:spcBef>
                <a:spcPts val="0"/>
              </a:spcBef>
              <a:spcAft>
                <a:spcPts val="0"/>
              </a:spcAft>
              <a:buFont typeface="Arial" panose="020B0604020202020204" pitchFamily="34" charset="0"/>
              <a:buChar char="•"/>
            </a:pPr>
            <a:r>
              <a:rPr lang="en-US" dirty="0"/>
              <a:t>The shaded path then f lows to a similarly-colored inset to the right containing a comparison of each player’s home run pace after age 34, emphasizing the suspicious acceleration in Bonds’ hitting so late in his career. </a:t>
            </a:r>
          </a:p>
          <a:p>
            <a:pPr marL="171450" lvl="0" indent="-171450" algn="l" rtl="0">
              <a:spcBef>
                <a:spcPts val="0"/>
              </a:spcBef>
              <a:spcAft>
                <a:spcPts val="0"/>
              </a:spcAft>
              <a:buFont typeface="Arial" panose="020B0604020202020204" pitchFamily="34" charset="0"/>
              <a:buChar char="•"/>
            </a:pPr>
            <a:endParaRPr lang="en-US" dirty="0"/>
          </a:p>
          <a:p>
            <a:pPr marL="171450" lvl="0" indent="-171450" algn="l" rtl="0">
              <a:spcBef>
                <a:spcPts val="0"/>
              </a:spcBef>
              <a:spcAft>
                <a:spcPts val="0"/>
              </a:spcAft>
              <a:buFont typeface="Arial" panose="020B0604020202020204" pitchFamily="34" charset="0"/>
              <a:buChar char="•"/>
            </a:pPr>
            <a:r>
              <a:rPr lang="en-US" dirty="0"/>
              <a:t>The viewer may then move to other sections. </a:t>
            </a:r>
          </a:p>
          <a:p>
            <a:pPr marL="171450" lvl="0" indent="-171450" algn="l" rtl="0">
              <a:spcBef>
                <a:spcPts val="0"/>
              </a:spcBef>
              <a:spcAft>
                <a:spcPts val="0"/>
              </a:spcAft>
              <a:buFont typeface="Arial" panose="020B0604020202020204" pitchFamily="34" charset="0"/>
              <a:buChar char="•"/>
            </a:pPr>
            <a:r>
              <a:rPr lang="en-US" dirty="0"/>
              <a:t>On the right, the eye is invited by a large image of a swinging Alex Rodriguez and a bold caption noting “Others Taking Aim.” Here we see the other current players who are chasing the career home run record. </a:t>
            </a:r>
          </a:p>
          <a:p>
            <a:pPr marL="171450" lvl="0" indent="-171450" algn="l" rtl="0">
              <a:spcBef>
                <a:spcPts val="0"/>
              </a:spcBef>
              <a:spcAft>
                <a:spcPts val="0"/>
              </a:spcAft>
              <a:buFont typeface="Arial" panose="020B0604020202020204" pitchFamily="34" charset="0"/>
              <a:buChar char="•"/>
            </a:pPr>
            <a:endParaRPr lang="en-US" dirty="0"/>
          </a:p>
          <a:p>
            <a:pPr marL="171450" lvl="0" indent="-171450" algn="l" rtl="0">
              <a:spcBef>
                <a:spcPts val="0"/>
              </a:spcBef>
              <a:spcAft>
                <a:spcPts val="0"/>
              </a:spcAft>
              <a:buFont typeface="Arial" panose="020B0604020202020204" pitchFamily="34" charset="0"/>
              <a:buChar char="•"/>
            </a:pPr>
            <a:r>
              <a:rPr lang="en-US" dirty="0"/>
              <a:t>The bottom section (“Differing Paths to the Top of the Charts”), devoid of color and consisting of smaller plots, is given minimum visual priority but completes the story.</a:t>
            </a:r>
          </a:p>
          <a:p>
            <a:pPr marL="171450" lvl="0" indent="-171450" algn="l" rtl="0">
              <a:spcBef>
                <a:spcPts val="0"/>
              </a:spcBef>
              <a:spcAft>
                <a:spcPts val="0"/>
              </a:spcAft>
              <a:buFont typeface="Arial" panose="020B0604020202020204" pitchFamily="34" charset="0"/>
              <a:buChar char="•"/>
            </a:pPr>
            <a:r>
              <a:rPr lang="en-US" dirty="0"/>
              <a:t>Small multiples show the home runs per season for top players on the career home run list, each captioned by a factoid. </a:t>
            </a:r>
          </a:p>
          <a:p>
            <a:pPr marL="171450" lvl="0" indent="-171450" algn="l" rtl="0">
              <a:spcBef>
                <a:spcPts val="0"/>
              </a:spcBef>
              <a:spcAft>
                <a:spcPts val="0"/>
              </a:spcAft>
              <a:buFont typeface="Arial" panose="020B0604020202020204" pitchFamily="34" charset="0"/>
              <a:buChar char="•"/>
            </a:pPr>
            <a:endParaRPr lang="en-US" dirty="0"/>
          </a:p>
          <a:p>
            <a:pPr marL="171450" lvl="0" indent="-171450" algn="l" rtl="0">
              <a:spcBef>
                <a:spcPts val="0"/>
              </a:spcBef>
              <a:spcAft>
                <a:spcPts val="0"/>
              </a:spcAft>
              <a:buFont typeface="Arial" panose="020B0604020202020204" pitchFamily="34" charset="0"/>
              <a:buChar char="•"/>
            </a:pPr>
            <a:r>
              <a:rPr lang="en-US" dirty="0"/>
              <a:t>The visualization resembles a poster one might see at a science fair, with the space subdivided into smaller sections, each telling its own sub-story with charts, pictures, and text.</a:t>
            </a:r>
          </a:p>
          <a:p>
            <a:pPr marL="171450" lvl="0" indent="-171450" algn="l" rtl="0">
              <a:spcBef>
                <a:spcPts val="0"/>
              </a:spcBef>
              <a:spcAft>
                <a:spcPts val="0"/>
              </a:spcAft>
              <a:buFont typeface="Arial" panose="020B0604020202020204" pitchFamily="34" charset="0"/>
              <a:buChar char="•"/>
            </a:pPr>
            <a:r>
              <a:rPr lang="en-US" dirty="0"/>
              <a:t>The three sections are linked together graphically through the use of color, shape, and text. </a:t>
            </a:r>
          </a:p>
          <a:p>
            <a:pPr marL="171450" lvl="0" indent="-171450" algn="l" rtl="0">
              <a:spcBef>
                <a:spcPts val="0"/>
              </a:spcBef>
              <a:spcAft>
                <a:spcPts val="0"/>
              </a:spcAft>
              <a:buFont typeface="Arial" panose="020B0604020202020204" pitchFamily="34" charset="0"/>
              <a:buChar char="•"/>
            </a:pPr>
            <a:r>
              <a:rPr lang="en-US" dirty="0"/>
              <a:t>For example, the largest section introduces the hitters according to their order on the career home run list: Hank Aaron(blackline), Babe Ruth(green line), and Barry Bonds (red line). Subtly matching on content, the inset in this section maintains this same scheme, presenting the players in the same order with their associated colors. The section below also begins in the same order (Aaron, Ruth, Bonds) before proceeding to the other players. </a:t>
            </a:r>
          </a:p>
          <a:p>
            <a:pPr marL="171450" lvl="0" indent="-171450" algn="l" rtl="0">
              <a:spcBef>
                <a:spcPts val="0"/>
              </a:spcBef>
              <a:spcAft>
                <a:spcPts val="0"/>
              </a:spcAft>
              <a:buFont typeface="Arial" panose="020B0604020202020204" pitchFamily="34" charset="0"/>
              <a:buChar char="•"/>
            </a:pPr>
            <a:r>
              <a:rPr lang="en-US" dirty="0"/>
              <a:t>This order not only carries informational content (i.e., who has the most home runs) but also prevents the viewer from having to reorient while switching between sections. </a:t>
            </a:r>
          </a:p>
          <a:p>
            <a:pPr marL="171450" lvl="0" indent="-171450" algn="l" rtl="0">
              <a:spcBef>
                <a:spcPts val="0"/>
              </a:spcBef>
              <a:spcAft>
                <a:spcPts val="0"/>
              </a:spcAft>
              <a:buFont typeface="Arial" panose="020B0604020202020204" pitchFamily="34" charset="0"/>
              <a:buChar char="•"/>
            </a:pPr>
            <a:r>
              <a:rPr lang="en-US" dirty="0"/>
              <a:t>Finally, the section to the right charts the performance of current players over a shadow of the initial chart, a shape we immediately identify as belonging to Aaron, Ruth, and Bonds. </a:t>
            </a:r>
          </a:p>
          <a:p>
            <a:pPr marL="171450" lvl="0" indent="-171450" algn="l" rtl="0">
              <a:spcBef>
                <a:spcPts val="0"/>
              </a:spcBef>
              <a:spcAft>
                <a:spcPts val="0"/>
              </a:spcAft>
              <a:buFont typeface="Arial" panose="020B0604020202020204" pitchFamily="34" charset="0"/>
              <a:buChar char="•"/>
            </a:pPr>
            <a:endParaRPr lang="en-US" dirty="0"/>
          </a:p>
          <a:p>
            <a:pPr marL="171450" lvl="0" indent="-171450" algn="l" rtl="0">
              <a:spcBef>
                <a:spcPts val="0"/>
              </a:spcBef>
              <a:spcAft>
                <a:spcPts val="0"/>
              </a:spcAft>
              <a:buFont typeface="Arial" panose="020B0604020202020204" pitchFamily="34" charset="0"/>
              <a:buChar char="•"/>
            </a:pPr>
            <a:r>
              <a:rPr lang="en-US" dirty="0"/>
              <a:t>While these elements provide seamless transitions between sections, they do not dictate the order in which the viewer explores the visualization. Rather, a path is accomplished through the use of visual highlighting (color, size, boldness) and connecting elements such as arrows and shaded trails. When looking at the visualization, the viewer begins with the largest image, in part because of its size, central positioning, and coloring, but also because it is capped with a large headline and a picture of Bonds himself telling the viewer where to look.</a:t>
            </a:r>
            <a:endParaRPr dirty="0"/>
          </a:p>
        </p:txBody>
      </p:sp>
      <p:sp>
        <p:nvSpPr>
          <p:cNvPr id="381" name="Google Shape;381;p3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3"/>
        <p:cNvGrpSpPr/>
        <p:nvPr/>
      </p:nvGrpSpPr>
      <p:grpSpPr>
        <a:xfrm>
          <a:off x="0" y="0"/>
          <a:ext cx="0" cy="0"/>
          <a:chOff x="0" y="0"/>
          <a:chExt cx="0" cy="0"/>
        </a:xfrm>
      </p:grpSpPr>
      <p:sp>
        <p:nvSpPr>
          <p:cNvPr id="394" name="Google Shape;394;p3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What makes this effective? </a:t>
            </a:r>
            <a:endParaRPr dirty="0"/>
          </a:p>
        </p:txBody>
      </p:sp>
      <p:sp>
        <p:nvSpPr>
          <p:cNvPr id="395" name="Google Shape;395;p3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9"/>
        <p:cNvGrpSpPr/>
        <p:nvPr/>
      </p:nvGrpSpPr>
      <p:grpSpPr>
        <a:xfrm>
          <a:off x="0" y="0"/>
          <a:ext cx="0" cy="0"/>
          <a:chOff x="0" y="0"/>
          <a:chExt cx="0" cy="0"/>
        </a:xfrm>
      </p:grpSpPr>
      <p:sp>
        <p:nvSpPr>
          <p:cNvPr id="400" name="Google Shape;400;p3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01" name="Google Shape;401;p3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9">
          <a:extLst>
            <a:ext uri="{FF2B5EF4-FFF2-40B4-BE49-F238E27FC236}">
              <a16:creationId xmlns:a16="http://schemas.microsoft.com/office/drawing/2014/main" id="{F6DF9BC9-8A2D-2879-8B51-8866B7ADC13A}"/>
            </a:ext>
          </a:extLst>
        </p:cNvPr>
        <p:cNvGrpSpPr/>
        <p:nvPr/>
      </p:nvGrpSpPr>
      <p:grpSpPr>
        <a:xfrm>
          <a:off x="0" y="0"/>
          <a:ext cx="0" cy="0"/>
          <a:chOff x="0" y="0"/>
          <a:chExt cx="0" cy="0"/>
        </a:xfrm>
      </p:grpSpPr>
      <p:sp>
        <p:nvSpPr>
          <p:cNvPr id="400" name="Google Shape;400;p32:notes">
            <a:extLst>
              <a:ext uri="{FF2B5EF4-FFF2-40B4-BE49-F238E27FC236}">
                <a16:creationId xmlns:a16="http://schemas.microsoft.com/office/drawing/2014/main" id="{352A0EA3-4AA6-BC98-BC39-2ECA5E4B30B3}"/>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01" name="Google Shape;401;p32:notes">
            <a:extLst>
              <a:ext uri="{FF2B5EF4-FFF2-40B4-BE49-F238E27FC236}">
                <a16:creationId xmlns:a16="http://schemas.microsoft.com/office/drawing/2014/main" id="{C30ECEA3-A503-2709-2712-01D04FF2264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526415953"/>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5"/>
        <p:cNvGrpSpPr/>
        <p:nvPr/>
      </p:nvGrpSpPr>
      <p:grpSpPr>
        <a:xfrm>
          <a:off x="0" y="0"/>
          <a:ext cx="0" cy="0"/>
          <a:chOff x="0" y="0"/>
          <a:chExt cx="0" cy="0"/>
        </a:xfrm>
      </p:grpSpPr>
      <p:sp>
        <p:nvSpPr>
          <p:cNvPr id="406" name="Google Shape;406;p3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07" name="Google Shape;407;p3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0" y="761999"/>
            <a:ext cx="9141619" cy="533400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8" name="Rectangle 7"/>
          <p:cNvSpPr/>
          <p:nvPr/>
        </p:nvSpPr>
        <p:spPr>
          <a:xfrm>
            <a:off x="9270263" y="761999"/>
            <a:ext cx="2925318" cy="5334001"/>
          </a:xfrm>
          <a:prstGeom prst="rect">
            <a:avLst/>
          </a:prstGeom>
          <a:solidFill>
            <a:srgbClr val="C8C8C8">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Title 1"/>
          <p:cNvSpPr>
            <a:spLocks noGrp="1"/>
          </p:cNvSpPr>
          <p:nvPr>
            <p:ph type="ctrTitle"/>
          </p:nvPr>
        </p:nvSpPr>
        <p:spPr>
          <a:xfrm>
            <a:off x="1069848" y="1298448"/>
            <a:ext cx="7315200" cy="3255264"/>
          </a:xfrm>
        </p:spPr>
        <p:txBody>
          <a:bodyPr anchor="b">
            <a:normAutofit/>
          </a:bodyPr>
          <a:lstStyle>
            <a:lvl1pPr algn="l">
              <a:defRPr sz="5900" spc="-100" baseline="0">
                <a:solidFill>
                  <a:srgbClr val="FFFFFF"/>
                </a:solidFill>
              </a:defRPr>
            </a:lvl1pPr>
          </a:lstStyle>
          <a:p>
            <a:r>
              <a:rPr lang="en-US"/>
              <a:t>Click to edit Master title style</a:t>
            </a:r>
            <a:endParaRPr lang="en-US" dirty="0"/>
          </a:p>
        </p:txBody>
      </p:sp>
      <p:sp>
        <p:nvSpPr>
          <p:cNvPr id="3" name="Subtitle 2"/>
          <p:cNvSpPr>
            <a:spLocks noGrp="1"/>
          </p:cNvSpPr>
          <p:nvPr>
            <p:ph type="subTitle" idx="1"/>
          </p:nvPr>
        </p:nvSpPr>
        <p:spPr>
          <a:xfrm>
            <a:off x="1100015" y="4670246"/>
            <a:ext cx="7315200" cy="914400"/>
          </a:xfrm>
        </p:spPr>
        <p:txBody>
          <a:bodyPr anchor="t">
            <a:normAutofit/>
          </a:bodyPr>
          <a:lstStyle>
            <a:lvl1pPr marL="0" indent="0" algn="l">
              <a:buNone/>
              <a:defRPr sz="2200" cap="none" spc="0" baseline="0">
                <a:solidFill>
                  <a:schemeClr val="accent1">
                    <a:lumMod val="20000"/>
                    <a:lumOff val="80000"/>
                  </a:schemeClr>
                </a:solidFill>
              </a:defRPr>
            </a:lvl1pPr>
            <a:lvl2pPr marL="457200" indent="0" algn="ctr">
              <a:buNone/>
              <a:defRPr sz="2200"/>
            </a:lvl2pPr>
            <a:lvl3pPr marL="914400" indent="0" algn="ctr">
              <a:buNone/>
              <a:defRPr sz="22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5586B75A-687E-405C-8A0B-8D00578BA2C3}" type="datetimeFigureOut">
              <a:rPr lang="en-US" smtClean="0"/>
              <a:pPr/>
              <a:t>9/10/26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218507817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586B75A-687E-405C-8A0B-8D00578BA2C3}" type="datetimeFigureOut">
              <a:rPr lang="en-US" smtClean="0"/>
              <a:pPr/>
              <a:t>9/10/26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167686209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3867912" y="1298448"/>
            <a:ext cx="7315200" cy="3255264"/>
          </a:xfrm>
        </p:spPr>
        <p:txBody>
          <a:bodyPr anchor="b">
            <a:normAutofit/>
          </a:bodyPr>
          <a:lstStyle>
            <a:lvl1pPr>
              <a:defRPr sz="5900" b="0" spc="-100" baseline="0">
                <a:solidFill>
                  <a:schemeClr val="tx2">
                    <a:lumMod val="7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3886200" y="4672584"/>
            <a:ext cx="7315200" cy="914400"/>
          </a:xfrm>
        </p:spPr>
        <p:txBody>
          <a:bodyPr anchor="t">
            <a:normAutofit/>
          </a:bodyPr>
          <a:lstStyle>
            <a:lvl1pPr marL="0" indent="0">
              <a:buNone/>
              <a:defRPr sz="2200" cap="none" spc="0" baseline="0">
                <a:solidFill>
                  <a:schemeClr val="tx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586B75A-687E-405C-8A0B-8D00578BA2C3}" type="datetimeFigureOut">
              <a:rPr lang="en-US" smtClean="0"/>
              <a:pPr/>
              <a:t>9/10/26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281914802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3867912" y="868680"/>
            <a:ext cx="3474720" cy="5120640"/>
          </a:xfrm>
        </p:spPr>
        <p:txBody>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7818120" y="868680"/>
            <a:ext cx="3474720" cy="5120640"/>
          </a:xfrm>
        </p:spPr>
        <p:txBody>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Date Placeholder 7"/>
          <p:cNvSpPr>
            <a:spLocks noGrp="1"/>
          </p:cNvSpPr>
          <p:nvPr>
            <p:ph type="dt" sz="half" idx="10"/>
          </p:nvPr>
        </p:nvSpPr>
        <p:spPr/>
        <p:txBody>
          <a:bodyPr/>
          <a:lstStyle/>
          <a:p>
            <a:fld id="{5586B75A-687E-405C-8A0B-8D00578BA2C3}" type="datetimeFigureOut">
              <a:rPr lang="en-US" smtClean="0"/>
              <a:pPr/>
              <a:t>9/10/26</a:t>
            </a:fld>
            <a:endParaRPr lang="en-US" dirty="0"/>
          </a:p>
        </p:txBody>
      </p:sp>
      <p:sp>
        <p:nvSpPr>
          <p:cNvPr id="9" name="Footer Placeholder 8"/>
          <p:cNvSpPr>
            <a:spLocks noGrp="1"/>
          </p:cNvSpPr>
          <p:nvPr>
            <p:ph type="ftr" sz="quarter" idx="11"/>
          </p:nvPr>
        </p:nvSpPr>
        <p:spPr/>
        <p:txBody>
          <a:bodyPr/>
          <a:lstStyle/>
          <a:p>
            <a:endParaRPr lang="en-US" dirty="0"/>
          </a:p>
        </p:txBody>
      </p:sp>
      <p:sp>
        <p:nvSpPr>
          <p:cNvPr id="10" name="Slide Number Placeholder 9"/>
          <p:cNvSpPr>
            <a:spLocks noGrp="1"/>
          </p:cNvSpPr>
          <p:nvPr>
            <p:ph type="sldNum" sz="quarter" idx="12"/>
          </p:nvPr>
        </p:nvSpPr>
        <p:spPr/>
        <p:txBody>
          <a:body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19683502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3867912" y="1023586"/>
            <a:ext cx="3474720" cy="807720"/>
          </a:xfrm>
        </p:spPr>
        <p:txBody>
          <a:bodyPr anchor="b">
            <a:normAutofit/>
          </a:bodyPr>
          <a:lstStyle>
            <a:lvl1pPr marL="0" indent="0">
              <a:spcBef>
                <a:spcPts val="0"/>
              </a:spcBef>
              <a:buNone/>
              <a:defRPr sz="2000" b="1">
                <a:solidFill>
                  <a:schemeClr val="tx1">
                    <a:lumMod val="65000"/>
                    <a:lumOff val="3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3867912" y="1930936"/>
            <a:ext cx="3474720" cy="4023360"/>
          </a:xfrm>
        </p:spPr>
        <p:txBody>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7818463" y="1023586"/>
            <a:ext cx="3474720" cy="813171"/>
          </a:xfrm>
        </p:spPr>
        <p:txBody>
          <a:bodyPr anchor="b">
            <a:normAutofit/>
          </a:bodyPr>
          <a:lstStyle>
            <a:lvl1pPr marL="0" indent="0">
              <a:spcBef>
                <a:spcPts val="0"/>
              </a:spcBef>
              <a:buNone/>
              <a:defRPr sz="2000" b="1">
                <a:solidFill>
                  <a:schemeClr val="tx1">
                    <a:lumMod val="65000"/>
                    <a:lumOff val="3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7818463" y="1930936"/>
            <a:ext cx="3474720" cy="4023360"/>
          </a:xfrm>
        </p:spPr>
        <p:txBody>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Date Placeholder 1"/>
          <p:cNvSpPr>
            <a:spLocks noGrp="1"/>
          </p:cNvSpPr>
          <p:nvPr>
            <p:ph type="dt" sz="half" idx="10"/>
          </p:nvPr>
        </p:nvSpPr>
        <p:spPr/>
        <p:txBody>
          <a:bodyPr/>
          <a:lstStyle/>
          <a:p>
            <a:fld id="{5586B75A-687E-405C-8A0B-8D00578BA2C3}" type="datetimeFigureOut">
              <a:rPr lang="en-US" smtClean="0"/>
              <a:pPr/>
              <a:t>9/10/26</a:t>
            </a:fld>
            <a:endParaRPr lang="en-US" dirty="0"/>
          </a:p>
        </p:txBody>
      </p:sp>
      <p:sp>
        <p:nvSpPr>
          <p:cNvPr id="11" name="Footer Placeholder 10"/>
          <p:cNvSpPr>
            <a:spLocks noGrp="1"/>
          </p:cNvSpPr>
          <p:nvPr>
            <p:ph type="ftr" sz="quarter" idx="11"/>
          </p:nvPr>
        </p:nvSpPr>
        <p:spPr/>
        <p:txBody>
          <a:bodyPr/>
          <a:lstStyle/>
          <a:p>
            <a:endParaRPr lang="en-US" dirty="0"/>
          </a:p>
        </p:txBody>
      </p:sp>
      <p:sp>
        <p:nvSpPr>
          <p:cNvPr id="12" name="Slide Number Placeholder 11"/>
          <p:cNvSpPr>
            <a:spLocks noGrp="1"/>
          </p:cNvSpPr>
          <p:nvPr>
            <p:ph type="sldNum" sz="quarter" idx="12"/>
          </p:nvPr>
        </p:nvSpPr>
        <p:spPr/>
        <p:txBody>
          <a:body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350911670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a:t>Click to edit Master title style</a:t>
            </a:r>
            <a:endParaRPr lang="en-US" dirty="0"/>
          </a:p>
        </p:txBody>
      </p:sp>
      <p:sp>
        <p:nvSpPr>
          <p:cNvPr id="2" name="Date Placeholder 1"/>
          <p:cNvSpPr>
            <a:spLocks noGrp="1"/>
          </p:cNvSpPr>
          <p:nvPr>
            <p:ph type="dt" sz="half" idx="10"/>
          </p:nvPr>
        </p:nvSpPr>
        <p:spPr/>
        <p:txBody>
          <a:bodyPr/>
          <a:lstStyle/>
          <a:p>
            <a:fld id="{5586B75A-687E-405C-8A0B-8D00578BA2C3}" type="datetimeFigureOut">
              <a:rPr lang="en-US" smtClean="0"/>
              <a:pPr/>
              <a:t>9/10/26</a:t>
            </a:fld>
            <a:endParaRPr lang="en-US" dirty="0"/>
          </a:p>
        </p:txBody>
      </p:sp>
      <p:sp>
        <p:nvSpPr>
          <p:cNvPr id="7" name="Footer Placeholder 6"/>
          <p:cNvSpPr>
            <a:spLocks noGrp="1"/>
          </p:cNvSpPr>
          <p:nvPr>
            <p:ph type="ftr" sz="quarter" idx="11"/>
          </p:nvPr>
        </p:nvSpPr>
        <p:spPr/>
        <p:txBody>
          <a:bodyPr/>
          <a:lstStyle/>
          <a:p>
            <a:endParaRPr lang="en-US" dirty="0"/>
          </a:p>
        </p:txBody>
      </p:sp>
      <p:sp>
        <p:nvSpPr>
          <p:cNvPr id="8" name="Slide Number Placeholder 7"/>
          <p:cNvSpPr>
            <a:spLocks noGrp="1"/>
          </p:cNvSpPr>
          <p:nvPr>
            <p:ph type="sldNum" sz="quarter" idx="12"/>
          </p:nvPr>
        </p:nvSpPr>
        <p:spPr/>
        <p:txBody>
          <a:body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48682831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Date Placeholder 4"/>
          <p:cNvSpPr>
            <a:spLocks noGrp="1"/>
          </p:cNvSpPr>
          <p:nvPr>
            <p:ph type="dt" sz="half" idx="10"/>
          </p:nvPr>
        </p:nvSpPr>
        <p:spPr/>
        <p:txBody>
          <a:bodyPr/>
          <a:lstStyle/>
          <a:p>
            <a:fld id="{5586B75A-687E-405C-8A0B-8D00578BA2C3}" type="datetimeFigureOut">
              <a:rPr lang="en-US" smtClean="0"/>
              <a:pPr/>
              <a:t>9/10/26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50606856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6032" y="1143000"/>
            <a:ext cx="2834640" cy="2377440"/>
          </a:xfrm>
        </p:spPr>
        <p:txBody>
          <a:bodyPr anchor="b">
            <a:normAutofit/>
          </a:bodyPr>
          <a:lstStyle>
            <a:lvl1pPr>
              <a:defRPr sz="3200" b="0" baseline="0"/>
            </a:lvl1pPr>
          </a:lstStyle>
          <a:p>
            <a:r>
              <a:rPr lang="en-US"/>
              <a:t>Click to edit Master title style</a:t>
            </a:r>
            <a:endParaRPr lang="en-US" dirty="0"/>
          </a:p>
        </p:txBody>
      </p:sp>
      <p:sp>
        <p:nvSpPr>
          <p:cNvPr id="3" name="Content Placeholder 2"/>
          <p:cNvSpPr>
            <a:spLocks noGrp="1"/>
          </p:cNvSpPr>
          <p:nvPr>
            <p:ph idx="1"/>
          </p:nvPr>
        </p:nvSpPr>
        <p:spPr>
          <a:xfrm>
            <a:off x="3867912" y="868680"/>
            <a:ext cx="7315200" cy="5120640"/>
          </a:xfrm>
        </p:spPr>
        <p:txBody>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256032" y="3494176"/>
            <a:ext cx="2834640" cy="2321990"/>
          </a:xfrm>
        </p:spPr>
        <p:txBody>
          <a:bodyPr anchor="t">
            <a:normAutofit/>
          </a:bodyPr>
          <a:lstStyle>
            <a:lvl1pPr marL="0" indent="0">
              <a:lnSpc>
                <a:spcPct val="100000"/>
              </a:lnSpc>
              <a:buNone/>
              <a:defRPr sz="14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8" name="Date Placeholder 7"/>
          <p:cNvSpPr>
            <a:spLocks noGrp="1"/>
          </p:cNvSpPr>
          <p:nvPr>
            <p:ph type="dt" sz="half" idx="10"/>
          </p:nvPr>
        </p:nvSpPr>
        <p:spPr/>
        <p:txBody>
          <a:bodyPr/>
          <a:lstStyle/>
          <a:p>
            <a:fld id="{5586B75A-687E-405C-8A0B-8D00578BA2C3}" type="datetimeFigureOut">
              <a:rPr lang="en-US" smtClean="0"/>
              <a:pPr/>
              <a:t>9/10/26</a:t>
            </a:fld>
            <a:endParaRPr lang="en-US" dirty="0"/>
          </a:p>
        </p:txBody>
      </p:sp>
      <p:sp>
        <p:nvSpPr>
          <p:cNvPr id="9" name="Footer Placeholder 8"/>
          <p:cNvSpPr>
            <a:spLocks noGrp="1"/>
          </p:cNvSpPr>
          <p:nvPr>
            <p:ph type="ftr" sz="quarter" idx="11"/>
          </p:nvPr>
        </p:nvSpPr>
        <p:spPr/>
        <p:txBody>
          <a:bodyPr/>
          <a:lstStyle/>
          <a:p>
            <a:endParaRPr lang="en-US" dirty="0"/>
          </a:p>
        </p:txBody>
      </p:sp>
      <p:sp>
        <p:nvSpPr>
          <p:cNvPr id="10" name="Slide Number Placeholder 9"/>
          <p:cNvSpPr>
            <a:spLocks noGrp="1"/>
          </p:cNvSpPr>
          <p:nvPr>
            <p:ph type="sldNum" sz="quarter" idx="12"/>
          </p:nvPr>
        </p:nvSpPr>
        <p:spPr/>
        <p:txBody>
          <a:body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174464498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6032" y="1143000"/>
            <a:ext cx="2834640" cy="2377440"/>
          </a:xfrm>
        </p:spPr>
        <p:txBody>
          <a:bodyPr anchor="b">
            <a:normAutofit/>
          </a:bodyPr>
          <a:lstStyle>
            <a:lvl1pPr>
              <a:defRPr sz="32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3570644" y="767419"/>
            <a:ext cx="8115230" cy="5330952"/>
          </a:xfrm>
          <a:solidFill>
            <a:schemeClr val="bg1">
              <a:lumMod val="75000"/>
            </a:schemeClr>
          </a:solidFill>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256032" y="3493008"/>
            <a:ext cx="2834640" cy="2322576"/>
          </a:xfrm>
        </p:spPr>
        <p:txBody>
          <a:bodyPr anchor="t">
            <a:normAutofit/>
          </a:bodyPr>
          <a:lstStyle>
            <a:lvl1pPr marL="0" indent="0">
              <a:lnSpc>
                <a:spcPct val="100000"/>
              </a:lnSpc>
              <a:buNone/>
              <a:defRPr sz="14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8" name="Date Placeholder 7"/>
          <p:cNvSpPr>
            <a:spLocks noGrp="1"/>
          </p:cNvSpPr>
          <p:nvPr>
            <p:ph type="dt" sz="half" idx="10"/>
          </p:nvPr>
        </p:nvSpPr>
        <p:spPr/>
        <p:txBody>
          <a:bodyPr/>
          <a:lstStyle/>
          <a:p>
            <a:fld id="{5586B75A-687E-405C-8A0B-8D00578BA2C3}" type="datetimeFigureOut">
              <a:rPr lang="en-US" smtClean="0"/>
              <a:pPr/>
              <a:t>9/10/26</a:t>
            </a:fld>
            <a:endParaRPr lang="en-US" dirty="0"/>
          </a:p>
        </p:txBody>
      </p:sp>
      <p:sp>
        <p:nvSpPr>
          <p:cNvPr id="9" name="Footer Placeholder 8"/>
          <p:cNvSpPr>
            <a:spLocks noGrp="1"/>
          </p:cNvSpPr>
          <p:nvPr>
            <p:ph type="ftr" sz="quarter" idx="11"/>
          </p:nvPr>
        </p:nvSpPr>
        <p:spPr>
          <a:xfrm>
            <a:off x="3499101" y="6356350"/>
            <a:ext cx="5911517" cy="365125"/>
          </a:xfrm>
        </p:spPr>
        <p:txBody>
          <a:bodyPr/>
          <a:lstStyle/>
          <a:p>
            <a:endParaRPr lang="en-US" dirty="0"/>
          </a:p>
        </p:txBody>
      </p:sp>
      <p:sp>
        <p:nvSpPr>
          <p:cNvPr id="10" name="Slide Number Placeholder 9"/>
          <p:cNvSpPr>
            <a:spLocks noGrp="1"/>
          </p:cNvSpPr>
          <p:nvPr>
            <p:ph type="sldNum" sz="quarter" idx="12"/>
          </p:nvPr>
        </p:nvSpPr>
        <p:spPr/>
        <p:txBody>
          <a:body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272767903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5586B75A-687E-405C-8A0B-8D00578BA2C3}" type="datetimeFigureOut">
              <a:rPr lang="en-US" smtClean="0"/>
              <a:pPr/>
              <a:t>9/10/26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346685043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381000" y="990600"/>
            <a:ext cx="2819400" cy="495300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3867912" y="868680"/>
            <a:ext cx="7315200" cy="5120640"/>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5586B75A-687E-405C-8A0B-8D00578BA2C3}" type="datetimeFigureOut">
              <a:rPr lang="en-US" smtClean="0"/>
              <a:pPr/>
              <a:t>9/10/26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95822400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1" y="758952"/>
            <a:ext cx="3443590" cy="533095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Title Placeholder 1"/>
          <p:cNvSpPr>
            <a:spLocks noGrp="1"/>
          </p:cNvSpPr>
          <p:nvPr>
            <p:ph type="title"/>
          </p:nvPr>
        </p:nvSpPr>
        <p:spPr>
          <a:xfrm>
            <a:off x="252919" y="1123837"/>
            <a:ext cx="2947482" cy="460118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8" name="Rectangle 37"/>
          <p:cNvSpPr/>
          <p:nvPr/>
        </p:nvSpPr>
        <p:spPr>
          <a:xfrm>
            <a:off x="11815864" y="758952"/>
            <a:ext cx="384048" cy="5330952"/>
          </a:xfrm>
          <a:prstGeom prst="rect">
            <a:avLst/>
          </a:prstGeom>
          <a:solidFill>
            <a:srgbClr val="C8C8C8">
              <a:alpha val="4980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3" name="Text Placeholder 2"/>
          <p:cNvSpPr>
            <a:spLocks noGrp="1"/>
          </p:cNvSpPr>
          <p:nvPr>
            <p:ph type="body" idx="1"/>
          </p:nvPr>
        </p:nvSpPr>
        <p:spPr>
          <a:xfrm>
            <a:off x="3869268" y="864108"/>
            <a:ext cx="7315200" cy="5120640"/>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262465" y="6356350"/>
            <a:ext cx="2743200" cy="365125"/>
          </a:xfrm>
          <a:prstGeom prst="rect">
            <a:avLst/>
          </a:prstGeom>
        </p:spPr>
        <p:txBody>
          <a:bodyPr vert="horz" lIns="91440" tIns="45720" rIns="91440" bIns="45720" rtlCol="0" anchor="ctr"/>
          <a:lstStyle>
            <a:lvl1pPr algn="l">
              <a:defRPr sz="1100">
                <a:solidFill>
                  <a:schemeClr val="tx1">
                    <a:lumMod val="50000"/>
                    <a:lumOff val="50000"/>
                  </a:schemeClr>
                </a:solidFill>
              </a:defRPr>
            </a:lvl1pPr>
          </a:lstStyle>
          <a:p>
            <a:fld id="{5586B75A-687E-405C-8A0B-8D00578BA2C3}" type="datetimeFigureOut">
              <a:rPr lang="en-US" smtClean="0"/>
              <a:pPr/>
              <a:t>9/10/26</a:t>
            </a:fld>
            <a:endParaRPr lang="en-US" dirty="0"/>
          </a:p>
        </p:txBody>
      </p:sp>
      <p:sp>
        <p:nvSpPr>
          <p:cNvPr id="5" name="Footer Placeholder 4"/>
          <p:cNvSpPr>
            <a:spLocks noGrp="1"/>
          </p:cNvSpPr>
          <p:nvPr>
            <p:ph type="ftr" sz="quarter" idx="3"/>
          </p:nvPr>
        </p:nvSpPr>
        <p:spPr>
          <a:xfrm>
            <a:off x="3869268" y="6356350"/>
            <a:ext cx="5911517" cy="365125"/>
          </a:xfrm>
          <a:prstGeom prst="rect">
            <a:avLst/>
          </a:prstGeom>
        </p:spPr>
        <p:txBody>
          <a:bodyPr vert="horz" lIns="91440" tIns="45720" rIns="91440" bIns="45720" rtlCol="0" anchor="ctr"/>
          <a:lstStyle>
            <a:lvl1pPr algn="l">
              <a:defRPr sz="1100">
                <a:solidFill>
                  <a:schemeClr val="tx1">
                    <a:lumMod val="50000"/>
                    <a:lumOff val="50000"/>
                  </a:schemeClr>
                </a:solidFill>
              </a:defRPr>
            </a:lvl1pPr>
          </a:lstStyle>
          <a:p>
            <a:endParaRPr lang="en-US" dirty="0"/>
          </a:p>
        </p:txBody>
      </p:sp>
      <p:sp>
        <p:nvSpPr>
          <p:cNvPr id="6" name="Slide Number Placeholder 5"/>
          <p:cNvSpPr>
            <a:spLocks noGrp="1"/>
          </p:cNvSpPr>
          <p:nvPr>
            <p:ph type="sldNum" sz="quarter" idx="4"/>
          </p:nvPr>
        </p:nvSpPr>
        <p:spPr>
          <a:xfrm>
            <a:off x="10634135" y="6356350"/>
            <a:ext cx="1530927" cy="365125"/>
          </a:xfrm>
          <a:prstGeom prst="rect">
            <a:avLst/>
          </a:prstGeom>
        </p:spPr>
        <p:txBody>
          <a:bodyPr vert="horz" lIns="91440" tIns="45720" rIns="91440" bIns="45720" rtlCol="0" anchor="ctr"/>
          <a:lstStyle>
            <a:lvl1pPr algn="r">
              <a:defRPr sz="1200" b="1">
                <a:solidFill>
                  <a:schemeClr val="accent1"/>
                </a:solidFill>
              </a:defRPr>
            </a:lvl1p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3862071484"/>
      </p:ext>
    </p:extLst>
  </p:cSld>
  <p:clrMap bg1="lt1" tx1="dk1" bg2="lt2" tx2="dk2" accent1="accent1" accent2="accent2" accent3="accent3" accent4="accent4" accent5="accent5" accent6="accent6" hlink="hlink" folHlink="folHlink"/>
  <p:sldLayoutIdLst>
    <p:sldLayoutId id="2147483853" r:id="rId1"/>
    <p:sldLayoutId id="2147483854" r:id="rId2"/>
    <p:sldLayoutId id="2147483855" r:id="rId3"/>
    <p:sldLayoutId id="2147483856" r:id="rId4"/>
    <p:sldLayoutId id="2147483857" r:id="rId5"/>
    <p:sldLayoutId id="2147483858" r:id="rId6"/>
    <p:sldLayoutId id="2147483859" r:id="rId7"/>
    <p:sldLayoutId id="2147483860" r:id="rId8"/>
    <p:sldLayoutId id="2147483861" r:id="rId9"/>
    <p:sldLayoutId id="2147483862" r:id="rId10"/>
    <p:sldLayoutId id="2147483863" r:id="rId11"/>
  </p:sldLayoutIdLst>
  <p:hf sldNum="0" hdr="0" ftr="0" dt="0"/>
  <p:txStyles>
    <p:titleStyle>
      <a:lvl1pPr algn="l" defTabSz="914400" rtl="0" eaLnBrk="1" latinLnBrk="0" hangingPunct="1">
        <a:lnSpc>
          <a:spcPct val="90000"/>
        </a:lnSpc>
        <a:spcBef>
          <a:spcPct val="0"/>
        </a:spcBef>
        <a:buNone/>
        <a:defRPr sz="3600" kern="1200" spc="-60" baseline="0">
          <a:solidFill>
            <a:srgbClr val="FFFFFF"/>
          </a:solidFill>
          <a:latin typeface="+mj-lt"/>
          <a:ea typeface="+mj-ea"/>
          <a:cs typeface="+mj-cs"/>
        </a:defRPr>
      </a:lvl1pPr>
    </p:titleStyle>
    <p:bodyStyle>
      <a:lvl1pPr marL="182880" indent="-182880" algn="l" defTabSz="914400" rtl="0" eaLnBrk="1" latinLnBrk="0" hangingPunct="1">
        <a:lnSpc>
          <a:spcPct val="90000"/>
        </a:lnSpc>
        <a:spcBef>
          <a:spcPts val="1200"/>
        </a:spcBef>
        <a:buClr>
          <a:schemeClr val="accent1"/>
        </a:buClr>
        <a:buFont typeface="Wingdings 2" pitchFamily="18" charset="2"/>
        <a:buChar char=""/>
        <a:defRPr sz="2000" kern="1200">
          <a:solidFill>
            <a:schemeClr val="tx1">
              <a:lumMod val="75000"/>
              <a:lumOff val="25000"/>
            </a:schemeClr>
          </a:solidFill>
          <a:latin typeface="+mn-lt"/>
          <a:ea typeface="+mn-ea"/>
          <a:cs typeface="+mn-cs"/>
        </a:defRPr>
      </a:lvl1pPr>
      <a:lvl2pPr marL="685800" indent="-182880" algn="l" defTabSz="914400" rtl="0" eaLnBrk="1" latinLnBrk="0" hangingPunct="1">
        <a:lnSpc>
          <a:spcPct val="90000"/>
        </a:lnSpc>
        <a:spcBef>
          <a:spcPts val="250"/>
        </a:spcBef>
        <a:spcAft>
          <a:spcPts val="250"/>
        </a:spcAft>
        <a:buClr>
          <a:schemeClr val="accent1"/>
        </a:buClr>
        <a:buFont typeface="Wingdings 2" pitchFamily="18" charset="2"/>
        <a:buChar char=""/>
        <a:defRPr sz="1800" kern="1200">
          <a:solidFill>
            <a:schemeClr val="tx1">
              <a:lumMod val="75000"/>
              <a:lumOff val="25000"/>
            </a:schemeClr>
          </a:solidFill>
          <a:latin typeface="+mn-lt"/>
          <a:ea typeface="+mn-ea"/>
          <a:cs typeface="+mn-cs"/>
        </a:defRPr>
      </a:lvl2pPr>
      <a:lvl3pPr marL="1143000" indent="-182880" algn="l" defTabSz="914400" rtl="0" eaLnBrk="1" latinLnBrk="0" hangingPunct="1">
        <a:lnSpc>
          <a:spcPct val="90000"/>
        </a:lnSpc>
        <a:spcBef>
          <a:spcPts val="250"/>
        </a:spcBef>
        <a:spcAft>
          <a:spcPts val="250"/>
        </a:spcAft>
        <a:buClr>
          <a:schemeClr val="accent1"/>
        </a:buClr>
        <a:buFont typeface="Wingdings 2" pitchFamily="18" charset="2"/>
        <a:buChar char=""/>
        <a:defRPr sz="1600" kern="1200">
          <a:solidFill>
            <a:schemeClr val="tx1">
              <a:lumMod val="75000"/>
              <a:lumOff val="25000"/>
            </a:schemeClr>
          </a:solidFill>
          <a:latin typeface="+mn-lt"/>
          <a:ea typeface="+mn-ea"/>
          <a:cs typeface="+mn-cs"/>
        </a:defRPr>
      </a:lvl3pPr>
      <a:lvl4pPr marL="1600200" indent="-182880" algn="l" defTabSz="914400" rtl="0" eaLnBrk="1" latinLnBrk="0" hangingPunct="1">
        <a:lnSpc>
          <a:spcPct val="90000"/>
        </a:lnSpc>
        <a:spcBef>
          <a:spcPts val="250"/>
        </a:spcBef>
        <a:spcAft>
          <a:spcPts val="250"/>
        </a:spcAft>
        <a:buClr>
          <a:schemeClr val="accent1"/>
        </a:buClr>
        <a:buFont typeface="Wingdings 2" pitchFamily="18" charset="2"/>
        <a:buChar char=""/>
        <a:defRPr sz="1400" kern="1200">
          <a:solidFill>
            <a:schemeClr val="tx1">
              <a:lumMod val="75000"/>
              <a:lumOff val="25000"/>
            </a:schemeClr>
          </a:solidFill>
          <a:latin typeface="+mn-lt"/>
          <a:ea typeface="+mn-ea"/>
          <a:cs typeface="+mn-cs"/>
        </a:defRPr>
      </a:lvl4pPr>
      <a:lvl5pPr marL="2057400" indent="-182880" algn="l" defTabSz="914400" rtl="0" eaLnBrk="1" latinLnBrk="0" hangingPunct="1">
        <a:lnSpc>
          <a:spcPct val="90000"/>
        </a:lnSpc>
        <a:spcBef>
          <a:spcPts val="250"/>
        </a:spcBef>
        <a:spcAft>
          <a:spcPts val="250"/>
        </a:spcAft>
        <a:buClr>
          <a:schemeClr val="accent1"/>
        </a:buClr>
        <a:buFont typeface="Wingdings 2" pitchFamily="18" charset="2"/>
        <a:buChar char=""/>
        <a:defRPr sz="1400" kern="1200">
          <a:solidFill>
            <a:schemeClr val="tx1">
              <a:lumMod val="75000"/>
              <a:lumOff val="25000"/>
            </a:schemeClr>
          </a:solidFill>
          <a:latin typeface="+mn-lt"/>
          <a:ea typeface="+mn-ea"/>
          <a:cs typeface="+mn-cs"/>
        </a:defRPr>
      </a:lvl5pPr>
      <a:lvl6pPr marL="2514600" indent="-228600" algn="l" defTabSz="914400" rtl="0" eaLnBrk="1" latinLnBrk="0" hangingPunct="1">
        <a:lnSpc>
          <a:spcPct val="90000"/>
        </a:lnSpc>
        <a:spcBef>
          <a:spcPts val="250"/>
        </a:spcBef>
        <a:spcAft>
          <a:spcPts val="250"/>
        </a:spcAft>
        <a:buClr>
          <a:schemeClr val="accent1"/>
        </a:buClr>
        <a:buFont typeface="Wingdings 2" pitchFamily="18" charset="2"/>
        <a:buChar char=""/>
        <a:defRPr sz="1400" kern="1200">
          <a:solidFill>
            <a:schemeClr val="tx1">
              <a:lumMod val="75000"/>
              <a:lumOff val="25000"/>
            </a:schemeClr>
          </a:solidFill>
          <a:latin typeface="+mn-lt"/>
          <a:ea typeface="+mn-ea"/>
          <a:cs typeface="+mn-cs"/>
        </a:defRPr>
      </a:lvl6pPr>
      <a:lvl7pPr marL="2971800" indent="-228600" algn="l" defTabSz="914400" rtl="0" eaLnBrk="1" latinLnBrk="0" hangingPunct="1">
        <a:lnSpc>
          <a:spcPct val="90000"/>
        </a:lnSpc>
        <a:spcBef>
          <a:spcPts val="250"/>
        </a:spcBef>
        <a:spcAft>
          <a:spcPts val="250"/>
        </a:spcAft>
        <a:buClr>
          <a:schemeClr val="accent1"/>
        </a:buClr>
        <a:buFont typeface="Wingdings 2" pitchFamily="18" charset="2"/>
        <a:buChar char=""/>
        <a:defRPr sz="1400" kern="1200">
          <a:solidFill>
            <a:schemeClr val="tx1">
              <a:lumMod val="75000"/>
              <a:lumOff val="25000"/>
            </a:schemeClr>
          </a:solidFill>
          <a:latin typeface="+mn-lt"/>
          <a:ea typeface="+mn-ea"/>
          <a:cs typeface="+mn-cs"/>
        </a:defRPr>
      </a:lvl7pPr>
      <a:lvl8pPr marL="3429000" indent="-228600" algn="l" defTabSz="914400" rtl="0" eaLnBrk="1" latinLnBrk="0" hangingPunct="1">
        <a:lnSpc>
          <a:spcPct val="90000"/>
        </a:lnSpc>
        <a:spcBef>
          <a:spcPts val="250"/>
        </a:spcBef>
        <a:spcAft>
          <a:spcPts val="250"/>
        </a:spcAft>
        <a:buClr>
          <a:schemeClr val="accent1"/>
        </a:buClr>
        <a:buFont typeface="Wingdings 2" pitchFamily="18" charset="2"/>
        <a:buChar char=""/>
        <a:defRPr sz="1400" kern="1200">
          <a:solidFill>
            <a:schemeClr val="tx1">
              <a:lumMod val="75000"/>
              <a:lumOff val="25000"/>
            </a:schemeClr>
          </a:solidFill>
          <a:latin typeface="+mn-lt"/>
          <a:ea typeface="+mn-ea"/>
          <a:cs typeface="+mn-cs"/>
        </a:defRPr>
      </a:lvl8pPr>
      <a:lvl9pPr marL="3886200" indent="-228600" algn="l" defTabSz="914400" rtl="0" eaLnBrk="1" latinLnBrk="0" hangingPunct="1">
        <a:lnSpc>
          <a:spcPct val="90000"/>
        </a:lnSpc>
        <a:spcBef>
          <a:spcPts val="250"/>
        </a:spcBef>
        <a:spcAft>
          <a:spcPts val="250"/>
        </a:spcAft>
        <a:buClr>
          <a:schemeClr val="accent1"/>
        </a:buClr>
        <a:buFont typeface="Wingdings 2" pitchFamily="18" charset="2"/>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hyperlink" Target="https://jcrouser.github.io/" TargetMode="Externa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3.jpe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2.xml"/><Relationship Id="rId5" Type="http://schemas.openxmlformats.org/officeDocument/2006/relationships/image" Target="../media/image5.png"/><Relationship Id="rId4" Type="http://schemas.openxmlformats.org/officeDocument/2006/relationships/image" Target="../media/image6.png"/></Relationships>
</file>

<file path=ppt/slides/_rels/slide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7.xml"/><Relationship Id="rId1" Type="http://schemas.openxmlformats.org/officeDocument/2006/relationships/slideLayout" Target="../slideLayouts/slideLayout2.xml"/><Relationship Id="rId5" Type="http://schemas.openxmlformats.org/officeDocument/2006/relationships/image" Target="../media/image5.png"/><Relationship Id="rId4" Type="http://schemas.openxmlformats.org/officeDocument/2006/relationships/image" Target="../media/image4.png"/></Relationships>
</file>

<file path=ppt/slides/_rels/slide1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8.xml"/><Relationship Id="rId1" Type="http://schemas.openxmlformats.org/officeDocument/2006/relationships/slideLayout" Target="../slideLayouts/slideLayout2.xml"/><Relationship Id="rId5" Type="http://schemas.openxmlformats.org/officeDocument/2006/relationships/image" Target="../media/image5.png"/><Relationship Id="rId4" Type="http://schemas.openxmlformats.org/officeDocument/2006/relationships/image" Target="../media/image7.png"/></Relationships>
</file>

<file path=ppt/slides/_rels/slide1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9.xml"/><Relationship Id="rId1" Type="http://schemas.openxmlformats.org/officeDocument/2006/relationships/slideLayout" Target="../slideLayouts/slideLayout2.xml"/><Relationship Id="rId5" Type="http://schemas.openxmlformats.org/officeDocument/2006/relationships/image" Target="../media/image5.png"/><Relationship Id="rId4" Type="http://schemas.openxmlformats.org/officeDocument/2006/relationships/image" Target="../media/image7.png"/></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2.xml"/><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1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3.xml"/><Relationship Id="rId1" Type="http://schemas.openxmlformats.org/officeDocument/2006/relationships/slideLayout" Target="../slideLayouts/slideLayout2.xml"/><Relationship Id="rId4" Type="http://schemas.openxmlformats.org/officeDocument/2006/relationships/image" Target="../media/image12.png"/></Relationships>
</file>

<file path=ppt/slides/_rels/slide1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4.xml"/><Relationship Id="rId1" Type="http://schemas.openxmlformats.org/officeDocument/2006/relationships/slideLayout" Target="../slideLayouts/slideLayout2.xml"/><Relationship Id="rId5" Type="http://schemas.openxmlformats.org/officeDocument/2006/relationships/image" Target="../media/image11.png"/><Relationship Id="rId4" Type="http://schemas.openxmlformats.org/officeDocument/2006/relationships/image" Target="../media/image9.png"/></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16.svg"/><Relationship Id="rId7" Type="http://schemas.openxmlformats.org/officeDocument/2006/relationships/image" Target="../media/image20.svg"/><Relationship Id="rId2" Type="http://schemas.openxmlformats.org/officeDocument/2006/relationships/notesSlide" Target="../notesSlides/notesSlide19.xml"/><Relationship Id="rId1" Type="http://schemas.openxmlformats.org/officeDocument/2006/relationships/slideLayout" Target="../slideLayouts/slideLayout2.xml"/><Relationship Id="rId6" Type="http://schemas.openxmlformats.org/officeDocument/2006/relationships/image" Target="../media/image19.svg"/><Relationship Id="rId5" Type="http://schemas.openxmlformats.org/officeDocument/2006/relationships/image" Target="../media/image18.svg"/><Relationship Id="rId4" Type="http://schemas.openxmlformats.org/officeDocument/2006/relationships/image" Target="../media/image17.svg"/></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21.svg"/><Relationship Id="rId2" Type="http://schemas.openxmlformats.org/officeDocument/2006/relationships/notesSlide" Target="../notesSlides/notesSlide21.xml"/><Relationship Id="rId1" Type="http://schemas.openxmlformats.org/officeDocument/2006/relationships/slideLayout" Target="../slideLayouts/slideLayout2.xml"/><Relationship Id="rId4" Type="http://schemas.openxmlformats.org/officeDocument/2006/relationships/image" Target="../media/image22.svg"/></Relationships>
</file>

<file path=ppt/slides/_rels/slide27.xml.rels><?xml version="1.0" encoding="UTF-8" standalone="yes"?>
<Relationships xmlns="http://schemas.openxmlformats.org/package/2006/relationships"><Relationship Id="rId3" Type="http://schemas.openxmlformats.org/officeDocument/2006/relationships/image" Target="../media/image23.svg"/><Relationship Id="rId2" Type="http://schemas.openxmlformats.org/officeDocument/2006/relationships/notesSlide" Target="../notesSlides/notesSlide22.xml"/><Relationship Id="rId1" Type="http://schemas.openxmlformats.org/officeDocument/2006/relationships/slideLayout" Target="../slideLayouts/slideLayout2.xml"/><Relationship Id="rId5" Type="http://schemas.openxmlformats.org/officeDocument/2006/relationships/image" Target="../media/image25.svg"/><Relationship Id="rId4" Type="http://schemas.openxmlformats.org/officeDocument/2006/relationships/image" Target="../media/image24.svg"/></Relationships>
</file>

<file path=ppt/slides/_rels/slide28.xml.rels><?xml version="1.0" encoding="UTF-8" standalone="yes"?>
<Relationships xmlns="http://schemas.openxmlformats.org/package/2006/relationships"><Relationship Id="rId8" Type="http://schemas.openxmlformats.org/officeDocument/2006/relationships/image" Target="../media/image31.svg"/><Relationship Id="rId13" Type="http://schemas.openxmlformats.org/officeDocument/2006/relationships/image" Target="../media/image36.svg"/><Relationship Id="rId3" Type="http://schemas.openxmlformats.org/officeDocument/2006/relationships/image" Target="../media/image26.svg"/><Relationship Id="rId7" Type="http://schemas.openxmlformats.org/officeDocument/2006/relationships/image" Target="../media/image30.svg"/><Relationship Id="rId12" Type="http://schemas.openxmlformats.org/officeDocument/2006/relationships/image" Target="../media/image35.svg"/><Relationship Id="rId2" Type="http://schemas.openxmlformats.org/officeDocument/2006/relationships/notesSlide" Target="../notesSlides/notesSlide23.xml"/><Relationship Id="rId1" Type="http://schemas.openxmlformats.org/officeDocument/2006/relationships/slideLayout" Target="../slideLayouts/slideLayout2.xml"/><Relationship Id="rId6" Type="http://schemas.openxmlformats.org/officeDocument/2006/relationships/image" Target="../media/image29.svg"/><Relationship Id="rId11" Type="http://schemas.openxmlformats.org/officeDocument/2006/relationships/image" Target="../media/image34.svg"/><Relationship Id="rId5" Type="http://schemas.openxmlformats.org/officeDocument/2006/relationships/image" Target="../media/image28.svg"/><Relationship Id="rId10" Type="http://schemas.openxmlformats.org/officeDocument/2006/relationships/image" Target="../media/image33.svg"/><Relationship Id="rId4" Type="http://schemas.openxmlformats.org/officeDocument/2006/relationships/image" Target="../media/image27.svg"/><Relationship Id="rId9" Type="http://schemas.openxmlformats.org/officeDocument/2006/relationships/image" Target="../media/image32.svg"/></Relationships>
</file>

<file path=ppt/slides/_rels/slide29.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hyperlink" Target="https://www.nytimes.com/interactive/2023/us/covid-cases.html" TargetMode="External"/><Relationship Id="rId2" Type="http://schemas.openxmlformats.org/officeDocument/2006/relationships/notesSlide" Target="../notesSlides/notesSlide26.xml"/><Relationship Id="rId1" Type="http://schemas.openxmlformats.org/officeDocument/2006/relationships/slideLayout" Target="../slideLayouts/slideLayout2.xml"/><Relationship Id="rId4" Type="http://schemas.openxmlformats.org/officeDocument/2006/relationships/image" Target="../media/image39.png"/></Relationships>
</file>

<file path=ppt/slides/_rels/slide32.xml.rels><?xml version="1.0" encoding="UTF-8" standalone="yes"?>
<Relationships xmlns="http://schemas.openxmlformats.org/package/2006/relationships"><Relationship Id="rId3" Type="http://schemas.openxmlformats.org/officeDocument/2006/relationships/hyperlink" Target="https://shiny.posit.co/r/gallery/life-sciences/hospital-data-antimicrobial/" TargetMode="External"/><Relationship Id="rId2" Type="http://schemas.openxmlformats.org/officeDocument/2006/relationships/notesSlide" Target="../notesSlides/notesSlide27.xml"/><Relationship Id="rId1" Type="http://schemas.openxmlformats.org/officeDocument/2006/relationships/slideLayout" Target="../slideLayouts/slideLayout2.xml"/><Relationship Id="rId4" Type="http://schemas.openxmlformats.org/officeDocument/2006/relationships/image" Target="../media/image40.png"/></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166711-FD41-BF2C-3200-E86657F1099A}"/>
              </a:ext>
            </a:extLst>
          </p:cNvPr>
          <p:cNvSpPr>
            <a:spLocks noGrp="1"/>
          </p:cNvSpPr>
          <p:nvPr>
            <p:ph type="ctrTitle"/>
          </p:nvPr>
        </p:nvSpPr>
        <p:spPr/>
        <p:txBody>
          <a:bodyPr>
            <a:normAutofit/>
          </a:bodyPr>
          <a:lstStyle/>
          <a:p>
            <a:r>
              <a:rPr lang="en-US" dirty="0"/>
              <a:t>Communicating with Data – Storytelling</a:t>
            </a:r>
          </a:p>
        </p:txBody>
      </p:sp>
      <p:sp>
        <p:nvSpPr>
          <p:cNvPr id="3" name="Subtitle 2">
            <a:extLst>
              <a:ext uri="{FF2B5EF4-FFF2-40B4-BE49-F238E27FC236}">
                <a16:creationId xmlns:a16="http://schemas.microsoft.com/office/drawing/2014/main" id="{D0BE8CA1-49DD-7D0B-3796-B4A0CE9405C0}"/>
              </a:ext>
            </a:extLst>
          </p:cNvPr>
          <p:cNvSpPr>
            <a:spLocks noGrp="1"/>
          </p:cNvSpPr>
          <p:nvPr>
            <p:ph type="subTitle" idx="1"/>
          </p:nvPr>
        </p:nvSpPr>
        <p:spPr/>
        <p:txBody>
          <a:bodyPr/>
          <a:lstStyle/>
          <a:p>
            <a:r>
              <a:rPr lang="en-US" dirty="0"/>
              <a:t>Dr. Ab Mosca (they/them) </a:t>
            </a:r>
          </a:p>
        </p:txBody>
      </p:sp>
      <p:sp>
        <p:nvSpPr>
          <p:cNvPr id="5" name="TextBox 4">
            <a:extLst>
              <a:ext uri="{FF2B5EF4-FFF2-40B4-BE49-F238E27FC236}">
                <a16:creationId xmlns:a16="http://schemas.microsoft.com/office/drawing/2014/main" id="{51C47612-0F01-5A1D-003F-59C048DD3D08}"/>
              </a:ext>
            </a:extLst>
          </p:cNvPr>
          <p:cNvSpPr txBox="1"/>
          <p:nvPr/>
        </p:nvSpPr>
        <p:spPr>
          <a:xfrm>
            <a:off x="2286000" y="6342185"/>
            <a:ext cx="7444410" cy="369332"/>
          </a:xfrm>
          <a:prstGeom prst="rect">
            <a:avLst/>
          </a:prstGeom>
          <a:noFill/>
        </p:spPr>
        <p:txBody>
          <a:bodyPr wrap="none" rtlCol="0">
            <a:spAutoFit/>
          </a:bodyPr>
          <a:lstStyle/>
          <a:p>
            <a:r>
              <a:rPr lang="en-US" dirty="0"/>
              <a:t>Slides based off slides courtesy of Jordan Crouser (</a:t>
            </a:r>
            <a:r>
              <a:rPr lang="en-US" dirty="0">
                <a:hlinkClick r:id="rId2"/>
              </a:rPr>
              <a:t>https://jcrouser.github.io/</a:t>
            </a:r>
            <a:r>
              <a:rPr lang="en-US" dirty="0"/>
              <a:t>) </a:t>
            </a:r>
          </a:p>
        </p:txBody>
      </p:sp>
    </p:spTree>
    <p:extLst>
      <p:ext uri="{BB962C8B-B14F-4D97-AF65-F5344CB8AC3E}">
        <p14:creationId xmlns:p14="http://schemas.microsoft.com/office/powerpoint/2010/main" val="290532319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2BEF4F-181F-C70B-4AB4-08E7CA652480}"/>
              </a:ext>
            </a:extLst>
          </p:cNvPr>
          <p:cNvSpPr>
            <a:spLocks noGrp="1"/>
          </p:cNvSpPr>
          <p:nvPr>
            <p:ph type="title"/>
          </p:nvPr>
        </p:nvSpPr>
        <p:spPr/>
        <p:txBody>
          <a:bodyPr/>
          <a:lstStyle/>
          <a:p>
            <a:r>
              <a:rPr lang="en-US"/>
              <a:t>ADD EXAMPLES FROM AMPLIFY PANELISTS</a:t>
            </a:r>
          </a:p>
        </p:txBody>
      </p:sp>
      <p:sp>
        <p:nvSpPr>
          <p:cNvPr id="3" name="Text Placeholder 2">
            <a:extLst>
              <a:ext uri="{FF2B5EF4-FFF2-40B4-BE49-F238E27FC236}">
                <a16:creationId xmlns:a16="http://schemas.microsoft.com/office/drawing/2014/main" id="{181085DC-81FF-5EF7-EAE6-EC300D4AD804}"/>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345094402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D330C2-52A4-1ABA-980B-56FBC97F350C}"/>
              </a:ext>
            </a:extLst>
          </p:cNvPr>
          <p:cNvSpPr>
            <a:spLocks noGrp="1"/>
          </p:cNvSpPr>
          <p:nvPr>
            <p:ph type="title"/>
          </p:nvPr>
        </p:nvSpPr>
        <p:spPr/>
        <p:txBody>
          <a:bodyPr/>
          <a:lstStyle/>
          <a:p>
            <a:r>
              <a:rPr lang="en-US" dirty="0"/>
              <a:t>Plan for Today</a:t>
            </a:r>
          </a:p>
        </p:txBody>
      </p:sp>
      <p:sp>
        <p:nvSpPr>
          <p:cNvPr id="3" name="Content Placeholder 2">
            <a:extLst>
              <a:ext uri="{FF2B5EF4-FFF2-40B4-BE49-F238E27FC236}">
                <a16:creationId xmlns:a16="http://schemas.microsoft.com/office/drawing/2014/main" id="{9EAE50F6-429C-715A-C25C-1C7744AED1CF}"/>
              </a:ext>
            </a:extLst>
          </p:cNvPr>
          <p:cNvSpPr>
            <a:spLocks noGrp="1"/>
          </p:cNvSpPr>
          <p:nvPr>
            <p:ph idx="1"/>
          </p:nvPr>
        </p:nvSpPr>
        <p:spPr/>
        <p:txBody>
          <a:bodyPr>
            <a:normAutofit/>
          </a:bodyPr>
          <a:lstStyle/>
          <a:p>
            <a:pPr marL="182880" marR="0" lvl="0" indent="-182880" algn="l" defTabSz="914400" rtl="0" eaLnBrk="1" fontAlgn="auto" latinLnBrk="0" hangingPunct="1">
              <a:lnSpc>
                <a:spcPct val="100000"/>
              </a:lnSpc>
              <a:spcBef>
                <a:spcPts val="0"/>
              </a:spcBef>
              <a:spcAft>
                <a:spcPts val="0"/>
              </a:spcAft>
              <a:buClr>
                <a:srgbClr val="93A299"/>
              </a:buClr>
              <a:buSzPts val="2040"/>
              <a:buFont typeface="Arial"/>
              <a:buChar char="•"/>
              <a:tabLst/>
              <a:defRPr/>
            </a:pPr>
            <a:r>
              <a:rPr lang="en-US" sz="2400" kern="0" dirty="0">
                <a:ea typeface="Arial"/>
                <a:cs typeface="Arial"/>
                <a:sym typeface="Arial"/>
              </a:rPr>
              <a:t>Narrative structures</a:t>
            </a:r>
          </a:p>
          <a:p>
            <a:pPr marL="182880" marR="0" lvl="0" indent="-182880" algn="l" defTabSz="914400" rtl="0" eaLnBrk="1" fontAlgn="auto" latinLnBrk="0" hangingPunct="1">
              <a:lnSpc>
                <a:spcPct val="100000"/>
              </a:lnSpc>
              <a:spcBef>
                <a:spcPts val="0"/>
              </a:spcBef>
              <a:spcAft>
                <a:spcPts val="0"/>
              </a:spcAft>
              <a:buClr>
                <a:srgbClr val="93A299"/>
              </a:buClr>
              <a:buSzPts val="2040"/>
              <a:buFont typeface="Arial"/>
              <a:buChar char="•"/>
              <a:tabLst/>
              <a:defRPr/>
            </a:pPr>
            <a:r>
              <a:rPr lang="en-US" sz="2400" kern="0" dirty="0">
                <a:ea typeface="Arial"/>
                <a:cs typeface="Arial"/>
                <a:sym typeface="Arial"/>
              </a:rPr>
              <a:t>Narrative structures in visualization</a:t>
            </a:r>
          </a:p>
          <a:p>
            <a:pPr marL="182880" marR="0" lvl="0" indent="-182880" algn="l" defTabSz="914400" rtl="0" eaLnBrk="1" fontAlgn="auto" latinLnBrk="0" hangingPunct="1">
              <a:lnSpc>
                <a:spcPct val="100000"/>
              </a:lnSpc>
              <a:spcBef>
                <a:spcPts val="0"/>
              </a:spcBef>
              <a:spcAft>
                <a:spcPts val="0"/>
              </a:spcAft>
              <a:buClr>
                <a:srgbClr val="93A299"/>
              </a:buClr>
              <a:buSzPts val="2040"/>
              <a:buFont typeface="Arial"/>
              <a:buChar char="•"/>
              <a:tabLst/>
              <a:defRPr/>
            </a:pPr>
            <a:r>
              <a:rPr lang="en-US" sz="2400" kern="0" dirty="0">
                <a:ea typeface="Arial"/>
                <a:cs typeface="Arial"/>
                <a:sym typeface="Arial"/>
              </a:rPr>
              <a:t>Roles of the reader and the author </a:t>
            </a:r>
          </a:p>
        </p:txBody>
      </p:sp>
    </p:spTree>
    <p:extLst>
      <p:ext uri="{BB962C8B-B14F-4D97-AF65-F5344CB8AC3E}">
        <p14:creationId xmlns:p14="http://schemas.microsoft.com/office/powerpoint/2010/main" val="108554616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38"/>
        <p:cNvGrpSpPr/>
        <p:nvPr/>
      </p:nvGrpSpPr>
      <p:grpSpPr>
        <a:xfrm>
          <a:off x="0" y="0"/>
          <a:ext cx="0" cy="0"/>
          <a:chOff x="0" y="0"/>
          <a:chExt cx="0" cy="0"/>
        </a:xfrm>
      </p:grpSpPr>
      <p:pic>
        <p:nvPicPr>
          <p:cNvPr id="140" name="Google Shape;140;p20"/>
          <p:cNvPicPr preferRelativeResize="0">
            <a:picLocks noGrp="1"/>
          </p:cNvPicPr>
          <p:nvPr>
            <p:ph type="body" idx="1"/>
          </p:nvPr>
        </p:nvPicPr>
        <p:blipFill rotWithShape="1">
          <a:blip r:embed="rId3">
            <a:alphaModFix/>
          </a:blip>
          <a:srcRect t="-24610" b="-24609"/>
          <a:stretch/>
        </p:blipFill>
        <p:spPr>
          <a:xfrm>
            <a:off x="3519055" y="1123837"/>
            <a:ext cx="8229600" cy="4876800"/>
          </a:xfrm>
          <a:prstGeom prst="rect">
            <a:avLst/>
          </a:prstGeom>
          <a:noFill/>
          <a:ln>
            <a:noFill/>
          </a:ln>
        </p:spPr>
      </p:pic>
      <p:sp>
        <p:nvSpPr>
          <p:cNvPr id="4" name="Title 1">
            <a:extLst>
              <a:ext uri="{FF2B5EF4-FFF2-40B4-BE49-F238E27FC236}">
                <a16:creationId xmlns:a16="http://schemas.microsoft.com/office/drawing/2014/main" id="{52DCE147-3A90-C806-7FF5-A13D845BFFA7}"/>
              </a:ext>
            </a:extLst>
          </p:cNvPr>
          <p:cNvSpPr txBox="1">
            <a:spLocks/>
          </p:cNvSpPr>
          <p:nvPr/>
        </p:nvSpPr>
        <p:spPr>
          <a:xfrm>
            <a:off x="252919" y="1123837"/>
            <a:ext cx="2947482" cy="460118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3600" kern="1200" spc="-60" baseline="0">
                <a:solidFill>
                  <a:srgbClr val="FFFFFF"/>
                </a:solidFill>
                <a:latin typeface="+mj-lt"/>
                <a:ea typeface="+mj-ea"/>
                <a:cs typeface="+mj-cs"/>
              </a:defRPr>
            </a:lvl1pPr>
          </a:lstStyle>
          <a:p>
            <a:r>
              <a:rPr lang="en-US" dirty="0"/>
              <a:t>Storytelling with visualization</a:t>
            </a:r>
          </a:p>
        </p:txBody>
      </p:sp>
      <p:grpSp>
        <p:nvGrpSpPr>
          <p:cNvPr id="141" name="Google Shape;141;p20"/>
          <p:cNvGrpSpPr/>
          <p:nvPr/>
        </p:nvGrpSpPr>
        <p:grpSpPr>
          <a:xfrm>
            <a:off x="126255" y="3622599"/>
            <a:ext cx="2755075" cy="645559"/>
            <a:chOff x="3465199" y="457200"/>
            <a:chExt cx="2755075" cy="645559"/>
          </a:xfrm>
        </p:grpSpPr>
        <p:cxnSp>
          <p:nvCxnSpPr>
            <p:cNvPr id="142" name="Google Shape;142;p20"/>
            <p:cNvCxnSpPr/>
            <p:nvPr/>
          </p:nvCxnSpPr>
          <p:spPr>
            <a:xfrm>
              <a:off x="3465199" y="457200"/>
              <a:ext cx="2755075" cy="645559"/>
            </a:xfrm>
            <a:prstGeom prst="straightConnector1">
              <a:avLst/>
            </a:prstGeom>
            <a:noFill/>
            <a:ln w="38100" cap="rnd" cmpd="sng">
              <a:solidFill>
                <a:srgbClr val="000000"/>
              </a:solidFill>
              <a:prstDash val="solid"/>
              <a:round/>
              <a:headEnd type="none" w="sm" len="sm"/>
              <a:tailEnd type="none" w="sm" len="sm"/>
            </a:ln>
          </p:spPr>
        </p:cxnSp>
        <p:cxnSp>
          <p:nvCxnSpPr>
            <p:cNvPr id="143" name="Google Shape;143;p20"/>
            <p:cNvCxnSpPr/>
            <p:nvPr/>
          </p:nvCxnSpPr>
          <p:spPr>
            <a:xfrm rot="10800000" flipH="1">
              <a:off x="3505200" y="457200"/>
              <a:ext cx="2665073" cy="645559"/>
            </a:xfrm>
            <a:prstGeom prst="straightConnector1">
              <a:avLst/>
            </a:prstGeom>
            <a:noFill/>
            <a:ln w="38100" cap="rnd" cmpd="sng">
              <a:solidFill>
                <a:srgbClr val="000000"/>
              </a:solidFill>
              <a:prstDash val="solid"/>
              <a:round/>
              <a:headEnd type="none" w="sm" len="sm"/>
              <a:tailEnd type="none" w="sm" len="sm"/>
            </a:ln>
          </p:spPr>
        </p:cxn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47"/>
        <p:cNvGrpSpPr/>
        <p:nvPr/>
      </p:nvGrpSpPr>
      <p:grpSpPr>
        <a:xfrm>
          <a:off x="0" y="0"/>
          <a:ext cx="0" cy="0"/>
          <a:chOff x="0" y="0"/>
          <a:chExt cx="0" cy="0"/>
        </a:xfrm>
      </p:grpSpPr>
      <p:sp>
        <p:nvSpPr>
          <p:cNvPr id="148" name="Google Shape;148;p21"/>
          <p:cNvSpPr txBox="1">
            <a:spLocks noGrp="1"/>
          </p:cNvSpPr>
          <p:nvPr>
            <p:ph type="body" idx="1"/>
          </p:nvPr>
        </p:nvSpPr>
        <p:spPr>
          <a:xfrm>
            <a:off x="2341418" y="1123837"/>
            <a:ext cx="8229600" cy="4876800"/>
          </a:xfrm>
          <a:prstGeom prst="rect">
            <a:avLst/>
          </a:prstGeom>
          <a:noFill/>
          <a:ln>
            <a:noFill/>
          </a:ln>
        </p:spPr>
        <p:txBody>
          <a:bodyPr spcFirstLastPara="1" vert="horz" wrap="square" lIns="91425" tIns="45700" rIns="91425" bIns="45700" rtlCol="0" anchor="t" anchorCtr="0">
            <a:noAutofit/>
          </a:bodyPr>
          <a:lstStyle/>
          <a:p>
            <a:pPr marL="0" indent="0" algn="ctr">
              <a:spcBef>
                <a:spcPts val="0"/>
              </a:spcBef>
              <a:buNone/>
            </a:pPr>
            <a:endParaRPr sz="2400" dirty="0">
              <a:ea typeface="Arial"/>
              <a:cs typeface="Arial"/>
              <a:sym typeface="Arial"/>
            </a:endParaRPr>
          </a:p>
          <a:p>
            <a:pPr marL="0" indent="0" algn="ctr">
              <a:spcBef>
                <a:spcPts val="480"/>
              </a:spcBef>
              <a:buNone/>
            </a:pPr>
            <a:endParaRPr sz="2400" dirty="0">
              <a:ea typeface="Arial"/>
              <a:cs typeface="Arial"/>
              <a:sym typeface="Arial"/>
            </a:endParaRPr>
          </a:p>
          <a:p>
            <a:pPr marL="0" indent="0" algn="ctr">
              <a:spcBef>
                <a:spcPts val="480"/>
              </a:spcBef>
              <a:buNone/>
            </a:pPr>
            <a:endParaRPr sz="2400" dirty="0">
              <a:ea typeface="Arial"/>
              <a:cs typeface="Arial"/>
              <a:sym typeface="Arial"/>
            </a:endParaRPr>
          </a:p>
          <a:p>
            <a:pPr marL="0" indent="0" algn="ctr">
              <a:spcBef>
                <a:spcPts val="480"/>
              </a:spcBef>
              <a:buNone/>
            </a:pPr>
            <a:r>
              <a:rPr lang="en-US" sz="2400" dirty="0">
                <a:ea typeface="Arial"/>
                <a:cs typeface="Arial"/>
                <a:sym typeface="Arial"/>
              </a:rPr>
              <a:t>What makes a </a:t>
            </a:r>
            <a:r>
              <a:rPr lang="en-US" sz="2400" b="1" dirty="0">
                <a:ea typeface="Arial"/>
                <a:cs typeface="Arial"/>
                <a:sym typeface="Arial"/>
              </a:rPr>
              <a:t>good story</a:t>
            </a:r>
            <a:r>
              <a:rPr lang="en-US" sz="2400" dirty="0">
                <a:ea typeface="Arial"/>
                <a:cs typeface="Arial"/>
                <a:sym typeface="Arial"/>
              </a:rPr>
              <a:t>?</a:t>
            </a:r>
            <a:endParaRPr sz="2400" dirty="0">
              <a:ea typeface="Arial"/>
              <a:cs typeface="Arial"/>
              <a:sym typeface="Arial"/>
            </a:endParaRPr>
          </a:p>
        </p:txBody>
      </p:sp>
      <p:cxnSp>
        <p:nvCxnSpPr>
          <p:cNvPr id="149" name="Google Shape;149;p21"/>
          <p:cNvCxnSpPr/>
          <p:nvPr/>
        </p:nvCxnSpPr>
        <p:spPr>
          <a:xfrm>
            <a:off x="6588357" y="2952637"/>
            <a:ext cx="1554480" cy="0"/>
          </a:xfrm>
          <a:prstGeom prst="straightConnector1">
            <a:avLst/>
          </a:prstGeom>
          <a:noFill/>
          <a:ln w="57150" cap="rnd" cmpd="sng">
            <a:solidFill>
              <a:schemeClr val="dk2"/>
            </a:solidFill>
            <a:prstDash val="solid"/>
            <a:round/>
            <a:headEnd type="none" w="sm" len="sm"/>
            <a:tailEnd type="none" w="sm" len="sm"/>
          </a:ln>
        </p:spPr>
      </p:cxnSp>
      <p:grpSp>
        <p:nvGrpSpPr>
          <p:cNvPr id="150" name="Google Shape;150;p21"/>
          <p:cNvGrpSpPr/>
          <p:nvPr/>
        </p:nvGrpSpPr>
        <p:grpSpPr>
          <a:xfrm>
            <a:off x="6613904" y="881377"/>
            <a:ext cx="1518715" cy="1194376"/>
            <a:chOff x="4840001" y="839217"/>
            <a:chExt cx="1518715" cy="895782"/>
          </a:xfrm>
        </p:grpSpPr>
        <p:sp>
          <p:nvSpPr>
            <p:cNvPr id="151" name="Google Shape;151;p21"/>
            <p:cNvSpPr/>
            <p:nvPr/>
          </p:nvSpPr>
          <p:spPr>
            <a:xfrm>
              <a:off x="5479355" y="1254939"/>
              <a:ext cx="240007" cy="480060"/>
            </a:xfrm>
            <a:prstGeom prst="upArrow">
              <a:avLst>
                <a:gd name="adj1" fmla="val 50000"/>
                <a:gd name="adj2" fmla="val 50000"/>
              </a:avLst>
            </a:prstGeom>
            <a:solidFill>
              <a:srgbClr val="000000"/>
            </a:solidFill>
            <a:ln w="9525" cap="flat" cmpd="sng">
              <a:solidFill>
                <a:srgbClr val="000000"/>
              </a:solidFill>
              <a:prstDash val="solid"/>
              <a:round/>
              <a:headEnd type="none" w="sm" len="sm"/>
              <a:tailEnd type="none" w="sm" len="sm"/>
            </a:ln>
          </p:spPr>
          <p:txBody>
            <a:bodyPr spcFirstLastPara="1" wrap="square" lIns="91425" tIns="45700" rIns="91425" bIns="45700" anchor="ctr" anchorCtr="0">
              <a:noAutofit/>
            </a:bodyPr>
            <a:lstStyle/>
            <a:p>
              <a:pPr algn="ctr"/>
              <a:endParaRPr sz="2400">
                <a:solidFill>
                  <a:schemeClr val="tx1">
                    <a:lumMod val="75000"/>
                    <a:lumOff val="25000"/>
                  </a:schemeClr>
                </a:solidFill>
                <a:ea typeface="Arial"/>
                <a:cs typeface="Arial"/>
                <a:sym typeface="Arial"/>
              </a:endParaRPr>
            </a:p>
          </p:txBody>
        </p:sp>
        <p:sp>
          <p:nvSpPr>
            <p:cNvPr id="152" name="Google Shape;152;p21"/>
            <p:cNvSpPr txBox="1"/>
            <p:nvPr/>
          </p:nvSpPr>
          <p:spPr>
            <a:xfrm>
              <a:off x="4840001" y="839217"/>
              <a:ext cx="1518715" cy="346249"/>
            </a:xfrm>
            <a:prstGeom prst="rect">
              <a:avLst/>
            </a:prstGeom>
            <a:noFill/>
            <a:ln>
              <a:noFill/>
            </a:ln>
          </p:spPr>
          <p:txBody>
            <a:bodyPr spcFirstLastPara="1" wrap="square" lIns="91425" tIns="45700" rIns="91425" bIns="45700" anchor="t" anchorCtr="0">
              <a:noAutofit/>
            </a:bodyPr>
            <a:lstStyle/>
            <a:p>
              <a:r>
                <a:rPr lang="en-US" sz="2400">
                  <a:solidFill>
                    <a:schemeClr val="tx1">
                      <a:lumMod val="75000"/>
                      <a:lumOff val="25000"/>
                    </a:schemeClr>
                  </a:solidFill>
                  <a:ea typeface="Arial"/>
                  <a:cs typeface="Arial"/>
                  <a:sym typeface="Arial"/>
                </a:rPr>
                <a:t>storyteller</a:t>
              </a:r>
              <a:endParaRPr sz="2400">
                <a:solidFill>
                  <a:schemeClr val="tx1">
                    <a:lumMod val="75000"/>
                    <a:lumOff val="25000"/>
                  </a:schemeClr>
                </a:solidFill>
                <a:ea typeface="Arial"/>
                <a:cs typeface="Arial"/>
                <a:sym typeface="Arial"/>
              </a:endParaRPr>
            </a:p>
          </p:txBody>
        </p:sp>
      </p:grpSp>
      <p:grpSp>
        <p:nvGrpSpPr>
          <p:cNvPr id="153" name="Google Shape;153;p21"/>
          <p:cNvGrpSpPr/>
          <p:nvPr/>
        </p:nvGrpSpPr>
        <p:grpSpPr>
          <a:xfrm>
            <a:off x="6672312" y="3070657"/>
            <a:ext cx="1433956" cy="1007356"/>
            <a:chOff x="4985136" y="3343787"/>
            <a:chExt cx="1433956" cy="755517"/>
          </a:xfrm>
        </p:grpSpPr>
        <p:sp>
          <p:nvSpPr>
            <p:cNvPr id="154" name="Google Shape;154;p21"/>
            <p:cNvSpPr/>
            <p:nvPr/>
          </p:nvSpPr>
          <p:spPr>
            <a:xfrm rot="10800000">
              <a:off x="5582111" y="3343787"/>
              <a:ext cx="240007" cy="480060"/>
            </a:xfrm>
            <a:prstGeom prst="upArrow">
              <a:avLst>
                <a:gd name="adj1" fmla="val 50000"/>
                <a:gd name="adj2" fmla="val 50000"/>
              </a:avLst>
            </a:prstGeom>
            <a:solidFill>
              <a:srgbClr val="000000"/>
            </a:solidFill>
            <a:ln w="9525" cap="flat" cmpd="sng">
              <a:solidFill>
                <a:srgbClr val="000000"/>
              </a:solidFill>
              <a:prstDash val="solid"/>
              <a:round/>
              <a:headEnd type="none" w="sm" len="sm"/>
              <a:tailEnd type="none" w="sm" len="sm"/>
            </a:ln>
          </p:spPr>
          <p:txBody>
            <a:bodyPr spcFirstLastPara="1" wrap="square" lIns="91425" tIns="45700" rIns="91425" bIns="45700" anchor="ctr" anchorCtr="0">
              <a:noAutofit/>
            </a:bodyPr>
            <a:lstStyle/>
            <a:p>
              <a:pPr algn="ctr"/>
              <a:endParaRPr sz="2400">
                <a:solidFill>
                  <a:schemeClr val="tx1">
                    <a:lumMod val="75000"/>
                    <a:lumOff val="25000"/>
                  </a:schemeClr>
                </a:solidFill>
                <a:ea typeface="Arial"/>
                <a:cs typeface="Arial"/>
                <a:sym typeface="Arial"/>
              </a:endParaRPr>
            </a:p>
          </p:txBody>
        </p:sp>
        <p:sp>
          <p:nvSpPr>
            <p:cNvPr id="155" name="Google Shape;155;p21"/>
            <p:cNvSpPr txBox="1"/>
            <p:nvPr/>
          </p:nvSpPr>
          <p:spPr>
            <a:xfrm>
              <a:off x="4985136" y="3753055"/>
              <a:ext cx="1433956" cy="346249"/>
            </a:xfrm>
            <a:prstGeom prst="rect">
              <a:avLst/>
            </a:prstGeom>
            <a:noFill/>
            <a:ln>
              <a:noFill/>
            </a:ln>
          </p:spPr>
          <p:txBody>
            <a:bodyPr spcFirstLastPara="1" wrap="square" lIns="91425" tIns="45700" rIns="91425" bIns="45700" anchor="t" anchorCtr="0">
              <a:noAutofit/>
            </a:bodyPr>
            <a:lstStyle/>
            <a:p>
              <a:r>
                <a:rPr lang="en-US" sz="2400">
                  <a:solidFill>
                    <a:schemeClr val="tx1">
                      <a:lumMod val="75000"/>
                      <a:lumOff val="25000"/>
                    </a:schemeClr>
                  </a:solidFill>
                  <a:ea typeface="Arial"/>
                  <a:cs typeface="Arial"/>
                  <a:sym typeface="Arial"/>
                </a:rPr>
                <a:t>audience</a:t>
              </a:r>
              <a:endParaRPr sz="2400">
                <a:solidFill>
                  <a:schemeClr val="tx1">
                    <a:lumMod val="75000"/>
                    <a:lumOff val="25000"/>
                  </a:schemeClr>
                </a:solidFill>
                <a:ea typeface="Arial"/>
                <a:cs typeface="Arial"/>
                <a:sym typeface="Arial"/>
              </a:endParaRPr>
            </a:p>
          </p:txBody>
        </p:sp>
      </p:grpSp>
      <p:sp>
        <p:nvSpPr>
          <p:cNvPr id="2" name="Title 1">
            <a:extLst>
              <a:ext uri="{FF2B5EF4-FFF2-40B4-BE49-F238E27FC236}">
                <a16:creationId xmlns:a16="http://schemas.microsoft.com/office/drawing/2014/main" id="{DDC271B6-0058-53B5-100F-37987F91942F}"/>
              </a:ext>
            </a:extLst>
          </p:cNvPr>
          <p:cNvSpPr txBox="1">
            <a:spLocks/>
          </p:cNvSpPr>
          <p:nvPr/>
        </p:nvSpPr>
        <p:spPr>
          <a:xfrm>
            <a:off x="252919" y="1123837"/>
            <a:ext cx="2947482" cy="460118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3600" kern="1200" spc="-60" baseline="0">
                <a:solidFill>
                  <a:srgbClr val="FFFFFF"/>
                </a:solidFill>
                <a:latin typeface="+mj-lt"/>
                <a:ea typeface="+mj-ea"/>
                <a:cs typeface="+mj-cs"/>
              </a:defRPr>
            </a:lvl1pPr>
          </a:lstStyle>
          <a:p>
            <a:r>
              <a:rPr lang="en-US" dirty="0"/>
              <a:t>Discussion</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5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5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61"/>
        <p:cNvGrpSpPr/>
        <p:nvPr/>
      </p:nvGrpSpPr>
      <p:grpSpPr>
        <a:xfrm>
          <a:off x="0" y="0"/>
          <a:ext cx="0" cy="0"/>
          <a:chOff x="0" y="0"/>
          <a:chExt cx="0" cy="0"/>
        </a:xfrm>
      </p:grpSpPr>
      <p:pic>
        <p:nvPicPr>
          <p:cNvPr id="1026" name="Picture 2">
            <a:extLst>
              <a:ext uri="{FF2B5EF4-FFF2-40B4-BE49-F238E27FC236}">
                <a16:creationId xmlns:a16="http://schemas.microsoft.com/office/drawing/2014/main" id="{2F89E216-A12D-02ED-9423-BA704982ED2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105234" y="1358900"/>
            <a:ext cx="2794000" cy="4140200"/>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The emotions are crowded together in a tight space.">
            <a:extLst>
              <a:ext uri="{FF2B5EF4-FFF2-40B4-BE49-F238E27FC236}">
                <a16:creationId xmlns:a16="http://schemas.microsoft.com/office/drawing/2014/main" id="{D0B26CC0-2D05-F53E-55EE-8540507041E0}"/>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655956" y="1358900"/>
            <a:ext cx="2794000" cy="4140200"/>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a:extLst>
              <a:ext uri="{FF2B5EF4-FFF2-40B4-BE49-F238E27FC236}">
                <a16:creationId xmlns:a16="http://schemas.microsoft.com/office/drawing/2014/main" id="{2367E6E3-DB8A-96AE-4434-69EB7E364F8C}"/>
              </a:ext>
            </a:extLst>
          </p:cNvPr>
          <p:cNvSpPr txBox="1">
            <a:spLocks/>
          </p:cNvSpPr>
          <p:nvPr/>
        </p:nvSpPr>
        <p:spPr>
          <a:xfrm>
            <a:off x="252919" y="1123837"/>
            <a:ext cx="2947482" cy="460118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3600" kern="1200" spc="-60" baseline="0">
                <a:solidFill>
                  <a:srgbClr val="FFFFFF"/>
                </a:solidFill>
                <a:latin typeface="+mj-lt"/>
                <a:ea typeface="+mj-ea"/>
                <a:cs typeface="+mj-cs"/>
              </a:defRPr>
            </a:lvl1pPr>
          </a:lstStyle>
          <a:p>
            <a:r>
              <a:rPr lang="en-US" dirty="0"/>
              <a:t>Story teller &amp; Audience</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67"/>
        <p:cNvGrpSpPr/>
        <p:nvPr/>
      </p:nvGrpSpPr>
      <p:grpSpPr>
        <a:xfrm>
          <a:off x="0" y="0"/>
          <a:ext cx="0" cy="0"/>
          <a:chOff x="0" y="0"/>
          <a:chExt cx="0" cy="0"/>
        </a:xfrm>
      </p:grpSpPr>
      <p:grpSp>
        <p:nvGrpSpPr>
          <p:cNvPr id="168" name="Google Shape;168;p23"/>
          <p:cNvGrpSpPr/>
          <p:nvPr/>
        </p:nvGrpSpPr>
        <p:grpSpPr>
          <a:xfrm>
            <a:off x="3477194" y="2325454"/>
            <a:ext cx="7924799" cy="1708248"/>
            <a:chOff x="1" y="2514600"/>
            <a:chExt cx="7924799" cy="1708248"/>
          </a:xfrm>
        </p:grpSpPr>
        <p:sp>
          <p:nvSpPr>
            <p:cNvPr id="169" name="Google Shape;169;p23"/>
            <p:cNvSpPr/>
            <p:nvPr/>
          </p:nvSpPr>
          <p:spPr>
            <a:xfrm>
              <a:off x="1" y="2514600"/>
              <a:ext cx="6866588" cy="1371600"/>
            </a:xfrm>
            <a:prstGeom prst="rightArrow">
              <a:avLst>
                <a:gd name="adj1" fmla="val 50000"/>
                <a:gd name="adj2" fmla="val 50000"/>
              </a:avLst>
            </a:prstGeom>
            <a:solidFill>
              <a:srgbClr val="BFBFBF"/>
            </a:solidFill>
            <a:ln>
              <a:noFill/>
            </a:ln>
          </p:spPr>
          <p:txBody>
            <a:bodyPr spcFirstLastPara="1" wrap="square" lIns="91425" tIns="45700" rIns="91425" bIns="45700" anchor="ctr" anchorCtr="0">
              <a:noAutofit/>
            </a:bodyPr>
            <a:lstStyle/>
            <a:p>
              <a:pPr algn="ctr"/>
              <a:endParaRPr sz="2400">
                <a:solidFill>
                  <a:schemeClr val="tx1">
                    <a:lumMod val="75000"/>
                    <a:lumOff val="25000"/>
                  </a:schemeClr>
                </a:solidFill>
                <a:ea typeface="Arial"/>
                <a:cs typeface="Arial"/>
                <a:sym typeface="Arial"/>
              </a:endParaRPr>
            </a:p>
          </p:txBody>
        </p:sp>
        <p:grpSp>
          <p:nvGrpSpPr>
            <p:cNvPr id="170" name="Google Shape;170;p23"/>
            <p:cNvGrpSpPr/>
            <p:nvPr/>
          </p:nvGrpSpPr>
          <p:grpSpPr>
            <a:xfrm>
              <a:off x="7010400" y="2743200"/>
              <a:ext cx="914400" cy="1479648"/>
              <a:chOff x="6863702" y="2011529"/>
              <a:chExt cx="914400" cy="1479648"/>
            </a:xfrm>
          </p:grpSpPr>
          <p:sp>
            <p:nvSpPr>
              <p:cNvPr id="171" name="Google Shape;171;p23"/>
              <p:cNvSpPr/>
              <p:nvPr/>
            </p:nvSpPr>
            <p:spPr>
              <a:xfrm>
                <a:off x="6863702" y="2011529"/>
                <a:ext cx="914400" cy="914400"/>
              </a:xfrm>
              <a:prstGeom prst="ellipse">
                <a:avLst/>
              </a:prstGeom>
              <a:solidFill>
                <a:schemeClr val="dk2"/>
              </a:solidFill>
              <a:ln w="44450" cap="flat" cmpd="sng">
                <a:solidFill>
                  <a:srgbClr val="000000"/>
                </a:solidFill>
                <a:prstDash val="solid"/>
                <a:round/>
                <a:headEnd type="none" w="sm" len="sm"/>
                <a:tailEnd type="none" w="sm" len="sm"/>
              </a:ln>
            </p:spPr>
            <p:txBody>
              <a:bodyPr spcFirstLastPara="1" wrap="square" lIns="91425" tIns="45700" rIns="91425" bIns="45700" anchor="ctr" anchorCtr="0">
                <a:noAutofit/>
              </a:bodyPr>
              <a:lstStyle/>
              <a:p>
                <a:pPr algn="ctr"/>
                <a:endParaRPr sz="2400">
                  <a:solidFill>
                    <a:schemeClr val="tx1">
                      <a:lumMod val="75000"/>
                      <a:lumOff val="25000"/>
                    </a:schemeClr>
                  </a:solidFill>
                  <a:ea typeface="Arial"/>
                  <a:cs typeface="Arial"/>
                  <a:sym typeface="Arial"/>
                </a:endParaRPr>
              </a:p>
            </p:txBody>
          </p:sp>
          <p:sp>
            <p:nvSpPr>
              <p:cNvPr id="172" name="Google Shape;172;p23"/>
              <p:cNvSpPr txBox="1"/>
              <p:nvPr/>
            </p:nvSpPr>
            <p:spPr>
              <a:xfrm>
                <a:off x="6894869" y="3029512"/>
                <a:ext cx="852066" cy="461665"/>
              </a:xfrm>
              <a:prstGeom prst="rect">
                <a:avLst/>
              </a:prstGeom>
              <a:noFill/>
              <a:ln>
                <a:noFill/>
              </a:ln>
            </p:spPr>
            <p:txBody>
              <a:bodyPr spcFirstLastPara="1" wrap="square" lIns="91425" tIns="45700" rIns="91425" bIns="45700" anchor="t" anchorCtr="0">
                <a:noAutofit/>
              </a:bodyPr>
              <a:lstStyle/>
              <a:p>
                <a:r>
                  <a:rPr lang="en-US" sz="2400">
                    <a:solidFill>
                      <a:schemeClr val="tx1">
                        <a:lumMod val="75000"/>
                        <a:lumOff val="25000"/>
                      </a:schemeClr>
                    </a:solidFill>
                    <a:ea typeface="Arial"/>
                    <a:cs typeface="Arial"/>
                    <a:sym typeface="Arial"/>
                  </a:rPr>
                  <a:t>point</a:t>
                </a:r>
                <a:endParaRPr sz="2400">
                  <a:solidFill>
                    <a:schemeClr val="tx1">
                      <a:lumMod val="75000"/>
                      <a:lumOff val="25000"/>
                    </a:schemeClr>
                  </a:solidFill>
                  <a:ea typeface="Arial"/>
                  <a:cs typeface="Arial"/>
                  <a:sym typeface="Arial"/>
                </a:endParaRPr>
              </a:p>
            </p:txBody>
          </p:sp>
        </p:grpSp>
      </p:grpSp>
      <p:sp>
        <p:nvSpPr>
          <p:cNvPr id="173" name="Google Shape;173;p23"/>
          <p:cNvSpPr txBox="1">
            <a:spLocks noGrp="1"/>
          </p:cNvSpPr>
          <p:nvPr>
            <p:ph type="body" idx="1"/>
          </p:nvPr>
        </p:nvSpPr>
        <p:spPr>
          <a:xfrm>
            <a:off x="1981200" y="1600200"/>
            <a:ext cx="8229600" cy="4876800"/>
          </a:xfrm>
          <a:prstGeom prst="rect">
            <a:avLst/>
          </a:prstGeom>
          <a:noFill/>
          <a:ln>
            <a:noFill/>
          </a:ln>
        </p:spPr>
        <p:txBody>
          <a:bodyPr spcFirstLastPara="1" vert="horz" wrap="square" lIns="91425" tIns="45700" rIns="91425" bIns="45700" rtlCol="0" anchor="t" anchorCtr="0">
            <a:noAutofit/>
          </a:bodyPr>
          <a:lstStyle/>
          <a:p>
            <a:pPr marL="0" indent="0" algn="ctr">
              <a:spcBef>
                <a:spcPts val="0"/>
              </a:spcBef>
              <a:buNone/>
            </a:pPr>
            <a:endParaRPr sz="2400" dirty="0">
              <a:ea typeface="Arial"/>
              <a:cs typeface="Arial"/>
              <a:sym typeface="Arial"/>
            </a:endParaRPr>
          </a:p>
          <a:p>
            <a:pPr marL="0" indent="0" algn="ctr">
              <a:spcBef>
                <a:spcPts val="480"/>
              </a:spcBef>
              <a:buNone/>
            </a:pPr>
            <a:endParaRPr sz="2400" dirty="0">
              <a:ea typeface="Arial"/>
              <a:cs typeface="Arial"/>
              <a:sym typeface="Arial"/>
            </a:endParaRPr>
          </a:p>
          <a:p>
            <a:pPr marL="0" indent="0" algn="ctr">
              <a:spcBef>
                <a:spcPts val="480"/>
              </a:spcBef>
              <a:buNone/>
            </a:pPr>
            <a:endParaRPr sz="2400" dirty="0">
              <a:ea typeface="Arial"/>
              <a:cs typeface="Arial"/>
              <a:sym typeface="Arial"/>
            </a:endParaRPr>
          </a:p>
          <a:p>
            <a:pPr marL="0" indent="0" algn="ctr">
              <a:spcBef>
                <a:spcPts val="480"/>
              </a:spcBef>
              <a:buNone/>
            </a:pPr>
            <a:r>
              <a:rPr lang="en-US" sz="2400" dirty="0">
                <a:ea typeface="Arial"/>
                <a:cs typeface="Arial"/>
                <a:sym typeface="Arial"/>
              </a:rPr>
              <a:t>What makes a </a:t>
            </a:r>
            <a:r>
              <a:rPr lang="en-US" sz="2400" b="1" dirty="0">
                <a:ea typeface="Arial"/>
                <a:cs typeface="Arial"/>
                <a:sym typeface="Arial"/>
              </a:rPr>
              <a:t>good story</a:t>
            </a:r>
            <a:r>
              <a:rPr lang="en-US" sz="2400" dirty="0">
                <a:ea typeface="Arial"/>
                <a:cs typeface="Arial"/>
                <a:sym typeface="Arial"/>
              </a:rPr>
              <a:t>?</a:t>
            </a:r>
            <a:endParaRPr sz="2400" dirty="0">
              <a:ea typeface="Arial"/>
              <a:cs typeface="Arial"/>
              <a:sym typeface="Arial"/>
            </a:endParaRPr>
          </a:p>
        </p:txBody>
      </p:sp>
      <p:cxnSp>
        <p:nvCxnSpPr>
          <p:cNvPr id="174" name="Google Shape;174;p23"/>
          <p:cNvCxnSpPr/>
          <p:nvPr/>
        </p:nvCxnSpPr>
        <p:spPr>
          <a:xfrm>
            <a:off x="6228139" y="3429000"/>
            <a:ext cx="1554480" cy="0"/>
          </a:xfrm>
          <a:prstGeom prst="straightConnector1">
            <a:avLst/>
          </a:prstGeom>
          <a:noFill/>
          <a:ln w="57150" cap="rnd" cmpd="sng">
            <a:solidFill>
              <a:schemeClr val="dk2"/>
            </a:solidFill>
            <a:prstDash val="solid"/>
            <a:round/>
            <a:headEnd type="none" w="sm" len="sm"/>
            <a:tailEnd type="none" w="sm" len="sm"/>
          </a:ln>
        </p:spPr>
      </p:cxnSp>
      <p:grpSp>
        <p:nvGrpSpPr>
          <p:cNvPr id="175" name="Google Shape;175;p23"/>
          <p:cNvGrpSpPr/>
          <p:nvPr/>
        </p:nvGrpSpPr>
        <p:grpSpPr>
          <a:xfrm>
            <a:off x="6253686" y="1482435"/>
            <a:ext cx="1518715" cy="1194376"/>
            <a:chOff x="4840001" y="839217"/>
            <a:chExt cx="1518715" cy="895782"/>
          </a:xfrm>
        </p:grpSpPr>
        <p:sp>
          <p:nvSpPr>
            <p:cNvPr id="176" name="Google Shape;176;p23"/>
            <p:cNvSpPr/>
            <p:nvPr/>
          </p:nvSpPr>
          <p:spPr>
            <a:xfrm>
              <a:off x="5479355" y="1254939"/>
              <a:ext cx="240007" cy="480060"/>
            </a:xfrm>
            <a:prstGeom prst="upArrow">
              <a:avLst>
                <a:gd name="adj1" fmla="val 50000"/>
                <a:gd name="adj2" fmla="val 50000"/>
              </a:avLst>
            </a:prstGeom>
            <a:solidFill>
              <a:srgbClr val="000000"/>
            </a:solidFill>
            <a:ln w="9525" cap="flat" cmpd="sng">
              <a:solidFill>
                <a:srgbClr val="000000"/>
              </a:solidFill>
              <a:prstDash val="solid"/>
              <a:round/>
              <a:headEnd type="none" w="sm" len="sm"/>
              <a:tailEnd type="none" w="sm" len="sm"/>
            </a:ln>
          </p:spPr>
          <p:txBody>
            <a:bodyPr spcFirstLastPara="1" wrap="square" lIns="91425" tIns="45700" rIns="91425" bIns="45700" anchor="ctr" anchorCtr="0">
              <a:noAutofit/>
            </a:bodyPr>
            <a:lstStyle/>
            <a:p>
              <a:pPr algn="ctr"/>
              <a:endParaRPr sz="2400">
                <a:solidFill>
                  <a:schemeClr val="tx1">
                    <a:lumMod val="75000"/>
                    <a:lumOff val="25000"/>
                  </a:schemeClr>
                </a:solidFill>
                <a:ea typeface="Arial"/>
                <a:cs typeface="Arial"/>
                <a:sym typeface="Arial"/>
              </a:endParaRPr>
            </a:p>
          </p:txBody>
        </p:sp>
        <p:sp>
          <p:nvSpPr>
            <p:cNvPr id="177" name="Google Shape;177;p23"/>
            <p:cNvSpPr txBox="1"/>
            <p:nvPr/>
          </p:nvSpPr>
          <p:spPr>
            <a:xfrm>
              <a:off x="4840001" y="839217"/>
              <a:ext cx="1518715" cy="346249"/>
            </a:xfrm>
            <a:prstGeom prst="rect">
              <a:avLst/>
            </a:prstGeom>
            <a:noFill/>
            <a:ln>
              <a:noFill/>
            </a:ln>
          </p:spPr>
          <p:txBody>
            <a:bodyPr spcFirstLastPara="1" wrap="square" lIns="91425" tIns="45700" rIns="91425" bIns="45700" anchor="t" anchorCtr="0">
              <a:noAutofit/>
            </a:bodyPr>
            <a:lstStyle/>
            <a:p>
              <a:r>
                <a:rPr lang="en-US" sz="2400">
                  <a:solidFill>
                    <a:schemeClr val="tx1">
                      <a:lumMod val="75000"/>
                      <a:lumOff val="25000"/>
                    </a:schemeClr>
                  </a:solidFill>
                  <a:ea typeface="Arial"/>
                  <a:cs typeface="Arial"/>
                  <a:sym typeface="Arial"/>
                </a:rPr>
                <a:t>storyteller</a:t>
              </a:r>
              <a:endParaRPr sz="2400">
                <a:solidFill>
                  <a:schemeClr val="tx1">
                    <a:lumMod val="75000"/>
                    <a:lumOff val="25000"/>
                  </a:schemeClr>
                </a:solidFill>
                <a:ea typeface="Arial"/>
                <a:cs typeface="Arial"/>
                <a:sym typeface="Arial"/>
              </a:endParaRPr>
            </a:p>
          </p:txBody>
        </p:sp>
      </p:grpSp>
      <p:grpSp>
        <p:nvGrpSpPr>
          <p:cNvPr id="178" name="Google Shape;178;p23"/>
          <p:cNvGrpSpPr/>
          <p:nvPr/>
        </p:nvGrpSpPr>
        <p:grpSpPr>
          <a:xfrm>
            <a:off x="6312094" y="3547020"/>
            <a:ext cx="1433956" cy="1007356"/>
            <a:chOff x="4985136" y="3343787"/>
            <a:chExt cx="1433956" cy="755517"/>
          </a:xfrm>
        </p:grpSpPr>
        <p:sp>
          <p:nvSpPr>
            <p:cNvPr id="179" name="Google Shape;179;p23"/>
            <p:cNvSpPr/>
            <p:nvPr/>
          </p:nvSpPr>
          <p:spPr>
            <a:xfrm rot="10800000">
              <a:off x="5582111" y="3343787"/>
              <a:ext cx="240007" cy="480060"/>
            </a:xfrm>
            <a:prstGeom prst="upArrow">
              <a:avLst>
                <a:gd name="adj1" fmla="val 50000"/>
                <a:gd name="adj2" fmla="val 50000"/>
              </a:avLst>
            </a:prstGeom>
            <a:solidFill>
              <a:srgbClr val="000000"/>
            </a:solidFill>
            <a:ln w="9525" cap="flat" cmpd="sng">
              <a:solidFill>
                <a:srgbClr val="000000"/>
              </a:solidFill>
              <a:prstDash val="solid"/>
              <a:round/>
              <a:headEnd type="none" w="sm" len="sm"/>
              <a:tailEnd type="none" w="sm" len="sm"/>
            </a:ln>
          </p:spPr>
          <p:txBody>
            <a:bodyPr spcFirstLastPara="1" wrap="square" lIns="91425" tIns="45700" rIns="91425" bIns="45700" anchor="ctr" anchorCtr="0">
              <a:noAutofit/>
            </a:bodyPr>
            <a:lstStyle/>
            <a:p>
              <a:pPr algn="ctr"/>
              <a:endParaRPr sz="2400">
                <a:solidFill>
                  <a:schemeClr val="tx1">
                    <a:lumMod val="75000"/>
                    <a:lumOff val="25000"/>
                  </a:schemeClr>
                </a:solidFill>
                <a:ea typeface="Arial"/>
                <a:cs typeface="Arial"/>
                <a:sym typeface="Arial"/>
              </a:endParaRPr>
            </a:p>
          </p:txBody>
        </p:sp>
        <p:sp>
          <p:nvSpPr>
            <p:cNvPr id="180" name="Google Shape;180;p23"/>
            <p:cNvSpPr txBox="1"/>
            <p:nvPr/>
          </p:nvSpPr>
          <p:spPr>
            <a:xfrm>
              <a:off x="4985136" y="3753055"/>
              <a:ext cx="1433956" cy="346249"/>
            </a:xfrm>
            <a:prstGeom prst="rect">
              <a:avLst/>
            </a:prstGeom>
            <a:noFill/>
            <a:ln>
              <a:noFill/>
            </a:ln>
          </p:spPr>
          <p:txBody>
            <a:bodyPr spcFirstLastPara="1" wrap="square" lIns="91425" tIns="45700" rIns="91425" bIns="45700" anchor="t" anchorCtr="0">
              <a:noAutofit/>
            </a:bodyPr>
            <a:lstStyle/>
            <a:p>
              <a:r>
                <a:rPr lang="en-US" sz="2400" dirty="0">
                  <a:solidFill>
                    <a:schemeClr val="tx1">
                      <a:lumMod val="75000"/>
                      <a:lumOff val="25000"/>
                    </a:schemeClr>
                  </a:solidFill>
                  <a:ea typeface="Arial"/>
                  <a:cs typeface="Arial"/>
                  <a:sym typeface="Arial"/>
                </a:rPr>
                <a:t>audience</a:t>
              </a:r>
              <a:endParaRPr sz="2400" dirty="0">
                <a:solidFill>
                  <a:schemeClr val="tx1">
                    <a:lumMod val="75000"/>
                    <a:lumOff val="25000"/>
                  </a:schemeClr>
                </a:solidFill>
                <a:ea typeface="Arial"/>
                <a:cs typeface="Arial"/>
                <a:sym typeface="Arial"/>
              </a:endParaRPr>
            </a:p>
          </p:txBody>
        </p:sp>
      </p:grpSp>
      <p:sp>
        <p:nvSpPr>
          <p:cNvPr id="2" name="Title 1">
            <a:extLst>
              <a:ext uri="{FF2B5EF4-FFF2-40B4-BE49-F238E27FC236}">
                <a16:creationId xmlns:a16="http://schemas.microsoft.com/office/drawing/2014/main" id="{83E149F3-B982-7597-1825-370F2C7E0089}"/>
              </a:ext>
            </a:extLst>
          </p:cNvPr>
          <p:cNvSpPr txBox="1">
            <a:spLocks/>
          </p:cNvSpPr>
          <p:nvPr/>
        </p:nvSpPr>
        <p:spPr>
          <a:xfrm>
            <a:off x="252919" y="1123837"/>
            <a:ext cx="2947482" cy="460118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3600" kern="1200" spc="-60" baseline="0">
                <a:solidFill>
                  <a:srgbClr val="FFFFFF"/>
                </a:solidFill>
                <a:latin typeface="+mj-lt"/>
                <a:ea typeface="+mj-ea"/>
                <a:cs typeface="+mj-cs"/>
              </a:defRPr>
            </a:lvl1pPr>
          </a:lstStyle>
          <a:p>
            <a:r>
              <a:rPr lang="en-US" dirty="0"/>
              <a:t>Discussion</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68"/>
                                        </p:tgtEl>
                                        <p:attrNameLst>
                                          <p:attrName>style.visibility</p:attrName>
                                        </p:attrNameLst>
                                      </p:cBhvr>
                                      <p:to>
                                        <p:strVal val="visible"/>
                                      </p:to>
                                    </p:set>
                                    <p:animEffect transition="in" filter="fade">
                                      <p:cBhvr>
                                        <p:cTn id="7" dur="500"/>
                                        <p:tgtEl>
                                          <p:spTgt spid="16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86"/>
        <p:cNvGrpSpPr/>
        <p:nvPr/>
      </p:nvGrpSpPr>
      <p:grpSpPr>
        <a:xfrm>
          <a:off x="0" y="0"/>
          <a:ext cx="0" cy="0"/>
          <a:chOff x="0" y="0"/>
          <a:chExt cx="0" cy="0"/>
        </a:xfrm>
      </p:grpSpPr>
      <p:pic>
        <p:nvPicPr>
          <p:cNvPr id="187" name="Google Shape;187;p24"/>
          <p:cNvPicPr preferRelativeResize="0"/>
          <p:nvPr/>
        </p:nvPicPr>
        <p:blipFill rotWithShape="1">
          <a:blip r:embed="rId3">
            <a:alphaModFix/>
          </a:blip>
          <a:srcRect/>
          <a:stretch/>
        </p:blipFill>
        <p:spPr>
          <a:xfrm>
            <a:off x="6422088" y="1447800"/>
            <a:ext cx="2053254" cy="4724400"/>
          </a:xfrm>
          <a:prstGeom prst="rect">
            <a:avLst/>
          </a:prstGeom>
          <a:noFill/>
          <a:ln>
            <a:noFill/>
          </a:ln>
        </p:spPr>
      </p:pic>
      <p:pic>
        <p:nvPicPr>
          <p:cNvPr id="188" name="Google Shape;188;p24"/>
          <p:cNvPicPr preferRelativeResize="0"/>
          <p:nvPr/>
        </p:nvPicPr>
        <p:blipFill rotWithShape="1">
          <a:blip r:embed="rId4">
            <a:alphaModFix/>
          </a:blip>
          <a:srcRect/>
          <a:stretch/>
        </p:blipFill>
        <p:spPr>
          <a:xfrm>
            <a:off x="8077200" y="2438400"/>
            <a:ext cx="914400" cy="91440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92"/>
        <p:cNvGrpSpPr/>
        <p:nvPr/>
      </p:nvGrpSpPr>
      <p:grpSpPr>
        <a:xfrm>
          <a:off x="0" y="0"/>
          <a:ext cx="0" cy="0"/>
          <a:chOff x="0" y="0"/>
          <a:chExt cx="0" cy="0"/>
        </a:xfrm>
      </p:grpSpPr>
      <p:pic>
        <p:nvPicPr>
          <p:cNvPr id="193" name="Google Shape;193;p25"/>
          <p:cNvPicPr preferRelativeResize="0"/>
          <p:nvPr/>
        </p:nvPicPr>
        <p:blipFill rotWithShape="1">
          <a:blip r:embed="rId3">
            <a:alphaModFix/>
          </a:blip>
          <a:srcRect/>
          <a:stretch/>
        </p:blipFill>
        <p:spPr>
          <a:xfrm>
            <a:off x="7599724" y="1123837"/>
            <a:ext cx="2053254" cy="4724400"/>
          </a:xfrm>
          <a:prstGeom prst="rect">
            <a:avLst/>
          </a:prstGeom>
          <a:noFill/>
          <a:ln>
            <a:noFill/>
          </a:ln>
        </p:spPr>
      </p:pic>
      <p:pic>
        <p:nvPicPr>
          <p:cNvPr id="194" name="Google Shape;194;p25"/>
          <p:cNvPicPr preferRelativeResize="0"/>
          <p:nvPr/>
        </p:nvPicPr>
        <p:blipFill rotWithShape="1">
          <a:blip r:embed="rId4">
            <a:alphaModFix/>
          </a:blip>
          <a:srcRect/>
          <a:stretch/>
        </p:blipFill>
        <p:spPr>
          <a:xfrm>
            <a:off x="4391494" y="1327058"/>
            <a:ext cx="2279613" cy="4279274"/>
          </a:xfrm>
          <a:prstGeom prst="rect">
            <a:avLst/>
          </a:prstGeom>
          <a:noFill/>
          <a:ln>
            <a:noFill/>
          </a:ln>
        </p:spPr>
      </p:pic>
      <p:pic>
        <p:nvPicPr>
          <p:cNvPr id="195" name="Google Shape;195;p25"/>
          <p:cNvPicPr preferRelativeResize="0"/>
          <p:nvPr/>
        </p:nvPicPr>
        <p:blipFill rotWithShape="1">
          <a:blip r:embed="rId5">
            <a:alphaModFix/>
          </a:blip>
          <a:srcRect/>
          <a:stretch/>
        </p:blipFill>
        <p:spPr>
          <a:xfrm>
            <a:off x="9254836" y="2114437"/>
            <a:ext cx="914400" cy="914400"/>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99"/>
        <p:cNvGrpSpPr/>
        <p:nvPr/>
      </p:nvGrpSpPr>
      <p:grpSpPr>
        <a:xfrm>
          <a:off x="0" y="0"/>
          <a:ext cx="0" cy="0"/>
          <a:chOff x="0" y="0"/>
          <a:chExt cx="0" cy="0"/>
        </a:xfrm>
      </p:grpSpPr>
      <p:pic>
        <p:nvPicPr>
          <p:cNvPr id="200" name="Google Shape;200;p26"/>
          <p:cNvPicPr preferRelativeResize="0"/>
          <p:nvPr/>
        </p:nvPicPr>
        <p:blipFill rotWithShape="1">
          <a:blip r:embed="rId3">
            <a:alphaModFix/>
          </a:blip>
          <a:srcRect/>
          <a:stretch/>
        </p:blipFill>
        <p:spPr>
          <a:xfrm>
            <a:off x="4446913" y="1706440"/>
            <a:ext cx="2279613" cy="4279274"/>
          </a:xfrm>
          <a:prstGeom prst="rect">
            <a:avLst/>
          </a:prstGeom>
          <a:noFill/>
          <a:ln>
            <a:noFill/>
          </a:ln>
        </p:spPr>
      </p:pic>
      <p:pic>
        <p:nvPicPr>
          <p:cNvPr id="201" name="Google Shape;201;p26"/>
          <p:cNvPicPr preferRelativeResize="0"/>
          <p:nvPr/>
        </p:nvPicPr>
        <p:blipFill rotWithShape="1">
          <a:blip r:embed="rId4">
            <a:alphaModFix/>
          </a:blip>
          <a:srcRect/>
          <a:stretch/>
        </p:blipFill>
        <p:spPr>
          <a:xfrm>
            <a:off x="7655143" y="1503219"/>
            <a:ext cx="2053254" cy="4724400"/>
          </a:xfrm>
          <a:prstGeom prst="rect">
            <a:avLst/>
          </a:prstGeom>
          <a:noFill/>
          <a:ln>
            <a:noFill/>
          </a:ln>
        </p:spPr>
      </p:pic>
      <p:sp>
        <p:nvSpPr>
          <p:cNvPr id="202" name="Google Shape;202;p26"/>
          <p:cNvSpPr/>
          <p:nvPr/>
        </p:nvSpPr>
        <p:spPr>
          <a:xfrm>
            <a:off x="4946295" y="281196"/>
            <a:ext cx="3023809" cy="1320800"/>
          </a:xfrm>
          <a:prstGeom prst="wedgeEllipseCallout">
            <a:avLst>
              <a:gd name="adj1" fmla="val -17979"/>
              <a:gd name="adj2" fmla="val 74635"/>
            </a:avLst>
          </a:prstGeom>
          <a:solidFill>
            <a:schemeClr val="lt1"/>
          </a:solidFill>
          <a:ln w="2540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endParaRPr/>
          </a:p>
        </p:txBody>
      </p:sp>
      <p:sp>
        <p:nvSpPr>
          <p:cNvPr id="203" name="Google Shape;203;p26"/>
          <p:cNvSpPr txBox="1"/>
          <p:nvPr/>
        </p:nvSpPr>
        <p:spPr>
          <a:xfrm>
            <a:off x="5518954" y="526097"/>
            <a:ext cx="1878489" cy="830997"/>
          </a:xfrm>
          <a:prstGeom prst="rect">
            <a:avLst/>
          </a:prstGeom>
          <a:noFill/>
          <a:ln>
            <a:noFill/>
          </a:ln>
        </p:spPr>
        <p:txBody>
          <a:bodyPr spcFirstLastPara="1" wrap="square" lIns="91425" tIns="45700" rIns="91425" bIns="45700" anchor="t" anchorCtr="0">
            <a:noAutofit/>
          </a:bodyPr>
          <a:lstStyle/>
          <a:p>
            <a:pPr algn="ctr"/>
            <a:r>
              <a:rPr lang="en-US" sz="2400" dirty="0">
                <a:solidFill>
                  <a:schemeClr val="tx1">
                    <a:lumMod val="75000"/>
                    <a:lumOff val="25000"/>
                  </a:schemeClr>
                </a:solidFill>
                <a:ea typeface="Arial"/>
                <a:cs typeface="Arial"/>
                <a:sym typeface="Arial"/>
              </a:rPr>
              <a:t>What is that </a:t>
            </a:r>
            <a:endParaRPr sz="2400" dirty="0">
              <a:solidFill>
                <a:schemeClr val="tx1">
                  <a:lumMod val="75000"/>
                  <a:lumOff val="25000"/>
                </a:schemeClr>
              </a:solidFill>
            </a:endParaRPr>
          </a:p>
          <a:p>
            <a:pPr algn="ctr"/>
            <a:r>
              <a:rPr lang="en-US" sz="2400" dirty="0">
                <a:solidFill>
                  <a:schemeClr val="tx1">
                    <a:lumMod val="75000"/>
                    <a:lumOff val="25000"/>
                  </a:schemeClr>
                </a:solidFill>
                <a:ea typeface="Arial"/>
                <a:cs typeface="Arial"/>
                <a:sym typeface="Arial"/>
              </a:rPr>
              <a:t>story about?</a:t>
            </a:r>
            <a:endParaRPr sz="2400" dirty="0">
              <a:solidFill>
                <a:schemeClr val="tx1">
                  <a:lumMod val="75000"/>
                  <a:lumOff val="25000"/>
                </a:schemeClr>
              </a:solidFill>
              <a:ea typeface="Arial"/>
              <a:cs typeface="Arial"/>
              <a:sym typeface="Arial"/>
            </a:endParaRPr>
          </a:p>
        </p:txBody>
      </p:sp>
      <p:pic>
        <p:nvPicPr>
          <p:cNvPr id="204" name="Google Shape;204;p26"/>
          <p:cNvPicPr preferRelativeResize="0"/>
          <p:nvPr/>
        </p:nvPicPr>
        <p:blipFill rotWithShape="1">
          <a:blip r:embed="rId5">
            <a:alphaModFix/>
          </a:blip>
          <a:srcRect/>
          <a:stretch/>
        </p:blipFill>
        <p:spPr>
          <a:xfrm>
            <a:off x="9310255" y="2493819"/>
            <a:ext cx="914400" cy="914400"/>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08"/>
        <p:cNvGrpSpPr/>
        <p:nvPr/>
      </p:nvGrpSpPr>
      <p:grpSpPr>
        <a:xfrm>
          <a:off x="0" y="0"/>
          <a:ext cx="0" cy="0"/>
          <a:chOff x="0" y="0"/>
          <a:chExt cx="0" cy="0"/>
        </a:xfrm>
      </p:grpSpPr>
      <p:pic>
        <p:nvPicPr>
          <p:cNvPr id="209" name="Google Shape;209;p27"/>
          <p:cNvPicPr preferRelativeResize="0"/>
          <p:nvPr/>
        </p:nvPicPr>
        <p:blipFill rotWithShape="1">
          <a:blip r:embed="rId3">
            <a:alphaModFix/>
          </a:blip>
          <a:srcRect/>
          <a:stretch/>
        </p:blipFill>
        <p:spPr>
          <a:xfrm>
            <a:off x="4904114" y="1817278"/>
            <a:ext cx="2279613" cy="4279274"/>
          </a:xfrm>
          <a:prstGeom prst="rect">
            <a:avLst/>
          </a:prstGeom>
          <a:noFill/>
          <a:ln>
            <a:noFill/>
          </a:ln>
        </p:spPr>
      </p:pic>
      <p:pic>
        <p:nvPicPr>
          <p:cNvPr id="210" name="Google Shape;210;p27"/>
          <p:cNvPicPr preferRelativeResize="0"/>
          <p:nvPr/>
        </p:nvPicPr>
        <p:blipFill rotWithShape="1">
          <a:blip r:embed="rId4">
            <a:alphaModFix/>
          </a:blip>
          <a:srcRect/>
          <a:stretch/>
        </p:blipFill>
        <p:spPr>
          <a:xfrm>
            <a:off x="8288824" y="1842657"/>
            <a:ext cx="980199" cy="4267200"/>
          </a:xfrm>
          <a:prstGeom prst="rect">
            <a:avLst/>
          </a:prstGeom>
          <a:noFill/>
          <a:ln>
            <a:noFill/>
          </a:ln>
        </p:spPr>
      </p:pic>
      <p:sp>
        <p:nvSpPr>
          <p:cNvPr id="211" name="Google Shape;211;p27"/>
          <p:cNvSpPr/>
          <p:nvPr/>
        </p:nvSpPr>
        <p:spPr>
          <a:xfrm>
            <a:off x="5403496" y="392034"/>
            <a:ext cx="3023809" cy="1320800"/>
          </a:xfrm>
          <a:prstGeom prst="wedgeEllipseCallout">
            <a:avLst>
              <a:gd name="adj1" fmla="val -17979"/>
              <a:gd name="adj2" fmla="val 74635"/>
            </a:avLst>
          </a:prstGeom>
          <a:solidFill>
            <a:schemeClr val="lt1"/>
          </a:solidFill>
          <a:ln w="2540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endParaRPr/>
          </a:p>
        </p:txBody>
      </p:sp>
      <p:sp>
        <p:nvSpPr>
          <p:cNvPr id="212" name="Google Shape;212;p27"/>
          <p:cNvSpPr/>
          <p:nvPr/>
        </p:nvSpPr>
        <p:spPr>
          <a:xfrm>
            <a:off x="9081656" y="798200"/>
            <a:ext cx="1752600" cy="1320800"/>
          </a:xfrm>
          <a:prstGeom prst="wedgeEllipseCallout">
            <a:avLst>
              <a:gd name="adj1" fmla="val -43345"/>
              <a:gd name="adj2" fmla="val 57833"/>
            </a:avLst>
          </a:prstGeom>
          <a:solidFill>
            <a:schemeClr val="lt1"/>
          </a:solidFill>
          <a:ln w="2540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endParaRPr/>
          </a:p>
        </p:txBody>
      </p:sp>
      <p:grpSp>
        <p:nvGrpSpPr>
          <p:cNvPr id="213" name="Google Shape;213;p27"/>
          <p:cNvGrpSpPr/>
          <p:nvPr/>
        </p:nvGrpSpPr>
        <p:grpSpPr>
          <a:xfrm>
            <a:off x="9538856" y="1004457"/>
            <a:ext cx="852066" cy="870048"/>
            <a:chOff x="6894869" y="2621129"/>
            <a:chExt cx="852066" cy="870048"/>
          </a:xfrm>
        </p:grpSpPr>
        <p:sp>
          <p:nvSpPr>
            <p:cNvPr id="214" name="Google Shape;214;p27"/>
            <p:cNvSpPr/>
            <p:nvPr/>
          </p:nvSpPr>
          <p:spPr>
            <a:xfrm>
              <a:off x="7092302" y="2621129"/>
              <a:ext cx="457200" cy="457200"/>
            </a:xfrm>
            <a:prstGeom prst="ellipse">
              <a:avLst/>
            </a:prstGeom>
            <a:solidFill>
              <a:schemeClr val="dk2"/>
            </a:solidFill>
            <a:ln w="44450" cap="flat" cmpd="sng">
              <a:solidFill>
                <a:srgbClr val="000000"/>
              </a:solidFill>
              <a:prstDash val="solid"/>
              <a:round/>
              <a:headEnd type="none" w="sm" len="sm"/>
              <a:tailEnd type="none" w="sm" len="sm"/>
            </a:ln>
          </p:spPr>
          <p:txBody>
            <a:bodyPr spcFirstLastPara="1" wrap="square" lIns="91425" tIns="45700" rIns="91425" bIns="45700" anchor="ctr" anchorCtr="0">
              <a:noAutofit/>
            </a:bodyPr>
            <a:lstStyle/>
            <a:p>
              <a:pPr algn="ctr"/>
              <a:endParaRPr>
                <a:solidFill>
                  <a:schemeClr val="lt1"/>
                </a:solidFill>
                <a:latin typeface="Arial"/>
                <a:ea typeface="Arial"/>
                <a:cs typeface="Arial"/>
                <a:sym typeface="Arial"/>
              </a:endParaRPr>
            </a:p>
          </p:txBody>
        </p:sp>
        <p:sp>
          <p:nvSpPr>
            <p:cNvPr id="215" name="Google Shape;215;p27"/>
            <p:cNvSpPr txBox="1"/>
            <p:nvPr/>
          </p:nvSpPr>
          <p:spPr>
            <a:xfrm>
              <a:off x="6894869" y="3029512"/>
              <a:ext cx="852066" cy="461665"/>
            </a:xfrm>
            <a:prstGeom prst="rect">
              <a:avLst/>
            </a:prstGeom>
            <a:noFill/>
            <a:ln>
              <a:noFill/>
            </a:ln>
          </p:spPr>
          <p:txBody>
            <a:bodyPr spcFirstLastPara="1" wrap="square" lIns="91425" tIns="45700" rIns="91425" bIns="45700" anchor="t" anchorCtr="0">
              <a:noAutofit/>
            </a:bodyPr>
            <a:lstStyle>
              <a:defPPr>
                <a:defRPr lang="en-US"/>
              </a:defPPr>
              <a:lvl1pPr algn="ctr">
                <a:defRPr sz="2400">
                  <a:solidFill>
                    <a:schemeClr val="tx1">
                      <a:lumMod val="75000"/>
                      <a:lumOff val="25000"/>
                    </a:schemeClr>
                  </a:solidFill>
                  <a:ea typeface="Arial"/>
                  <a:cs typeface="Arial"/>
                </a:defRPr>
              </a:lvl1pPr>
            </a:lstStyle>
            <a:p>
              <a:r>
                <a:rPr lang="en-US" dirty="0">
                  <a:sym typeface="Arial"/>
                </a:rPr>
                <a:t>point</a:t>
              </a:r>
              <a:endParaRPr dirty="0">
                <a:sym typeface="Arial"/>
              </a:endParaRPr>
            </a:p>
          </p:txBody>
        </p:sp>
      </p:grpSp>
      <p:sp>
        <p:nvSpPr>
          <p:cNvPr id="216" name="Google Shape;216;p27"/>
          <p:cNvSpPr txBox="1"/>
          <p:nvPr/>
        </p:nvSpPr>
        <p:spPr>
          <a:xfrm>
            <a:off x="6008253" y="623458"/>
            <a:ext cx="1878489" cy="830997"/>
          </a:xfrm>
          <a:prstGeom prst="rect">
            <a:avLst/>
          </a:prstGeom>
          <a:noFill/>
          <a:ln>
            <a:noFill/>
          </a:ln>
        </p:spPr>
        <p:txBody>
          <a:bodyPr spcFirstLastPara="1" wrap="square" lIns="91425" tIns="45700" rIns="91425" bIns="45700" anchor="t" anchorCtr="0">
            <a:noAutofit/>
          </a:bodyPr>
          <a:lstStyle>
            <a:defPPr>
              <a:defRPr lang="en-US"/>
            </a:defPPr>
            <a:lvl1pPr algn="ctr">
              <a:defRPr sz="2400">
                <a:solidFill>
                  <a:schemeClr val="tx1">
                    <a:lumMod val="75000"/>
                    <a:lumOff val="25000"/>
                  </a:schemeClr>
                </a:solidFill>
                <a:ea typeface="Arial"/>
                <a:cs typeface="Arial"/>
              </a:defRPr>
            </a:lvl1pPr>
          </a:lstStyle>
          <a:p>
            <a:r>
              <a:rPr lang="en-US" dirty="0">
                <a:sym typeface="Arial"/>
              </a:rPr>
              <a:t>What is that </a:t>
            </a:r>
            <a:endParaRPr dirty="0"/>
          </a:p>
          <a:p>
            <a:r>
              <a:rPr lang="en-US" dirty="0">
                <a:sym typeface="Arial"/>
              </a:rPr>
              <a:t>story about?</a:t>
            </a:r>
            <a:endParaRPr dirty="0">
              <a:sym typeface="Arial"/>
            </a:endParaRPr>
          </a:p>
        </p:txBody>
      </p:sp>
      <p:pic>
        <p:nvPicPr>
          <p:cNvPr id="217" name="Google Shape;217;p27"/>
          <p:cNvPicPr preferRelativeResize="0"/>
          <p:nvPr/>
        </p:nvPicPr>
        <p:blipFill rotWithShape="1">
          <a:blip r:embed="rId5">
            <a:alphaModFix/>
          </a:blip>
          <a:srcRect/>
          <a:stretch/>
        </p:blipFill>
        <p:spPr>
          <a:xfrm flipH="1">
            <a:off x="8014856" y="3595257"/>
            <a:ext cx="609600" cy="914400"/>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21"/>
        <p:cNvGrpSpPr/>
        <p:nvPr/>
      </p:nvGrpSpPr>
      <p:grpSpPr>
        <a:xfrm>
          <a:off x="0" y="0"/>
          <a:ext cx="0" cy="0"/>
          <a:chOff x="0" y="0"/>
          <a:chExt cx="0" cy="0"/>
        </a:xfrm>
      </p:grpSpPr>
      <p:grpSp>
        <p:nvGrpSpPr>
          <p:cNvPr id="222" name="Google Shape;222;p28"/>
          <p:cNvGrpSpPr/>
          <p:nvPr/>
        </p:nvGrpSpPr>
        <p:grpSpPr>
          <a:xfrm>
            <a:off x="3100384" y="-559457"/>
            <a:ext cx="2830290" cy="8536878"/>
            <a:chOff x="-197002" y="-544286"/>
            <a:chExt cx="2830290" cy="6402658"/>
          </a:xfrm>
        </p:grpSpPr>
        <p:cxnSp>
          <p:nvCxnSpPr>
            <p:cNvPr id="223" name="Google Shape;223;p28"/>
            <p:cNvCxnSpPr/>
            <p:nvPr/>
          </p:nvCxnSpPr>
          <p:spPr>
            <a:xfrm rot="5400000" flipH="1">
              <a:off x="1226090" y="-80520"/>
              <a:ext cx="1870964" cy="943432"/>
            </a:xfrm>
            <a:prstGeom prst="straightConnector1">
              <a:avLst/>
            </a:prstGeom>
            <a:noFill/>
            <a:ln w="26425" cap="flat" cmpd="sng">
              <a:solidFill>
                <a:srgbClr val="FFFF00"/>
              </a:solidFill>
              <a:prstDash val="solid"/>
              <a:round/>
              <a:headEnd type="none" w="sm" len="sm"/>
              <a:tailEnd type="none" w="sm" len="sm"/>
            </a:ln>
          </p:spPr>
        </p:cxnSp>
        <p:cxnSp>
          <p:nvCxnSpPr>
            <p:cNvPr id="224" name="Google Shape;224;p28"/>
            <p:cNvCxnSpPr/>
            <p:nvPr/>
          </p:nvCxnSpPr>
          <p:spPr>
            <a:xfrm rot="10800000">
              <a:off x="1" y="1"/>
              <a:ext cx="1886857" cy="1632857"/>
            </a:xfrm>
            <a:prstGeom prst="straightConnector1">
              <a:avLst/>
            </a:prstGeom>
            <a:noFill/>
            <a:ln w="26425" cap="flat" cmpd="sng">
              <a:solidFill>
                <a:srgbClr val="FFFF00"/>
              </a:solidFill>
              <a:prstDash val="solid"/>
              <a:round/>
              <a:headEnd type="none" w="sm" len="sm"/>
              <a:tailEnd type="none" w="sm" len="sm"/>
            </a:ln>
          </p:spPr>
        </p:cxnSp>
        <p:cxnSp>
          <p:nvCxnSpPr>
            <p:cNvPr id="225" name="Google Shape;225;p28"/>
            <p:cNvCxnSpPr/>
            <p:nvPr/>
          </p:nvCxnSpPr>
          <p:spPr>
            <a:xfrm rot="10800000">
              <a:off x="1" y="1218136"/>
              <a:ext cx="1689857" cy="1062851"/>
            </a:xfrm>
            <a:prstGeom prst="straightConnector1">
              <a:avLst/>
            </a:prstGeom>
            <a:noFill/>
            <a:ln w="26425" cap="flat" cmpd="sng">
              <a:solidFill>
                <a:srgbClr val="FFFF00"/>
              </a:solidFill>
              <a:prstDash val="solid"/>
              <a:round/>
              <a:headEnd type="none" w="sm" len="sm"/>
              <a:tailEnd type="none" w="sm" len="sm"/>
            </a:ln>
          </p:spPr>
        </p:cxnSp>
        <p:cxnSp>
          <p:nvCxnSpPr>
            <p:cNvPr id="226" name="Google Shape;226;p28"/>
            <p:cNvCxnSpPr/>
            <p:nvPr/>
          </p:nvCxnSpPr>
          <p:spPr>
            <a:xfrm rot="10800000">
              <a:off x="-196999" y="2850993"/>
              <a:ext cx="1886858" cy="1"/>
            </a:xfrm>
            <a:prstGeom prst="straightConnector1">
              <a:avLst/>
            </a:prstGeom>
            <a:noFill/>
            <a:ln w="26425" cap="flat" cmpd="sng">
              <a:solidFill>
                <a:srgbClr val="FFFF00"/>
              </a:solidFill>
              <a:prstDash val="solid"/>
              <a:round/>
              <a:headEnd type="none" w="sm" len="sm"/>
              <a:tailEnd type="none" w="sm" len="sm"/>
            </a:ln>
          </p:spPr>
        </p:cxnSp>
        <p:cxnSp>
          <p:nvCxnSpPr>
            <p:cNvPr id="227" name="Google Shape;227;p28"/>
            <p:cNvCxnSpPr/>
            <p:nvPr/>
          </p:nvCxnSpPr>
          <p:spPr>
            <a:xfrm flipH="1">
              <a:off x="-197002" y="3500101"/>
              <a:ext cx="1886858" cy="827488"/>
            </a:xfrm>
            <a:prstGeom prst="straightConnector1">
              <a:avLst/>
            </a:prstGeom>
            <a:noFill/>
            <a:ln w="26425" cap="flat" cmpd="sng">
              <a:solidFill>
                <a:srgbClr val="FFFF00"/>
              </a:solidFill>
              <a:prstDash val="solid"/>
              <a:round/>
              <a:headEnd type="none" w="sm" len="sm"/>
              <a:tailEnd type="none" w="sm" len="sm"/>
            </a:ln>
          </p:spPr>
        </p:cxnSp>
        <p:cxnSp>
          <p:nvCxnSpPr>
            <p:cNvPr id="228" name="Google Shape;228;p28"/>
            <p:cNvCxnSpPr/>
            <p:nvPr/>
          </p:nvCxnSpPr>
          <p:spPr>
            <a:xfrm rot="5400000">
              <a:off x="410665" y="4579182"/>
              <a:ext cx="1429744" cy="1128637"/>
            </a:xfrm>
            <a:prstGeom prst="straightConnector1">
              <a:avLst/>
            </a:prstGeom>
            <a:noFill/>
            <a:ln w="26425" cap="flat" cmpd="sng">
              <a:solidFill>
                <a:srgbClr val="FFFF00"/>
              </a:solidFill>
              <a:prstDash val="solid"/>
              <a:round/>
              <a:headEnd type="none" w="sm" len="sm"/>
              <a:tailEnd type="none" w="sm" len="sm"/>
            </a:ln>
          </p:spPr>
        </p:cxnSp>
      </p:grpSp>
      <p:grpSp>
        <p:nvGrpSpPr>
          <p:cNvPr id="229" name="Google Shape;229;p28"/>
          <p:cNvGrpSpPr/>
          <p:nvPr/>
        </p:nvGrpSpPr>
        <p:grpSpPr>
          <a:xfrm rot="10345207">
            <a:off x="9176960" y="-848335"/>
            <a:ext cx="3731425" cy="8536878"/>
            <a:chOff x="-1098137" y="-544286"/>
            <a:chExt cx="3731425" cy="6402658"/>
          </a:xfrm>
        </p:grpSpPr>
        <p:cxnSp>
          <p:nvCxnSpPr>
            <p:cNvPr id="230" name="Google Shape;230;p28"/>
            <p:cNvCxnSpPr/>
            <p:nvPr/>
          </p:nvCxnSpPr>
          <p:spPr>
            <a:xfrm rot="5400000" flipH="1">
              <a:off x="1226090" y="-80520"/>
              <a:ext cx="1870964" cy="943432"/>
            </a:xfrm>
            <a:prstGeom prst="straightConnector1">
              <a:avLst/>
            </a:prstGeom>
            <a:noFill/>
            <a:ln w="26425" cap="flat" cmpd="sng">
              <a:solidFill>
                <a:srgbClr val="FFFF00"/>
              </a:solidFill>
              <a:prstDash val="solid"/>
              <a:round/>
              <a:headEnd type="none" w="sm" len="sm"/>
              <a:tailEnd type="none" w="sm" len="sm"/>
            </a:ln>
          </p:spPr>
        </p:cxnSp>
        <p:cxnSp>
          <p:nvCxnSpPr>
            <p:cNvPr id="231" name="Google Shape;231;p28"/>
            <p:cNvCxnSpPr/>
            <p:nvPr/>
          </p:nvCxnSpPr>
          <p:spPr>
            <a:xfrm rot="-10345207">
              <a:off x="-392914" y="-25172"/>
              <a:ext cx="2896906" cy="1790600"/>
            </a:xfrm>
            <a:prstGeom prst="straightConnector1">
              <a:avLst/>
            </a:prstGeom>
            <a:noFill/>
            <a:ln w="26425" cap="flat" cmpd="sng">
              <a:solidFill>
                <a:srgbClr val="FFFF00"/>
              </a:solidFill>
              <a:prstDash val="solid"/>
              <a:round/>
              <a:headEnd type="none" w="sm" len="sm"/>
              <a:tailEnd type="none" w="sm" len="sm"/>
            </a:ln>
          </p:spPr>
        </p:cxnSp>
        <p:cxnSp>
          <p:nvCxnSpPr>
            <p:cNvPr id="232" name="Google Shape;232;p28"/>
            <p:cNvCxnSpPr/>
            <p:nvPr/>
          </p:nvCxnSpPr>
          <p:spPr>
            <a:xfrm rot="-10345207">
              <a:off x="-714336" y="1586224"/>
              <a:ext cx="2916648" cy="649107"/>
            </a:xfrm>
            <a:prstGeom prst="straightConnector1">
              <a:avLst/>
            </a:prstGeom>
            <a:noFill/>
            <a:ln w="26425" cap="flat" cmpd="sng">
              <a:solidFill>
                <a:srgbClr val="FFFF00"/>
              </a:solidFill>
              <a:prstDash val="solid"/>
              <a:round/>
              <a:headEnd type="none" w="sm" len="sm"/>
              <a:tailEnd type="none" w="sm" len="sm"/>
            </a:ln>
          </p:spPr>
        </p:cxnSp>
        <p:cxnSp>
          <p:nvCxnSpPr>
            <p:cNvPr id="233" name="Google Shape;233;p28"/>
            <p:cNvCxnSpPr/>
            <p:nvPr/>
          </p:nvCxnSpPr>
          <p:spPr>
            <a:xfrm rot="454793" flipH="1">
              <a:off x="-842992" y="2796816"/>
              <a:ext cx="2916648" cy="161562"/>
            </a:xfrm>
            <a:prstGeom prst="straightConnector1">
              <a:avLst/>
            </a:prstGeom>
            <a:noFill/>
            <a:ln w="26425" cap="flat" cmpd="sng">
              <a:solidFill>
                <a:srgbClr val="FFFF00"/>
              </a:solidFill>
              <a:prstDash val="solid"/>
              <a:round/>
              <a:headEnd type="none" w="sm" len="sm"/>
              <a:tailEnd type="none" w="sm" len="sm"/>
            </a:ln>
          </p:spPr>
        </p:cxnSp>
        <p:cxnSp>
          <p:nvCxnSpPr>
            <p:cNvPr id="234" name="Google Shape;234;p28"/>
            <p:cNvCxnSpPr/>
            <p:nvPr/>
          </p:nvCxnSpPr>
          <p:spPr>
            <a:xfrm rot="454793" flipH="1">
              <a:off x="-1008992" y="3352637"/>
              <a:ext cx="3078335" cy="1555547"/>
            </a:xfrm>
            <a:prstGeom prst="straightConnector1">
              <a:avLst/>
            </a:prstGeom>
            <a:noFill/>
            <a:ln w="26425" cap="flat" cmpd="sng">
              <a:solidFill>
                <a:srgbClr val="FFFF00"/>
              </a:solidFill>
              <a:prstDash val="solid"/>
              <a:round/>
              <a:headEnd type="none" w="sm" len="sm"/>
              <a:tailEnd type="none" w="sm" len="sm"/>
            </a:ln>
          </p:spPr>
        </p:cxnSp>
        <p:cxnSp>
          <p:nvCxnSpPr>
            <p:cNvPr id="235" name="Google Shape;235;p28"/>
            <p:cNvCxnSpPr/>
            <p:nvPr/>
          </p:nvCxnSpPr>
          <p:spPr>
            <a:xfrm rot="5400000">
              <a:off x="410665" y="4579182"/>
              <a:ext cx="1429744" cy="1128637"/>
            </a:xfrm>
            <a:prstGeom prst="straightConnector1">
              <a:avLst/>
            </a:prstGeom>
            <a:noFill/>
            <a:ln w="26425" cap="flat" cmpd="sng">
              <a:solidFill>
                <a:srgbClr val="FFFF00"/>
              </a:solidFill>
              <a:prstDash val="solid"/>
              <a:round/>
              <a:headEnd type="none" w="sm" len="sm"/>
              <a:tailEnd type="none" w="sm" len="sm"/>
            </a:ln>
          </p:spPr>
        </p:cxnSp>
      </p:grpSp>
      <p:pic>
        <p:nvPicPr>
          <p:cNvPr id="236" name="Google Shape;236;p28"/>
          <p:cNvPicPr preferRelativeResize="0"/>
          <p:nvPr/>
        </p:nvPicPr>
        <p:blipFill rotWithShape="1">
          <a:blip r:embed="rId3">
            <a:alphaModFix/>
          </a:blip>
          <a:srcRect/>
          <a:stretch/>
        </p:blipFill>
        <p:spPr>
          <a:xfrm>
            <a:off x="4987244" y="1817278"/>
            <a:ext cx="2279613" cy="4279274"/>
          </a:xfrm>
          <a:prstGeom prst="rect">
            <a:avLst/>
          </a:prstGeom>
          <a:noFill/>
          <a:ln>
            <a:noFill/>
          </a:ln>
        </p:spPr>
      </p:pic>
      <p:sp>
        <p:nvSpPr>
          <p:cNvPr id="237" name="Google Shape;237;p28"/>
          <p:cNvSpPr/>
          <p:nvPr/>
        </p:nvSpPr>
        <p:spPr>
          <a:xfrm>
            <a:off x="5486626" y="392034"/>
            <a:ext cx="3023809" cy="1320800"/>
          </a:xfrm>
          <a:prstGeom prst="wedgeEllipseCallout">
            <a:avLst>
              <a:gd name="adj1" fmla="val -17979"/>
              <a:gd name="adj2" fmla="val 74635"/>
            </a:avLst>
          </a:prstGeom>
          <a:solidFill>
            <a:schemeClr val="lt1"/>
          </a:solidFill>
          <a:ln w="2540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endParaRPr/>
          </a:p>
        </p:txBody>
      </p:sp>
      <p:pic>
        <p:nvPicPr>
          <p:cNvPr id="238" name="Google Shape;238;p28"/>
          <p:cNvPicPr preferRelativeResize="0"/>
          <p:nvPr/>
        </p:nvPicPr>
        <p:blipFill rotWithShape="1">
          <a:blip r:embed="rId4">
            <a:alphaModFix/>
          </a:blip>
          <a:srcRect/>
          <a:stretch/>
        </p:blipFill>
        <p:spPr>
          <a:xfrm>
            <a:off x="8371954" y="1842657"/>
            <a:ext cx="980199" cy="4267200"/>
          </a:xfrm>
          <a:prstGeom prst="rect">
            <a:avLst/>
          </a:prstGeom>
          <a:noFill/>
          <a:ln>
            <a:noFill/>
          </a:ln>
        </p:spPr>
      </p:pic>
      <p:sp>
        <p:nvSpPr>
          <p:cNvPr id="239" name="Google Shape;239;p28"/>
          <p:cNvSpPr/>
          <p:nvPr/>
        </p:nvSpPr>
        <p:spPr>
          <a:xfrm>
            <a:off x="9164786" y="798200"/>
            <a:ext cx="1752600" cy="1320800"/>
          </a:xfrm>
          <a:prstGeom prst="wedgeEllipseCallout">
            <a:avLst>
              <a:gd name="adj1" fmla="val -43345"/>
              <a:gd name="adj2" fmla="val 57833"/>
            </a:avLst>
          </a:prstGeom>
          <a:solidFill>
            <a:schemeClr val="lt1"/>
          </a:solidFill>
          <a:ln w="2540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endParaRPr/>
          </a:p>
        </p:txBody>
      </p:sp>
      <p:grpSp>
        <p:nvGrpSpPr>
          <p:cNvPr id="240" name="Google Shape;240;p28"/>
          <p:cNvGrpSpPr/>
          <p:nvPr/>
        </p:nvGrpSpPr>
        <p:grpSpPr>
          <a:xfrm>
            <a:off x="9621986" y="1004457"/>
            <a:ext cx="852066" cy="870048"/>
            <a:chOff x="6894869" y="2621129"/>
            <a:chExt cx="852066" cy="870048"/>
          </a:xfrm>
        </p:grpSpPr>
        <p:sp>
          <p:nvSpPr>
            <p:cNvPr id="241" name="Google Shape;241;p28"/>
            <p:cNvSpPr/>
            <p:nvPr/>
          </p:nvSpPr>
          <p:spPr>
            <a:xfrm>
              <a:off x="7092302" y="2621129"/>
              <a:ext cx="457200" cy="457200"/>
            </a:xfrm>
            <a:prstGeom prst="ellipse">
              <a:avLst/>
            </a:prstGeom>
            <a:solidFill>
              <a:schemeClr val="dk2"/>
            </a:solidFill>
            <a:ln w="44450" cap="flat" cmpd="sng">
              <a:solidFill>
                <a:srgbClr val="000000"/>
              </a:solidFill>
              <a:prstDash val="solid"/>
              <a:round/>
              <a:headEnd type="none" w="sm" len="sm"/>
              <a:tailEnd type="none" w="sm" len="sm"/>
            </a:ln>
          </p:spPr>
          <p:txBody>
            <a:bodyPr spcFirstLastPara="1" wrap="square" lIns="91425" tIns="45700" rIns="91425" bIns="45700" anchor="ctr" anchorCtr="0">
              <a:noAutofit/>
            </a:bodyPr>
            <a:lstStyle/>
            <a:p>
              <a:pPr algn="ctr"/>
              <a:endParaRPr>
                <a:solidFill>
                  <a:schemeClr val="lt1"/>
                </a:solidFill>
                <a:latin typeface="Arial"/>
                <a:ea typeface="Arial"/>
                <a:cs typeface="Arial"/>
                <a:sym typeface="Arial"/>
              </a:endParaRPr>
            </a:p>
          </p:txBody>
        </p:sp>
        <p:sp>
          <p:nvSpPr>
            <p:cNvPr id="242" name="Google Shape;242;p28"/>
            <p:cNvSpPr txBox="1"/>
            <p:nvPr/>
          </p:nvSpPr>
          <p:spPr>
            <a:xfrm>
              <a:off x="6894869" y="3029512"/>
              <a:ext cx="852066" cy="461665"/>
            </a:xfrm>
            <a:prstGeom prst="rect">
              <a:avLst/>
            </a:prstGeom>
            <a:noFill/>
            <a:ln>
              <a:noFill/>
            </a:ln>
          </p:spPr>
          <p:txBody>
            <a:bodyPr spcFirstLastPara="1" wrap="square" lIns="91425" tIns="45700" rIns="91425" bIns="45700" anchor="t" anchorCtr="0">
              <a:noAutofit/>
            </a:bodyPr>
            <a:lstStyle>
              <a:defPPr>
                <a:defRPr lang="en-US"/>
              </a:defPPr>
              <a:lvl1pPr algn="ctr">
                <a:defRPr sz="2400">
                  <a:solidFill>
                    <a:schemeClr val="tx1">
                      <a:lumMod val="75000"/>
                      <a:lumOff val="25000"/>
                    </a:schemeClr>
                  </a:solidFill>
                  <a:ea typeface="Arial"/>
                  <a:cs typeface="Arial"/>
                </a:defRPr>
              </a:lvl1pPr>
            </a:lstStyle>
            <a:p>
              <a:r>
                <a:rPr lang="en-US" dirty="0">
                  <a:sym typeface="Arial"/>
                </a:rPr>
                <a:t>point</a:t>
              </a:r>
              <a:endParaRPr dirty="0">
                <a:sym typeface="Arial"/>
              </a:endParaRPr>
            </a:p>
          </p:txBody>
        </p:sp>
      </p:grpSp>
      <p:sp>
        <p:nvSpPr>
          <p:cNvPr id="243" name="Google Shape;243;p28"/>
          <p:cNvSpPr txBox="1"/>
          <p:nvPr/>
        </p:nvSpPr>
        <p:spPr>
          <a:xfrm>
            <a:off x="6091383" y="623458"/>
            <a:ext cx="1878489" cy="830997"/>
          </a:xfrm>
          <a:prstGeom prst="rect">
            <a:avLst/>
          </a:prstGeom>
          <a:noFill/>
          <a:ln>
            <a:noFill/>
          </a:ln>
        </p:spPr>
        <p:txBody>
          <a:bodyPr spcFirstLastPara="1" wrap="square" lIns="91425" tIns="45700" rIns="91425" bIns="45700" anchor="t" anchorCtr="0">
            <a:noAutofit/>
          </a:bodyPr>
          <a:lstStyle>
            <a:defPPr>
              <a:defRPr lang="en-US"/>
            </a:defPPr>
            <a:lvl1pPr algn="ctr">
              <a:defRPr sz="2400">
                <a:solidFill>
                  <a:schemeClr val="tx1">
                    <a:lumMod val="75000"/>
                    <a:lumOff val="25000"/>
                  </a:schemeClr>
                </a:solidFill>
                <a:ea typeface="Arial"/>
                <a:cs typeface="Arial"/>
              </a:defRPr>
            </a:lvl1pPr>
          </a:lstStyle>
          <a:p>
            <a:r>
              <a:rPr lang="en-US" dirty="0">
                <a:sym typeface="Arial"/>
              </a:rPr>
              <a:t>What is that </a:t>
            </a:r>
            <a:endParaRPr dirty="0"/>
          </a:p>
          <a:p>
            <a:r>
              <a:rPr lang="en-US" dirty="0">
                <a:sym typeface="Arial"/>
              </a:rPr>
              <a:t>story about?</a:t>
            </a:r>
            <a:endParaRPr dirty="0">
              <a:sym typeface="Arial"/>
            </a:endParaRPr>
          </a:p>
        </p:txBody>
      </p:sp>
      <p:pic>
        <p:nvPicPr>
          <p:cNvPr id="244" name="Google Shape;244;p28"/>
          <p:cNvPicPr preferRelativeResize="0"/>
          <p:nvPr/>
        </p:nvPicPr>
        <p:blipFill rotWithShape="1">
          <a:blip r:embed="rId5">
            <a:alphaModFix/>
          </a:blip>
          <a:srcRect/>
          <a:stretch/>
        </p:blipFill>
        <p:spPr>
          <a:xfrm flipH="1">
            <a:off x="8097986" y="3595257"/>
            <a:ext cx="609600" cy="914400"/>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49"/>
        <p:cNvGrpSpPr/>
        <p:nvPr/>
      </p:nvGrpSpPr>
      <p:grpSpPr>
        <a:xfrm>
          <a:off x="0" y="0"/>
          <a:ext cx="0" cy="0"/>
          <a:chOff x="0" y="0"/>
          <a:chExt cx="0" cy="0"/>
        </a:xfrm>
      </p:grpSpPr>
      <p:sp>
        <p:nvSpPr>
          <p:cNvPr id="250" name="Google Shape;250;p29"/>
          <p:cNvSpPr/>
          <p:nvPr/>
        </p:nvSpPr>
        <p:spPr>
          <a:xfrm>
            <a:off x="3394364" y="2854034"/>
            <a:ext cx="838200" cy="1143000"/>
          </a:xfrm>
          <a:prstGeom prst="roundRect">
            <a:avLst>
              <a:gd name="adj" fmla="val 16667"/>
            </a:avLst>
          </a:prstGeom>
          <a:solidFill>
            <a:schemeClr val="lt1"/>
          </a:solidFill>
          <a:ln>
            <a:noFill/>
          </a:ln>
          <a:effectLst>
            <a:outerShdw blurRad="38100" dist="25400" dir="2700000" algn="br" rotWithShape="0">
              <a:srgbClr val="000000">
                <a:alpha val="60000"/>
              </a:srgbClr>
            </a:outerShdw>
          </a:effectLst>
        </p:spPr>
        <p:txBody>
          <a:bodyPr spcFirstLastPara="1" wrap="square" lIns="91425" tIns="45700" rIns="91425" bIns="45700" anchor="ctr" anchorCtr="0">
            <a:noAutofit/>
          </a:bodyPr>
          <a:lstStyle/>
          <a:p>
            <a:pPr algn="ctr"/>
            <a:endParaRPr>
              <a:solidFill>
                <a:schemeClr val="lt1"/>
              </a:solidFill>
              <a:latin typeface="Arial"/>
              <a:ea typeface="Arial"/>
              <a:cs typeface="Arial"/>
              <a:sym typeface="Arial"/>
            </a:endParaRPr>
          </a:p>
        </p:txBody>
      </p:sp>
      <p:cxnSp>
        <p:nvCxnSpPr>
          <p:cNvPr id="251" name="Google Shape;251;p29"/>
          <p:cNvCxnSpPr/>
          <p:nvPr/>
        </p:nvCxnSpPr>
        <p:spPr>
          <a:xfrm flipH="1">
            <a:off x="3851564" y="3311234"/>
            <a:ext cx="1752600" cy="533400"/>
          </a:xfrm>
          <a:prstGeom prst="straightConnector1">
            <a:avLst/>
          </a:prstGeom>
          <a:noFill/>
          <a:ln w="76200" cap="rnd" cmpd="sng">
            <a:solidFill>
              <a:srgbClr val="000000"/>
            </a:solidFill>
            <a:prstDash val="solid"/>
            <a:round/>
            <a:headEnd type="none" w="sm" len="sm"/>
            <a:tailEnd type="none" w="sm" len="sm"/>
          </a:ln>
        </p:spPr>
      </p:cxnSp>
      <p:sp>
        <p:nvSpPr>
          <p:cNvPr id="252" name="Google Shape;252;p29"/>
          <p:cNvSpPr txBox="1"/>
          <p:nvPr/>
        </p:nvSpPr>
        <p:spPr>
          <a:xfrm>
            <a:off x="3394364" y="3463635"/>
            <a:ext cx="755110" cy="246221"/>
          </a:xfrm>
          <a:prstGeom prst="rect">
            <a:avLst/>
          </a:prstGeom>
          <a:noFill/>
          <a:ln>
            <a:noFill/>
          </a:ln>
        </p:spPr>
        <p:txBody>
          <a:bodyPr spcFirstLastPara="1" wrap="square" lIns="91425" tIns="45700" rIns="91425" bIns="45700" anchor="t" anchorCtr="0">
            <a:noAutofit/>
          </a:bodyPr>
          <a:lstStyle/>
          <a:p>
            <a:pPr algn="ctr"/>
            <a:r>
              <a:rPr lang="en-US" sz="1000">
                <a:solidFill>
                  <a:srgbClr val="000000"/>
                </a:solidFill>
                <a:latin typeface="Arial"/>
                <a:ea typeface="Arial"/>
                <a:cs typeface="Arial"/>
                <a:sym typeface="Arial"/>
              </a:rPr>
              <a:t>Beginning</a:t>
            </a:r>
            <a:endParaRPr sz="1000">
              <a:solidFill>
                <a:srgbClr val="000000"/>
              </a:solidFill>
              <a:latin typeface="Arial"/>
              <a:ea typeface="Arial"/>
              <a:cs typeface="Arial"/>
              <a:sym typeface="Arial"/>
            </a:endParaRPr>
          </a:p>
        </p:txBody>
      </p:sp>
      <p:sp>
        <p:nvSpPr>
          <p:cNvPr id="253" name="Google Shape;253;p29"/>
          <p:cNvSpPr txBox="1"/>
          <p:nvPr/>
        </p:nvSpPr>
        <p:spPr>
          <a:xfrm>
            <a:off x="4156364" y="3139724"/>
            <a:ext cx="633820" cy="400110"/>
          </a:xfrm>
          <a:prstGeom prst="rect">
            <a:avLst/>
          </a:prstGeom>
          <a:noFill/>
          <a:ln>
            <a:noFill/>
          </a:ln>
        </p:spPr>
        <p:txBody>
          <a:bodyPr spcFirstLastPara="1" wrap="square" lIns="91425" tIns="45700" rIns="91425" bIns="45700" anchor="t" anchorCtr="0">
            <a:noAutofit/>
          </a:bodyPr>
          <a:lstStyle/>
          <a:p>
            <a:pPr algn="ctr"/>
            <a:r>
              <a:rPr lang="en-US" sz="1000">
                <a:solidFill>
                  <a:schemeClr val="tx1">
                    <a:lumMod val="75000"/>
                    <a:lumOff val="25000"/>
                  </a:schemeClr>
                </a:solidFill>
                <a:ea typeface="Arial"/>
                <a:cs typeface="Arial"/>
                <a:sym typeface="Arial"/>
              </a:rPr>
              <a:t>Inciting</a:t>
            </a:r>
            <a:endParaRPr>
              <a:solidFill>
                <a:schemeClr val="tx1">
                  <a:lumMod val="75000"/>
                  <a:lumOff val="25000"/>
                </a:schemeClr>
              </a:solidFill>
            </a:endParaRPr>
          </a:p>
          <a:p>
            <a:pPr algn="ctr"/>
            <a:r>
              <a:rPr lang="en-US" sz="1000">
                <a:solidFill>
                  <a:schemeClr val="tx1">
                    <a:lumMod val="75000"/>
                    <a:lumOff val="25000"/>
                  </a:schemeClr>
                </a:solidFill>
                <a:ea typeface="Arial"/>
                <a:cs typeface="Arial"/>
                <a:sym typeface="Arial"/>
              </a:rPr>
              <a:t>Incident</a:t>
            </a:r>
            <a:endParaRPr sz="1000">
              <a:solidFill>
                <a:schemeClr val="tx1">
                  <a:lumMod val="75000"/>
                  <a:lumOff val="25000"/>
                </a:schemeClr>
              </a:solidFill>
              <a:ea typeface="Arial"/>
              <a:cs typeface="Arial"/>
              <a:sym typeface="Arial"/>
            </a:endParaRPr>
          </a:p>
        </p:txBody>
      </p:sp>
      <p:sp>
        <p:nvSpPr>
          <p:cNvPr id="254" name="Google Shape;254;p29"/>
          <p:cNvSpPr txBox="1"/>
          <p:nvPr/>
        </p:nvSpPr>
        <p:spPr>
          <a:xfrm>
            <a:off x="4765965" y="2930234"/>
            <a:ext cx="719355" cy="400110"/>
          </a:xfrm>
          <a:prstGeom prst="rect">
            <a:avLst/>
          </a:prstGeom>
          <a:noFill/>
          <a:ln>
            <a:noFill/>
          </a:ln>
        </p:spPr>
        <p:txBody>
          <a:bodyPr spcFirstLastPara="1" wrap="square" lIns="91425" tIns="45700" rIns="91425" bIns="45700" anchor="t" anchorCtr="0">
            <a:noAutofit/>
          </a:bodyPr>
          <a:lstStyle/>
          <a:p>
            <a:pPr algn="ctr"/>
            <a:r>
              <a:rPr lang="en-US" sz="1000">
                <a:solidFill>
                  <a:schemeClr val="tx1">
                    <a:lumMod val="75000"/>
                    <a:lumOff val="25000"/>
                  </a:schemeClr>
                </a:solidFill>
                <a:ea typeface="Arial"/>
                <a:cs typeface="Arial"/>
                <a:sym typeface="Arial"/>
              </a:rPr>
              <a:t>Second</a:t>
            </a:r>
            <a:endParaRPr>
              <a:solidFill>
                <a:schemeClr val="tx1">
                  <a:lumMod val="75000"/>
                  <a:lumOff val="25000"/>
                </a:schemeClr>
              </a:solidFill>
            </a:endParaRPr>
          </a:p>
          <a:p>
            <a:pPr algn="ctr"/>
            <a:r>
              <a:rPr lang="en-US" sz="1000">
                <a:solidFill>
                  <a:schemeClr val="tx1">
                    <a:lumMod val="75000"/>
                    <a:lumOff val="25000"/>
                  </a:schemeClr>
                </a:solidFill>
                <a:ea typeface="Arial"/>
                <a:cs typeface="Arial"/>
                <a:sym typeface="Arial"/>
              </a:rPr>
              <a:t>Thoughts</a:t>
            </a:r>
            <a:endParaRPr sz="1000">
              <a:solidFill>
                <a:schemeClr val="tx1">
                  <a:lumMod val="75000"/>
                  <a:lumOff val="25000"/>
                </a:schemeClr>
              </a:solidFill>
              <a:ea typeface="Arial"/>
              <a:cs typeface="Arial"/>
              <a:sym typeface="Arial"/>
            </a:endParaRPr>
          </a:p>
        </p:txBody>
      </p:sp>
      <p:cxnSp>
        <p:nvCxnSpPr>
          <p:cNvPr id="256" name="Google Shape;256;p29"/>
          <p:cNvCxnSpPr/>
          <p:nvPr/>
        </p:nvCxnSpPr>
        <p:spPr>
          <a:xfrm>
            <a:off x="3851564" y="3844634"/>
            <a:ext cx="1752600" cy="0"/>
          </a:xfrm>
          <a:prstGeom prst="straightConnector1">
            <a:avLst/>
          </a:prstGeom>
          <a:noFill/>
          <a:ln w="26425" cap="flat" cmpd="sng">
            <a:solidFill>
              <a:srgbClr val="000000"/>
            </a:solidFill>
            <a:prstDash val="solid"/>
            <a:round/>
            <a:headEnd type="none" w="sm" len="sm"/>
            <a:tailEnd type="none" w="sm" len="sm"/>
          </a:ln>
        </p:spPr>
      </p:cxnSp>
      <p:cxnSp>
        <p:nvCxnSpPr>
          <p:cNvPr id="257" name="Google Shape;257;p29"/>
          <p:cNvCxnSpPr/>
          <p:nvPr/>
        </p:nvCxnSpPr>
        <p:spPr>
          <a:xfrm>
            <a:off x="5604164" y="3844634"/>
            <a:ext cx="4114800" cy="0"/>
          </a:xfrm>
          <a:prstGeom prst="straightConnector1">
            <a:avLst/>
          </a:prstGeom>
          <a:noFill/>
          <a:ln w="26425" cap="flat" cmpd="sng">
            <a:solidFill>
              <a:srgbClr val="000000"/>
            </a:solidFill>
            <a:prstDash val="solid"/>
            <a:round/>
            <a:headEnd type="none" w="sm" len="sm"/>
            <a:tailEnd type="none" w="sm" len="sm"/>
          </a:ln>
        </p:spPr>
      </p:cxnSp>
      <p:cxnSp>
        <p:nvCxnSpPr>
          <p:cNvPr id="258" name="Google Shape;258;p29"/>
          <p:cNvCxnSpPr/>
          <p:nvPr/>
        </p:nvCxnSpPr>
        <p:spPr>
          <a:xfrm>
            <a:off x="9718964" y="3844634"/>
            <a:ext cx="1752600" cy="0"/>
          </a:xfrm>
          <a:prstGeom prst="straightConnector1">
            <a:avLst/>
          </a:prstGeom>
          <a:noFill/>
          <a:ln w="26425" cap="flat" cmpd="sng">
            <a:solidFill>
              <a:srgbClr val="000000"/>
            </a:solidFill>
            <a:prstDash val="solid"/>
            <a:round/>
            <a:headEnd type="none" w="sm" len="sm"/>
            <a:tailEnd type="none" w="sm" len="sm"/>
          </a:ln>
        </p:spPr>
      </p:cxnSp>
      <p:cxnSp>
        <p:nvCxnSpPr>
          <p:cNvPr id="259" name="Google Shape;259;p29"/>
          <p:cNvCxnSpPr/>
          <p:nvPr/>
        </p:nvCxnSpPr>
        <p:spPr>
          <a:xfrm>
            <a:off x="5604164" y="2930234"/>
            <a:ext cx="0" cy="1828800"/>
          </a:xfrm>
          <a:prstGeom prst="straightConnector1">
            <a:avLst/>
          </a:prstGeom>
          <a:noFill/>
          <a:ln w="26425" cap="flat" cmpd="sng">
            <a:solidFill>
              <a:srgbClr val="000000"/>
            </a:solidFill>
            <a:prstDash val="solid"/>
            <a:round/>
            <a:headEnd type="none" w="sm" len="sm"/>
            <a:tailEnd type="none" w="sm" len="sm"/>
          </a:ln>
        </p:spPr>
      </p:cxnSp>
      <p:cxnSp>
        <p:nvCxnSpPr>
          <p:cNvPr id="260" name="Google Shape;260;p29"/>
          <p:cNvCxnSpPr/>
          <p:nvPr/>
        </p:nvCxnSpPr>
        <p:spPr>
          <a:xfrm>
            <a:off x="9718964" y="1711034"/>
            <a:ext cx="0" cy="3048000"/>
          </a:xfrm>
          <a:prstGeom prst="straightConnector1">
            <a:avLst/>
          </a:prstGeom>
          <a:noFill/>
          <a:ln w="26425" cap="flat" cmpd="sng">
            <a:solidFill>
              <a:srgbClr val="000000"/>
            </a:solidFill>
            <a:prstDash val="solid"/>
            <a:round/>
            <a:headEnd type="none" w="sm" len="sm"/>
            <a:tailEnd type="none" w="sm" len="sm"/>
          </a:ln>
        </p:spPr>
      </p:cxnSp>
      <p:cxnSp>
        <p:nvCxnSpPr>
          <p:cNvPr id="261" name="Google Shape;261;p29"/>
          <p:cNvCxnSpPr/>
          <p:nvPr/>
        </p:nvCxnSpPr>
        <p:spPr>
          <a:xfrm>
            <a:off x="7661564" y="2146464"/>
            <a:ext cx="0" cy="2612571"/>
          </a:xfrm>
          <a:prstGeom prst="straightConnector1">
            <a:avLst/>
          </a:prstGeom>
          <a:noFill/>
          <a:ln w="26425" cap="flat" cmpd="sng">
            <a:solidFill>
              <a:srgbClr val="000000"/>
            </a:solidFill>
            <a:prstDash val="solid"/>
            <a:round/>
            <a:headEnd type="none" w="sm" len="sm"/>
            <a:tailEnd type="none" w="sm" len="sm"/>
          </a:ln>
        </p:spPr>
      </p:cxnSp>
      <p:cxnSp>
        <p:nvCxnSpPr>
          <p:cNvPr id="262" name="Google Shape;262;p29"/>
          <p:cNvCxnSpPr/>
          <p:nvPr/>
        </p:nvCxnSpPr>
        <p:spPr>
          <a:xfrm flipH="1">
            <a:off x="5604166" y="2058904"/>
            <a:ext cx="4114799" cy="1252331"/>
          </a:xfrm>
          <a:prstGeom prst="straightConnector1">
            <a:avLst/>
          </a:prstGeom>
          <a:noFill/>
          <a:ln w="76200" cap="rnd" cmpd="sng">
            <a:solidFill>
              <a:srgbClr val="000000"/>
            </a:solidFill>
            <a:prstDash val="solid"/>
            <a:round/>
            <a:headEnd type="none" w="sm" len="sm"/>
            <a:tailEnd type="none" w="sm" len="sm"/>
          </a:ln>
        </p:spPr>
      </p:cxnSp>
      <p:cxnSp>
        <p:nvCxnSpPr>
          <p:cNvPr id="263" name="Google Shape;263;p29"/>
          <p:cNvCxnSpPr/>
          <p:nvPr/>
        </p:nvCxnSpPr>
        <p:spPr>
          <a:xfrm>
            <a:off x="9715916" y="2058506"/>
            <a:ext cx="1752600" cy="1752600"/>
          </a:xfrm>
          <a:prstGeom prst="straightConnector1">
            <a:avLst/>
          </a:prstGeom>
          <a:noFill/>
          <a:ln w="76200" cap="rnd" cmpd="sng">
            <a:solidFill>
              <a:srgbClr val="000000"/>
            </a:solidFill>
            <a:prstDash val="solid"/>
            <a:round/>
            <a:headEnd type="none" w="sm" len="sm"/>
            <a:tailEnd type="none" w="sm" len="sm"/>
          </a:ln>
        </p:spPr>
      </p:cxnSp>
      <p:sp>
        <p:nvSpPr>
          <p:cNvPr id="264" name="Google Shape;264;p29"/>
          <p:cNvSpPr txBox="1"/>
          <p:nvPr/>
        </p:nvSpPr>
        <p:spPr>
          <a:xfrm>
            <a:off x="4224061" y="3960304"/>
            <a:ext cx="1018165" cy="646331"/>
          </a:xfrm>
          <a:prstGeom prst="rect">
            <a:avLst/>
          </a:prstGeom>
          <a:noFill/>
          <a:ln>
            <a:noFill/>
          </a:ln>
        </p:spPr>
        <p:txBody>
          <a:bodyPr spcFirstLastPara="1" wrap="square" lIns="91425" tIns="45700" rIns="91425" bIns="45700" anchor="t" anchorCtr="0">
            <a:noAutofit/>
          </a:bodyPr>
          <a:lstStyle/>
          <a:p>
            <a:pPr algn="ctr"/>
            <a:r>
              <a:rPr lang="en-US" b="1">
                <a:solidFill>
                  <a:schemeClr val="tx1">
                    <a:lumMod val="75000"/>
                    <a:lumOff val="25000"/>
                  </a:schemeClr>
                </a:solidFill>
                <a:ea typeface="Arial"/>
                <a:cs typeface="Arial"/>
                <a:sym typeface="Arial"/>
              </a:rPr>
              <a:t>Act 1</a:t>
            </a:r>
            <a:endParaRPr>
              <a:solidFill>
                <a:schemeClr val="tx1">
                  <a:lumMod val="75000"/>
                  <a:lumOff val="25000"/>
                </a:schemeClr>
              </a:solidFill>
            </a:endParaRPr>
          </a:p>
          <a:p>
            <a:pPr algn="ctr"/>
            <a:r>
              <a:rPr lang="en-US" b="1">
                <a:solidFill>
                  <a:schemeClr val="tx1">
                    <a:lumMod val="75000"/>
                    <a:lumOff val="25000"/>
                  </a:schemeClr>
                </a:solidFill>
                <a:ea typeface="Arial"/>
                <a:cs typeface="Arial"/>
                <a:sym typeface="Arial"/>
              </a:rPr>
              <a:t>(set up)</a:t>
            </a:r>
            <a:endParaRPr b="1">
              <a:solidFill>
                <a:schemeClr val="tx1">
                  <a:lumMod val="75000"/>
                  <a:lumOff val="25000"/>
                </a:schemeClr>
              </a:solidFill>
              <a:ea typeface="Arial"/>
              <a:cs typeface="Arial"/>
              <a:sym typeface="Arial"/>
            </a:endParaRPr>
          </a:p>
        </p:txBody>
      </p:sp>
      <p:sp>
        <p:nvSpPr>
          <p:cNvPr id="265" name="Google Shape;265;p29"/>
          <p:cNvSpPr txBox="1"/>
          <p:nvPr/>
        </p:nvSpPr>
        <p:spPr>
          <a:xfrm>
            <a:off x="6747003" y="3960304"/>
            <a:ext cx="1825740" cy="646331"/>
          </a:xfrm>
          <a:prstGeom prst="rect">
            <a:avLst/>
          </a:prstGeom>
          <a:solidFill>
            <a:schemeClr val="lt1"/>
          </a:solidFill>
          <a:ln>
            <a:noFill/>
          </a:ln>
        </p:spPr>
        <p:txBody>
          <a:bodyPr spcFirstLastPara="1" wrap="square" lIns="91425" tIns="45700" rIns="91425" bIns="45700" anchor="t" anchorCtr="0">
            <a:noAutofit/>
          </a:bodyPr>
          <a:lstStyle/>
          <a:p>
            <a:pPr algn="ctr"/>
            <a:r>
              <a:rPr lang="en-US" b="1">
                <a:solidFill>
                  <a:schemeClr val="tx1">
                    <a:lumMod val="75000"/>
                    <a:lumOff val="25000"/>
                  </a:schemeClr>
                </a:solidFill>
                <a:ea typeface="Arial"/>
                <a:cs typeface="Arial"/>
                <a:sym typeface="Arial"/>
              </a:rPr>
              <a:t>Act 2</a:t>
            </a:r>
            <a:endParaRPr>
              <a:solidFill>
                <a:schemeClr val="tx1">
                  <a:lumMod val="75000"/>
                  <a:lumOff val="25000"/>
                </a:schemeClr>
              </a:solidFill>
            </a:endParaRPr>
          </a:p>
          <a:p>
            <a:pPr algn="ctr"/>
            <a:r>
              <a:rPr lang="en-US" b="1">
                <a:solidFill>
                  <a:schemeClr val="tx1">
                    <a:lumMod val="75000"/>
                    <a:lumOff val="25000"/>
                  </a:schemeClr>
                </a:solidFill>
                <a:ea typeface="Arial"/>
                <a:cs typeface="Arial"/>
                <a:sym typeface="Arial"/>
              </a:rPr>
              <a:t>(confrontation)</a:t>
            </a:r>
            <a:endParaRPr b="1">
              <a:solidFill>
                <a:schemeClr val="tx1">
                  <a:lumMod val="75000"/>
                  <a:lumOff val="25000"/>
                </a:schemeClr>
              </a:solidFill>
              <a:ea typeface="Arial"/>
              <a:cs typeface="Arial"/>
              <a:sym typeface="Arial"/>
            </a:endParaRPr>
          </a:p>
        </p:txBody>
      </p:sp>
      <p:sp>
        <p:nvSpPr>
          <p:cNvPr id="266" name="Google Shape;266;p29"/>
          <p:cNvSpPr txBox="1"/>
          <p:nvPr/>
        </p:nvSpPr>
        <p:spPr>
          <a:xfrm>
            <a:off x="9939120" y="3960304"/>
            <a:ext cx="1454132" cy="646331"/>
          </a:xfrm>
          <a:prstGeom prst="rect">
            <a:avLst/>
          </a:prstGeom>
          <a:noFill/>
          <a:ln>
            <a:noFill/>
          </a:ln>
        </p:spPr>
        <p:txBody>
          <a:bodyPr spcFirstLastPara="1" wrap="square" lIns="91425" tIns="45700" rIns="91425" bIns="45700" anchor="t" anchorCtr="0">
            <a:noAutofit/>
          </a:bodyPr>
          <a:lstStyle/>
          <a:p>
            <a:pPr algn="ctr"/>
            <a:r>
              <a:rPr lang="en-US" b="1">
                <a:solidFill>
                  <a:schemeClr val="tx1">
                    <a:lumMod val="75000"/>
                    <a:lumOff val="25000"/>
                  </a:schemeClr>
                </a:solidFill>
                <a:ea typeface="Arial"/>
                <a:cs typeface="Arial"/>
                <a:sym typeface="Arial"/>
              </a:rPr>
              <a:t>Act 3</a:t>
            </a:r>
            <a:endParaRPr>
              <a:solidFill>
                <a:schemeClr val="tx1">
                  <a:lumMod val="75000"/>
                  <a:lumOff val="25000"/>
                </a:schemeClr>
              </a:solidFill>
            </a:endParaRPr>
          </a:p>
          <a:p>
            <a:pPr algn="ctr"/>
            <a:r>
              <a:rPr lang="en-US" b="1">
                <a:solidFill>
                  <a:schemeClr val="tx1">
                    <a:lumMod val="75000"/>
                    <a:lumOff val="25000"/>
                  </a:schemeClr>
                </a:solidFill>
                <a:ea typeface="Arial"/>
                <a:cs typeface="Arial"/>
                <a:sym typeface="Arial"/>
              </a:rPr>
              <a:t>(resolution)</a:t>
            </a:r>
            <a:endParaRPr b="1">
              <a:solidFill>
                <a:schemeClr val="tx1">
                  <a:lumMod val="75000"/>
                  <a:lumOff val="25000"/>
                </a:schemeClr>
              </a:solidFill>
              <a:ea typeface="Arial"/>
              <a:cs typeface="Arial"/>
              <a:sym typeface="Arial"/>
            </a:endParaRPr>
          </a:p>
        </p:txBody>
      </p:sp>
      <p:sp>
        <p:nvSpPr>
          <p:cNvPr id="267" name="Google Shape;267;p29"/>
          <p:cNvSpPr/>
          <p:nvPr/>
        </p:nvSpPr>
        <p:spPr>
          <a:xfrm>
            <a:off x="5451764" y="3158834"/>
            <a:ext cx="304800" cy="304800"/>
          </a:xfrm>
          <a:prstGeom prst="irregularSeal1">
            <a:avLst/>
          </a:prstGeom>
          <a:solidFill>
            <a:schemeClr val="dk2"/>
          </a:solidFill>
          <a:ln w="9525" cap="flat" cmpd="sng">
            <a:solidFill>
              <a:srgbClr val="000000"/>
            </a:solidFill>
            <a:prstDash val="solid"/>
            <a:round/>
            <a:headEnd type="none" w="sm" len="sm"/>
            <a:tailEnd type="none" w="sm" len="sm"/>
          </a:ln>
          <a:effectLst>
            <a:outerShdw blurRad="38100" dist="25400" dir="2700000" algn="br" rotWithShape="0">
              <a:srgbClr val="000000">
                <a:alpha val="60000"/>
              </a:srgbClr>
            </a:outerShdw>
          </a:effectLst>
        </p:spPr>
        <p:txBody>
          <a:bodyPr spcFirstLastPara="1" wrap="square" lIns="91425" tIns="45700" rIns="91425" bIns="45700" anchor="ctr" anchorCtr="0">
            <a:noAutofit/>
          </a:bodyPr>
          <a:lstStyle/>
          <a:p>
            <a:pPr algn="ctr"/>
            <a:endParaRPr>
              <a:solidFill>
                <a:schemeClr val="tx1">
                  <a:lumMod val="75000"/>
                  <a:lumOff val="25000"/>
                </a:schemeClr>
              </a:solidFill>
              <a:ea typeface="Arial"/>
              <a:cs typeface="Arial"/>
              <a:sym typeface="Arial"/>
            </a:endParaRPr>
          </a:p>
        </p:txBody>
      </p:sp>
      <p:sp>
        <p:nvSpPr>
          <p:cNvPr id="268" name="Google Shape;268;p29"/>
          <p:cNvSpPr/>
          <p:nvPr/>
        </p:nvSpPr>
        <p:spPr>
          <a:xfrm>
            <a:off x="7509164" y="2549234"/>
            <a:ext cx="304800" cy="304800"/>
          </a:xfrm>
          <a:prstGeom prst="irregularSeal1">
            <a:avLst/>
          </a:prstGeom>
          <a:solidFill>
            <a:schemeClr val="dk2"/>
          </a:solidFill>
          <a:ln w="9525" cap="flat" cmpd="sng">
            <a:solidFill>
              <a:srgbClr val="000000"/>
            </a:solidFill>
            <a:prstDash val="solid"/>
            <a:round/>
            <a:headEnd type="none" w="sm" len="sm"/>
            <a:tailEnd type="none" w="sm" len="sm"/>
          </a:ln>
          <a:effectLst>
            <a:outerShdw blurRad="38100" dist="25400" dir="2700000" algn="br" rotWithShape="0">
              <a:srgbClr val="000000">
                <a:alpha val="60000"/>
              </a:srgbClr>
            </a:outerShdw>
          </a:effectLst>
        </p:spPr>
        <p:txBody>
          <a:bodyPr spcFirstLastPara="1" wrap="square" lIns="91425" tIns="45700" rIns="91425" bIns="45700" anchor="ctr" anchorCtr="0">
            <a:noAutofit/>
          </a:bodyPr>
          <a:lstStyle/>
          <a:p>
            <a:pPr algn="ctr"/>
            <a:endParaRPr>
              <a:solidFill>
                <a:schemeClr val="tx1">
                  <a:lumMod val="75000"/>
                  <a:lumOff val="25000"/>
                </a:schemeClr>
              </a:solidFill>
              <a:ea typeface="Arial"/>
              <a:cs typeface="Arial"/>
              <a:sym typeface="Arial"/>
            </a:endParaRPr>
          </a:p>
        </p:txBody>
      </p:sp>
      <p:sp>
        <p:nvSpPr>
          <p:cNvPr id="269" name="Google Shape;269;p29"/>
          <p:cNvSpPr/>
          <p:nvPr/>
        </p:nvSpPr>
        <p:spPr>
          <a:xfrm>
            <a:off x="9566564" y="1939634"/>
            <a:ext cx="304800" cy="304800"/>
          </a:xfrm>
          <a:prstGeom prst="irregularSeal1">
            <a:avLst/>
          </a:prstGeom>
          <a:solidFill>
            <a:schemeClr val="dk2"/>
          </a:solidFill>
          <a:ln w="9525" cap="flat" cmpd="sng">
            <a:solidFill>
              <a:srgbClr val="000000"/>
            </a:solidFill>
            <a:prstDash val="solid"/>
            <a:round/>
            <a:headEnd type="none" w="sm" len="sm"/>
            <a:tailEnd type="none" w="sm" len="sm"/>
          </a:ln>
          <a:effectLst>
            <a:outerShdw blurRad="38100" dist="25400" dir="2700000" algn="br" rotWithShape="0">
              <a:srgbClr val="000000">
                <a:alpha val="60000"/>
              </a:srgbClr>
            </a:outerShdw>
          </a:effectLst>
        </p:spPr>
        <p:txBody>
          <a:bodyPr spcFirstLastPara="1" wrap="square" lIns="91425" tIns="45700" rIns="91425" bIns="45700" anchor="ctr" anchorCtr="0">
            <a:noAutofit/>
          </a:bodyPr>
          <a:lstStyle/>
          <a:p>
            <a:pPr algn="ctr"/>
            <a:endParaRPr>
              <a:solidFill>
                <a:schemeClr val="tx1">
                  <a:lumMod val="75000"/>
                  <a:lumOff val="25000"/>
                </a:schemeClr>
              </a:solidFill>
              <a:ea typeface="Arial"/>
              <a:cs typeface="Arial"/>
              <a:sym typeface="Arial"/>
            </a:endParaRPr>
          </a:p>
        </p:txBody>
      </p:sp>
      <p:sp>
        <p:nvSpPr>
          <p:cNvPr id="270" name="Google Shape;270;p29"/>
          <p:cNvSpPr txBox="1"/>
          <p:nvPr/>
        </p:nvSpPr>
        <p:spPr>
          <a:xfrm>
            <a:off x="5223164" y="2396834"/>
            <a:ext cx="783500" cy="523220"/>
          </a:xfrm>
          <a:prstGeom prst="rect">
            <a:avLst/>
          </a:prstGeom>
          <a:noFill/>
          <a:ln>
            <a:noFill/>
          </a:ln>
        </p:spPr>
        <p:txBody>
          <a:bodyPr spcFirstLastPara="1" wrap="square" lIns="91425" tIns="45700" rIns="91425" bIns="45700" anchor="t" anchorCtr="0">
            <a:noAutofit/>
          </a:bodyPr>
          <a:lstStyle/>
          <a:p>
            <a:pPr algn="ctr"/>
            <a:r>
              <a:rPr lang="en-US" sz="1400">
                <a:solidFill>
                  <a:schemeClr val="tx1">
                    <a:lumMod val="75000"/>
                    <a:lumOff val="25000"/>
                  </a:schemeClr>
                </a:solidFill>
                <a:ea typeface="Arial"/>
                <a:cs typeface="Arial"/>
                <a:sym typeface="Arial"/>
              </a:rPr>
              <a:t>Climax </a:t>
            </a:r>
            <a:endParaRPr>
              <a:solidFill>
                <a:schemeClr val="tx1">
                  <a:lumMod val="75000"/>
                  <a:lumOff val="25000"/>
                </a:schemeClr>
              </a:solidFill>
            </a:endParaRPr>
          </a:p>
          <a:p>
            <a:pPr algn="ctr"/>
            <a:r>
              <a:rPr lang="en-US" sz="1400">
                <a:solidFill>
                  <a:schemeClr val="tx1">
                    <a:lumMod val="75000"/>
                    <a:lumOff val="25000"/>
                  </a:schemeClr>
                </a:solidFill>
                <a:ea typeface="Arial"/>
                <a:cs typeface="Arial"/>
                <a:sym typeface="Arial"/>
              </a:rPr>
              <a:t>of Act 1</a:t>
            </a:r>
            <a:endParaRPr sz="1400">
              <a:solidFill>
                <a:schemeClr val="tx1">
                  <a:lumMod val="75000"/>
                  <a:lumOff val="25000"/>
                </a:schemeClr>
              </a:solidFill>
              <a:ea typeface="Arial"/>
              <a:cs typeface="Arial"/>
              <a:sym typeface="Arial"/>
            </a:endParaRPr>
          </a:p>
        </p:txBody>
      </p:sp>
      <p:sp>
        <p:nvSpPr>
          <p:cNvPr id="271" name="Google Shape;271;p29"/>
          <p:cNvSpPr txBox="1"/>
          <p:nvPr/>
        </p:nvSpPr>
        <p:spPr>
          <a:xfrm>
            <a:off x="9337964" y="1177634"/>
            <a:ext cx="783500" cy="523220"/>
          </a:xfrm>
          <a:prstGeom prst="rect">
            <a:avLst/>
          </a:prstGeom>
          <a:noFill/>
          <a:ln>
            <a:noFill/>
          </a:ln>
        </p:spPr>
        <p:txBody>
          <a:bodyPr spcFirstLastPara="1" wrap="square" lIns="91425" tIns="45700" rIns="91425" bIns="45700" anchor="t" anchorCtr="0">
            <a:noAutofit/>
          </a:bodyPr>
          <a:lstStyle/>
          <a:p>
            <a:pPr algn="ctr"/>
            <a:r>
              <a:rPr lang="en-US" sz="1400">
                <a:solidFill>
                  <a:schemeClr val="tx1">
                    <a:lumMod val="75000"/>
                    <a:lumOff val="25000"/>
                  </a:schemeClr>
                </a:solidFill>
                <a:ea typeface="Arial"/>
                <a:cs typeface="Arial"/>
                <a:sym typeface="Arial"/>
              </a:rPr>
              <a:t>Climax </a:t>
            </a:r>
            <a:endParaRPr>
              <a:solidFill>
                <a:schemeClr val="tx1">
                  <a:lumMod val="75000"/>
                  <a:lumOff val="25000"/>
                </a:schemeClr>
              </a:solidFill>
            </a:endParaRPr>
          </a:p>
          <a:p>
            <a:pPr algn="ctr"/>
            <a:r>
              <a:rPr lang="en-US" sz="1400">
                <a:solidFill>
                  <a:schemeClr val="tx1">
                    <a:lumMod val="75000"/>
                    <a:lumOff val="25000"/>
                  </a:schemeClr>
                </a:solidFill>
                <a:ea typeface="Arial"/>
                <a:cs typeface="Arial"/>
                <a:sym typeface="Arial"/>
              </a:rPr>
              <a:t>of Act 2</a:t>
            </a:r>
            <a:endParaRPr sz="1400">
              <a:solidFill>
                <a:schemeClr val="tx1">
                  <a:lumMod val="75000"/>
                  <a:lumOff val="25000"/>
                </a:schemeClr>
              </a:solidFill>
              <a:ea typeface="Arial"/>
              <a:cs typeface="Arial"/>
              <a:sym typeface="Arial"/>
            </a:endParaRPr>
          </a:p>
        </p:txBody>
      </p:sp>
      <p:sp>
        <p:nvSpPr>
          <p:cNvPr id="272" name="Google Shape;272;p29"/>
          <p:cNvSpPr txBox="1"/>
          <p:nvPr/>
        </p:nvSpPr>
        <p:spPr>
          <a:xfrm>
            <a:off x="7146046" y="1634834"/>
            <a:ext cx="1052542" cy="523220"/>
          </a:xfrm>
          <a:prstGeom prst="rect">
            <a:avLst/>
          </a:prstGeom>
          <a:noFill/>
          <a:ln>
            <a:noFill/>
          </a:ln>
        </p:spPr>
        <p:txBody>
          <a:bodyPr spcFirstLastPara="1" wrap="square" lIns="91425" tIns="45700" rIns="91425" bIns="45700" anchor="t" anchorCtr="0">
            <a:noAutofit/>
          </a:bodyPr>
          <a:lstStyle/>
          <a:p>
            <a:pPr algn="ctr"/>
            <a:r>
              <a:rPr lang="en-US" sz="1400">
                <a:solidFill>
                  <a:schemeClr val="tx1">
                    <a:lumMod val="75000"/>
                    <a:lumOff val="25000"/>
                  </a:schemeClr>
                </a:solidFill>
                <a:ea typeface="Arial"/>
                <a:cs typeface="Arial"/>
                <a:sym typeface="Arial"/>
              </a:rPr>
              <a:t>Midpoint</a:t>
            </a:r>
            <a:endParaRPr>
              <a:solidFill>
                <a:schemeClr val="tx1">
                  <a:lumMod val="75000"/>
                  <a:lumOff val="25000"/>
                </a:schemeClr>
              </a:solidFill>
            </a:endParaRPr>
          </a:p>
          <a:p>
            <a:pPr algn="ctr"/>
            <a:r>
              <a:rPr lang="en-US" sz="1400">
                <a:solidFill>
                  <a:schemeClr val="tx1">
                    <a:lumMod val="75000"/>
                    <a:lumOff val="25000"/>
                  </a:schemeClr>
                </a:solidFill>
                <a:ea typeface="Arial"/>
                <a:cs typeface="Arial"/>
                <a:sym typeface="Arial"/>
              </a:rPr>
              <a:t>(plot twist!)</a:t>
            </a:r>
            <a:endParaRPr sz="1400">
              <a:solidFill>
                <a:schemeClr val="tx1">
                  <a:lumMod val="75000"/>
                  <a:lumOff val="25000"/>
                </a:schemeClr>
              </a:solidFill>
              <a:ea typeface="Arial"/>
              <a:cs typeface="Arial"/>
              <a:sym typeface="Arial"/>
            </a:endParaRPr>
          </a:p>
        </p:txBody>
      </p:sp>
      <p:sp>
        <p:nvSpPr>
          <p:cNvPr id="273" name="Google Shape;273;p29"/>
          <p:cNvSpPr txBox="1"/>
          <p:nvPr/>
        </p:nvSpPr>
        <p:spPr>
          <a:xfrm>
            <a:off x="5832765" y="2777835"/>
            <a:ext cx="690739" cy="246221"/>
          </a:xfrm>
          <a:prstGeom prst="rect">
            <a:avLst/>
          </a:prstGeom>
          <a:noFill/>
          <a:ln>
            <a:noFill/>
          </a:ln>
        </p:spPr>
        <p:txBody>
          <a:bodyPr spcFirstLastPara="1" wrap="square" lIns="91425" tIns="45700" rIns="91425" bIns="45700" anchor="t" anchorCtr="0">
            <a:noAutofit/>
          </a:bodyPr>
          <a:lstStyle/>
          <a:p>
            <a:pPr algn="ctr"/>
            <a:r>
              <a:rPr lang="en-US" sz="1000">
                <a:solidFill>
                  <a:schemeClr val="tx1">
                    <a:lumMod val="75000"/>
                    <a:lumOff val="25000"/>
                  </a:schemeClr>
                </a:solidFill>
                <a:ea typeface="Arial"/>
                <a:cs typeface="Arial"/>
                <a:sym typeface="Arial"/>
              </a:rPr>
              <a:t>Obstacle</a:t>
            </a:r>
            <a:endParaRPr sz="1000">
              <a:solidFill>
                <a:schemeClr val="tx1">
                  <a:lumMod val="75000"/>
                  <a:lumOff val="25000"/>
                </a:schemeClr>
              </a:solidFill>
              <a:ea typeface="Arial"/>
              <a:cs typeface="Arial"/>
              <a:sym typeface="Arial"/>
            </a:endParaRPr>
          </a:p>
        </p:txBody>
      </p:sp>
      <p:sp>
        <p:nvSpPr>
          <p:cNvPr id="274" name="Google Shape;274;p29"/>
          <p:cNvSpPr txBox="1"/>
          <p:nvPr/>
        </p:nvSpPr>
        <p:spPr>
          <a:xfrm>
            <a:off x="6589826" y="2549235"/>
            <a:ext cx="690739" cy="246221"/>
          </a:xfrm>
          <a:prstGeom prst="rect">
            <a:avLst/>
          </a:prstGeom>
          <a:noFill/>
          <a:ln>
            <a:noFill/>
          </a:ln>
        </p:spPr>
        <p:txBody>
          <a:bodyPr spcFirstLastPara="1" wrap="square" lIns="91425" tIns="45700" rIns="91425" bIns="45700" anchor="t" anchorCtr="0">
            <a:noAutofit/>
          </a:bodyPr>
          <a:lstStyle/>
          <a:p>
            <a:pPr algn="ctr"/>
            <a:r>
              <a:rPr lang="en-US" sz="1000">
                <a:solidFill>
                  <a:schemeClr val="tx1">
                    <a:lumMod val="75000"/>
                    <a:lumOff val="25000"/>
                  </a:schemeClr>
                </a:solidFill>
                <a:ea typeface="Arial"/>
                <a:cs typeface="Arial"/>
                <a:sym typeface="Arial"/>
              </a:rPr>
              <a:t>Obstacle</a:t>
            </a:r>
            <a:endParaRPr sz="1000">
              <a:solidFill>
                <a:schemeClr val="tx1">
                  <a:lumMod val="75000"/>
                  <a:lumOff val="25000"/>
                </a:schemeClr>
              </a:solidFill>
              <a:ea typeface="Arial"/>
              <a:cs typeface="Arial"/>
              <a:sym typeface="Arial"/>
            </a:endParaRPr>
          </a:p>
        </p:txBody>
      </p:sp>
      <p:sp>
        <p:nvSpPr>
          <p:cNvPr id="275" name="Google Shape;275;p29"/>
          <p:cNvSpPr txBox="1"/>
          <p:nvPr/>
        </p:nvSpPr>
        <p:spPr>
          <a:xfrm>
            <a:off x="7737765" y="2168235"/>
            <a:ext cx="690739" cy="246221"/>
          </a:xfrm>
          <a:prstGeom prst="rect">
            <a:avLst/>
          </a:prstGeom>
          <a:noFill/>
          <a:ln>
            <a:noFill/>
          </a:ln>
        </p:spPr>
        <p:txBody>
          <a:bodyPr spcFirstLastPara="1" wrap="square" lIns="91425" tIns="45700" rIns="91425" bIns="45700" anchor="t" anchorCtr="0">
            <a:noAutofit/>
          </a:bodyPr>
          <a:lstStyle/>
          <a:p>
            <a:pPr algn="ctr"/>
            <a:r>
              <a:rPr lang="en-US" sz="1000">
                <a:solidFill>
                  <a:schemeClr val="tx1">
                    <a:lumMod val="75000"/>
                    <a:lumOff val="25000"/>
                  </a:schemeClr>
                </a:solidFill>
                <a:ea typeface="Arial"/>
                <a:cs typeface="Arial"/>
                <a:sym typeface="Arial"/>
              </a:rPr>
              <a:t>Obstacle</a:t>
            </a:r>
            <a:endParaRPr sz="1000">
              <a:solidFill>
                <a:schemeClr val="tx1">
                  <a:lumMod val="75000"/>
                  <a:lumOff val="25000"/>
                </a:schemeClr>
              </a:solidFill>
              <a:ea typeface="Arial"/>
              <a:cs typeface="Arial"/>
              <a:sym typeface="Arial"/>
            </a:endParaRPr>
          </a:p>
        </p:txBody>
      </p:sp>
      <p:sp>
        <p:nvSpPr>
          <p:cNvPr id="276" name="Google Shape;276;p29"/>
          <p:cNvSpPr txBox="1"/>
          <p:nvPr/>
        </p:nvSpPr>
        <p:spPr>
          <a:xfrm>
            <a:off x="8378180" y="2015835"/>
            <a:ext cx="654985" cy="246221"/>
          </a:xfrm>
          <a:prstGeom prst="rect">
            <a:avLst/>
          </a:prstGeom>
          <a:noFill/>
          <a:ln>
            <a:noFill/>
          </a:ln>
        </p:spPr>
        <p:txBody>
          <a:bodyPr spcFirstLastPara="1" wrap="square" lIns="91425" tIns="45700" rIns="91425" bIns="45700" anchor="t" anchorCtr="0">
            <a:noAutofit/>
          </a:bodyPr>
          <a:lstStyle/>
          <a:p>
            <a:pPr algn="ctr"/>
            <a:r>
              <a:rPr lang="en-US" sz="1000">
                <a:solidFill>
                  <a:schemeClr val="tx1">
                    <a:lumMod val="75000"/>
                    <a:lumOff val="25000"/>
                  </a:schemeClr>
                </a:solidFill>
                <a:ea typeface="Arial"/>
                <a:cs typeface="Arial"/>
                <a:sym typeface="Arial"/>
              </a:rPr>
              <a:t>Disaster</a:t>
            </a:r>
            <a:endParaRPr sz="1000">
              <a:solidFill>
                <a:schemeClr val="tx1">
                  <a:lumMod val="75000"/>
                  <a:lumOff val="25000"/>
                </a:schemeClr>
              </a:solidFill>
              <a:ea typeface="Arial"/>
              <a:cs typeface="Arial"/>
              <a:sym typeface="Arial"/>
            </a:endParaRPr>
          </a:p>
        </p:txBody>
      </p:sp>
      <p:sp>
        <p:nvSpPr>
          <p:cNvPr id="277" name="Google Shape;277;p29"/>
          <p:cNvSpPr txBox="1"/>
          <p:nvPr/>
        </p:nvSpPr>
        <p:spPr>
          <a:xfrm>
            <a:off x="8956964" y="1863435"/>
            <a:ext cx="505204" cy="246221"/>
          </a:xfrm>
          <a:prstGeom prst="rect">
            <a:avLst/>
          </a:prstGeom>
          <a:noFill/>
          <a:ln>
            <a:noFill/>
          </a:ln>
        </p:spPr>
        <p:txBody>
          <a:bodyPr spcFirstLastPara="1" wrap="square" lIns="91425" tIns="45700" rIns="91425" bIns="45700" anchor="t" anchorCtr="0">
            <a:noAutofit/>
          </a:bodyPr>
          <a:lstStyle/>
          <a:p>
            <a:pPr algn="ctr"/>
            <a:r>
              <a:rPr lang="en-US" sz="1000">
                <a:solidFill>
                  <a:schemeClr val="tx1">
                    <a:lumMod val="75000"/>
                    <a:lumOff val="25000"/>
                  </a:schemeClr>
                </a:solidFill>
                <a:ea typeface="Arial"/>
                <a:cs typeface="Arial"/>
                <a:sym typeface="Arial"/>
              </a:rPr>
              <a:t>Crisis</a:t>
            </a:r>
            <a:endParaRPr sz="1000">
              <a:solidFill>
                <a:schemeClr val="tx1">
                  <a:lumMod val="75000"/>
                  <a:lumOff val="25000"/>
                </a:schemeClr>
              </a:solidFill>
              <a:ea typeface="Arial"/>
              <a:cs typeface="Arial"/>
              <a:sym typeface="Arial"/>
            </a:endParaRPr>
          </a:p>
        </p:txBody>
      </p:sp>
      <p:sp>
        <p:nvSpPr>
          <p:cNvPr id="278" name="Google Shape;278;p29"/>
          <p:cNvSpPr txBox="1"/>
          <p:nvPr/>
        </p:nvSpPr>
        <p:spPr>
          <a:xfrm rot="-1041647">
            <a:off x="5912441" y="2990068"/>
            <a:ext cx="1460118" cy="246221"/>
          </a:xfrm>
          <a:prstGeom prst="rect">
            <a:avLst/>
          </a:prstGeom>
          <a:noFill/>
          <a:ln>
            <a:noFill/>
          </a:ln>
        </p:spPr>
        <p:txBody>
          <a:bodyPr spcFirstLastPara="1" wrap="square" lIns="91425" tIns="45700" rIns="91425" bIns="45700" anchor="t" anchorCtr="0">
            <a:noAutofit/>
          </a:bodyPr>
          <a:lstStyle/>
          <a:p>
            <a:pPr algn="ctr"/>
            <a:r>
              <a:rPr lang="en-US" sz="1000">
                <a:solidFill>
                  <a:schemeClr val="tx1">
                    <a:lumMod val="75000"/>
                    <a:lumOff val="25000"/>
                  </a:schemeClr>
                </a:solidFill>
                <a:ea typeface="Arial"/>
                <a:cs typeface="Arial"/>
                <a:sym typeface="Arial"/>
              </a:rPr>
              <a:t>ASCENDING ACTION</a:t>
            </a:r>
            <a:endParaRPr sz="1000">
              <a:solidFill>
                <a:schemeClr val="tx1">
                  <a:lumMod val="75000"/>
                  <a:lumOff val="25000"/>
                </a:schemeClr>
              </a:solidFill>
              <a:ea typeface="Arial"/>
              <a:cs typeface="Arial"/>
              <a:sym typeface="Arial"/>
            </a:endParaRPr>
          </a:p>
        </p:txBody>
      </p:sp>
      <p:sp>
        <p:nvSpPr>
          <p:cNvPr id="279" name="Google Shape;279;p29"/>
          <p:cNvSpPr txBox="1"/>
          <p:nvPr/>
        </p:nvSpPr>
        <p:spPr>
          <a:xfrm rot="2745175">
            <a:off x="9684300" y="2839565"/>
            <a:ext cx="1552729" cy="246221"/>
          </a:xfrm>
          <a:prstGeom prst="rect">
            <a:avLst/>
          </a:prstGeom>
          <a:noFill/>
          <a:ln>
            <a:noFill/>
          </a:ln>
        </p:spPr>
        <p:txBody>
          <a:bodyPr spcFirstLastPara="1" wrap="square" lIns="91425" tIns="45700" rIns="91425" bIns="45700" anchor="t" anchorCtr="0">
            <a:noAutofit/>
          </a:bodyPr>
          <a:lstStyle/>
          <a:p>
            <a:pPr algn="ctr"/>
            <a:r>
              <a:rPr lang="en-US" sz="1000">
                <a:solidFill>
                  <a:schemeClr val="tx1">
                    <a:lumMod val="75000"/>
                    <a:lumOff val="25000"/>
                  </a:schemeClr>
                </a:solidFill>
                <a:ea typeface="Arial"/>
                <a:cs typeface="Arial"/>
                <a:sym typeface="Arial"/>
              </a:rPr>
              <a:t>DESCENDING ACTION</a:t>
            </a:r>
            <a:endParaRPr sz="1000">
              <a:solidFill>
                <a:schemeClr val="tx1">
                  <a:lumMod val="75000"/>
                  <a:lumOff val="25000"/>
                </a:schemeClr>
              </a:solidFill>
              <a:ea typeface="Arial"/>
              <a:cs typeface="Arial"/>
              <a:sym typeface="Arial"/>
            </a:endParaRPr>
          </a:p>
        </p:txBody>
      </p:sp>
      <p:sp>
        <p:nvSpPr>
          <p:cNvPr id="280" name="Google Shape;280;p29"/>
          <p:cNvSpPr/>
          <p:nvPr/>
        </p:nvSpPr>
        <p:spPr>
          <a:xfrm rot="-2699510" flipH="1">
            <a:off x="10349878" y="1916176"/>
            <a:ext cx="228600" cy="1232746"/>
          </a:xfrm>
          <a:prstGeom prst="leftBrace">
            <a:avLst>
              <a:gd name="adj1" fmla="val 8333"/>
              <a:gd name="adj2" fmla="val 50000"/>
            </a:avLst>
          </a:prstGeom>
          <a:noFill/>
          <a:ln w="26425" cap="flat" cmpd="sng">
            <a:solidFill>
              <a:srgbClr val="000000"/>
            </a:solidFill>
            <a:prstDash val="solid"/>
            <a:round/>
            <a:headEnd type="none" w="sm" len="sm"/>
            <a:tailEnd type="none" w="sm" len="sm"/>
          </a:ln>
        </p:spPr>
        <p:txBody>
          <a:bodyPr spcFirstLastPara="1" wrap="square" lIns="91425" tIns="45700" rIns="91425" bIns="45700" anchor="ctr" anchorCtr="0">
            <a:noAutofit/>
          </a:bodyPr>
          <a:lstStyle/>
          <a:p>
            <a:pPr algn="ctr"/>
            <a:endParaRPr>
              <a:solidFill>
                <a:schemeClr val="tx1">
                  <a:lumMod val="75000"/>
                  <a:lumOff val="25000"/>
                </a:schemeClr>
              </a:solidFill>
              <a:ea typeface="Arial"/>
              <a:cs typeface="Arial"/>
              <a:sym typeface="Arial"/>
            </a:endParaRPr>
          </a:p>
        </p:txBody>
      </p:sp>
      <p:sp>
        <p:nvSpPr>
          <p:cNvPr id="281" name="Google Shape;281;p29"/>
          <p:cNvSpPr txBox="1"/>
          <p:nvPr/>
        </p:nvSpPr>
        <p:spPr>
          <a:xfrm>
            <a:off x="10480964" y="2015834"/>
            <a:ext cx="783500" cy="523220"/>
          </a:xfrm>
          <a:prstGeom prst="rect">
            <a:avLst/>
          </a:prstGeom>
          <a:noFill/>
          <a:ln>
            <a:noFill/>
          </a:ln>
        </p:spPr>
        <p:txBody>
          <a:bodyPr spcFirstLastPara="1" wrap="square" lIns="91425" tIns="45700" rIns="91425" bIns="45700" anchor="t" anchorCtr="0">
            <a:noAutofit/>
          </a:bodyPr>
          <a:lstStyle/>
          <a:p>
            <a:pPr algn="ctr"/>
            <a:r>
              <a:rPr lang="en-US" sz="1400">
                <a:solidFill>
                  <a:schemeClr val="tx1">
                    <a:lumMod val="75000"/>
                    <a:lumOff val="25000"/>
                  </a:schemeClr>
                </a:solidFill>
                <a:ea typeface="Arial"/>
                <a:cs typeface="Arial"/>
                <a:sym typeface="Arial"/>
              </a:rPr>
              <a:t>Climax </a:t>
            </a:r>
            <a:endParaRPr>
              <a:solidFill>
                <a:schemeClr val="tx1">
                  <a:lumMod val="75000"/>
                  <a:lumOff val="25000"/>
                </a:schemeClr>
              </a:solidFill>
            </a:endParaRPr>
          </a:p>
          <a:p>
            <a:pPr algn="ctr"/>
            <a:r>
              <a:rPr lang="en-US" sz="1400">
                <a:solidFill>
                  <a:schemeClr val="tx1">
                    <a:lumMod val="75000"/>
                    <a:lumOff val="25000"/>
                  </a:schemeClr>
                </a:solidFill>
                <a:ea typeface="Arial"/>
                <a:cs typeface="Arial"/>
                <a:sym typeface="Arial"/>
              </a:rPr>
              <a:t>of Act 3</a:t>
            </a:r>
            <a:endParaRPr sz="1400">
              <a:solidFill>
                <a:schemeClr val="tx1">
                  <a:lumMod val="75000"/>
                  <a:lumOff val="25000"/>
                </a:schemeClr>
              </a:solidFill>
              <a:ea typeface="Arial"/>
              <a:cs typeface="Arial"/>
              <a:sym typeface="Arial"/>
            </a:endParaRPr>
          </a:p>
        </p:txBody>
      </p:sp>
      <p:sp>
        <p:nvSpPr>
          <p:cNvPr id="282" name="Google Shape;282;p29"/>
          <p:cNvSpPr txBox="1"/>
          <p:nvPr/>
        </p:nvSpPr>
        <p:spPr>
          <a:xfrm>
            <a:off x="10938165" y="3082635"/>
            <a:ext cx="674083" cy="246221"/>
          </a:xfrm>
          <a:prstGeom prst="rect">
            <a:avLst/>
          </a:prstGeom>
          <a:noFill/>
          <a:ln>
            <a:noFill/>
          </a:ln>
        </p:spPr>
        <p:txBody>
          <a:bodyPr spcFirstLastPara="1" wrap="square" lIns="91425" tIns="45700" rIns="91425" bIns="45700" anchor="t" anchorCtr="0">
            <a:noAutofit/>
          </a:bodyPr>
          <a:lstStyle/>
          <a:p>
            <a:pPr algn="ctr"/>
            <a:r>
              <a:rPr lang="en-US" sz="1000">
                <a:solidFill>
                  <a:schemeClr val="tx1">
                    <a:lumMod val="75000"/>
                    <a:lumOff val="25000"/>
                  </a:schemeClr>
                </a:solidFill>
                <a:ea typeface="Arial"/>
                <a:cs typeface="Arial"/>
                <a:sym typeface="Arial"/>
              </a:rPr>
              <a:t>Wrap-up</a:t>
            </a:r>
            <a:endParaRPr sz="1000">
              <a:solidFill>
                <a:schemeClr val="tx1">
                  <a:lumMod val="75000"/>
                  <a:lumOff val="25000"/>
                </a:schemeClr>
              </a:solidFill>
              <a:ea typeface="Arial"/>
              <a:cs typeface="Arial"/>
              <a:sym typeface="Arial"/>
            </a:endParaRPr>
          </a:p>
        </p:txBody>
      </p:sp>
      <p:sp>
        <p:nvSpPr>
          <p:cNvPr id="283" name="Google Shape;283;p29"/>
          <p:cNvSpPr txBox="1"/>
          <p:nvPr/>
        </p:nvSpPr>
        <p:spPr>
          <a:xfrm>
            <a:off x="11395365" y="3539835"/>
            <a:ext cx="412843" cy="246221"/>
          </a:xfrm>
          <a:prstGeom prst="rect">
            <a:avLst/>
          </a:prstGeom>
          <a:noFill/>
          <a:ln>
            <a:noFill/>
          </a:ln>
        </p:spPr>
        <p:txBody>
          <a:bodyPr spcFirstLastPara="1" wrap="square" lIns="91425" tIns="45700" rIns="91425" bIns="45700" anchor="t" anchorCtr="0">
            <a:noAutofit/>
          </a:bodyPr>
          <a:lstStyle/>
          <a:p>
            <a:pPr algn="ctr"/>
            <a:r>
              <a:rPr lang="en-US" sz="1000">
                <a:solidFill>
                  <a:schemeClr val="tx1">
                    <a:lumMod val="75000"/>
                    <a:lumOff val="25000"/>
                  </a:schemeClr>
                </a:solidFill>
                <a:ea typeface="Arial"/>
                <a:cs typeface="Arial"/>
                <a:sym typeface="Arial"/>
              </a:rPr>
              <a:t>End</a:t>
            </a:r>
            <a:endParaRPr sz="1000">
              <a:solidFill>
                <a:schemeClr val="tx1">
                  <a:lumMod val="75000"/>
                  <a:lumOff val="25000"/>
                </a:schemeClr>
              </a:solidFill>
              <a:ea typeface="Arial"/>
              <a:cs typeface="Arial"/>
              <a:sym typeface="Arial"/>
            </a:endParaRPr>
          </a:p>
        </p:txBody>
      </p:sp>
      <p:sp>
        <p:nvSpPr>
          <p:cNvPr id="284" name="Google Shape;284;p29"/>
          <p:cNvSpPr txBox="1"/>
          <p:nvPr/>
        </p:nvSpPr>
        <p:spPr>
          <a:xfrm>
            <a:off x="6138327" y="5140035"/>
            <a:ext cx="3046477" cy="461665"/>
          </a:xfrm>
          <a:prstGeom prst="rect">
            <a:avLst/>
          </a:prstGeom>
          <a:solidFill>
            <a:schemeClr val="lt1"/>
          </a:solidFill>
          <a:ln>
            <a:noFill/>
          </a:ln>
        </p:spPr>
        <p:txBody>
          <a:bodyPr spcFirstLastPara="1" wrap="square" lIns="91425" tIns="45700" rIns="91425" bIns="45700" anchor="t" anchorCtr="0">
            <a:noAutofit/>
          </a:bodyPr>
          <a:lstStyle/>
          <a:p>
            <a:pPr algn="ctr"/>
            <a:r>
              <a:rPr lang="en-US" sz="2400" b="1" dirty="0">
                <a:solidFill>
                  <a:schemeClr val="tx1">
                    <a:lumMod val="75000"/>
                    <a:lumOff val="25000"/>
                  </a:schemeClr>
                </a:solidFill>
                <a:ea typeface="Arial"/>
                <a:cs typeface="Arial"/>
                <a:sym typeface="Arial"/>
              </a:rPr>
              <a:t>Three Act Structure</a:t>
            </a:r>
            <a:endParaRPr sz="2400" b="1" dirty="0">
              <a:solidFill>
                <a:schemeClr val="tx1">
                  <a:lumMod val="75000"/>
                  <a:lumOff val="25000"/>
                </a:schemeClr>
              </a:solidFill>
              <a:ea typeface="Arial"/>
              <a:cs typeface="Arial"/>
              <a:sym typeface="Arial"/>
            </a:endParaRPr>
          </a:p>
        </p:txBody>
      </p:sp>
      <p:sp>
        <p:nvSpPr>
          <p:cNvPr id="2" name="Title 1">
            <a:extLst>
              <a:ext uri="{FF2B5EF4-FFF2-40B4-BE49-F238E27FC236}">
                <a16:creationId xmlns:a16="http://schemas.microsoft.com/office/drawing/2014/main" id="{9E798B46-BBAC-17AE-38C0-2C1D826D6EC8}"/>
              </a:ext>
            </a:extLst>
          </p:cNvPr>
          <p:cNvSpPr txBox="1">
            <a:spLocks/>
          </p:cNvSpPr>
          <p:nvPr/>
        </p:nvSpPr>
        <p:spPr>
          <a:xfrm>
            <a:off x="252919" y="1123837"/>
            <a:ext cx="2947482" cy="460118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3600" kern="1200" spc="-60" baseline="0">
                <a:solidFill>
                  <a:srgbClr val="FFFFFF"/>
                </a:solidFill>
                <a:latin typeface="+mj-lt"/>
                <a:ea typeface="+mj-ea"/>
                <a:cs typeface="+mj-cs"/>
              </a:defRPr>
            </a:lvl1pPr>
          </a:lstStyle>
          <a:p>
            <a:r>
              <a:rPr lang="en-US" dirty="0"/>
              <a:t>Ways to get to the point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afterEffect">
                                  <p:stCondLst>
                                    <p:cond delay="0"/>
                                  </p:stCondLst>
                                  <p:childTnLst>
                                    <p:set>
                                      <p:cBhvr>
                                        <p:cTn id="6" dur="1" fill="hold">
                                          <p:stCondLst>
                                            <p:cond delay="0"/>
                                          </p:stCondLst>
                                        </p:cTn>
                                        <p:tgtEl>
                                          <p:spTgt spid="267"/>
                                        </p:tgtEl>
                                        <p:attrNameLst>
                                          <p:attrName>style.visibility</p:attrName>
                                        </p:attrNameLst>
                                      </p:cBhvr>
                                      <p:to>
                                        <p:strVal val="visible"/>
                                      </p:to>
                                    </p:set>
                                  </p:childTnLst>
                                </p:cTn>
                              </p:par>
                            </p:childTnLst>
                          </p:cTn>
                        </p:par>
                        <p:par>
                          <p:cTn id="7" fill="hold">
                            <p:stCondLst>
                              <p:cond delay="1"/>
                            </p:stCondLst>
                            <p:childTnLst>
                              <p:par>
                                <p:cTn id="8" presetID="1" presetClass="entr" presetSubtype="0" fill="hold" nodeType="afterEffect">
                                  <p:stCondLst>
                                    <p:cond delay="0"/>
                                  </p:stCondLst>
                                  <p:childTnLst>
                                    <p:set>
                                      <p:cBhvr>
                                        <p:cTn id="9" dur="1" fill="hold">
                                          <p:stCondLst>
                                            <p:cond delay="0"/>
                                          </p:stCondLst>
                                        </p:cTn>
                                        <p:tgtEl>
                                          <p:spTgt spid="268"/>
                                        </p:tgtEl>
                                        <p:attrNameLst>
                                          <p:attrName>style.visibility</p:attrName>
                                        </p:attrNameLst>
                                      </p:cBhvr>
                                      <p:to>
                                        <p:strVal val="visible"/>
                                      </p:to>
                                    </p:set>
                                  </p:childTnLst>
                                </p:cTn>
                              </p:par>
                            </p:childTnLst>
                          </p:cTn>
                        </p:par>
                        <p:par>
                          <p:cTn id="10" fill="hold">
                            <p:stCondLst>
                              <p:cond delay="2"/>
                            </p:stCondLst>
                            <p:childTnLst>
                              <p:par>
                                <p:cTn id="11" presetID="1" presetClass="entr" presetSubtype="0" fill="hold" nodeType="afterEffect">
                                  <p:stCondLst>
                                    <p:cond delay="0"/>
                                  </p:stCondLst>
                                  <p:childTnLst>
                                    <p:set>
                                      <p:cBhvr>
                                        <p:cTn id="12" dur="1" fill="hold">
                                          <p:stCondLst>
                                            <p:cond delay="0"/>
                                          </p:stCondLst>
                                        </p:cTn>
                                        <p:tgtEl>
                                          <p:spTgt spid="26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88"/>
        <p:cNvGrpSpPr/>
        <p:nvPr/>
      </p:nvGrpSpPr>
      <p:grpSpPr>
        <a:xfrm>
          <a:off x="0" y="0"/>
          <a:ext cx="0" cy="0"/>
          <a:chOff x="0" y="0"/>
          <a:chExt cx="0" cy="0"/>
        </a:xfrm>
      </p:grpSpPr>
      <p:pic>
        <p:nvPicPr>
          <p:cNvPr id="290" name="Google Shape;290;p30"/>
          <p:cNvPicPr preferRelativeResize="0">
            <a:picLocks noGrp="1"/>
          </p:cNvPicPr>
          <p:nvPr>
            <p:ph type="body" idx="1"/>
          </p:nvPr>
        </p:nvPicPr>
        <p:blipFill rotWithShape="1">
          <a:blip r:embed="rId3">
            <a:alphaModFix/>
          </a:blip>
          <a:srcRect l="-34797" r="-34797"/>
          <a:stretch/>
        </p:blipFill>
        <p:spPr>
          <a:xfrm>
            <a:off x="3505200" y="986028"/>
            <a:ext cx="8229600" cy="4876800"/>
          </a:xfrm>
          <a:prstGeom prst="rect">
            <a:avLst/>
          </a:prstGeom>
          <a:noFill/>
          <a:ln>
            <a:noFill/>
          </a:ln>
        </p:spPr>
      </p:pic>
      <p:sp>
        <p:nvSpPr>
          <p:cNvPr id="2" name="Title 1">
            <a:extLst>
              <a:ext uri="{FF2B5EF4-FFF2-40B4-BE49-F238E27FC236}">
                <a16:creationId xmlns:a16="http://schemas.microsoft.com/office/drawing/2014/main" id="{2661A829-EB05-0C69-A48F-3E9E5BFF38B2}"/>
              </a:ext>
            </a:extLst>
          </p:cNvPr>
          <p:cNvSpPr txBox="1">
            <a:spLocks/>
          </p:cNvSpPr>
          <p:nvPr/>
        </p:nvSpPr>
        <p:spPr>
          <a:xfrm>
            <a:off x="252919" y="1123837"/>
            <a:ext cx="2947482" cy="460118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3600" kern="1200" spc="-60" baseline="0">
                <a:solidFill>
                  <a:srgbClr val="FFFFFF"/>
                </a:solidFill>
                <a:latin typeface="+mj-lt"/>
                <a:ea typeface="+mj-ea"/>
                <a:cs typeface="+mj-cs"/>
              </a:defRPr>
            </a:lvl1pPr>
          </a:lstStyle>
          <a:p>
            <a:r>
              <a:rPr lang="en-US" dirty="0"/>
              <a:t>Ways to get to the point</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310">
          <a:extLst>
            <a:ext uri="{FF2B5EF4-FFF2-40B4-BE49-F238E27FC236}">
              <a16:creationId xmlns:a16="http://schemas.microsoft.com/office/drawing/2014/main" id="{A150D134-44F5-165F-CDEC-A22DDE1590B1}"/>
            </a:ext>
          </a:extLst>
        </p:cNvPr>
        <p:cNvGrpSpPr/>
        <p:nvPr/>
      </p:nvGrpSpPr>
      <p:grpSpPr>
        <a:xfrm>
          <a:off x="0" y="0"/>
          <a:ext cx="0" cy="0"/>
          <a:chOff x="0" y="0"/>
          <a:chExt cx="0" cy="0"/>
        </a:xfrm>
      </p:grpSpPr>
      <p:sp>
        <p:nvSpPr>
          <p:cNvPr id="3" name="Title 1">
            <a:extLst>
              <a:ext uri="{FF2B5EF4-FFF2-40B4-BE49-F238E27FC236}">
                <a16:creationId xmlns:a16="http://schemas.microsoft.com/office/drawing/2014/main" id="{2C6CA2DA-2DCB-CF5D-FE88-CEF68FC92889}"/>
              </a:ext>
            </a:extLst>
          </p:cNvPr>
          <p:cNvSpPr txBox="1">
            <a:spLocks/>
          </p:cNvSpPr>
          <p:nvPr/>
        </p:nvSpPr>
        <p:spPr>
          <a:xfrm>
            <a:off x="252919" y="1123837"/>
            <a:ext cx="2947482" cy="460118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3600" kern="1200" spc="-60" baseline="0">
                <a:solidFill>
                  <a:srgbClr val="FFFFFF"/>
                </a:solidFill>
                <a:latin typeface="+mj-lt"/>
                <a:ea typeface="+mj-ea"/>
                <a:cs typeface="+mj-cs"/>
              </a:defRPr>
            </a:lvl1pPr>
          </a:lstStyle>
          <a:p>
            <a:r>
              <a:rPr lang="en-US" dirty="0"/>
              <a:t>What movies use what arc?</a:t>
            </a:r>
          </a:p>
        </p:txBody>
      </p:sp>
      <p:pic>
        <p:nvPicPr>
          <p:cNvPr id="5" name="Picture 4" descr="A diagram of a diagram&#10;&#10;Description automatically generated">
            <a:extLst>
              <a:ext uri="{FF2B5EF4-FFF2-40B4-BE49-F238E27FC236}">
                <a16:creationId xmlns:a16="http://schemas.microsoft.com/office/drawing/2014/main" id="{D0116454-E87E-A2C3-3A01-A444218460A4}"/>
              </a:ext>
            </a:extLst>
          </p:cNvPr>
          <p:cNvPicPr>
            <a:picLocks noChangeAspect="1"/>
          </p:cNvPicPr>
          <p:nvPr/>
        </p:nvPicPr>
        <p:blipFill>
          <a:blip r:embed="rId3"/>
          <a:stretch>
            <a:fillRect/>
          </a:stretch>
        </p:blipFill>
        <p:spPr>
          <a:xfrm>
            <a:off x="3652189" y="397687"/>
            <a:ext cx="5990889" cy="3536584"/>
          </a:xfrm>
          <a:prstGeom prst="rect">
            <a:avLst/>
          </a:prstGeom>
        </p:spPr>
      </p:pic>
      <p:pic>
        <p:nvPicPr>
          <p:cNvPr id="7" name="Picture 6" descr="A diagram of a journey&#10;&#10;Description automatically generated">
            <a:extLst>
              <a:ext uri="{FF2B5EF4-FFF2-40B4-BE49-F238E27FC236}">
                <a16:creationId xmlns:a16="http://schemas.microsoft.com/office/drawing/2014/main" id="{73D14414-99DE-CC74-1153-19873FB04F39}"/>
              </a:ext>
            </a:extLst>
          </p:cNvPr>
          <p:cNvPicPr>
            <a:picLocks noChangeAspect="1"/>
          </p:cNvPicPr>
          <p:nvPr/>
        </p:nvPicPr>
        <p:blipFill>
          <a:blip r:embed="rId4"/>
          <a:srcRect t="5613"/>
          <a:stretch/>
        </p:blipFill>
        <p:spPr>
          <a:xfrm>
            <a:off x="8128000" y="3265715"/>
            <a:ext cx="4064000" cy="3536584"/>
          </a:xfrm>
          <a:prstGeom prst="rect">
            <a:avLst/>
          </a:prstGeom>
        </p:spPr>
      </p:pic>
    </p:spTree>
    <p:extLst>
      <p:ext uri="{BB962C8B-B14F-4D97-AF65-F5344CB8AC3E}">
        <p14:creationId xmlns:p14="http://schemas.microsoft.com/office/powerpoint/2010/main" val="255091057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0">
  <p:cSld>
    <p:spTree>
      <p:nvGrpSpPr>
        <p:cNvPr id="1" name="Shape 294"/>
        <p:cNvGrpSpPr/>
        <p:nvPr/>
      </p:nvGrpSpPr>
      <p:grpSpPr>
        <a:xfrm>
          <a:off x="0" y="0"/>
          <a:ext cx="0" cy="0"/>
          <a:chOff x="0" y="0"/>
          <a:chExt cx="0" cy="0"/>
        </a:xfrm>
      </p:grpSpPr>
      <p:pic>
        <p:nvPicPr>
          <p:cNvPr id="296" name="Google Shape;296;p31"/>
          <p:cNvPicPr preferRelativeResize="0">
            <a:picLocks noGrp="1"/>
          </p:cNvPicPr>
          <p:nvPr>
            <p:ph type="body" idx="1"/>
          </p:nvPr>
        </p:nvPicPr>
        <p:blipFill rotWithShape="1">
          <a:blip r:embed="rId3">
            <a:alphaModFix/>
          </a:blip>
          <a:srcRect l="-15032" t="48879" r="-11978" b="2418"/>
          <a:stretch/>
        </p:blipFill>
        <p:spPr>
          <a:xfrm>
            <a:off x="2895600" y="782828"/>
            <a:ext cx="8915400" cy="5283200"/>
          </a:xfrm>
          <a:prstGeom prst="rect">
            <a:avLst/>
          </a:prstGeom>
          <a:noFill/>
          <a:ln>
            <a:noFill/>
          </a:ln>
        </p:spPr>
      </p:pic>
      <p:pic>
        <p:nvPicPr>
          <p:cNvPr id="297" name="Google Shape;297;p31" descr="Screen Shot 2016-03-28 at 10.24.26 AM.png"/>
          <p:cNvPicPr preferRelativeResize="0"/>
          <p:nvPr/>
        </p:nvPicPr>
        <p:blipFill rotWithShape="1">
          <a:blip r:embed="rId4">
            <a:alphaModFix/>
          </a:blip>
          <a:srcRect/>
          <a:stretch/>
        </p:blipFill>
        <p:spPr>
          <a:xfrm>
            <a:off x="8620817" y="6398307"/>
            <a:ext cx="2015768" cy="428186"/>
          </a:xfrm>
          <a:prstGeom prst="rect">
            <a:avLst/>
          </a:prstGeom>
          <a:noFill/>
          <a:ln>
            <a:noFill/>
          </a:ln>
        </p:spPr>
      </p:pic>
      <p:sp>
        <p:nvSpPr>
          <p:cNvPr id="2" name="Title 1">
            <a:extLst>
              <a:ext uri="{FF2B5EF4-FFF2-40B4-BE49-F238E27FC236}">
                <a16:creationId xmlns:a16="http://schemas.microsoft.com/office/drawing/2014/main" id="{FCF5E0A3-65E1-FC86-9117-038B793BAF62}"/>
              </a:ext>
            </a:extLst>
          </p:cNvPr>
          <p:cNvSpPr txBox="1">
            <a:spLocks/>
          </p:cNvSpPr>
          <p:nvPr/>
        </p:nvSpPr>
        <p:spPr>
          <a:xfrm>
            <a:off x="252919" y="1123837"/>
            <a:ext cx="2947482" cy="460118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3600" kern="1200" spc="-60" baseline="0">
                <a:solidFill>
                  <a:srgbClr val="FFFFFF"/>
                </a:solidFill>
                <a:latin typeface="+mj-lt"/>
                <a:ea typeface="+mj-ea"/>
                <a:cs typeface="+mj-cs"/>
              </a:defRPr>
            </a:lvl1pPr>
          </a:lstStyle>
          <a:p>
            <a:r>
              <a:rPr lang="en-US" dirty="0"/>
              <a:t>Ways to get to the point (according to Vonnegut)</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show="0">
  <p:cSld>
    <p:spTree>
      <p:nvGrpSpPr>
        <p:cNvPr id="1" name="Shape 310"/>
        <p:cNvGrpSpPr/>
        <p:nvPr/>
      </p:nvGrpSpPr>
      <p:grpSpPr>
        <a:xfrm>
          <a:off x="0" y="0"/>
          <a:ext cx="0" cy="0"/>
          <a:chOff x="0" y="0"/>
          <a:chExt cx="0" cy="0"/>
        </a:xfrm>
      </p:grpSpPr>
      <p:pic>
        <p:nvPicPr>
          <p:cNvPr id="7" name="Picture 6" descr="A diagram of a journey&#10;&#10;Description automatically generated">
            <a:extLst>
              <a:ext uri="{FF2B5EF4-FFF2-40B4-BE49-F238E27FC236}">
                <a16:creationId xmlns:a16="http://schemas.microsoft.com/office/drawing/2014/main" id="{83F6EF04-BE12-D5E1-40C0-5001AF406F39}"/>
              </a:ext>
            </a:extLst>
          </p:cNvPr>
          <p:cNvPicPr>
            <a:picLocks noChangeAspect="1"/>
          </p:cNvPicPr>
          <p:nvPr/>
        </p:nvPicPr>
        <p:blipFill>
          <a:blip r:embed="rId3"/>
          <a:stretch>
            <a:fillRect/>
          </a:stretch>
        </p:blipFill>
        <p:spPr>
          <a:xfrm>
            <a:off x="8573077" y="1620034"/>
            <a:ext cx="3835894" cy="3536584"/>
          </a:xfrm>
          <a:prstGeom prst="rect">
            <a:avLst/>
          </a:prstGeom>
        </p:spPr>
      </p:pic>
      <p:sp>
        <p:nvSpPr>
          <p:cNvPr id="3" name="Title 1">
            <a:extLst>
              <a:ext uri="{FF2B5EF4-FFF2-40B4-BE49-F238E27FC236}">
                <a16:creationId xmlns:a16="http://schemas.microsoft.com/office/drawing/2014/main" id="{E9391DD5-2ECA-A92C-CA56-14F19DB67280}"/>
              </a:ext>
            </a:extLst>
          </p:cNvPr>
          <p:cNvSpPr txBox="1">
            <a:spLocks/>
          </p:cNvSpPr>
          <p:nvPr/>
        </p:nvSpPr>
        <p:spPr>
          <a:xfrm>
            <a:off x="252919" y="1123837"/>
            <a:ext cx="2947482" cy="460118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3600" kern="1200" spc="-60" baseline="0">
                <a:solidFill>
                  <a:srgbClr val="FFFFFF"/>
                </a:solidFill>
                <a:latin typeface="+mj-lt"/>
                <a:ea typeface="+mj-ea"/>
                <a:cs typeface="+mj-cs"/>
              </a:defRPr>
            </a:lvl1pPr>
          </a:lstStyle>
          <a:p>
            <a:r>
              <a:rPr lang="en-US" dirty="0"/>
              <a:t>What movies use what arc?</a:t>
            </a:r>
          </a:p>
        </p:txBody>
      </p:sp>
      <p:pic>
        <p:nvPicPr>
          <p:cNvPr id="5" name="Picture 4" descr="A diagram of a diagram&#10;&#10;Description automatically generated">
            <a:extLst>
              <a:ext uri="{FF2B5EF4-FFF2-40B4-BE49-F238E27FC236}">
                <a16:creationId xmlns:a16="http://schemas.microsoft.com/office/drawing/2014/main" id="{764069BF-E06D-C58D-B3FC-253990C24A78}"/>
              </a:ext>
            </a:extLst>
          </p:cNvPr>
          <p:cNvPicPr>
            <a:picLocks noChangeAspect="1"/>
          </p:cNvPicPr>
          <p:nvPr/>
        </p:nvPicPr>
        <p:blipFill>
          <a:blip r:embed="rId4"/>
          <a:stretch>
            <a:fillRect/>
          </a:stretch>
        </p:blipFill>
        <p:spPr>
          <a:xfrm>
            <a:off x="3669122" y="-25647"/>
            <a:ext cx="5575489" cy="3291362"/>
          </a:xfrm>
          <a:prstGeom prst="rect">
            <a:avLst/>
          </a:prstGeom>
        </p:spPr>
      </p:pic>
      <p:pic>
        <p:nvPicPr>
          <p:cNvPr id="8" name="Google Shape;296;p31">
            <a:extLst>
              <a:ext uri="{FF2B5EF4-FFF2-40B4-BE49-F238E27FC236}">
                <a16:creationId xmlns:a16="http://schemas.microsoft.com/office/drawing/2014/main" id="{9E431204-4BC1-7F90-D5CD-39E0CF1C3D37}"/>
              </a:ext>
            </a:extLst>
          </p:cNvPr>
          <p:cNvPicPr preferRelativeResize="0">
            <a:picLocks/>
          </p:cNvPicPr>
          <p:nvPr/>
        </p:nvPicPr>
        <p:blipFill rotWithShape="1">
          <a:blip r:embed="rId5">
            <a:alphaModFix/>
          </a:blip>
          <a:srcRect l="-15032" t="48879" r="-11978" b="2418"/>
          <a:stretch/>
        </p:blipFill>
        <p:spPr>
          <a:xfrm>
            <a:off x="2644104" y="3297211"/>
            <a:ext cx="6953992" cy="3536584"/>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319"/>
        <p:cNvGrpSpPr/>
        <p:nvPr/>
      </p:nvGrpSpPr>
      <p:grpSpPr>
        <a:xfrm>
          <a:off x="0" y="0"/>
          <a:ext cx="0" cy="0"/>
          <a:chOff x="0" y="0"/>
          <a:chExt cx="0" cy="0"/>
        </a:xfrm>
      </p:grpSpPr>
      <p:grpSp>
        <p:nvGrpSpPr>
          <p:cNvPr id="320" name="Google Shape;320;p34"/>
          <p:cNvGrpSpPr/>
          <p:nvPr/>
        </p:nvGrpSpPr>
        <p:grpSpPr>
          <a:xfrm>
            <a:off x="3034153" y="2096988"/>
            <a:ext cx="7924799" cy="1708248"/>
            <a:chOff x="1" y="2514600"/>
            <a:chExt cx="7924799" cy="1708248"/>
          </a:xfrm>
        </p:grpSpPr>
        <p:sp>
          <p:nvSpPr>
            <p:cNvPr id="321" name="Google Shape;321;p34"/>
            <p:cNvSpPr/>
            <p:nvPr/>
          </p:nvSpPr>
          <p:spPr>
            <a:xfrm>
              <a:off x="1" y="2514600"/>
              <a:ext cx="6866588" cy="1371600"/>
            </a:xfrm>
            <a:prstGeom prst="rightArrow">
              <a:avLst>
                <a:gd name="adj1" fmla="val 50000"/>
                <a:gd name="adj2" fmla="val 50000"/>
              </a:avLst>
            </a:prstGeom>
            <a:solidFill>
              <a:srgbClr val="BFBFBF"/>
            </a:solidFill>
            <a:ln>
              <a:noFill/>
            </a:ln>
          </p:spPr>
          <p:txBody>
            <a:bodyPr spcFirstLastPara="1" wrap="square" lIns="91425" tIns="45700" rIns="91425" bIns="45700" anchor="ctr" anchorCtr="0">
              <a:noAutofit/>
            </a:bodyPr>
            <a:lstStyle/>
            <a:p>
              <a:pPr algn="ctr"/>
              <a:endParaRPr>
                <a:solidFill>
                  <a:schemeClr val="tx1">
                    <a:lumMod val="75000"/>
                    <a:lumOff val="25000"/>
                  </a:schemeClr>
                </a:solidFill>
                <a:ea typeface="Arial"/>
                <a:cs typeface="Arial"/>
                <a:sym typeface="Arial"/>
              </a:endParaRPr>
            </a:p>
          </p:txBody>
        </p:sp>
        <p:grpSp>
          <p:nvGrpSpPr>
            <p:cNvPr id="322" name="Google Shape;322;p34"/>
            <p:cNvGrpSpPr/>
            <p:nvPr/>
          </p:nvGrpSpPr>
          <p:grpSpPr>
            <a:xfrm>
              <a:off x="7010400" y="2743200"/>
              <a:ext cx="914400" cy="1479648"/>
              <a:chOff x="6863702" y="2011529"/>
              <a:chExt cx="914400" cy="1479648"/>
            </a:xfrm>
          </p:grpSpPr>
          <p:sp>
            <p:nvSpPr>
              <p:cNvPr id="323" name="Google Shape;323;p34"/>
              <p:cNvSpPr/>
              <p:nvPr/>
            </p:nvSpPr>
            <p:spPr>
              <a:xfrm>
                <a:off x="6863702" y="2011529"/>
                <a:ext cx="914400" cy="914400"/>
              </a:xfrm>
              <a:prstGeom prst="ellipse">
                <a:avLst/>
              </a:prstGeom>
              <a:solidFill>
                <a:schemeClr val="dk2"/>
              </a:solidFill>
              <a:ln w="44450" cap="flat" cmpd="sng">
                <a:solidFill>
                  <a:srgbClr val="000000"/>
                </a:solidFill>
                <a:prstDash val="solid"/>
                <a:round/>
                <a:headEnd type="none" w="sm" len="sm"/>
                <a:tailEnd type="none" w="sm" len="sm"/>
              </a:ln>
            </p:spPr>
            <p:txBody>
              <a:bodyPr spcFirstLastPara="1" wrap="square" lIns="91425" tIns="45700" rIns="91425" bIns="45700" anchor="ctr" anchorCtr="0">
                <a:noAutofit/>
              </a:bodyPr>
              <a:lstStyle/>
              <a:p>
                <a:pPr algn="ctr"/>
                <a:endParaRPr>
                  <a:solidFill>
                    <a:schemeClr val="tx1">
                      <a:lumMod val="75000"/>
                      <a:lumOff val="25000"/>
                    </a:schemeClr>
                  </a:solidFill>
                  <a:ea typeface="Arial"/>
                  <a:cs typeface="Arial"/>
                  <a:sym typeface="Arial"/>
                </a:endParaRPr>
              </a:p>
            </p:txBody>
          </p:sp>
          <p:sp>
            <p:nvSpPr>
              <p:cNvPr id="324" name="Google Shape;324;p34"/>
              <p:cNvSpPr txBox="1"/>
              <p:nvPr/>
            </p:nvSpPr>
            <p:spPr>
              <a:xfrm>
                <a:off x="6894869" y="3029512"/>
                <a:ext cx="852066" cy="461665"/>
              </a:xfrm>
              <a:prstGeom prst="rect">
                <a:avLst/>
              </a:prstGeom>
              <a:noFill/>
              <a:ln>
                <a:noFill/>
              </a:ln>
            </p:spPr>
            <p:txBody>
              <a:bodyPr spcFirstLastPara="1" wrap="square" lIns="91425" tIns="45700" rIns="91425" bIns="45700" anchor="t" anchorCtr="0">
                <a:noAutofit/>
              </a:bodyPr>
              <a:lstStyle/>
              <a:p>
                <a:r>
                  <a:rPr lang="en-US" sz="2400">
                    <a:solidFill>
                      <a:schemeClr val="tx1">
                        <a:lumMod val="75000"/>
                        <a:lumOff val="25000"/>
                      </a:schemeClr>
                    </a:solidFill>
                    <a:ea typeface="Arial"/>
                    <a:cs typeface="Arial"/>
                    <a:sym typeface="Arial"/>
                  </a:rPr>
                  <a:t>point</a:t>
                </a:r>
                <a:endParaRPr sz="2400">
                  <a:solidFill>
                    <a:schemeClr val="tx1">
                      <a:lumMod val="75000"/>
                      <a:lumOff val="25000"/>
                    </a:schemeClr>
                  </a:solidFill>
                  <a:ea typeface="Arial"/>
                  <a:cs typeface="Arial"/>
                  <a:sym typeface="Arial"/>
                </a:endParaRPr>
              </a:p>
            </p:txBody>
          </p:sp>
        </p:grpSp>
      </p:grpSp>
      <p:sp>
        <p:nvSpPr>
          <p:cNvPr id="325" name="Google Shape;325;p34"/>
          <p:cNvSpPr txBox="1">
            <a:spLocks noGrp="1"/>
          </p:cNvSpPr>
          <p:nvPr>
            <p:ph type="body" idx="1"/>
          </p:nvPr>
        </p:nvSpPr>
        <p:spPr>
          <a:xfrm>
            <a:off x="3491351" y="1396338"/>
            <a:ext cx="8229600" cy="4876800"/>
          </a:xfrm>
          <a:prstGeom prst="rect">
            <a:avLst/>
          </a:prstGeom>
          <a:noFill/>
          <a:ln>
            <a:noFill/>
          </a:ln>
        </p:spPr>
        <p:txBody>
          <a:bodyPr spcFirstLastPara="1" vert="horz" wrap="square" lIns="91425" tIns="45700" rIns="91425" bIns="45700" rtlCol="0" anchor="t" anchorCtr="0">
            <a:noAutofit/>
          </a:bodyPr>
          <a:lstStyle/>
          <a:p>
            <a:pPr marL="0" indent="0" algn="ctr">
              <a:spcBef>
                <a:spcPts val="0"/>
              </a:spcBef>
              <a:buNone/>
            </a:pPr>
            <a:endParaRPr sz="2400">
              <a:ea typeface="Arial"/>
              <a:cs typeface="Arial"/>
              <a:sym typeface="Arial"/>
            </a:endParaRPr>
          </a:p>
          <a:p>
            <a:pPr marL="0" indent="0" algn="ctr">
              <a:spcBef>
                <a:spcPts val="480"/>
              </a:spcBef>
              <a:buNone/>
            </a:pPr>
            <a:endParaRPr sz="2400">
              <a:ea typeface="Arial"/>
              <a:cs typeface="Arial"/>
              <a:sym typeface="Arial"/>
            </a:endParaRPr>
          </a:p>
          <a:p>
            <a:pPr marL="0" indent="0" algn="ctr">
              <a:spcBef>
                <a:spcPts val="480"/>
              </a:spcBef>
              <a:buNone/>
            </a:pPr>
            <a:endParaRPr sz="2400">
              <a:ea typeface="Arial"/>
              <a:cs typeface="Arial"/>
              <a:sym typeface="Arial"/>
            </a:endParaRPr>
          </a:p>
          <a:p>
            <a:pPr marL="0" indent="0" algn="ctr">
              <a:spcBef>
                <a:spcPts val="480"/>
              </a:spcBef>
              <a:buNone/>
            </a:pPr>
            <a:r>
              <a:rPr lang="en-US" sz="2400">
                <a:ea typeface="Arial"/>
                <a:cs typeface="Arial"/>
                <a:sym typeface="Arial"/>
              </a:rPr>
              <a:t>What makes a </a:t>
            </a:r>
            <a:r>
              <a:rPr lang="en-US" sz="2400" b="1">
                <a:ea typeface="Arial"/>
                <a:cs typeface="Arial"/>
                <a:sym typeface="Arial"/>
              </a:rPr>
              <a:t>good story</a:t>
            </a:r>
            <a:r>
              <a:rPr lang="en-US" sz="2400">
                <a:ea typeface="Arial"/>
                <a:cs typeface="Arial"/>
                <a:sym typeface="Arial"/>
              </a:rPr>
              <a:t>?</a:t>
            </a:r>
            <a:endParaRPr sz="2400">
              <a:ea typeface="Arial"/>
              <a:cs typeface="Arial"/>
              <a:sym typeface="Arial"/>
            </a:endParaRPr>
          </a:p>
        </p:txBody>
      </p:sp>
      <p:cxnSp>
        <p:nvCxnSpPr>
          <p:cNvPr id="326" name="Google Shape;326;p34"/>
          <p:cNvCxnSpPr/>
          <p:nvPr/>
        </p:nvCxnSpPr>
        <p:spPr>
          <a:xfrm>
            <a:off x="7738290" y="3189512"/>
            <a:ext cx="1554480" cy="0"/>
          </a:xfrm>
          <a:prstGeom prst="straightConnector1">
            <a:avLst/>
          </a:prstGeom>
          <a:noFill/>
          <a:ln w="57150" cap="rnd" cmpd="sng">
            <a:solidFill>
              <a:schemeClr val="dk2"/>
            </a:solidFill>
            <a:prstDash val="solid"/>
            <a:round/>
            <a:headEnd type="none" w="sm" len="sm"/>
            <a:tailEnd type="none" w="sm" len="sm"/>
          </a:ln>
        </p:spPr>
      </p:cxnSp>
      <p:grpSp>
        <p:nvGrpSpPr>
          <p:cNvPr id="327" name="Google Shape;327;p34"/>
          <p:cNvGrpSpPr/>
          <p:nvPr/>
        </p:nvGrpSpPr>
        <p:grpSpPr>
          <a:xfrm>
            <a:off x="7763837" y="1472538"/>
            <a:ext cx="1518715" cy="1194376"/>
            <a:chOff x="4840001" y="839217"/>
            <a:chExt cx="1518715" cy="895782"/>
          </a:xfrm>
        </p:grpSpPr>
        <p:sp>
          <p:nvSpPr>
            <p:cNvPr id="328" name="Google Shape;328;p34"/>
            <p:cNvSpPr/>
            <p:nvPr/>
          </p:nvSpPr>
          <p:spPr>
            <a:xfrm>
              <a:off x="5479355" y="1254939"/>
              <a:ext cx="240007" cy="480060"/>
            </a:xfrm>
            <a:prstGeom prst="upArrow">
              <a:avLst>
                <a:gd name="adj1" fmla="val 50000"/>
                <a:gd name="adj2" fmla="val 50000"/>
              </a:avLst>
            </a:prstGeom>
            <a:solidFill>
              <a:srgbClr val="000000"/>
            </a:solidFill>
            <a:ln w="9525" cap="flat" cmpd="sng">
              <a:solidFill>
                <a:srgbClr val="000000"/>
              </a:solidFill>
              <a:prstDash val="solid"/>
              <a:round/>
              <a:headEnd type="none" w="sm" len="sm"/>
              <a:tailEnd type="none" w="sm" len="sm"/>
            </a:ln>
          </p:spPr>
          <p:txBody>
            <a:bodyPr spcFirstLastPara="1" wrap="square" lIns="91425" tIns="45700" rIns="91425" bIns="45700" anchor="ctr" anchorCtr="0">
              <a:noAutofit/>
            </a:bodyPr>
            <a:lstStyle/>
            <a:p>
              <a:pPr algn="ctr"/>
              <a:endParaRPr sz="1400">
                <a:solidFill>
                  <a:schemeClr val="tx1">
                    <a:lumMod val="75000"/>
                    <a:lumOff val="25000"/>
                  </a:schemeClr>
                </a:solidFill>
                <a:ea typeface="Arial"/>
                <a:cs typeface="Arial"/>
                <a:sym typeface="Arial"/>
              </a:endParaRPr>
            </a:p>
          </p:txBody>
        </p:sp>
        <p:sp>
          <p:nvSpPr>
            <p:cNvPr id="329" name="Google Shape;329;p34"/>
            <p:cNvSpPr txBox="1"/>
            <p:nvPr/>
          </p:nvSpPr>
          <p:spPr>
            <a:xfrm>
              <a:off x="4840001" y="839217"/>
              <a:ext cx="1518715" cy="346249"/>
            </a:xfrm>
            <a:prstGeom prst="rect">
              <a:avLst/>
            </a:prstGeom>
            <a:noFill/>
            <a:ln>
              <a:noFill/>
            </a:ln>
          </p:spPr>
          <p:txBody>
            <a:bodyPr spcFirstLastPara="1" wrap="square" lIns="91425" tIns="45700" rIns="91425" bIns="45700" anchor="t" anchorCtr="0">
              <a:noAutofit/>
            </a:bodyPr>
            <a:lstStyle/>
            <a:p>
              <a:r>
                <a:rPr lang="en-US" sz="2400">
                  <a:solidFill>
                    <a:schemeClr val="tx1">
                      <a:lumMod val="75000"/>
                      <a:lumOff val="25000"/>
                    </a:schemeClr>
                  </a:solidFill>
                  <a:ea typeface="Arial"/>
                  <a:cs typeface="Arial"/>
                  <a:sym typeface="Arial"/>
                </a:rPr>
                <a:t>storyteller</a:t>
              </a:r>
              <a:endParaRPr sz="2400">
                <a:solidFill>
                  <a:schemeClr val="tx1">
                    <a:lumMod val="75000"/>
                    <a:lumOff val="25000"/>
                  </a:schemeClr>
                </a:solidFill>
                <a:ea typeface="Arial"/>
                <a:cs typeface="Arial"/>
                <a:sym typeface="Arial"/>
              </a:endParaRPr>
            </a:p>
          </p:txBody>
        </p:sp>
      </p:grpSp>
      <p:grpSp>
        <p:nvGrpSpPr>
          <p:cNvPr id="330" name="Google Shape;330;p34"/>
          <p:cNvGrpSpPr/>
          <p:nvPr/>
        </p:nvGrpSpPr>
        <p:grpSpPr>
          <a:xfrm>
            <a:off x="7822245" y="3343158"/>
            <a:ext cx="1433956" cy="1007356"/>
            <a:chOff x="4985136" y="3343787"/>
            <a:chExt cx="1433956" cy="755517"/>
          </a:xfrm>
        </p:grpSpPr>
        <p:sp>
          <p:nvSpPr>
            <p:cNvPr id="331" name="Google Shape;331;p34"/>
            <p:cNvSpPr/>
            <p:nvPr/>
          </p:nvSpPr>
          <p:spPr>
            <a:xfrm rot="10800000">
              <a:off x="5582111" y="3343787"/>
              <a:ext cx="240007" cy="480060"/>
            </a:xfrm>
            <a:prstGeom prst="upArrow">
              <a:avLst>
                <a:gd name="adj1" fmla="val 50000"/>
                <a:gd name="adj2" fmla="val 50000"/>
              </a:avLst>
            </a:prstGeom>
            <a:solidFill>
              <a:srgbClr val="000000"/>
            </a:solidFill>
            <a:ln w="9525" cap="flat" cmpd="sng">
              <a:solidFill>
                <a:srgbClr val="000000"/>
              </a:solidFill>
              <a:prstDash val="solid"/>
              <a:round/>
              <a:headEnd type="none" w="sm" len="sm"/>
              <a:tailEnd type="none" w="sm" len="sm"/>
            </a:ln>
          </p:spPr>
          <p:txBody>
            <a:bodyPr spcFirstLastPara="1" wrap="square" lIns="91425" tIns="45700" rIns="91425" bIns="45700" anchor="ctr" anchorCtr="0">
              <a:noAutofit/>
            </a:bodyPr>
            <a:lstStyle/>
            <a:p>
              <a:pPr algn="ctr"/>
              <a:endParaRPr sz="1400">
                <a:solidFill>
                  <a:schemeClr val="tx1">
                    <a:lumMod val="75000"/>
                    <a:lumOff val="25000"/>
                  </a:schemeClr>
                </a:solidFill>
                <a:ea typeface="Arial"/>
                <a:cs typeface="Arial"/>
                <a:sym typeface="Arial"/>
              </a:endParaRPr>
            </a:p>
          </p:txBody>
        </p:sp>
        <p:sp>
          <p:nvSpPr>
            <p:cNvPr id="332" name="Google Shape;332;p34"/>
            <p:cNvSpPr txBox="1"/>
            <p:nvPr/>
          </p:nvSpPr>
          <p:spPr>
            <a:xfrm>
              <a:off x="4985136" y="3753055"/>
              <a:ext cx="1433956" cy="346249"/>
            </a:xfrm>
            <a:prstGeom prst="rect">
              <a:avLst/>
            </a:prstGeom>
            <a:noFill/>
            <a:ln>
              <a:noFill/>
            </a:ln>
          </p:spPr>
          <p:txBody>
            <a:bodyPr spcFirstLastPara="1" wrap="square" lIns="91425" tIns="45700" rIns="91425" bIns="45700" anchor="t" anchorCtr="0">
              <a:noAutofit/>
            </a:bodyPr>
            <a:lstStyle/>
            <a:p>
              <a:r>
                <a:rPr lang="en-US" sz="2400">
                  <a:solidFill>
                    <a:schemeClr val="tx1">
                      <a:lumMod val="75000"/>
                      <a:lumOff val="25000"/>
                    </a:schemeClr>
                  </a:solidFill>
                  <a:ea typeface="Arial"/>
                  <a:cs typeface="Arial"/>
                  <a:sym typeface="Arial"/>
                </a:rPr>
                <a:t>audience</a:t>
              </a:r>
              <a:endParaRPr sz="2400">
                <a:solidFill>
                  <a:schemeClr val="tx1">
                    <a:lumMod val="75000"/>
                    <a:lumOff val="25000"/>
                  </a:schemeClr>
                </a:solidFill>
                <a:ea typeface="Arial"/>
                <a:cs typeface="Arial"/>
                <a:sym typeface="Arial"/>
              </a:endParaRPr>
            </a:p>
          </p:txBody>
        </p:sp>
      </p:grpSp>
      <p:sp>
        <p:nvSpPr>
          <p:cNvPr id="334" name="Google Shape;334;p34"/>
          <p:cNvSpPr txBox="1"/>
          <p:nvPr/>
        </p:nvSpPr>
        <p:spPr>
          <a:xfrm>
            <a:off x="3125780" y="942107"/>
            <a:ext cx="1801733" cy="369332"/>
          </a:xfrm>
          <a:prstGeom prst="rect">
            <a:avLst/>
          </a:prstGeom>
          <a:noFill/>
          <a:ln>
            <a:noFill/>
          </a:ln>
        </p:spPr>
        <p:txBody>
          <a:bodyPr spcFirstLastPara="1" wrap="square" lIns="91425" tIns="45700" rIns="91425" bIns="45700" anchor="t" anchorCtr="0">
            <a:noAutofit/>
          </a:bodyPr>
          <a:lstStyle/>
          <a:p>
            <a:r>
              <a:rPr lang="en-US">
                <a:solidFill>
                  <a:schemeClr val="tx1">
                    <a:lumMod val="75000"/>
                    <a:lumOff val="25000"/>
                  </a:schemeClr>
                </a:solidFill>
                <a:ea typeface="Arial"/>
                <a:cs typeface="Arial"/>
                <a:sym typeface="Arial"/>
              </a:rPr>
              <a:t>Touches people</a:t>
            </a:r>
            <a:endParaRPr>
              <a:solidFill>
                <a:schemeClr val="tx1">
                  <a:lumMod val="75000"/>
                  <a:lumOff val="25000"/>
                </a:schemeClr>
              </a:solidFill>
              <a:ea typeface="Arial"/>
              <a:cs typeface="Arial"/>
              <a:sym typeface="Arial"/>
            </a:endParaRPr>
          </a:p>
        </p:txBody>
      </p:sp>
      <p:sp>
        <p:nvSpPr>
          <p:cNvPr id="335" name="Google Shape;335;p34"/>
          <p:cNvSpPr txBox="1"/>
          <p:nvPr/>
        </p:nvSpPr>
        <p:spPr>
          <a:xfrm>
            <a:off x="4416925" y="1302859"/>
            <a:ext cx="1711564" cy="369332"/>
          </a:xfrm>
          <a:prstGeom prst="rect">
            <a:avLst/>
          </a:prstGeom>
          <a:noFill/>
          <a:ln>
            <a:noFill/>
          </a:ln>
        </p:spPr>
        <p:txBody>
          <a:bodyPr spcFirstLastPara="1" wrap="square" lIns="91425" tIns="45700" rIns="91425" bIns="45700" anchor="t" anchorCtr="0">
            <a:noAutofit/>
          </a:bodyPr>
          <a:lstStyle/>
          <a:p>
            <a:r>
              <a:rPr lang="en-US" dirty="0">
                <a:solidFill>
                  <a:schemeClr val="tx1">
                    <a:lumMod val="75000"/>
                    <a:lumOff val="25000"/>
                  </a:schemeClr>
                </a:solidFill>
                <a:ea typeface="Arial"/>
                <a:cs typeface="Arial"/>
                <a:sym typeface="Arial"/>
              </a:rPr>
              <a:t>Has substance</a:t>
            </a:r>
            <a:endParaRPr dirty="0">
              <a:solidFill>
                <a:schemeClr val="tx1">
                  <a:lumMod val="75000"/>
                  <a:lumOff val="25000"/>
                </a:schemeClr>
              </a:solidFill>
              <a:ea typeface="Arial"/>
              <a:cs typeface="Arial"/>
              <a:sym typeface="Arial"/>
            </a:endParaRPr>
          </a:p>
        </p:txBody>
      </p:sp>
      <p:sp>
        <p:nvSpPr>
          <p:cNvPr id="336" name="Google Shape;336;p34"/>
          <p:cNvSpPr txBox="1"/>
          <p:nvPr/>
        </p:nvSpPr>
        <p:spPr>
          <a:xfrm>
            <a:off x="3125780" y="1956828"/>
            <a:ext cx="4136995" cy="369332"/>
          </a:xfrm>
          <a:prstGeom prst="rect">
            <a:avLst/>
          </a:prstGeom>
          <a:noFill/>
          <a:ln>
            <a:noFill/>
          </a:ln>
        </p:spPr>
        <p:txBody>
          <a:bodyPr spcFirstLastPara="1" wrap="square" lIns="91425" tIns="45700" rIns="91425" bIns="45700" anchor="t" anchorCtr="0">
            <a:noAutofit/>
          </a:bodyPr>
          <a:lstStyle/>
          <a:p>
            <a:r>
              <a:rPr lang="en-US">
                <a:solidFill>
                  <a:schemeClr val="tx1">
                    <a:lumMod val="75000"/>
                    <a:lumOff val="25000"/>
                  </a:schemeClr>
                </a:solidFill>
                <a:ea typeface="Arial"/>
                <a:cs typeface="Arial"/>
                <a:sym typeface="Arial"/>
              </a:rPr>
              <a:t>Representative of the human condition</a:t>
            </a:r>
            <a:endParaRPr>
              <a:solidFill>
                <a:schemeClr val="tx1">
                  <a:lumMod val="75000"/>
                  <a:lumOff val="25000"/>
                </a:schemeClr>
              </a:solidFill>
              <a:ea typeface="Arial"/>
              <a:cs typeface="Arial"/>
              <a:sym typeface="Arial"/>
            </a:endParaRPr>
          </a:p>
        </p:txBody>
      </p:sp>
      <p:sp>
        <p:nvSpPr>
          <p:cNvPr id="337" name="Google Shape;337;p34"/>
          <p:cNvSpPr txBox="1"/>
          <p:nvPr/>
        </p:nvSpPr>
        <p:spPr>
          <a:xfrm>
            <a:off x="9640841" y="4819086"/>
            <a:ext cx="2327079" cy="369332"/>
          </a:xfrm>
          <a:prstGeom prst="rect">
            <a:avLst/>
          </a:prstGeom>
          <a:noFill/>
          <a:ln>
            <a:noFill/>
          </a:ln>
        </p:spPr>
        <p:txBody>
          <a:bodyPr spcFirstLastPara="1" wrap="square" lIns="91425" tIns="45700" rIns="91425" bIns="45700" anchor="t" anchorCtr="0">
            <a:noAutofit/>
          </a:bodyPr>
          <a:lstStyle/>
          <a:p>
            <a:r>
              <a:rPr lang="en-US">
                <a:solidFill>
                  <a:schemeClr val="tx1">
                    <a:lumMod val="75000"/>
                    <a:lumOff val="25000"/>
                  </a:schemeClr>
                </a:solidFill>
                <a:ea typeface="Arial"/>
                <a:cs typeface="Arial"/>
                <a:sym typeface="Arial"/>
              </a:rPr>
              <a:t>Creates vivid images</a:t>
            </a:r>
            <a:endParaRPr>
              <a:solidFill>
                <a:schemeClr val="tx1">
                  <a:lumMod val="75000"/>
                  <a:lumOff val="25000"/>
                </a:schemeClr>
              </a:solidFill>
              <a:ea typeface="Arial"/>
              <a:cs typeface="Arial"/>
              <a:sym typeface="Arial"/>
            </a:endParaRPr>
          </a:p>
        </p:txBody>
      </p:sp>
      <p:sp>
        <p:nvSpPr>
          <p:cNvPr id="338" name="Google Shape;338;p34"/>
          <p:cNvSpPr txBox="1"/>
          <p:nvPr/>
        </p:nvSpPr>
        <p:spPr>
          <a:xfrm>
            <a:off x="8368152" y="5559290"/>
            <a:ext cx="3713539" cy="369332"/>
          </a:xfrm>
          <a:prstGeom prst="rect">
            <a:avLst/>
          </a:prstGeom>
          <a:noFill/>
          <a:ln>
            <a:noFill/>
          </a:ln>
        </p:spPr>
        <p:txBody>
          <a:bodyPr spcFirstLastPara="1" wrap="square" lIns="91425" tIns="45700" rIns="91425" bIns="45700" anchor="t" anchorCtr="0">
            <a:noAutofit/>
          </a:bodyPr>
          <a:lstStyle/>
          <a:p>
            <a:r>
              <a:rPr lang="en-US">
                <a:solidFill>
                  <a:schemeClr val="tx1">
                    <a:lumMod val="75000"/>
                    <a:lumOff val="25000"/>
                  </a:schemeClr>
                </a:solidFill>
                <a:ea typeface="Arial"/>
                <a:cs typeface="Arial"/>
                <a:sym typeface="Arial"/>
              </a:rPr>
              <a:t>Doesn’t default to an easy solution</a:t>
            </a:r>
            <a:endParaRPr>
              <a:solidFill>
                <a:schemeClr val="tx1">
                  <a:lumMod val="75000"/>
                  <a:lumOff val="25000"/>
                </a:schemeClr>
              </a:solidFill>
              <a:ea typeface="Arial"/>
              <a:cs typeface="Arial"/>
              <a:sym typeface="Arial"/>
            </a:endParaRPr>
          </a:p>
        </p:txBody>
      </p:sp>
      <p:sp>
        <p:nvSpPr>
          <p:cNvPr id="339" name="Google Shape;339;p34"/>
          <p:cNvSpPr txBox="1"/>
          <p:nvPr/>
        </p:nvSpPr>
        <p:spPr>
          <a:xfrm>
            <a:off x="4944620" y="5570731"/>
            <a:ext cx="3161705" cy="369332"/>
          </a:xfrm>
          <a:prstGeom prst="rect">
            <a:avLst/>
          </a:prstGeom>
          <a:noFill/>
          <a:ln>
            <a:noFill/>
          </a:ln>
        </p:spPr>
        <p:txBody>
          <a:bodyPr spcFirstLastPara="1" wrap="square" lIns="91425" tIns="45700" rIns="91425" bIns="45700" anchor="t" anchorCtr="0">
            <a:noAutofit/>
          </a:bodyPr>
          <a:lstStyle/>
          <a:p>
            <a:r>
              <a:rPr lang="en-US">
                <a:solidFill>
                  <a:schemeClr val="tx1">
                    <a:lumMod val="75000"/>
                    <a:lumOff val="25000"/>
                  </a:schemeClr>
                </a:solidFill>
                <a:ea typeface="Arial"/>
                <a:cs typeface="Arial"/>
                <a:sym typeface="Arial"/>
              </a:rPr>
              <a:t>Goes beyond the five senses</a:t>
            </a:r>
            <a:endParaRPr>
              <a:solidFill>
                <a:schemeClr val="tx1">
                  <a:lumMod val="75000"/>
                  <a:lumOff val="25000"/>
                </a:schemeClr>
              </a:solidFill>
              <a:ea typeface="Arial"/>
              <a:cs typeface="Arial"/>
              <a:sym typeface="Arial"/>
            </a:endParaRPr>
          </a:p>
        </p:txBody>
      </p:sp>
      <p:sp>
        <p:nvSpPr>
          <p:cNvPr id="340" name="Google Shape;340;p34"/>
          <p:cNvSpPr txBox="1"/>
          <p:nvPr/>
        </p:nvSpPr>
        <p:spPr>
          <a:xfrm>
            <a:off x="9434952" y="1937699"/>
            <a:ext cx="2737573" cy="369332"/>
          </a:xfrm>
          <a:prstGeom prst="rect">
            <a:avLst/>
          </a:prstGeom>
          <a:noFill/>
          <a:ln>
            <a:noFill/>
          </a:ln>
        </p:spPr>
        <p:txBody>
          <a:bodyPr spcFirstLastPara="1" wrap="square" lIns="91425" tIns="45700" rIns="91425" bIns="45700" anchor="t" anchorCtr="0">
            <a:noAutofit/>
          </a:bodyPr>
          <a:lstStyle/>
          <a:p>
            <a:r>
              <a:rPr lang="en-US">
                <a:solidFill>
                  <a:schemeClr val="tx1">
                    <a:lumMod val="75000"/>
                    <a:lumOff val="25000"/>
                  </a:schemeClr>
                </a:solidFill>
                <a:ea typeface="Arial"/>
                <a:cs typeface="Arial"/>
                <a:sym typeface="Arial"/>
              </a:rPr>
              <a:t>Embraces idiosyncrasies</a:t>
            </a:r>
            <a:endParaRPr>
              <a:solidFill>
                <a:schemeClr val="tx1">
                  <a:lumMod val="75000"/>
                  <a:lumOff val="25000"/>
                </a:schemeClr>
              </a:solidFill>
              <a:ea typeface="Arial"/>
              <a:cs typeface="Arial"/>
              <a:sym typeface="Arial"/>
            </a:endParaRPr>
          </a:p>
        </p:txBody>
      </p:sp>
      <p:sp>
        <p:nvSpPr>
          <p:cNvPr id="341" name="Google Shape;341;p34"/>
          <p:cNvSpPr txBox="1"/>
          <p:nvPr/>
        </p:nvSpPr>
        <p:spPr>
          <a:xfrm>
            <a:off x="11197711" y="3701992"/>
            <a:ext cx="916049" cy="369332"/>
          </a:xfrm>
          <a:prstGeom prst="rect">
            <a:avLst/>
          </a:prstGeom>
          <a:noFill/>
          <a:ln>
            <a:noFill/>
          </a:ln>
        </p:spPr>
        <p:txBody>
          <a:bodyPr spcFirstLastPara="1" wrap="square" lIns="91425" tIns="45700" rIns="91425" bIns="45700" anchor="t" anchorCtr="0">
            <a:noAutofit/>
          </a:bodyPr>
          <a:lstStyle/>
          <a:p>
            <a:r>
              <a:rPr lang="en-US">
                <a:solidFill>
                  <a:schemeClr val="tx1">
                    <a:lumMod val="75000"/>
                    <a:lumOff val="25000"/>
                  </a:schemeClr>
                </a:solidFill>
                <a:ea typeface="Arial"/>
                <a:cs typeface="Arial"/>
                <a:sym typeface="Arial"/>
              </a:rPr>
              <a:t>Honest</a:t>
            </a:r>
            <a:endParaRPr>
              <a:solidFill>
                <a:schemeClr val="tx1">
                  <a:lumMod val="75000"/>
                  <a:lumOff val="25000"/>
                </a:schemeClr>
              </a:solidFill>
              <a:ea typeface="Arial"/>
              <a:cs typeface="Arial"/>
              <a:sym typeface="Arial"/>
            </a:endParaRPr>
          </a:p>
        </p:txBody>
      </p:sp>
      <p:sp>
        <p:nvSpPr>
          <p:cNvPr id="342" name="Google Shape;342;p34"/>
          <p:cNvSpPr txBox="1"/>
          <p:nvPr/>
        </p:nvSpPr>
        <p:spPr>
          <a:xfrm>
            <a:off x="9511151" y="1399307"/>
            <a:ext cx="2250774" cy="369332"/>
          </a:xfrm>
          <a:prstGeom prst="rect">
            <a:avLst/>
          </a:prstGeom>
          <a:noFill/>
          <a:ln>
            <a:noFill/>
          </a:ln>
        </p:spPr>
        <p:txBody>
          <a:bodyPr spcFirstLastPara="1" wrap="square" lIns="91425" tIns="45700" rIns="91425" bIns="45700" anchor="t" anchorCtr="0">
            <a:noAutofit/>
          </a:bodyPr>
          <a:lstStyle/>
          <a:p>
            <a:r>
              <a:rPr lang="en-US">
                <a:solidFill>
                  <a:schemeClr val="tx1">
                    <a:lumMod val="75000"/>
                    <a:lumOff val="25000"/>
                  </a:schemeClr>
                </a:solidFill>
                <a:ea typeface="Arial"/>
                <a:cs typeface="Arial"/>
                <a:sym typeface="Arial"/>
              </a:rPr>
              <a:t>Makes people laugh</a:t>
            </a:r>
            <a:endParaRPr>
              <a:solidFill>
                <a:schemeClr val="tx1">
                  <a:lumMod val="75000"/>
                  <a:lumOff val="25000"/>
                </a:schemeClr>
              </a:solidFill>
              <a:ea typeface="Arial"/>
              <a:cs typeface="Arial"/>
              <a:sym typeface="Arial"/>
            </a:endParaRPr>
          </a:p>
        </p:txBody>
      </p:sp>
      <p:sp>
        <p:nvSpPr>
          <p:cNvPr id="343" name="Google Shape;343;p34"/>
          <p:cNvSpPr txBox="1"/>
          <p:nvPr/>
        </p:nvSpPr>
        <p:spPr>
          <a:xfrm>
            <a:off x="5307119" y="4506609"/>
            <a:ext cx="1993680" cy="369332"/>
          </a:xfrm>
          <a:prstGeom prst="rect">
            <a:avLst/>
          </a:prstGeom>
          <a:noFill/>
          <a:ln>
            <a:noFill/>
          </a:ln>
        </p:spPr>
        <p:txBody>
          <a:bodyPr spcFirstLastPara="1" wrap="square" lIns="91425" tIns="45700" rIns="91425" bIns="45700" anchor="t" anchorCtr="0">
            <a:noAutofit/>
          </a:bodyPr>
          <a:lstStyle/>
          <a:p>
            <a:r>
              <a:rPr lang="en-US">
                <a:solidFill>
                  <a:schemeClr val="tx1">
                    <a:lumMod val="75000"/>
                    <a:lumOff val="25000"/>
                  </a:schemeClr>
                </a:solidFill>
                <a:ea typeface="Arial"/>
                <a:cs typeface="Arial"/>
                <a:sym typeface="Arial"/>
              </a:rPr>
              <a:t>Makes people cry</a:t>
            </a:r>
            <a:endParaRPr>
              <a:solidFill>
                <a:schemeClr val="tx1">
                  <a:lumMod val="75000"/>
                  <a:lumOff val="25000"/>
                </a:schemeClr>
              </a:solidFill>
              <a:ea typeface="Arial"/>
              <a:cs typeface="Arial"/>
              <a:sym typeface="Arial"/>
            </a:endParaRPr>
          </a:p>
        </p:txBody>
      </p:sp>
      <p:sp>
        <p:nvSpPr>
          <p:cNvPr id="344" name="Google Shape;344;p34"/>
          <p:cNvSpPr txBox="1"/>
          <p:nvPr/>
        </p:nvSpPr>
        <p:spPr>
          <a:xfrm>
            <a:off x="5929751" y="5056907"/>
            <a:ext cx="1544526" cy="369332"/>
          </a:xfrm>
          <a:prstGeom prst="rect">
            <a:avLst/>
          </a:prstGeom>
          <a:noFill/>
          <a:ln>
            <a:noFill/>
          </a:ln>
        </p:spPr>
        <p:txBody>
          <a:bodyPr spcFirstLastPara="1" wrap="square" lIns="91425" tIns="45700" rIns="91425" bIns="45700" anchor="t" anchorCtr="0">
            <a:noAutofit/>
          </a:bodyPr>
          <a:lstStyle/>
          <a:p>
            <a:r>
              <a:rPr lang="en-US">
                <a:solidFill>
                  <a:schemeClr val="tx1">
                    <a:lumMod val="75000"/>
                    <a:lumOff val="25000"/>
                  </a:schemeClr>
                </a:solidFill>
                <a:ea typeface="Arial"/>
                <a:cs typeface="Arial"/>
                <a:sym typeface="Arial"/>
              </a:rPr>
              <a:t>Plot structure</a:t>
            </a:r>
            <a:endParaRPr>
              <a:solidFill>
                <a:schemeClr val="tx1">
                  <a:lumMod val="75000"/>
                  <a:lumOff val="25000"/>
                </a:schemeClr>
              </a:solidFill>
              <a:ea typeface="Arial"/>
              <a:cs typeface="Arial"/>
              <a:sym typeface="Arial"/>
            </a:endParaRPr>
          </a:p>
        </p:txBody>
      </p:sp>
      <p:sp>
        <p:nvSpPr>
          <p:cNvPr id="345" name="Google Shape;345;p34"/>
          <p:cNvSpPr txBox="1"/>
          <p:nvPr/>
        </p:nvSpPr>
        <p:spPr>
          <a:xfrm>
            <a:off x="3634073" y="4051455"/>
            <a:ext cx="2583497" cy="369332"/>
          </a:xfrm>
          <a:prstGeom prst="rect">
            <a:avLst/>
          </a:prstGeom>
          <a:noFill/>
          <a:ln>
            <a:noFill/>
          </a:ln>
        </p:spPr>
        <p:txBody>
          <a:bodyPr spcFirstLastPara="1" wrap="square" lIns="91425" tIns="45700" rIns="91425" bIns="45700" anchor="t" anchorCtr="0">
            <a:noAutofit/>
          </a:bodyPr>
          <a:lstStyle/>
          <a:p>
            <a:r>
              <a:rPr lang="en-US">
                <a:solidFill>
                  <a:schemeClr val="tx1">
                    <a:lumMod val="75000"/>
                    <a:lumOff val="25000"/>
                  </a:schemeClr>
                </a:solidFill>
                <a:ea typeface="Arial"/>
                <a:cs typeface="Arial"/>
                <a:sym typeface="Arial"/>
              </a:rPr>
              <a:t>Must arrive somewhere</a:t>
            </a:r>
            <a:endParaRPr>
              <a:solidFill>
                <a:schemeClr val="tx1">
                  <a:lumMod val="75000"/>
                  <a:lumOff val="25000"/>
                </a:schemeClr>
              </a:solidFill>
              <a:ea typeface="Arial"/>
              <a:cs typeface="Arial"/>
              <a:sym typeface="Arial"/>
            </a:endParaRPr>
          </a:p>
        </p:txBody>
      </p:sp>
      <p:sp>
        <p:nvSpPr>
          <p:cNvPr id="346" name="Google Shape;346;p34"/>
          <p:cNvSpPr txBox="1"/>
          <p:nvPr/>
        </p:nvSpPr>
        <p:spPr>
          <a:xfrm>
            <a:off x="3719952" y="3228107"/>
            <a:ext cx="3789957" cy="369332"/>
          </a:xfrm>
          <a:prstGeom prst="rect">
            <a:avLst/>
          </a:prstGeom>
          <a:noFill/>
          <a:ln>
            <a:noFill/>
          </a:ln>
        </p:spPr>
        <p:txBody>
          <a:bodyPr spcFirstLastPara="1" wrap="square" lIns="91425" tIns="45700" rIns="91425" bIns="45700" anchor="t" anchorCtr="0">
            <a:noAutofit/>
          </a:bodyPr>
          <a:lstStyle/>
          <a:p>
            <a:r>
              <a:rPr lang="en-US">
                <a:solidFill>
                  <a:schemeClr val="tx1">
                    <a:lumMod val="75000"/>
                    <a:lumOff val="25000"/>
                  </a:schemeClr>
                </a:solidFill>
                <a:ea typeface="Arial"/>
                <a:cs typeface="Arial"/>
                <a:sym typeface="Arial"/>
              </a:rPr>
              <a:t>Have something non-trivial at stake</a:t>
            </a:r>
            <a:endParaRPr>
              <a:solidFill>
                <a:schemeClr val="tx1">
                  <a:lumMod val="75000"/>
                  <a:lumOff val="25000"/>
                </a:schemeClr>
              </a:solidFill>
              <a:ea typeface="Arial"/>
              <a:cs typeface="Arial"/>
              <a:sym typeface="Arial"/>
            </a:endParaRPr>
          </a:p>
        </p:txBody>
      </p:sp>
      <p:sp>
        <p:nvSpPr>
          <p:cNvPr id="347" name="Google Shape;347;p34"/>
          <p:cNvSpPr txBox="1"/>
          <p:nvPr/>
        </p:nvSpPr>
        <p:spPr>
          <a:xfrm>
            <a:off x="5654640" y="1627907"/>
            <a:ext cx="2314568" cy="369332"/>
          </a:xfrm>
          <a:prstGeom prst="rect">
            <a:avLst/>
          </a:prstGeom>
          <a:noFill/>
          <a:ln>
            <a:noFill/>
          </a:ln>
        </p:spPr>
        <p:txBody>
          <a:bodyPr spcFirstLastPara="1" wrap="square" lIns="91425" tIns="45700" rIns="91425" bIns="45700" anchor="t" anchorCtr="0">
            <a:noAutofit/>
          </a:bodyPr>
          <a:lstStyle/>
          <a:p>
            <a:r>
              <a:rPr lang="en-US" dirty="0">
                <a:solidFill>
                  <a:schemeClr val="tx1">
                    <a:lumMod val="75000"/>
                    <a:lumOff val="25000"/>
                  </a:schemeClr>
                </a:solidFill>
                <a:ea typeface="Arial"/>
                <a:cs typeface="Arial"/>
                <a:sym typeface="Arial"/>
              </a:rPr>
              <a:t>Has good characters</a:t>
            </a:r>
            <a:endParaRPr dirty="0">
              <a:solidFill>
                <a:schemeClr val="tx1">
                  <a:lumMod val="75000"/>
                  <a:lumOff val="25000"/>
                </a:schemeClr>
              </a:solidFill>
              <a:ea typeface="Arial"/>
              <a:cs typeface="Arial"/>
              <a:sym typeface="Arial"/>
            </a:endParaRPr>
          </a:p>
        </p:txBody>
      </p:sp>
      <p:sp>
        <p:nvSpPr>
          <p:cNvPr id="348" name="Google Shape;348;p34"/>
          <p:cNvSpPr txBox="1"/>
          <p:nvPr/>
        </p:nvSpPr>
        <p:spPr>
          <a:xfrm>
            <a:off x="7805869" y="4553375"/>
            <a:ext cx="1647318" cy="369332"/>
          </a:xfrm>
          <a:prstGeom prst="rect">
            <a:avLst/>
          </a:prstGeom>
          <a:noFill/>
          <a:ln>
            <a:noFill/>
          </a:ln>
        </p:spPr>
        <p:txBody>
          <a:bodyPr spcFirstLastPara="1" wrap="square" lIns="91425" tIns="45700" rIns="91425" bIns="45700" anchor="t" anchorCtr="0">
            <a:noAutofit/>
          </a:bodyPr>
          <a:lstStyle/>
          <a:p>
            <a:r>
              <a:rPr lang="en-US" dirty="0">
                <a:solidFill>
                  <a:schemeClr val="tx1">
                    <a:lumMod val="75000"/>
                    <a:lumOff val="25000"/>
                  </a:schemeClr>
                </a:solidFill>
                <a:ea typeface="Arial"/>
                <a:cs typeface="Arial"/>
                <a:sym typeface="Arial"/>
              </a:rPr>
              <a:t>Outer struggle</a:t>
            </a:r>
            <a:endParaRPr dirty="0">
              <a:solidFill>
                <a:schemeClr val="tx1">
                  <a:lumMod val="75000"/>
                  <a:lumOff val="25000"/>
                </a:schemeClr>
              </a:solidFill>
              <a:ea typeface="Arial"/>
              <a:cs typeface="Arial"/>
              <a:sym typeface="Arial"/>
            </a:endParaRPr>
          </a:p>
        </p:txBody>
      </p:sp>
      <p:sp>
        <p:nvSpPr>
          <p:cNvPr id="349" name="Google Shape;349;p34"/>
          <p:cNvSpPr txBox="1"/>
          <p:nvPr/>
        </p:nvSpPr>
        <p:spPr>
          <a:xfrm>
            <a:off x="3125779" y="5570731"/>
            <a:ext cx="1596148" cy="369332"/>
          </a:xfrm>
          <a:prstGeom prst="rect">
            <a:avLst/>
          </a:prstGeom>
          <a:noFill/>
          <a:ln>
            <a:noFill/>
          </a:ln>
        </p:spPr>
        <p:txBody>
          <a:bodyPr spcFirstLastPara="1" wrap="square" lIns="91425" tIns="45700" rIns="91425" bIns="45700" anchor="t" anchorCtr="0">
            <a:noAutofit/>
          </a:bodyPr>
          <a:lstStyle/>
          <a:p>
            <a:r>
              <a:rPr lang="en-US">
                <a:solidFill>
                  <a:schemeClr val="tx1">
                    <a:lumMod val="75000"/>
                    <a:lumOff val="25000"/>
                  </a:schemeClr>
                </a:solidFill>
                <a:ea typeface="Arial"/>
                <a:cs typeface="Arial"/>
                <a:sym typeface="Arial"/>
              </a:rPr>
              <a:t>Inner struggle</a:t>
            </a:r>
            <a:endParaRPr>
              <a:solidFill>
                <a:schemeClr val="tx1">
                  <a:lumMod val="75000"/>
                  <a:lumOff val="25000"/>
                </a:schemeClr>
              </a:solidFill>
              <a:ea typeface="Arial"/>
              <a:cs typeface="Arial"/>
              <a:sym typeface="Arial"/>
            </a:endParaRPr>
          </a:p>
        </p:txBody>
      </p:sp>
      <p:sp>
        <p:nvSpPr>
          <p:cNvPr id="350" name="Google Shape;350;p34"/>
          <p:cNvSpPr txBox="1"/>
          <p:nvPr/>
        </p:nvSpPr>
        <p:spPr>
          <a:xfrm>
            <a:off x="5196669" y="953929"/>
            <a:ext cx="4175429" cy="369332"/>
          </a:xfrm>
          <a:prstGeom prst="rect">
            <a:avLst/>
          </a:prstGeom>
          <a:noFill/>
          <a:ln>
            <a:noFill/>
          </a:ln>
        </p:spPr>
        <p:txBody>
          <a:bodyPr spcFirstLastPara="1" wrap="square" lIns="91425" tIns="45700" rIns="91425" bIns="45700" anchor="t" anchorCtr="0">
            <a:noAutofit/>
          </a:bodyPr>
          <a:lstStyle/>
          <a:p>
            <a:r>
              <a:rPr lang="en-US">
                <a:solidFill>
                  <a:schemeClr val="tx1">
                    <a:lumMod val="75000"/>
                    <a:lumOff val="25000"/>
                  </a:schemeClr>
                </a:solidFill>
                <a:ea typeface="Arial"/>
                <a:cs typeface="Arial"/>
                <a:sym typeface="Arial"/>
              </a:rPr>
              <a:t>Characters change through experience</a:t>
            </a:r>
            <a:endParaRPr>
              <a:solidFill>
                <a:schemeClr val="tx1">
                  <a:lumMod val="75000"/>
                  <a:lumOff val="25000"/>
                </a:schemeClr>
              </a:solidFill>
              <a:ea typeface="Arial"/>
              <a:cs typeface="Arial"/>
              <a:sym typeface="Arial"/>
            </a:endParaRPr>
          </a:p>
        </p:txBody>
      </p:sp>
      <p:sp>
        <p:nvSpPr>
          <p:cNvPr id="351" name="Google Shape;351;p34"/>
          <p:cNvSpPr txBox="1"/>
          <p:nvPr/>
        </p:nvSpPr>
        <p:spPr>
          <a:xfrm>
            <a:off x="3202199" y="4698032"/>
            <a:ext cx="2058151" cy="369332"/>
          </a:xfrm>
          <a:prstGeom prst="rect">
            <a:avLst/>
          </a:prstGeom>
          <a:noFill/>
          <a:ln>
            <a:noFill/>
          </a:ln>
        </p:spPr>
        <p:txBody>
          <a:bodyPr spcFirstLastPara="1" wrap="square" lIns="91425" tIns="45700" rIns="91425" bIns="45700" anchor="t" anchorCtr="0">
            <a:noAutofit/>
          </a:bodyPr>
          <a:lstStyle/>
          <a:p>
            <a:r>
              <a:rPr lang="en-US">
                <a:solidFill>
                  <a:schemeClr val="tx1">
                    <a:lumMod val="75000"/>
                    <a:lumOff val="25000"/>
                  </a:schemeClr>
                </a:solidFill>
                <a:ea typeface="Arial"/>
                <a:cs typeface="Arial"/>
                <a:sym typeface="Arial"/>
              </a:rPr>
              <a:t>Imaginable setting</a:t>
            </a:r>
            <a:endParaRPr>
              <a:solidFill>
                <a:schemeClr val="tx1">
                  <a:lumMod val="75000"/>
                  <a:lumOff val="25000"/>
                </a:schemeClr>
              </a:solidFill>
              <a:ea typeface="Arial"/>
              <a:cs typeface="Arial"/>
              <a:sym typeface="Arial"/>
            </a:endParaRPr>
          </a:p>
        </p:txBody>
      </p:sp>
      <p:sp>
        <p:nvSpPr>
          <p:cNvPr id="352" name="Google Shape;352;p34"/>
          <p:cNvSpPr txBox="1"/>
          <p:nvPr/>
        </p:nvSpPr>
        <p:spPr>
          <a:xfrm>
            <a:off x="10964654" y="2564963"/>
            <a:ext cx="1159955" cy="369332"/>
          </a:xfrm>
          <a:prstGeom prst="rect">
            <a:avLst/>
          </a:prstGeom>
          <a:noFill/>
          <a:ln>
            <a:noFill/>
          </a:ln>
        </p:spPr>
        <p:txBody>
          <a:bodyPr spcFirstLastPara="1" wrap="square" lIns="91425" tIns="45700" rIns="91425" bIns="45700" anchor="t" anchorCtr="0">
            <a:noAutofit/>
          </a:bodyPr>
          <a:lstStyle/>
          <a:p>
            <a:r>
              <a:rPr lang="en-US">
                <a:solidFill>
                  <a:schemeClr val="tx1">
                    <a:lumMod val="75000"/>
                    <a:lumOff val="25000"/>
                  </a:schemeClr>
                </a:solidFill>
                <a:ea typeface="Arial"/>
                <a:cs typeface="Arial"/>
                <a:sym typeface="Arial"/>
              </a:rPr>
              <a:t>Relatable</a:t>
            </a:r>
            <a:endParaRPr>
              <a:solidFill>
                <a:schemeClr val="tx1">
                  <a:lumMod val="75000"/>
                  <a:lumOff val="25000"/>
                </a:schemeClr>
              </a:solidFill>
              <a:ea typeface="Arial"/>
              <a:cs typeface="Arial"/>
              <a:sym typeface="Arial"/>
            </a:endParaRPr>
          </a:p>
        </p:txBody>
      </p:sp>
      <p:sp>
        <p:nvSpPr>
          <p:cNvPr id="2" name="Title 1">
            <a:extLst>
              <a:ext uri="{FF2B5EF4-FFF2-40B4-BE49-F238E27FC236}">
                <a16:creationId xmlns:a16="http://schemas.microsoft.com/office/drawing/2014/main" id="{59BF3EB3-0B29-9D52-3568-97DD182044FA}"/>
              </a:ext>
            </a:extLst>
          </p:cNvPr>
          <p:cNvSpPr txBox="1">
            <a:spLocks/>
          </p:cNvSpPr>
          <p:nvPr/>
        </p:nvSpPr>
        <p:spPr>
          <a:xfrm>
            <a:off x="252919" y="1123837"/>
            <a:ext cx="2528658" cy="460118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3600" kern="1200" spc="-60" baseline="0">
                <a:solidFill>
                  <a:srgbClr val="FFFFFF"/>
                </a:solidFill>
                <a:latin typeface="+mj-lt"/>
                <a:ea typeface="+mj-ea"/>
                <a:cs typeface="+mj-cs"/>
              </a:defRPr>
            </a:lvl1pPr>
          </a:lstStyle>
          <a:p>
            <a:r>
              <a:rPr lang="en-US" dirty="0"/>
              <a:t>And a bunch of other stuff, too…</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34"/>
                                        </p:tgtEl>
                                        <p:attrNameLst>
                                          <p:attrName>style.visibility</p:attrName>
                                        </p:attrNameLst>
                                      </p:cBhvr>
                                      <p:to>
                                        <p:strVal val="visible"/>
                                      </p:to>
                                    </p:set>
                                    <p:animEffect transition="in" filter="fade">
                                      <p:cBhvr>
                                        <p:cTn id="7" dur="500"/>
                                        <p:tgtEl>
                                          <p:spTgt spid="334"/>
                                        </p:tgtEl>
                                      </p:cBhvr>
                                    </p:animEffect>
                                  </p:childTnLst>
                                </p:cTn>
                              </p:par>
                            </p:childTnLst>
                          </p:cTn>
                        </p:par>
                        <p:par>
                          <p:cTn id="8" fill="hold">
                            <p:stCondLst>
                              <p:cond delay="500"/>
                            </p:stCondLst>
                            <p:childTnLst>
                              <p:par>
                                <p:cTn id="9" presetID="10" presetClass="entr" presetSubtype="0" fill="hold" nodeType="afterEffect">
                                  <p:stCondLst>
                                    <p:cond delay="0"/>
                                  </p:stCondLst>
                                  <p:childTnLst>
                                    <p:set>
                                      <p:cBhvr>
                                        <p:cTn id="10" dur="1" fill="hold">
                                          <p:stCondLst>
                                            <p:cond delay="0"/>
                                          </p:stCondLst>
                                        </p:cTn>
                                        <p:tgtEl>
                                          <p:spTgt spid="335"/>
                                        </p:tgtEl>
                                        <p:attrNameLst>
                                          <p:attrName>style.visibility</p:attrName>
                                        </p:attrNameLst>
                                      </p:cBhvr>
                                      <p:to>
                                        <p:strVal val="visible"/>
                                      </p:to>
                                    </p:set>
                                    <p:animEffect transition="in" filter="fade">
                                      <p:cBhvr>
                                        <p:cTn id="11" dur="500"/>
                                        <p:tgtEl>
                                          <p:spTgt spid="335"/>
                                        </p:tgtEl>
                                      </p:cBhvr>
                                    </p:animEffect>
                                  </p:childTnLst>
                                </p:cTn>
                              </p:par>
                            </p:childTnLst>
                          </p:cTn>
                        </p:par>
                        <p:par>
                          <p:cTn id="12" fill="hold">
                            <p:stCondLst>
                              <p:cond delay="1000"/>
                            </p:stCondLst>
                            <p:childTnLst>
                              <p:par>
                                <p:cTn id="13" presetID="10" presetClass="entr" presetSubtype="0" fill="hold" nodeType="afterEffect">
                                  <p:stCondLst>
                                    <p:cond delay="0"/>
                                  </p:stCondLst>
                                  <p:childTnLst>
                                    <p:set>
                                      <p:cBhvr>
                                        <p:cTn id="14" dur="1" fill="hold">
                                          <p:stCondLst>
                                            <p:cond delay="0"/>
                                          </p:stCondLst>
                                        </p:cTn>
                                        <p:tgtEl>
                                          <p:spTgt spid="350"/>
                                        </p:tgtEl>
                                        <p:attrNameLst>
                                          <p:attrName>style.visibility</p:attrName>
                                        </p:attrNameLst>
                                      </p:cBhvr>
                                      <p:to>
                                        <p:strVal val="visible"/>
                                      </p:to>
                                    </p:set>
                                    <p:animEffect transition="in" filter="fade">
                                      <p:cBhvr>
                                        <p:cTn id="15" dur="500"/>
                                        <p:tgtEl>
                                          <p:spTgt spid="350"/>
                                        </p:tgtEl>
                                      </p:cBhvr>
                                    </p:animEffect>
                                  </p:childTnLst>
                                </p:cTn>
                              </p:par>
                            </p:childTnLst>
                          </p:cTn>
                        </p:par>
                        <p:par>
                          <p:cTn id="16" fill="hold">
                            <p:stCondLst>
                              <p:cond delay="1500"/>
                            </p:stCondLst>
                            <p:childTnLst>
                              <p:par>
                                <p:cTn id="17" presetID="10" presetClass="entr" presetSubtype="0" fill="hold" nodeType="afterEffect">
                                  <p:stCondLst>
                                    <p:cond delay="0"/>
                                  </p:stCondLst>
                                  <p:childTnLst>
                                    <p:set>
                                      <p:cBhvr>
                                        <p:cTn id="18" dur="1" fill="hold">
                                          <p:stCondLst>
                                            <p:cond delay="0"/>
                                          </p:stCondLst>
                                        </p:cTn>
                                        <p:tgtEl>
                                          <p:spTgt spid="336"/>
                                        </p:tgtEl>
                                        <p:attrNameLst>
                                          <p:attrName>style.visibility</p:attrName>
                                        </p:attrNameLst>
                                      </p:cBhvr>
                                      <p:to>
                                        <p:strVal val="visible"/>
                                      </p:to>
                                    </p:set>
                                    <p:animEffect transition="in" filter="fade">
                                      <p:cBhvr>
                                        <p:cTn id="19" dur="500"/>
                                        <p:tgtEl>
                                          <p:spTgt spid="336"/>
                                        </p:tgtEl>
                                      </p:cBhvr>
                                    </p:animEffect>
                                  </p:childTnLst>
                                </p:cTn>
                              </p:par>
                            </p:childTnLst>
                          </p:cTn>
                        </p:par>
                        <p:par>
                          <p:cTn id="20" fill="hold">
                            <p:stCondLst>
                              <p:cond delay="2000"/>
                            </p:stCondLst>
                            <p:childTnLst>
                              <p:par>
                                <p:cTn id="21" presetID="10" presetClass="entr" presetSubtype="0" fill="hold" nodeType="afterEffect">
                                  <p:stCondLst>
                                    <p:cond delay="0"/>
                                  </p:stCondLst>
                                  <p:childTnLst>
                                    <p:set>
                                      <p:cBhvr>
                                        <p:cTn id="22" dur="1" fill="hold">
                                          <p:stCondLst>
                                            <p:cond delay="0"/>
                                          </p:stCondLst>
                                        </p:cTn>
                                        <p:tgtEl>
                                          <p:spTgt spid="346"/>
                                        </p:tgtEl>
                                        <p:attrNameLst>
                                          <p:attrName>style.visibility</p:attrName>
                                        </p:attrNameLst>
                                      </p:cBhvr>
                                      <p:to>
                                        <p:strVal val="visible"/>
                                      </p:to>
                                    </p:set>
                                    <p:animEffect transition="in" filter="fade">
                                      <p:cBhvr>
                                        <p:cTn id="23" dur="500"/>
                                        <p:tgtEl>
                                          <p:spTgt spid="346"/>
                                        </p:tgtEl>
                                      </p:cBhvr>
                                    </p:animEffect>
                                  </p:childTnLst>
                                </p:cTn>
                              </p:par>
                            </p:childTnLst>
                          </p:cTn>
                        </p:par>
                        <p:par>
                          <p:cTn id="24" fill="hold">
                            <p:stCondLst>
                              <p:cond delay="2500"/>
                            </p:stCondLst>
                            <p:childTnLst>
                              <p:par>
                                <p:cTn id="25" presetID="10" presetClass="entr" presetSubtype="0" fill="hold" nodeType="afterEffect">
                                  <p:stCondLst>
                                    <p:cond delay="0"/>
                                  </p:stCondLst>
                                  <p:childTnLst>
                                    <p:set>
                                      <p:cBhvr>
                                        <p:cTn id="26" dur="1" fill="hold">
                                          <p:stCondLst>
                                            <p:cond delay="0"/>
                                          </p:stCondLst>
                                        </p:cTn>
                                        <p:tgtEl>
                                          <p:spTgt spid="342"/>
                                        </p:tgtEl>
                                        <p:attrNameLst>
                                          <p:attrName>style.visibility</p:attrName>
                                        </p:attrNameLst>
                                      </p:cBhvr>
                                      <p:to>
                                        <p:strVal val="visible"/>
                                      </p:to>
                                    </p:set>
                                    <p:animEffect transition="in" filter="fade">
                                      <p:cBhvr>
                                        <p:cTn id="27" dur="500"/>
                                        <p:tgtEl>
                                          <p:spTgt spid="342"/>
                                        </p:tgtEl>
                                      </p:cBhvr>
                                    </p:animEffect>
                                  </p:childTnLst>
                                </p:cTn>
                              </p:par>
                            </p:childTnLst>
                          </p:cTn>
                        </p:par>
                        <p:par>
                          <p:cTn id="28" fill="hold">
                            <p:stCondLst>
                              <p:cond delay="3000"/>
                            </p:stCondLst>
                            <p:childTnLst>
                              <p:par>
                                <p:cTn id="29" presetID="10" presetClass="entr" presetSubtype="0" fill="hold" nodeType="afterEffect">
                                  <p:stCondLst>
                                    <p:cond delay="0"/>
                                  </p:stCondLst>
                                  <p:childTnLst>
                                    <p:set>
                                      <p:cBhvr>
                                        <p:cTn id="30" dur="1" fill="hold">
                                          <p:stCondLst>
                                            <p:cond delay="0"/>
                                          </p:stCondLst>
                                        </p:cTn>
                                        <p:tgtEl>
                                          <p:spTgt spid="345"/>
                                        </p:tgtEl>
                                        <p:attrNameLst>
                                          <p:attrName>style.visibility</p:attrName>
                                        </p:attrNameLst>
                                      </p:cBhvr>
                                      <p:to>
                                        <p:strVal val="visible"/>
                                      </p:to>
                                    </p:set>
                                    <p:animEffect transition="in" filter="fade">
                                      <p:cBhvr>
                                        <p:cTn id="31" dur="500"/>
                                        <p:tgtEl>
                                          <p:spTgt spid="345"/>
                                        </p:tgtEl>
                                      </p:cBhvr>
                                    </p:animEffect>
                                  </p:childTnLst>
                                </p:cTn>
                              </p:par>
                            </p:childTnLst>
                          </p:cTn>
                        </p:par>
                        <p:par>
                          <p:cTn id="32" fill="hold">
                            <p:stCondLst>
                              <p:cond delay="3500"/>
                            </p:stCondLst>
                            <p:childTnLst>
                              <p:par>
                                <p:cTn id="33" presetID="10" presetClass="entr" presetSubtype="0" fill="hold" nodeType="afterEffect">
                                  <p:stCondLst>
                                    <p:cond delay="0"/>
                                  </p:stCondLst>
                                  <p:childTnLst>
                                    <p:set>
                                      <p:cBhvr>
                                        <p:cTn id="34" dur="1" fill="hold">
                                          <p:stCondLst>
                                            <p:cond delay="0"/>
                                          </p:stCondLst>
                                        </p:cTn>
                                        <p:tgtEl>
                                          <p:spTgt spid="337"/>
                                        </p:tgtEl>
                                        <p:attrNameLst>
                                          <p:attrName>style.visibility</p:attrName>
                                        </p:attrNameLst>
                                      </p:cBhvr>
                                      <p:to>
                                        <p:strVal val="visible"/>
                                      </p:to>
                                    </p:set>
                                    <p:animEffect transition="in" filter="fade">
                                      <p:cBhvr>
                                        <p:cTn id="35" dur="500"/>
                                        <p:tgtEl>
                                          <p:spTgt spid="337"/>
                                        </p:tgtEl>
                                      </p:cBhvr>
                                    </p:animEffect>
                                  </p:childTnLst>
                                </p:cTn>
                              </p:par>
                            </p:childTnLst>
                          </p:cTn>
                        </p:par>
                        <p:par>
                          <p:cTn id="36" fill="hold">
                            <p:stCondLst>
                              <p:cond delay="4000"/>
                            </p:stCondLst>
                            <p:childTnLst>
                              <p:par>
                                <p:cTn id="37" presetID="10" presetClass="entr" presetSubtype="0" fill="hold" nodeType="afterEffect">
                                  <p:stCondLst>
                                    <p:cond delay="0"/>
                                  </p:stCondLst>
                                  <p:childTnLst>
                                    <p:set>
                                      <p:cBhvr>
                                        <p:cTn id="38" dur="1" fill="hold">
                                          <p:stCondLst>
                                            <p:cond delay="0"/>
                                          </p:stCondLst>
                                        </p:cTn>
                                        <p:tgtEl>
                                          <p:spTgt spid="351"/>
                                        </p:tgtEl>
                                        <p:attrNameLst>
                                          <p:attrName>style.visibility</p:attrName>
                                        </p:attrNameLst>
                                      </p:cBhvr>
                                      <p:to>
                                        <p:strVal val="visible"/>
                                      </p:to>
                                    </p:set>
                                    <p:animEffect transition="in" filter="fade">
                                      <p:cBhvr>
                                        <p:cTn id="39" dur="500"/>
                                        <p:tgtEl>
                                          <p:spTgt spid="351"/>
                                        </p:tgtEl>
                                      </p:cBhvr>
                                    </p:animEffect>
                                  </p:childTnLst>
                                </p:cTn>
                              </p:par>
                            </p:childTnLst>
                          </p:cTn>
                        </p:par>
                        <p:par>
                          <p:cTn id="40" fill="hold">
                            <p:stCondLst>
                              <p:cond delay="4500"/>
                            </p:stCondLst>
                            <p:childTnLst>
                              <p:par>
                                <p:cTn id="41" presetID="10" presetClass="entr" presetSubtype="0" fill="hold" nodeType="afterEffect">
                                  <p:stCondLst>
                                    <p:cond delay="0"/>
                                  </p:stCondLst>
                                  <p:childTnLst>
                                    <p:set>
                                      <p:cBhvr>
                                        <p:cTn id="42" dur="1" fill="hold">
                                          <p:stCondLst>
                                            <p:cond delay="0"/>
                                          </p:stCondLst>
                                        </p:cTn>
                                        <p:tgtEl>
                                          <p:spTgt spid="349"/>
                                        </p:tgtEl>
                                        <p:attrNameLst>
                                          <p:attrName>style.visibility</p:attrName>
                                        </p:attrNameLst>
                                      </p:cBhvr>
                                      <p:to>
                                        <p:strVal val="visible"/>
                                      </p:to>
                                    </p:set>
                                    <p:animEffect transition="in" filter="fade">
                                      <p:cBhvr>
                                        <p:cTn id="43" dur="500"/>
                                        <p:tgtEl>
                                          <p:spTgt spid="349"/>
                                        </p:tgtEl>
                                      </p:cBhvr>
                                    </p:animEffect>
                                  </p:childTnLst>
                                </p:cTn>
                              </p:par>
                            </p:childTnLst>
                          </p:cTn>
                        </p:par>
                        <p:par>
                          <p:cTn id="44" fill="hold">
                            <p:stCondLst>
                              <p:cond delay="5000"/>
                            </p:stCondLst>
                            <p:childTnLst>
                              <p:par>
                                <p:cTn id="45" presetID="10" presetClass="entr" presetSubtype="0" fill="hold" nodeType="afterEffect">
                                  <p:stCondLst>
                                    <p:cond delay="0"/>
                                  </p:stCondLst>
                                  <p:childTnLst>
                                    <p:set>
                                      <p:cBhvr>
                                        <p:cTn id="46" dur="1" fill="hold">
                                          <p:stCondLst>
                                            <p:cond delay="0"/>
                                          </p:stCondLst>
                                        </p:cTn>
                                        <p:tgtEl>
                                          <p:spTgt spid="344"/>
                                        </p:tgtEl>
                                        <p:attrNameLst>
                                          <p:attrName>style.visibility</p:attrName>
                                        </p:attrNameLst>
                                      </p:cBhvr>
                                      <p:to>
                                        <p:strVal val="visible"/>
                                      </p:to>
                                    </p:set>
                                    <p:animEffect transition="in" filter="fade">
                                      <p:cBhvr>
                                        <p:cTn id="47" dur="500"/>
                                        <p:tgtEl>
                                          <p:spTgt spid="344"/>
                                        </p:tgtEl>
                                      </p:cBhvr>
                                    </p:animEffect>
                                  </p:childTnLst>
                                </p:cTn>
                              </p:par>
                            </p:childTnLst>
                          </p:cTn>
                        </p:par>
                        <p:par>
                          <p:cTn id="48" fill="hold">
                            <p:stCondLst>
                              <p:cond delay="5500"/>
                            </p:stCondLst>
                            <p:childTnLst>
                              <p:par>
                                <p:cTn id="49" presetID="10" presetClass="entr" presetSubtype="0" fill="hold" nodeType="afterEffect">
                                  <p:stCondLst>
                                    <p:cond delay="0"/>
                                  </p:stCondLst>
                                  <p:childTnLst>
                                    <p:set>
                                      <p:cBhvr>
                                        <p:cTn id="50" dur="1" fill="hold">
                                          <p:stCondLst>
                                            <p:cond delay="0"/>
                                          </p:stCondLst>
                                        </p:cTn>
                                        <p:tgtEl>
                                          <p:spTgt spid="339"/>
                                        </p:tgtEl>
                                        <p:attrNameLst>
                                          <p:attrName>style.visibility</p:attrName>
                                        </p:attrNameLst>
                                      </p:cBhvr>
                                      <p:to>
                                        <p:strVal val="visible"/>
                                      </p:to>
                                    </p:set>
                                    <p:animEffect transition="in" filter="fade">
                                      <p:cBhvr>
                                        <p:cTn id="51" dur="500"/>
                                        <p:tgtEl>
                                          <p:spTgt spid="339"/>
                                        </p:tgtEl>
                                      </p:cBhvr>
                                    </p:animEffect>
                                  </p:childTnLst>
                                </p:cTn>
                              </p:par>
                            </p:childTnLst>
                          </p:cTn>
                        </p:par>
                        <p:par>
                          <p:cTn id="52" fill="hold">
                            <p:stCondLst>
                              <p:cond delay="6000"/>
                            </p:stCondLst>
                            <p:childTnLst>
                              <p:par>
                                <p:cTn id="53" presetID="10" presetClass="entr" presetSubtype="0" fill="hold" nodeType="afterEffect">
                                  <p:stCondLst>
                                    <p:cond delay="0"/>
                                  </p:stCondLst>
                                  <p:childTnLst>
                                    <p:set>
                                      <p:cBhvr>
                                        <p:cTn id="54" dur="1" fill="hold">
                                          <p:stCondLst>
                                            <p:cond delay="0"/>
                                          </p:stCondLst>
                                        </p:cTn>
                                        <p:tgtEl>
                                          <p:spTgt spid="341"/>
                                        </p:tgtEl>
                                        <p:attrNameLst>
                                          <p:attrName>style.visibility</p:attrName>
                                        </p:attrNameLst>
                                      </p:cBhvr>
                                      <p:to>
                                        <p:strVal val="visible"/>
                                      </p:to>
                                    </p:set>
                                    <p:animEffect transition="in" filter="fade">
                                      <p:cBhvr>
                                        <p:cTn id="55" dur="500"/>
                                        <p:tgtEl>
                                          <p:spTgt spid="341"/>
                                        </p:tgtEl>
                                      </p:cBhvr>
                                    </p:animEffect>
                                  </p:childTnLst>
                                </p:cTn>
                              </p:par>
                            </p:childTnLst>
                          </p:cTn>
                        </p:par>
                        <p:par>
                          <p:cTn id="56" fill="hold">
                            <p:stCondLst>
                              <p:cond delay="6500"/>
                            </p:stCondLst>
                            <p:childTnLst>
                              <p:par>
                                <p:cTn id="57" presetID="10" presetClass="entr" presetSubtype="0" fill="hold" nodeType="afterEffect">
                                  <p:stCondLst>
                                    <p:cond delay="0"/>
                                  </p:stCondLst>
                                  <p:childTnLst>
                                    <p:set>
                                      <p:cBhvr>
                                        <p:cTn id="58" dur="1" fill="hold">
                                          <p:stCondLst>
                                            <p:cond delay="0"/>
                                          </p:stCondLst>
                                        </p:cTn>
                                        <p:tgtEl>
                                          <p:spTgt spid="338"/>
                                        </p:tgtEl>
                                        <p:attrNameLst>
                                          <p:attrName>style.visibility</p:attrName>
                                        </p:attrNameLst>
                                      </p:cBhvr>
                                      <p:to>
                                        <p:strVal val="visible"/>
                                      </p:to>
                                    </p:set>
                                    <p:animEffect transition="in" filter="fade">
                                      <p:cBhvr>
                                        <p:cTn id="59" dur="500"/>
                                        <p:tgtEl>
                                          <p:spTgt spid="338"/>
                                        </p:tgtEl>
                                      </p:cBhvr>
                                    </p:animEffect>
                                  </p:childTnLst>
                                </p:cTn>
                              </p:par>
                            </p:childTnLst>
                          </p:cTn>
                        </p:par>
                        <p:par>
                          <p:cTn id="60" fill="hold">
                            <p:stCondLst>
                              <p:cond delay="7000"/>
                            </p:stCondLst>
                            <p:childTnLst>
                              <p:par>
                                <p:cTn id="61" presetID="10" presetClass="entr" presetSubtype="0" fill="hold" nodeType="afterEffect">
                                  <p:stCondLst>
                                    <p:cond delay="0"/>
                                  </p:stCondLst>
                                  <p:childTnLst>
                                    <p:set>
                                      <p:cBhvr>
                                        <p:cTn id="62" dur="1" fill="hold">
                                          <p:stCondLst>
                                            <p:cond delay="0"/>
                                          </p:stCondLst>
                                        </p:cTn>
                                        <p:tgtEl>
                                          <p:spTgt spid="348"/>
                                        </p:tgtEl>
                                        <p:attrNameLst>
                                          <p:attrName>style.visibility</p:attrName>
                                        </p:attrNameLst>
                                      </p:cBhvr>
                                      <p:to>
                                        <p:strVal val="visible"/>
                                      </p:to>
                                    </p:set>
                                    <p:animEffect transition="in" filter="fade">
                                      <p:cBhvr>
                                        <p:cTn id="63" dur="500"/>
                                        <p:tgtEl>
                                          <p:spTgt spid="348"/>
                                        </p:tgtEl>
                                      </p:cBhvr>
                                    </p:animEffect>
                                  </p:childTnLst>
                                </p:cTn>
                              </p:par>
                            </p:childTnLst>
                          </p:cTn>
                        </p:par>
                        <p:par>
                          <p:cTn id="64" fill="hold">
                            <p:stCondLst>
                              <p:cond delay="7500"/>
                            </p:stCondLst>
                            <p:childTnLst>
                              <p:par>
                                <p:cTn id="65" presetID="10" presetClass="entr" presetSubtype="0" fill="hold" nodeType="afterEffect">
                                  <p:stCondLst>
                                    <p:cond delay="0"/>
                                  </p:stCondLst>
                                  <p:childTnLst>
                                    <p:set>
                                      <p:cBhvr>
                                        <p:cTn id="66" dur="1" fill="hold">
                                          <p:stCondLst>
                                            <p:cond delay="0"/>
                                          </p:stCondLst>
                                        </p:cTn>
                                        <p:tgtEl>
                                          <p:spTgt spid="340"/>
                                        </p:tgtEl>
                                        <p:attrNameLst>
                                          <p:attrName>style.visibility</p:attrName>
                                        </p:attrNameLst>
                                      </p:cBhvr>
                                      <p:to>
                                        <p:strVal val="visible"/>
                                      </p:to>
                                    </p:set>
                                    <p:animEffect transition="in" filter="fade">
                                      <p:cBhvr>
                                        <p:cTn id="67" dur="500"/>
                                        <p:tgtEl>
                                          <p:spTgt spid="340"/>
                                        </p:tgtEl>
                                      </p:cBhvr>
                                    </p:animEffect>
                                  </p:childTnLst>
                                </p:cTn>
                              </p:par>
                            </p:childTnLst>
                          </p:cTn>
                        </p:par>
                        <p:par>
                          <p:cTn id="68" fill="hold">
                            <p:stCondLst>
                              <p:cond delay="8000"/>
                            </p:stCondLst>
                            <p:childTnLst>
                              <p:par>
                                <p:cTn id="69" presetID="10" presetClass="entr" presetSubtype="0" fill="hold" nodeType="afterEffect">
                                  <p:stCondLst>
                                    <p:cond delay="0"/>
                                  </p:stCondLst>
                                  <p:childTnLst>
                                    <p:set>
                                      <p:cBhvr>
                                        <p:cTn id="70" dur="1" fill="hold">
                                          <p:stCondLst>
                                            <p:cond delay="0"/>
                                          </p:stCondLst>
                                        </p:cTn>
                                        <p:tgtEl>
                                          <p:spTgt spid="347"/>
                                        </p:tgtEl>
                                        <p:attrNameLst>
                                          <p:attrName>style.visibility</p:attrName>
                                        </p:attrNameLst>
                                      </p:cBhvr>
                                      <p:to>
                                        <p:strVal val="visible"/>
                                      </p:to>
                                    </p:set>
                                    <p:animEffect transition="in" filter="fade">
                                      <p:cBhvr>
                                        <p:cTn id="71" dur="500"/>
                                        <p:tgtEl>
                                          <p:spTgt spid="347"/>
                                        </p:tgtEl>
                                      </p:cBhvr>
                                    </p:animEffect>
                                  </p:childTnLst>
                                </p:cTn>
                              </p:par>
                            </p:childTnLst>
                          </p:cTn>
                        </p:par>
                        <p:par>
                          <p:cTn id="72" fill="hold">
                            <p:stCondLst>
                              <p:cond delay="8500"/>
                            </p:stCondLst>
                            <p:childTnLst>
                              <p:par>
                                <p:cTn id="73" presetID="10" presetClass="entr" presetSubtype="0" fill="hold" nodeType="afterEffect">
                                  <p:stCondLst>
                                    <p:cond delay="0"/>
                                  </p:stCondLst>
                                  <p:childTnLst>
                                    <p:set>
                                      <p:cBhvr>
                                        <p:cTn id="74" dur="1" fill="hold">
                                          <p:stCondLst>
                                            <p:cond delay="0"/>
                                          </p:stCondLst>
                                        </p:cTn>
                                        <p:tgtEl>
                                          <p:spTgt spid="343"/>
                                        </p:tgtEl>
                                        <p:attrNameLst>
                                          <p:attrName>style.visibility</p:attrName>
                                        </p:attrNameLst>
                                      </p:cBhvr>
                                      <p:to>
                                        <p:strVal val="visible"/>
                                      </p:to>
                                    </p:set>
                                    <p:animEffect transition="in" filter="fade">
                                      <p:cBhvr>
                                        <p:cTn id="75" dur="500"/>
                                        <p:tgtEl>
                                          <p:spTgt spid="343"/>
                                        </p:tgtEl>
                                      </p:cBhvr>
                                    </p:animEffect>
                                  </p:childTnLst>
                                </p:cTn>
                              </p:par>
                            </p:childTnLst>
                          </p:cTn>
                        </p:par>
                        <p:par>
                          <p:cTn id="76" fill="hold">
                            <p:stCondLst>
                              <p:cond delay="9000"/>
                            </p:stCondLst>
                            <p:childTnLst>
                              <p:par>
                                <p:cTn id="77" presetID="10" presetClass="entr" presetSubtype="0" fill="hold" nodeType="afterEffect">
                                  <p:stCondLst>
                                    <p:cond delay="0"/>
                                  </p:stCondLst>
                                  <p:childTnLst>
                                    <p:set>
                                      <p:cBhvr>
                                        <p:cTn id="78" dur="1" fill="hold">
                                          <p:stCondLst>
                                            <p:cond delay="0"/>
                                          </p:stCondLst>
                                        </p:cTn>
                                        <p:tgtEl>
                                          <p:spTgt spid="352"/>
                                        </p:tgtEl>
                                        <p:attrNameLst>
                                          <p:attrName>style.visibility</p:attrName>
                                        </p:attrNameLst>
                                      </p:cBhvr>
                                      <p:to>
                                        <p:strVal val="visible"/>
                                      </p:to>
                                    </p:set>
                                    <p:animEffect transition="in" filter="fade">
                                      <p:cBhvr>
                                        <p:cTn id="79" dur="500"/>
                                        <p:tgtEl>
                                          <p:spTgt spid="35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356"/>
        <p:cNvGrpSpPr/>
        <p:nvPr/>
      </p:nvGrpSpPr>
      <p:grpSpPr>
        <a:xfrm>
          <a:off x="0" y="0"/>
          <a:ext cx="0" cy="0"/>
          <a:chOff x="0" y="0"/>
          <a:chExt cx="0" cy="0"/>
        </a:xfrm>
      </p:grpSpPr>
      <p:pic>
        <p:nvPicPr>
          <p:cNvPr id="358" name="Google Shape;358;p35"/>
          <p:cNvPicPr preferRelativeResize="0">
            <a:picLocks noGrp="1"/>
          </p:cNvPicPr>
          <p:nvPr>
            <p:ph type="body" idx="1"/>
          </p:nvPr>
        </p:nvPicPr>
        <p:blipFill rotWithShape="1">
          <a:blip r:embed="rId3">
            <a:alphaModFix/>
          </a:blip>
          <a:srcRect t="-24610" b="-24609"/>
          <a:stretch/>
        </p:blipFill>
        <p:spPr>
          <a:xfrm>
            <a:off x="3546764" y="986028"/>
            <a:ext cx="8229600" cy="4876800"/>
          </a:xfrm>
          <a:prstGeom prst="rect">
            <a:avLst/>
          </a:prstGeom>
          <a:noFill/>
          <a:ln>
            <a:noFill/>
          </a:ln>
        </p:spPr>
      </p:pic>
      <p:sp>
        <p:nvSpPr>
          <p:cNvPr id="3" name="Title 1">
            <a:extLst>
              <a:ext uri="{FF2B5EF4-FFF2-40B4-BE49-F238E27FC236}">
                <a16:creationId xmlns:a16="http://schemas.microsoft.com/office/drawing/2014/main" id="{45892ADB-7E90-03CB-46D3-1C733063813A}"/>
              </a:ext>
            </a:extLst>
          </p:cNvPr>
          <p:cNvSpPr txBox="1">
            <a:spLocks/>
          </p:cNvSpPr>
          <p:nvPr/>
        </p:nvSpPr>
        <p:spPr>
          <a:xfrm>
            <a:off x="252919" y="1123837"/>
            <a:ext cx="2947482" cy="460118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3600" kern="1200" spc="-60" baseline="0">
                <a:solidFill>
                  <a:srgbClr val="FFFFFF"/>
                </a:solidFill>
                <a:latin typeface="+mj-lt"/>
                <a:ea typeface="+mj-ea"/>
                <a:cs typeface="+mj-cs"/>
              </a:defRPr>
            </a:lvl1pPr>
          </a:lstStyle>
          <a:p>
            <a:r>
              <a:rPr lang="en-US" dirty="0"/>
              <a:t>Storytelling with visualization</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365"/>
        <p:cNvGrpSpPr/>
        <p:nvPr/>
      </p:nvGrpSpPr>
      <p:grpSpPr>
        <a:xfrm>
          <a:off x="0" y="0"/>
          <a:ext cx="0" cy="0"/>
          <a:chOff x="0" y="0"/>
          <a:chExt cx="0" cy="0"/>
        </a:xfrm>
      </p:grpSpPr>
      <p:pic>
        <p:nvPicPr>
          <p:cNvPr id="366" name="Google Shape;366;p36" descr="Screen Shot 2015-01-13 at 5.03.30 PM.png"/>
          <p:cNvPicPr preferRelativeResize="0"/>
          <p:nvPr/>
        </p:nvPicPr>
        <p:blipFill rotWithShape="1">
          <a:blip r:embed="rId3">
            <a:alphaModFix amt="49000"/>
          </a:blip>
          <a:srcRect/>
          <a:stretch/>
        </p:blipFill>
        <p:spPr>
          <a:xfrm>
            <a:off x="3512820" y="683816"/>
            <a:ext cx="10160000" cy="5715000"/>
          </a:xfrm>
          <a:prstGeom prst="rect">
            <a:avLst/>
          </a:prstGeom>
          <a:noFill/>
          <a:ln>
            <a:noFill/>
          </a:ln>
        </p:spPr>
      </p:pic>
      <p:sp>
        <p:nvSpPr>
          <p:cNvPr id="367" name="Google Shape;367;p36"/>
          <p:cNvSpPr/>
          <p:nvPr/>
        </p:nvSpPr>
        <p:spPr>
          <a:xfrm>
            <a:off x="4322618" y="2043540"/>
            <a:ext cx="5142016" cy="1385459"/>
          </a:xfrm>
          <a:prstGeom prst="roundRect">
            <a:avLst/>
          </a:prstGeom>
          <a:ln/>
        </p:spPr>
        <p:style>
          <a:lnRef idx="0">
            <a:schemeClr val="accent5"/>
          </a:lnRef>
          <a:fillRef idx="3">
            <a:schemeClr val="accent5"/>
          </a:fillRef>
          <a:effectRef idx="3">
            <a:schemeClr val="accent5"/>
          </a:effectRef>
          <a:fontRef idx="minor">
            <a:schemeClr val="lt1"/>
          </a:fontRef>
        </p:style>
        <p:txBody>
          <a:bodyPr spcFirstLastPara="1" wrap="square" lIns="91425" tIns="45700" rIns="91425" bIns="45700" anchor="ctr" anchorCtr="0">
            <a:noAutofit/>
          </a:bodyPr>
          <a:lstStyle/>
          <a:p>
            <a:pPr algn="ctr"/>
            <a:endParaRPr>
              <a:solidFill>
                <a:schemeClr val="bg1"/>
              </a:solidFill>
              <a:latin typeface="Arial"/>
              <a:ea typeface="Arial"/>
              <a:cs typeface="Arial"/>
              <a:sym typeface="Arial"/>
            </a:endParaRPr>
          </a:p>
        </p:txBody>
      </p:sp>
      <p:sp>
        <p:nvSpPr>
          <p:cNvPr id="368" name="Google Shape;368;p36"/>
          <p:cNvSpPr txBox="1">
            <a:spLocks noGrp="1"/>
          </p:cNvSpPr>
          <p:nvPr>
            <p:ph type="body" idx="1"/>
          </p:nvPr>
        </p:nvSpPr>
        <p:spPr>
          <a:xfrm>
            <a:off x="3512820" y="-325581"/>
            <a:ext cx="8229600" cy="4876800"/>
          </a:xfrm>
          <a:prstGeom prst="rect">
            <a:avLst/>
          </a:prstGeom>
          <a:noFill/>
          <a:ln>
            <a:noFill/>
          </a:ln>
        </p:spPr>
        <p:txBody>
          <a:bodyPr spcFirstLastPara="1" vert="horz" wrap="square" lIns="91425" tIns="45700" rIns="91425" bIns="45700" rtlCol="0" anchor="ctr" anchorCtr="0">
            <a:noAutofit/>
          </a:bodyPr>
          <a:lstStyle/>
          <a:p>
            <a:pPr marL="0" indent="0" algn="ctr">
              <a:spcBef>
                <a:spcPts val="0"/>
              </a:spcBef>
              <a:buNone/>
            </a:pPr>
            <a:endParaRPr sz="2400" dirty="0">
              <a:ea typeface="Arial"/>
              <a:cs typeface="Arial"/>
              <a:sym typeface="Arial"/>
            </a:endParaRPr>
          </a:p>
          <a:p>
            <a:pPr marL="0" indent="0" algn="ctr">
              <a:spcBef>
                <a:spcPts val="480"/>
              </a:spcBef>
              <a:buNone/>
            </a:pPr>
            <a:endParaRPr sz="2400" dirty="0">
              <a:ea typeface="Arial"/>
              <a:cs typeface="Arial"/>
              <a:sym typeface="Arial"/>
            </a:endParaRPr>
          </a:p>
          <a:p>
            <a:pPr marL="0" indent="0" algn="ctr">
              <a:spcBef>
                <a:spcPts val="480"/>
              </a:spcBef>
              <a:buNone/>
            </a:pPr>
            <a:endParaRPr sz="2400" dirty="0">
              <a:ea typeface="Arial"/>
              <a:cs typeface="Arial"/>
              <a:sym typeface="Arial"/>
            </a:endParaRPr>
          </a:p>
          <a:p>
            <a:pPr marL="0" indent="0">
              <a:spcBef>
                <a:spcPts val="480"/>
              </a:spcBef>
              <a:buNone/>
            </a:pPr>
            <a:r>
              <a:rPr lang="en-US" sz="2400" dirty="0">
                <a:solidFill>
                  <a:schemeClr val="bg1"/>
                </a:solidFill>
                <a:ea typeface="Arial"/>
                <a:cs typeface="Arial"/>
                <a:sym typeface="Arial"/>
              </a:rPr>
              <a:t>	      What makes a </a:t>
            </a:r>
            <a:r>
              <a:rPr lang="en-US" sz="2400" b="1" dirty="0">
                <a:solidFill>
                  <a:schemeClr val="bg1"/>
                </a:solidFill>
                <a:ea typeface="Arial"/>
                <a:cs typeface="Arial"/>
                <a:sym typeface="Arial"/>
              </a:rPr>
              <a:t>good data story</a:t>
            </a:r>
            <a:r>
              <a:rPr lang="en-US" sz="2400" dirty="0">
                <a:solidFill>
                  <a:schemeClr val="bg1"/>
                </a:solidFill>
                <a:ea typeface="Arial"/>
                <a:cs typeface="Arial"/>
                <a:sym typeface="Arial"/>
              </a:rPr>
              <a:t>?</a:t>
            </a:r>
            <a:endParaRPr sz="2400" dirty="0">
              <a:solidFill>
                <a:schemeClr val="bg1"/>
              </a:solidFill>
              <a:ea typeface="Arial"/>
              <a:cs typeface="Arial"/>
              <a:sym typeface="Arial"/>
            </a:endParaRPr>
          </a:p>
        </p:txBody>
      </p:sp>
      <p:sp>
        <p:nvSpPr>
          <p:cNvPr id="2" name="Title 1">
            <a:extLst>
              <a:ext uri="{FF2B5EF4-FFF2-40B4-BE49-F238E27FC236}">
                <a16:creationId xmlns:a16="http://schemas.microsoft.com/office/drawing/2014/main" id="{BFAA5185-977D-F71A-2C44-7A2B24E3C6BB}"/>
              </a:ext>
            </a:extLst>
          </p:cNvPr>
          <p:cNvSpPr txBox="1">
            <a:spLocks/>
          </p:cNvSpPr>
          <p:nvPr/>
        </p:nvSpPr>
        <p:spPr>
          <a:xfrm>
            <a:off x="252919" y="1123837"/>
            <a:ext cx="2947482" cy="460118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3600" kern="1200" spc="-60" baseline="0">
                <a:solidFill>
                  <a:srgbClr val="FFFFFF"/>
                </a:solidFill>
                <a:latin typeface="+mj-lt"/>
                <a:ea typeface="+mj-ea"/>
                <a:cs typeface="+mj-cs"/>
              </a:defRPr>
            </a:lvl1pPr>
          </a:lstStyle>
          <a:p>
            <a:r>
              <a:rPr lang="en-US" dirty="0"/>
              <a:t>Discussion</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374"/>
        <p:cNvGrpSpPr/>
        <p:nvPr/>
      </p:nvGrpSpPr>
      <p:grpSpPr>
        <a:xfrm>
          <a:off x="0" y="0"/>
          <a:ext cx="0" cy="0"/>
          <a:chOff x="0" y="0"/>
          <a:chExt cx="0" cy="0"/>
        </a:xfrm>
      </p:grpSpPr>
      <p:pic>
        <p:nvPicPr>
          <p:cNvPr id="377" name="Google Shape;377;p37"/>
          <p:cNvPicPr preferRelativeResize="0"/>
          <p:nvPr/>
        </p:nvPicPr>
        <p:blipFill rotWithShape="1">
          <a:blip r:embed="rId3">
            <a:alphaModFix/>
          </a:blip>
          <a:srcRect/>
          <a:stretch/>
        </p:blipFill>
        <p:spPr>
          <a:xfrm>
            <a:off x="2988625" y="138059"/>
            <a:ext cx="9144000" cy="4359720"/>
          </a:xfrm>
          <a:prstGeom prst="rect">
            <a:avLst/>
          </a:prstGeom>
          <a:noFill/>
          <a:ln>
            <a:noFill/>
          </a:ln>
        </p:spPr>
      </p:pic>
      <p:sp>
        <p:nvSpPr>
          <p:cNvPr id="2" name="Title 1">
            <a:extLst>
              <a:ext uri="{FF2B5EF4-FFF2-40B4-BE49-F238E27FC236}">
                <a16:creationId xmlns:a16="http://schemas.microsoft.com/office/drawing/2014/main" id="{88D9548E-F44B-2856-9FCD-41E50834F791}"/>
              </a:ext>
            </a:extLst>
          </p:cNvPr>
          <p:cNvSpPr txBox="1">
            <a:spLocks/>
          </p:cNvSpPr>
          <p:nvPr/>
        </p:nvSpPr>
        <p:spPr>
          <a:xfrm>
            <a:off x="252919" y="1123837"/>
            <a:ext cx="2947482" cy="460118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3600" kern="1200" spc="-60" baseline="0">
                <a:solidFill>
                  <a:srgbClr val="FFFFFF"/>
                </a:solidFill>
                <a:latin typeface="+mj-lt"/>
                <a:ea typeface="+mj-ea"/>
                <a:cs typeface="+mj-cs"/>
              </a:defRPr>
            </a:lvl1pPr>
          </a:lstStyle>
          <a:p>
            <a:r>
              <a:rPr lang="en-US" dirty="0"/>
              <a:t>Napoleon’s March</a:t>
            </a:r>
          </a:p>
        </p:txBody>
      </p:sp>
      <p:sp>
        <p:nvSpPr>
          <p:cNvPr id="3" name="Rounded Rectangle 2">
            <a:extLst>
              <a:ext uri="{FF2B5EF4-FFF2-40B4-BE49-F238E27FC236}">
                <a16:creationId xmlns:a16="http://schemas.microsoft.com/office/drawing/2014/main" id="{44601B18-6D39-EA53-2A4B-66AB8665F2A0}"/>
              </a:ext>
            </a:extLst>
          </p:cNvPr>
          <p:cNvSpPr/>
          <p:nvPr/>
        </p:nvSpPr>
        <p:spPr>
          <a:xfrm>
            <a:off x="154378" y="4497779"/>
            <a:ext cx="12037621" cy="2222163"/>
          </a:xfrm>
          <a:prstGeom prst="roundRect">
            <a:avLst/>
          </a:prstGeom>
        </p:spPr>
        <p:style>
          <a:lnRef idx="0">
            <a:schemeClr val="accent2"/>
          </a:lnRef>
          <a:fillRef idx="3">
            <a:schemeClr val="accent2"/>
          </a:fillRef>
          <a:effectRef idx="3">
            <a:schemeClr val="accent2"/>
          </a:effectRef>
          <a:fontRef idx="minor">
            <a:schemeClr val="lt1"/>
          </a:fontRef>
        </p:style>
        <p:txBody>
          <a:bodyPr rtlCol="0" anchor="ctr"/>
          <a:lstStyle/>
          <a:p>
            <a:pPr algn="ctr"/>
            <a:r>
              <a:rPr lang="en-US" sz="2400" b="0" i="0" dirty="0">
                <a:solidFill>
                  <a:schemeClr val="bg1"/>
                </a:solidFill>
                <a:effectLst/>
              </a:rPr>
              <a:t>“Probably the best statistical graphic ever drawn, this map by Charles Joseph Minard portrays the losses suffered by Napoleon’s army in the Russian campaign of 1812. Beginning at the Polish-Russian border, the thick band shows the size of the army at each position. The path of Napoleon’s retreat from Moscow in the bitterly cold winter is depicted by the dark lower band, which is tied to temperature and time scales.” </a:t>
            </a:r>
            <a:r>
              <a:rPr lang="en-US" sz="2400" b="0" i="1" dirty="0">
                <a:solidFill>
                  <a:schemeClr val="bg1"/>
                </a:solidFill>
                <a:effectLst/>
              </a:rPr>
              <a:t>- Edward Tufte</a:t>
            </a:r>
            <a:endParaRPr lang="en-US" sz="2400" i="1" dirty="0">
              <a:solidFill>
                <a:schemeClr val="bg1"/>
              </a:solidFill>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7EA812-EC6E-20A7-0114-01ED41E32DCA}"/>
              </a:ext>
            </a:extLst>
          </p:cNvPr>
          <p:cNvSpPr>
            <a:spLocks noGrp="1"/>
          </p:cNvSpPr>
          <p:nvPr>
            <p:ph type="title"/>
          </p:nvPr>
        </p:nvSpPr>
        <p:spPr/>
        <p:txBody>
          <a:bodyPr/>
          <a:lstStyle/>
          <a:p>
            <a:r>
              <a:rPr lang="en-US" dirty="0"/>
              <a:t>Design Space of Narrative Visualization</a:t>
            </a:r>
          </a:p>
        </p:txBody>
      </p:sp>
      <p:sp>
        <p:nvSpPr>
          <p:cNvPr id="3" name="Content Placeholder 2">
            <a:extLst>
              <a:ext uri="{FF2B5EF4-FFF2-40B4-BE49-F238E27FC236}">
                <a16:creationId xmlns:a16="http://schemas.microsoft.com/office/drawing/2014/main" id="{5F71523F-10BC-267E-7E6A-842FEC7B5050}"/>
              </a:ext>
            </a:extLst>
          </p:cNvPr>
          <p:cNvSpPr>
            <a:spLocks noGrp="1"/>
          </p:cNvSpPr>
          <p:nvPr>
            <p:ph idx="1"/>
          </p:nvPr>
        </p:nvSpPr>
        <p:spPr/>
        <p:txBody>
          <a:bodyPr>
            <a:normAutofit/>
          </a:bodyPr>
          <a:lstStyle/>
          <a:p>
            <a:pPr marL="457200" indent="-457200">
              <a:buFont typeface="+mj-lt"/>
              <a:buAutoNum type="arabicPeriod"/>
            </a:pPr>
            <a:r>
              <a:rPr lang="en-US" sz="2400" dirty="0"/>
              <a:t>Genre</a:t>
            </a:r>
          </a:p>
          <a:p>
            <a:pPr marL="457200" indent="-457200">
              <a:buFont typeface="+mj-lt"/>
              <a:buAutoNum type="arabicPeriod"/>
            </a:pPr>
            <a:r>
              <a:rPr lang="en-US" sz="2400" dirty="0"/>
              <a:t>Visual Narrative Tactics</a:t>
            </a:r>
          </a:p>
          <a:p>
            <a:pPr marL="457200" indent="-457200">
              <a:buFont typeface="+mj-lt"/>
              <a:buAutoNum type="arabicPeriod"/>
            </a:pPr>
            <a:r>
              <a:rPr lang="en-US" sz="2400" dirty="0"/>
              <a:t>Narrative Structure </a:t>
            </a:r>
          </a:p>
        </p:txBody>
      </p:sp>
    </p:spTree>
    <p:extLst>
      <p:ext uri="{BB962C8B-B14F-4D97-AF65-F5344CB8AC3E}">
        <p14:creationId xmlns:p14="http://schemas.microsoft.com/office/powerpoint/2010/main" val="277836043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22FC73-8EF6-9293-80DB-2D02DC934ED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58066E0-4B68-9E8A-0E83-85848CE2367E}"/>
              </a:ext>
            </a:extLst>
          </p:cNvPr>
          <p:cNvSpPr>
            <a:spLocks noGrp="1"/>
          </p:cNvSpPr>
          <p:nvPr>
            <p:ph type="title"/>
          </p:nvPr>
        </p:nvSpPr>
        <p:spPr/>
        <p:txBody>
          <a:bodyPr/>
          <a:lstStyle/>
          <a:p>
            <a:r>
              <a:rPr lang="en-US" dirty="0"/>
              <a:t>Genre</a:t>
            </a:r>
          </a:p>
        </p:txBody>
      </p:sp>
      <p:pic>
        <p:nvPicPr>
          <p:cNvPr id="5" name="Content Placeholder 4" descr="A diagram of different types of charts&#10;&#10;Description automatically generated with medium confidence">
            <a:extLst>
              <a:ext uri="{FF2B5EF4-FFF2-40B4-BE49-F238E27FC236}">
                <a16:creationId xmlns:a16="http://schemas.microsoft.com/office/drawing/2014/main" id="{8BDBB82B-A871-C95F-6E23-EDB3CF60F721}"/>
              </a:ext>
            </a:extLst>
          </p:cNvPr>
          <p:cNvPicPr>
            <a:picLocks noGrp="1" noChangeAspect="1"/>
          </p:cNvPicPr>
          <p:nvPr>
            <p:ph idx="1"/>
          </p:nvPr>
        </p:nvPicPr>
        <p:blipFill>
          <a:blip r:embed="rId2"/>
          <a:srcRect l="4321"/>
          <a:stretch/>
        </p:blipFill>
        <p:spPr>
          <a:xfrm>
            <a:off x="3571875" y="1417035"/>
            <a:ext cx="8620125" cy="4014786"/>
          </a:xfrm>
        </p:spPr>
      </p:pic>
      <p:sp>
        <p:nvSpPr>
          <p:cNvPr id="6" name="TextBox 5">
            <a:extLst>
              <a:ext uri="{FF2B5EF4-FFF2-40B4-BE49-F238E27FC236}">
                <a16:creationId xmlns:a16="http://schemas.microsoft.com/office/drawing/2014/main" id="{067A9B73-9F7F-6777-58F7-0D15E14E442E}"/>
              </a:ext>
            </a:extLst>
          </p:cNvPr>
          <p:cNvSpPr txBox="1"/>
          <p:nvPr/>
        </p:nvSpPr>
        <p:spPr>
          <a:xfrm>
            <a:off x="4200525" y="6372225"/>
            <a:ext cx="7698902" cy="369332"/>
          </a:xfrm>
          <a:prstGeom prst="rect">
            <a:avLst/>
          </a:prstGeom>
          <a:noFill/>
        </p:spPr>
        <p:txBody>
          <a:bodyPr wrap="none" rtlCol="0">
            <a:spAutoFit/>
          </a:bodyPr>
          <a:lstStyle/>
          <a:p>
            <a:r>
              <a:rPr lang="en-US" i="1" u="sng" dirty="0"/>
              <a:t>Narrative Visualization: Telling Stories with Data</a:t>
            </a:r>
            <a:r>
              <a:rPr lang="en-US" dirty="0"/>
              <a:t>. Edward </a:t>
            </a:r>
            <a:r>
              <a:rPr lang="en-US" dirty="0" err="1"/>
              <a:t>Segel</a:t>
            </a:r>
            <a:r>
              <a:rPr lang="en-US" dirty="0"/>
              <a:t> and Jeffrey Heer</a:t>
            </a:r>
          </a:p>
        </p:txBody>
      </p:sp>
    </p:spTree>
    <p:extLst>
      <p:ext uri="{BB962C8B-B14F-4D97-AF65-F5344CB8AC3E}">
        <p14:creationId xmlns:p14="http://schemas.microsoft.com/office/powerpoint/2010/main" val="397848989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F8E80D-9486-621E-4EB8-D293D98CE69B}"/>
            </a:ext>
          </a:extLst>
        </p:cNvPr>
        <p:cNvGrpSpPr/>
        <p:nvPr/>
      </p:nvGrpSpPr>
      <p:grpSpPr>
        <a:xfrm>
          <a:off x="0" y="0"/>
          <a:ext cx="0" cy="0"/>
          <a:chOff x="0" y="0"/>
          <a:chExt cx="0" cy="0"/>
        </a:xfrm>
      </p:grpSpPr>
      <p:pic>
        <p:nvPicPr>
          <p:cNvPr id="16" name="Graphic 15" descr="Hill scene with solid fill">
            <a:extLst>
              <a:ext uri="{FF2B5EF4-FFF2-40B4-BE49-F238E27FC236}">
                <a16:creationId xmlns:a16="http://schemas.microsoft.com/office/drawing/2014/main" id="{C4BC53D3-2ED0-E453-CEB7-C5D6A674E0E7}"/>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7408439" y="4183953"/>
            <a:ext cx="563498" cy="563498"/>
          </a:xfrm>
          <a:prstGeom prst="rect">
            <a:avLst/>
          </a:prstGeom>
        </p:spPr>
      </p:pic>
      <p:sp>
        <p:nvSpPr>
          <p:cNvPr id="2" name="Title 1">
            <a:extLst>
              <a:ext uri="{FF2B5EF4-FFF2-40B4-BE49-F238E27FC236}">
                <a16:creationId xmlns:a16="http://schemas.microsoft.com/office/drawing/2014/main" id="{FBD1DD5F-404F-075F-F139-500F0473545B}"/>
              </a:ext>
            </a:extLst>
          </p:cNvPr>
          <p:cNvSpPr>
            <a:spLocks noGrp="1"/>
          </p:cNvSpPr>
          <p:nvPr>
            <p:ph type="title"/>
          </p:nvPr>
        </p:nvSpPr>
        <p:spPr/>
        <p:txBody>
          <a:bodyPr/>
          <a:lstStyle/>
          <a:p>
            <a:r>
              <a:rPr lang="en-US" dirty="0"/>
              <a:t>Visual Narrative Tactics</a:t>
            </a:r>
          </a:p>
        </p:txBody>
      </p:sp>
      <p:sp>
        <p:nvSpPr>
          <p:cNvPr id="6" name="TextBox 5">
            <a:extLst>
              <a:ext uri="{FF2B5EF4-FFF2-40B4-BE49-F238E27FC236}">
                <a16:creationId xmlns:a16="http://schemas.microsoft.com/office/drawing/2014/main" id="{E483D1E1-B155-7FE5-518C-B625DEE5ECD2}"/>
              </a:ext>
            </a:extLst>
          </p:cNvPr>
          <p:cNvSpPr txBox="1"/>
          <p:nvPr/>
        </p:nvSpPr>
        <p:spPr>
          <a:xfrm>
            <a:off x="4200525" y="6372225"/>
            <a:ext cx="7698902" cy="369332"/>
          </a:xfrm>
          <a:prstGeom prst="rect">
            <a:avLst/>
          </a:prstGeom>
          <a:noFill/>
        </p:spPr>
        <p:txBody>
          <a:bodyPr wrap="none" rtlCol="0">
            <a:spAutoFit/>
          </a:bodyPr>
          <a:lstStyle/>
          <a:p>
            <a:r>
              <a:rPr lang="en-US" i="1" u="sng" dirty="0"/>
              <a:t>Narrative Visualization: Telling Stories with Data</a:t>
            </a:r>
            <a:r>
              <a:rPr lang="en-US" dirty="0"/>
              <a:t>. Edward </a:t>
            </a:r>
            <a:r>
              <a:rPr lang="en-US" dirty="0" err="1"/>
              <a:t>Segel</a:t>
            </a:r>
            <a:r>
              <a:rPr lang="en-US" dirty="0"/>
              <a:t> and Jeffrey Heer</a:t>
            </a:r>
          </a:p>
        </p:txBody>
      </p:sp>
      <p:sp>
        <p:nvSpPr>
          <p:cNvPr id="4" name="Content Placeholder 3">
            <a:extLst>
              <a:ext uri="{FF2B5EF4-FFF2-40B4-BE49-F238E27FC236}">
                <a16:creationId xmlns:a16="http://schemas.microsoft.com/office/drawing/2014/main" id="{16D4F14B-FB1A-BD47-7DB6-2E654BBA8D68}"/>
              </a:ext>
            </a:extLst>
          </p:cNvPr>
          <p:cNvSpPr>
            <a:spLocks noGrp="1"/>
          </p:cNvSpPr>
          <p:nvPr>
            <p:ph idx="1"/>
          </p:nvPr>
        </p:nvSpPr>
        <p:spPr/>
        <p:txBody>
          <a:bodyPr>
            <a:normAutofit/>
          </a:bodyPr>
          <a:lstStyle/>
          <a:p>
            <a:r>
              <a:rPr lang="en-US" sz="2400" dirty="0"/>
              <a:t>Visual devices that assist and facilitate the narrative</a:t>
            </a:r>
          </a:p>
          <a:p>
            <a:endParaRPr lang="en-US" sz="2400" dirty="0"/>
          </a:p>
          <a:p>
            <a:pPr lvl="1"/>
            <a:r>
              <a:rPr lang="en-US" sz="2200" dirty="0"/>
              <a:t>Visual structuring</a:t>
            </a:r>
          </a:p>
          <a:p>
            <a:pPr lvl="1"/>
            <a:endParaRPr lang="en-US" sz="2200" dirty="0"/>
          </a:p>
          <a:p>
            <a:pPr lvl="1"/>
            <a:r>
              <a:rPr lang="en-US" sz="2200" dirty="0"/>
              <a:t>Highlighting</a:t>
            </a:r>
          </a:p>
          <a:p>
            <a:pPr lvl="1"/>
            <a:endParaRPr lang="en-US" sz="2200" dirty="0"/>
          </a:p>
          <a:p>
            <a:pPr lvl="1"/>
            <a:r>
              <a:rPr lang="en-US" sz="2200" dirty="0"/>
              <a:t>Transition guidance</a:t>
            </a:r>
          </a:p>
          <a:p>
            <a:pPr lvl="1"/>
            <a:endParaRPr lang="en-US" sz="2200" dirty="0"/>
          </a:p>
        </p:txBody>
      </p:sp>
      <p:pic>
        <p:nvPicPr>
          <p:cNvPr id="8" name="Graphic 7" descr="Treasure Map outline">
            <a:extLst>
              <a:ext uri="{FF2B5EF4-FFF2-40B4-BE49-F238E27FC236}">
                <a16:creationId xmlns:a16="http://schemas.microsoft.com/office/drawing/2014/main" id="{FB6FA29A-5AD1-23B7-6BCD-A9433B2D6A64}"/>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6710362" y="2195703"/>
            <a:ext cx="1490472" cy="1490472"/>
          </a:xfrm>
          <a:prstGeom prst="rect">
            <a:avLst/>
          </a:prstGeom>
        </p:spPr>
      </p:pic>
      <p:pic>
        <p:nvPicPr>
          <p:cNvPr id="10" name="Graphic 9" descr="Pen with solid fill">
            <a:extLst>
              <a:ext uri="{FF2B5EF4-FFF2-40B4-BE49-F238E27FC236}">
                <a16:creationId xmlns:a16="http://schemas.microsoft.com/office/drawing/2014/main" id="{5B0DA11C-AF21-1F1D-EDB4-9D1F9636C732}"/>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5918729" y="3173539"/>
            <a:ext cx="914400" cy="914400"/>
          </a:xfrm>
          <a:prstGeom prst="rect">
            <a:avLst/>
          </a:prstGeom>
        </p:spPr>
      </p:pic>
      <p:pic>
        <p:nvPicPr>
          <p:cNvPr id="14" name="Graphic 13" descr="Window outline">
            <a:extLst>
              <a:ext uri="{FF2B5EF4-FFF2-40B4-BE49-F238E27FC236}">
                <a16:creationId xmlns:a16="http://schemas.microsoft.com/office/drawing/2014/main" id="{1DFFDD67-2FA5-1380-1667-40A1ABE3E94E}"/>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7232988" y="3921061"/>
            <a:ext cx="914400" cy="914400"/>
          </a:xfrm>
          <a:prstGeom prst="rect">
            <a:avLst/>
          </a:prstGeom>
        </p:spPr>
      </p:pic>
      <p:pic>
        <p:nvPicPr>
          <p:cNvPr id="17" name="Graphic 16" descr="Hill scene with solid fill">
            <a:extLst>
              <a:ext uri="{FF2B5EF4-FFF2-40B4-BE49-F238E27FC236}">
                <a16:creationId xmlns:a16="http://schemas.microsoft.com/office/drawing/2014/main" id="{C09BD6A7-31B2-542C-51C6-BC372A978BF4}"/>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8640804" y="4008502"/>
            <a:ext cx="914399" cy="914399"/>
          </a:xfrm>
          <a:prstGeom prst="rect">
            <a:avLst/>
          </a:prstGeom>
        </p:spPr>
      </p:pic>
      <p:pic>
        <p:nvPicPr>
          <p:cNvPr id="19" name="Graphic 18" descr="Arrow Right outline">
            <a:extLst>
              <a:ext uri="{FF2B5EF4-FFF2-40B4-BE49-F238E27FC236}">
                <a16:creationId xmlns:a16="http://schemas.microsoft.com/office/drawing/2014/main" id="{78A514B9-AA1B-F5E4-B326-10E4859F29E6}"/>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8068205" y="4183952"/>
            <a:ext cx="563499" cy="563499"/>
          </a:xfrm>
          <a:prstGeom prst="rect">
            <a:avLst/>
          </a:prstGeom>
        </p:spPr>
      </p:pic>
    </p:spTree>
    <p:extLst>
      <p:ext uri="{BB962C8B-B14F-4D97-AF65-F5344CB8AC3E}">
        <p14:creationId xmlns:p14="http://schemas.microsoft.com/office/powerpoint/2010/main" val="111382156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F8B798-98C5-AE92-8608-3DF5BA2D3A9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EA23C16-5F9A-367F-3639-5936BD5398BB}"/>
              </a:ext>
            </a:extLst>
          </p:cNvPr>
          <p:cNvSpPr>
            <a:spLocks noGrp="1"/>
          </p:cNvSpPr>
          <p:nvPr>
            <p:ph type="title"/>
          </p:nvPr>
        </p:nvSpPr>
        <p:spPr/>
        <p:txBody>
          <a:bodyPr/>
          <a:lstStyle/>
          <a:p>
            <a:r>
              <a:rPr lang="en-US" dirty="0"/>
              <a:t>Narrative Structure</a:t>
            </a:r>
          </a:p>
        </p:txBody>
      </p:sp>
      <p:sp>
        <p:nvSpPr>
          <p:cNvPr id="6" name="TextBox 5">
            <a:extLst>
              <a:ext uri="{FF2B5EF4-FFF2-40B4-BE49-F238E27FC236}">
                <a16:creationId xmlns:a16="http://schemas.microsoft.com/office/drawing/2014/main" id="{8A9D629C-E218-8D41-4406-D6B3CA7A0E22}"/>
              </a:ext>
            </a:extLst>
          </p:cNvPr>
          <p:cNvSpPr txBox="1"/>
          <p:nvPr/>
        </p:nvSpPr>
        <p:spPr>
          <a:xfrm>
            <a:off x="4200525" y="6372225"/>
            <a:ext cx="7698902" cy="369332"/>
          </a:xfrm>
          <a:prstGeom prst="rect">
            <a:avLst/>
          </a:prstGeom>
          <a:noFill/>
        </p:spPr>
        <p:txBody>
          <a:bodyPr wrap="none" rtlCol="0">
            <a:spAutoFit/>
          </a:bodyPr>
          <a:lstStyle/>
          <a:p>
            <a:r>
              <a:rPr lang="en-US" i="1" u="sng" dirty="0"/>
              <a:t>Narrative Visualization: Telling Stories with Data</a:t>
            </a:r>
            <a:r>
              <a:rPr lang="en-US" dirty="0"/>
              <a:t>. Edward </a:t>
            </a:r>
            <a:r>
              <a:rPr lang="en-US" dirty="0" err="1"/>
              <a:t>Segel</a:t>
            </a:r>
            <a:r>
              <a:rPr lang="en-US" dirty="0"/>
              <a:t> and Jeffrey Heer</a:t>
            </a:r>
          </a:p>
        </p:txBody>
      </p:sp>
      <p:sp>
        <p:nvSpPr>
          <p:cNvPr id="7" name="Left-Right Arrow 6">
            <a:extLst>
              <a:ext uri="{FF2B5EF4-FFF2-40B4-BE49-F238E27FC236}">
                <a16:creationId xmlns:a16="http://schemas.microsoft.com/office/drawing/2014/main" id="{7104A664-A6D6-4538-5C20-17405C273790}"/>
              </a:ext>
            </a:extLst>
          </p:cNvPr>
          <p:cNvSpPr/>
          <p:nvPr/>
        </p:nvSpPr>
        <p:spPr>
          <a:xfrm>
            <a:off x="3500440" y="2919791"/>
            <a:ext cx="8270402" cy="485775"/>
          </a:xfrm>
          <a:prstGeom prst="leftRightArrow">
            <a:avLst/>
          </a:prstGeom>
        </p:spPr>
        <p:style>
          <a:lnRef idx="0">
            <a:schemeClr val="accent5"/>
          </a:lnRef>
          <a:fillRef idx="3">
            <a:schemeClr val="accent5"/>
          </a:fillRef>
          <a:effectRef idx="3">
            <a:schemeClr val="accent5"/>
          </a:effectRef>
          <a:fontRef idx="minor">
            <a:schemeClr val="lt1"/>
          </a:fontRef>
        </p:style>
        <p:txBody>
          <a:bodyPr rtlCol="0" anchor="ctr"/>
          <a:lstStyle/>
          <a:p>
            <a:pPr algn="ctr"/>
            <a:endParaRPr lang="en-US"/>
          </a:p>
        </p:txBody>
      </p:sp>
      <p:sp>
        <p:nvSpPr>
          <p:cNvPr id="8" name="TextBox 7">
            <a:extLst>
              <a:ext uri="{FF2B5EF4-FFF2-40B4-BE49-F238E27FC236}">
                <a16:creationId xmlns:a16="http://schemas.microsoft.com/office/drawing/2014/main" id="{9CA8C58F-5FB3-BB6D-046A-563F1BE6B9C8}"/>
              </a:ext>
            </a:extLst>
          </p:cNvPr>
          <p:cNvSpPr txBox="1"/>
          <p:nvPr/>
        </p:nvSpPr>
        <p:spPr>
          <a:xfrm>
            <a:off x="3443288" y="2371726"/>
            <a:ext cx="3716082" cy="2308324"/>
          </a:xfrm>
          <a:prstGeom prst="rect">
            <a:avLst/>
          </a:prstGeom>
          <a:noFill/>
        </p:spPr>
        <p:txBody>
          <a:bodyPr wrap="none" rtlCol="0">
            <a:spAutoFit/>
          </a:bodyPr>
          <a:lstStyle/>
          <a:p>
            <a:r>
              <a:rPr lang="en-US" sz="2400" dirty="0">
                <a:solidFill>
                  <a:schemeClr val="tx1">
                    <a:lumMod val="90000"/>
                    <a:lumOff val="10000"/>
                  </a:schemeClr>
                </a:solidFill>
              </a:rPr>
              <a:t>Author Driven</a:t>
            </a:r>
          </a:p>
          <a:p>
            <a:endParaRPr lang="en-US" sz="2400" dirty="0">
              <a:solidFill>
                <a:schemeClr val="tx1">
                  <a:lumMod val="90000"/>
                  <a:lumOff val="10000"/>
                </a:schemeClr>
              </a:solidFill>
            </a:endParaRPr>
          </a:p>
          <a:p>
            <a:endParaRPr lang="en-US" sz="2400" dirty="0">
              <a:solidFill>
                <a:schemeClr val="tx1">
                  <a:lumMod val="90000"/>
                  <a:lumOff val="10000"/>
                </a:schemeClr>
              </a:solidFill>
            </a:endParaRPr>
          </a:p>
          <a:p>
            <a:pPr marL="342900" indent="-342900">
              <a:buFont typeface="Arial" panose="020B0604020202020204" pitchFamily="34" charset="0"/>
              <a:buChar char="•"/>
            </a:pPr>
            <a:r>
              <a:rPr lang="en-US" sz="2400" dirty="0">
                <a:solidFill>
                  <a:schemeClr val="tx1">
                    <a:lumMod val="90000"/>
                    <a:lumOff val="10000"/>
                  </a:schemeClr>
                </a:solidFill>
              </a:rPr>
              <a:t>Linear ordering of scenes</a:t>
            </a:r>
          </a:p>
          <a:p>
            <a:pPr marL="342900" indent="-342900">
              <a:buFont typeface="Arial" panose="020B0604020202020204" pitchFamily="34" charset="0"/>
              <a:buChar char="•"/>
            </a:pPr>
            <a:r>
              <a:rPr lang="en-US" sz="2400" dirty="0">
                <a:solidFill>
                  <a:schemeClr val="tx1">
                    <a:lumMod val="90000"/>
                    <a:lumOff val="10000"/>
                  </a:schemeClr>
                </a:solidFill>
              </a:rPr>
              <a:t>Heavy messaging</a:t>
            </a:r>
          </a:p>
          <a:p>
            <a:pPr marL="342900" indent="-342900">
              <a:buFont typeface="Arial" panose="020B0604020202020204" pitchFamily="34" charset="0"/>
              <a:buChar char="•"/>
            </a:pPr>
            <a:r>
              <a:rPr lang="en-US" sz="2400" dirty="0">
                <a:solidFill>
                  <a:schemeClr val="tx1">
                    <a:lumMod val="90000"/>
                    <a:lumOff val="10000"/>
                  </a:schemeClr>
                </a:solidFill>
              </a:rPr>
              <a:t>No interactivity</a:t>
            </a:r>
          </a:p>
        </p:txBody>
      </p:sp>
      <p:sp>
        <p:nvSpPr>
          <p:cNvPr id="9" name="TextBox 8">
            <a:extLst>
              <a:ext uri="{FF2B5EF4-FFF2-40B4-BE49-F238E27FC236}">
                <a16:creationId xmlns:a16="http://schemas.microsoft.com/office/drawing/2014/main" id="{B881AE90-E926-B11D-B2C4-321B33FBD43E}"/>
              </a:ext>
            </a:extLst>
          </p:cNvPr>
          <p:cNvSpPr txBox="1"/>
          <p:nvPr/>
        </p:nvSpPr>
        <p:spPr>
          <a:xfrm>
            <a:off x="8302430" y="2371726"/>
            <a:ext cx="3454792" cy="2308324"/>
          </a:xfrm>
          <a:prstGeom prst="rect">
            <a:avLst/>
          </a:prstGeom>
          <a:noFill/>
        </p:spPr>
        <p:txBody>
          <a:bodyPr wrap="none" rtlCol="0">
            <a:spAutoFit/>
          </a:bodyPr>
          <a:lstStyle/>
          <a:p>
            <a:pPr algn="r"/>
            <a:r>
              <a:rPr lang="en-US" sz="2400" dirty="0">
                <a:solidFill>
                  <a:schemeClr val="tx1">
                    <a:lumMod val="90000"/>
                    <a:lumOff val="10000"/>
                  </a:schemeClr>
                </a:solidFill>
              </a:rPr>
              <a:t>Reader Driven</a:t>
            </a:r>
          </a:p>
          <a:p>
            <a:pPr algn="r"/>
            <a:endParaRPr lang="en-US" sz="2400" dirty="0">
              <a:solidFill>
                <a:schemeClr val="tx1">
                  <a:lumMod val="90000"/>
                  <a:lumOff val="10000"/>
                </a:schemeClr>
              </a:solidFill>
            </a:endParaRPr>
          </a:p>
          <a:p>
            <a:pPr algn="r"/>
            <a:endParaRPr lang="en-US" sz="2400" dirty="0">
              <a:solidFill>
                <a:schemeClr val="tx1">
                  <a:lumMod val="90000"/>
                  <a:lumOff val="10000"/>
                </a:schemeClr>
              </a:solidFill>
            </a:endParaRPr>
          </a:p>
          <a:p>
            <a:pPr marL="342900" indent="-342900" algn="r">
              <a:buFont typeface="Arial" panose="020B0604020202020204" pitchFamily="34" charset="0"/>
              <a:buChar char="•"/>
            </a:pPr>
            <a:r>
              <a:rPr lang="en-US" sz="2400" dirty="0">
                <a:solidFill>
                  <a:schemeClr val="tx1">
                    <a:lumMod val="90000"/>
                    <a:lumOff val="10000"/>
                  </a:schemeClr>
                </a:solidFill>
              </a:rPr>
              <a:t>No prescribed ordering</a:t>
            </a:r>
          </a:p>
          <a:p>
            <a:pPr marL="342900" indent="-342900" algn="r">
              <a:buFont typeface="Arial" panose="020B0604020202020204" pitchFamily="34" charset="0"/>
              <a:buChar char="•"/>
            </a:pPr>
            <a:r>
              <a:rPr lang="en-US" sz="2400" dirty="0">
                <a:solidFill>
                  <a:schemeClr val="tx1">
                    <a:lumMod val="90000"/>
                    <a:lumOff val="10000"/>
                  </a:schemeClr>
                </a:solidFill>
              </a:rPr>
              <a:t>No messaging</a:t>
            </a:r>
          </a:p>
          <a:p>
            <a:pPr marL="342900" indent="-342900" algn="r">
              <a:buFont typeface="Arial" panose="020B0604020202020204" pitchFamily="34" charset="0"/>
              <a:buChar char="•"/>
            </a:pPr>
            <a:r>
              <a:rPr lang="en-US" sz="2400" dirty="0">
                <a:solidFill>
                  <a:schemeClr val="tx1">
                    <a:lumMod val="90000"/>
                    <a:lumOff val="10000"/>
                  </a:schemeClr>
                </a:solidFill>
              </a:rPr>
              <a:t>Free interactivity</a:t>
            </a:r>
          </a:p>
        </p:txBody>
      </p:sp>
    </p:spTree>
    <p:extLst>
      <p:ext uri="{BB962C8B-B14F-4D97-AF65-F5344CB8AC3E}">
        <p14:creationId xmlns:p14="http://schemas.microsoft.com/office/powerpoint/2010/main" val="23881438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xEl>
                                              <p:pRg st="3" end="3"/>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8">
                                            <p:txEl>
                                              <p:pRg st="4" end="4"/>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8">
                                            <p:txEl>
                                              <p:pRg st="5" end="5"/>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9">
                                            <p:txEl>
                                              <p:pRg st="3" end="3"/>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9">
                                            <p:txEl>
                                              <p:pRg st="4" end="4"/>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9">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26A819-F4D5-02A2-7925-779D71645CC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0ACC1BD-0A78-1230-84EB-62877FDEF7C9}"/>
              </a:ext>
            </a:extLst>
          </p:cNvPr>
          <p:cNvSpPr>
            <a:spLocks noGrp="1"/>
          </p:cNvSpPr>
          <p:nvPr>
            <p:ph type="title"/>
          </p:nvPr>
        </p:nvSpPr>
        <p:spPr/>
        <p:txBody>
          <a:bodyPr/>
          <a:lstStyle/>
          <a:p>
            <a:r>
              <a:rPr lang="en-US" dirty="0"/>
              <a:t>Narrative Structure: Martini Glass</a:t>
            </a:r>
          </a:p>
        </p:txBody>
      </p:sp>
      <p:sp>
        <p:nvSpPr>
          <p:cNvPr id="6" name="TextBox 5">
            <a:extLst>
              <a:ext uri="{FF2B5EF4-FFF2-40B4-BE49-F238E27FC236}">
                <a16:creationId xmlns:a16="http://schemas.microsoft.com/office/drawing/2014/main" id="{0B6DAA12-5176-FE71-2DA8-03445251BD3E}"/>
              </a:ext>
            </a:extLst>
          </p:cNvPr>
          <p:cNvSpPr txBox="1"/>
          <p:nvPr/>
        </p:nvSpPr>
        <p:spPr>
          <a:xfrm>
            <a:off x="4200525" y="6372225"/>
            <a:ext cx="7698902" cy="369332"/>
          </a:xfrm>
          <a:prstGeom prst="rect">
            <a:avLst/>
          </a:prstGeom>
          <a:noFill/>
        </p:spPr>
        <p:txBody>
          <a:bodyPr wrap="none" rtlCol="0">
            <a:spAutoFit/>
          </a:bodyPr>
          <a:lstStyle/>
          <a:p>
            <a:r>
              <a:rPr lang="en-US" i="1" u="sng" dirty="0"/>
              <a:t>Narrative Visualization: Telling Stories with Data</a:t>
            </a:r>
            <a:r>
              <a:rPr lang="en-US" dirty="0"/>
              <a:t>. Edward </a:t>
            </a:r>
            <a:r>
              <a:rPr lang="en-US" dirty="0" err="1"/>
              <a:t>Segel</a:t>
            </a:r>
            <a:r>
              <a:rPr lang="en-US" dirty="0"/>
              <a:t> and Jeffrey Heer</a:t>
            </a:r>
          </a:p>
        </p:txBody>
      </p:sp>
      <p:pic>
        <p:nvPicPr>
          <p:cNvPr id="4" name="Graphic 3" descr="Martini outline">
            <a:extLst>
              <a:ext uri="{FF2B5EF4-FFF2-40B4-BE49-F238E27FC236}">
                <a16:creationId xmlns:a16="http://schemas.microsoft.com/office/drawing/2014/main" id="{493C0F17-F1EF-EEEC-08D5-66610BDABC03}"/>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rot="5400000">
            <a:off x="5738813" y="1586103"/>
            <a:ext cx="3676650" cy="3676650"/>
          </a:xfrm>
          <a:prstGeom prst="rect">
            <a:avLst/>
          </a:prstGeom>
        </p:spPr>
      </p:pic>
      <p:pic>
        <p:nvPicPr>
          <p:cNvPr id="10" name="Graphic 9" descr="Play with solid fill">
            <a:extLst>
              <a:ext uri="{FF2B5EF4-FFF2-40B4-BE49-F238E27FC236}">
                <a16:creationId xmlns:a16="http://schemas.microsoft.com/office/drawing/2014/main" id="{7039E9D8-6EA1-ACBC-C944-65021E39D21A}"/>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5281613" y="2967228"/>
            <a:ext cx="914400" cy="914400"/>
          </a:xfrm>
          <a:prstGeom prst="rect">
            <a:avLst/>
          </a:prstGeom>
        </p:spPr>
      </p:pic>
    </p:spTree>
    <p:extLst>
      <p:ext uri="{BB962C8B-B14F-4D97-AF65-F5344CB8AC3E}">
        <p14:creationId xmlns:p14="http://schemas.microsoft.com/office/powerpoint/2010/main" val="164869739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4325BA-2686-FBFD-45AE-762DA399094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D8887DB-CFD1-1A69-AFE6-C7E20F2C345E}"/>
              </a:ext>
            </a:extLst>
          </p:cNvPr>
          <p:cNvSpPr>
            <a:spLocks noGrp="1"/>
          </p:cNvSpPr>
          <p:nvPr>
            <p:ph type="title"/>
          </p:nvPr>
        </p:nvSpPr>
        <p:spPr/>
        <p:txBody>
          <a:bodyPr/>
          <a:lstStyle/>
          <a:p>
            <a:r>
              <a:rPr lang="en-US" dirty="0"/>
              <a:t>Narrative Structure: Interactive Slide Show</a:t>
            </a:r>
          </a:p>
        </p:txBody>
      </p:sp>
      <p:sp>
        <p:nvSpPr>
          <p:cNvPr id="6" name="TextBox 5">
            <a:extLst>
              <a:ext uri="{FF2B5EF4-FFF2-40B4-BE49-F238E27FC236}">
                <a16:creationId xmlns:a16="http://schemas.microsoft.com/office/drawing/2014/main" id="{9395FFE5-F048-8E10-47E5-ABCF26110350}"/>
              </a:ext>
            </a:extLst>
          </p:cNvPr>
          <p:cNvSpPr txBox="1"/>
          <p:nvPr/>
        </p:nvSpPr>
        <p:spPr>
          <a:xfrm>
            <a:off x="4200525" y="6372225"/>
            <a:ext cx="7698902" cy="369332"/>
          </a:xfrm>
          <a:prstGeom prst="rect">
            <a:avLst/>
          </a:prstGeom>
          <a:noFill/>
        </p:spPr>
        <p:txBody>
          <a:bodyPr wrap="none" rtlCol="0">
            <a:spAutoFit/>
          </a:bodyPr>
          <a:lstStyle/>
          <a:p>
            <a:r>
              <a:rPr lang="en-US" i="1" u="sng" dirty="0"/>
              <a:t>Narrative Visualization: Telling Stories with Data</a:t>
            </a:r>
            <a:r>
              <a:rPr lang="en-US" dirty="0"/>
              <a:t>. Edward </a:t>
            </a:r>
            <a:r>
              <a:rPr lang="en-US" dirty="0" err="1"/>
              <a:t>Segel</a:t>
            </a:r>
            <a:r>
              <a:rPr lang="en-US" dirty="0"/>
              <a:t> and Jeffrey Heer</a:t>
            </a:r>
          </a:p>
        </p:txBody>
      </p:sp>
      <p:pic>
        <p:nvPicPr>
          <p:cNvPr id="5" name="Graphic 4" descr="Projector screen outline">
            <a:extLst>
              <a:ext uri="{FF2B5EF4-FFF2-40B4-BE49-F238E27FC236}">
                <a16:creationId xmlns:a16="http://schemas.microsoft.com/office/drawing/2014/main" id="{3307CEB7-4F14-D2DA-BE0C-3DDB75FEF399}"/>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414396" y="2157603"/>
            <a:ext cx="2843023" cy="2843023"/>
          </a:xfrm>
          <a:prstGeom prst="rect">
            <a:avLst/>
          </a:prstGeom>
        </p:spPr>
      </p:pic>
      <p:pic>
        <p:nvPicPr>
          <p:cNvPr id="7" name="Graphic 6" descr="Projector screen outline">
            <a:extLst>
              <a:ext uri="{FF2B5EF4-FFF2-40B4-BE49-F238E27FC236}">
                <a16:creationId xmlns:a16="http://schemas.microsoft.com/office/drawing/2014/main" id="{3FA57D9A-8BBF-5554-AD23-AF07C72DB8BB}"/>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257419" y="2157603"/>
            <a:ext cx="2843023" cy="2843023"/>
          </a:xfrm>
          <a:prstGeom prst="rect">
            <a:avLst/>
          </a:prstGeom>
        </p:spPr>
      </p:pic>
      <p:pic>
        <p:nvPicPr>
          <p:cNvPr id="8" name="Graphic 7" descr="Projector screen outline">
            <a:extLst>
              <a:ext uri="{FF2B5EF4-FFF2-40B4-BE49-F238E27FC236}">
                <a16:creationId xmlns:a16="http://schemas.microsoft.com/office/drawing/2014/main" id="{E7D19C5B-9731-A4F0-0B2B-E7213D4A681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9100442" y="2157603"/>
            <a:ext cx="2843023" cy="2843023"/>
          </a:xfrm>
          <a:prstGeom prst="rect">
            <a:avLst/>
          </a:prstGeom>
        </p:spPr>
      </p:pic>
      <p:pic>
        <p:nvPicPr>
          <p:cNvPr id="11" name="Graphic 10" descr="Touchscreen with solid fill">
            <a:extLst>
              <a:ext uri="{FF2B5EF4-FFF2-40B4-BE49-F238E27FC236}">
                <a16:creationId xmlns:a16="http://schemas.microsoft.com/office/drawing/2014/main" id="{50A193C6-6474-BECB-B644-67D0B8363727}"/>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4378708" y="2828925"/>
            <a:ext cx="914400" cy="914400"/>
          </a:xfrm>
          <a:prstGeom prst="rect">
            <a:avLst/>
          </a:prstGeom>
        </p:spPr>
      </p:pic>
      <p:pic>
        <p:nvPicPr>
          <p:cNvPr id="12" name="Graphic 11" descr="Touchscreen with solid fill">
            <a:extLst>
              <a:ext uri="{FF2B5EF4-FFF2-40B4-BE49-F238E27FC236}">
                <a16:creationId xmlns:a16="http://schemas.microsoft.com/office/drawing/2014/main" id="{326C5816-815E-6FE1-241E-690DB53FB889}"/>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7221731" y="2828925"/>
            <a:ext cx="914400" cy="914400"/>
          </a:xfrm>
          <a:prstGeom prst="rect">
            <a:avLst/>
          </a:prstGeom>
        </p:spPr>
      </p:pic>
      <p:pic>
        <p:nvPicPr>
          <p:cNvPr id="13" name="Graphic 12" descr="Touchscreen with solid fill">
            <a:extLst>
              <a:ext uri="{FF2B5EF4-FFF2-40B4-BE49-F238E27FC236}">
                <a16:creationId xmlns:a16="http://schemas.microsoft.com/office/drawing/2014/main" id="{61EE391E-83E4-C7D9-9467-E47501D919A3}"/>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0064753" y="2836164"/>
            <a:ext cx="914400" cy="914400"/>
          </a:xfrm>
          <a:prstGeom prst="rect">
            <a:avLst/>
          </a:prstGeom>
        </p:spPr>
      </p:pic>
      <p:pic>
        <p:nvPicPr>
          <p:cNvPr id="15" name="Graphic 14" descr="Arrow Right with solid fill">
            <a:extLst>
              <a:ext uri="{FF2B5EF4-FFF2-40B4-BE49-F238E27FC236}">
                <a16:creationId xmlns:a16="http://schemas.microsoft.com/office/drawing/2014/main" id="{22F5CE20-6D88-37CE-9398-E4386B3BEE85}"/>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5800219" y="2836164"/>
            <a:ext cx="914400" cy="914400"/>
          </a:xfrm>
          <a:prstGeom prst="rect">
            <a:avLst/>
          </a:prstGeom>
        </p:spPr>
      </p:pic>
      <p:pic>
        <p:nvPicPr>
          <p:cNvPr id="16" name="Graphic 15" descr="Arrow Right with solid fill">
            <a:extLst>
              <a:ext uri="{FF2B5EF4-FFF2-40B4-BE49-F238E27FC236}">
                <a16:creationId xmlns:a16="http://schemas.microsoft.com/office/drawing/2014/main" id="{BDACCACF-4948-E1F7-A7C6-0D6A458B961C}"/>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8639621" y="2836164"/>
            <a:ext cx="914400" cy="914400"/>
          </a:xfrm>
          <a:prstGeom prst="rect">
            <a:avLst/>
          </a:prstGeom>
        </p:spPr>
      </p:pic>
    </p:spTree>
    <p:extLst>
      <p:ext uri="{BB962C8B-B14F-4D97-AF65-F5344CB8AC3E}">
        <p14:creationId xmlns:p14="http://schemas.microsoft.com/office/powerpoint/2010/main" val="264870399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BB23FE-2366-1D98-AF17-5A80BFFE412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B438FB2-3910-AC6C-141B-1B35A470C278}"/>
              </a:ext>
            </a:extLst>
          </p:cNvPr>
          <p:cNvSpPr>
            <a:spLocks noGrp="1"/>
          </p:cNvSpPr>
          <p:nvPr>
            <p:ph type="title"/>
          </p:nvPr>
        </p:nvSpPr>
        <p:spPr/>
        <p:txBody>
          <a:bodyPr/>
          <a:lstStyle/>
          <a:p>
            <a:r>
              <a:rPr lang="en-US" dirty="0"/>
              <a:t>Narrative Structure: Drill-Down Story</a:t>
            </a:r>
          </a:p>
        </p:txBody>
      </p:sp>
      <p:sp>
        <p:nvSpPr>
          <p:cNvPr id="6" name="TextBox 5">
            <a:extLst>
              <a:ext uri="{FF2B5EF4-FFF2-40B4-BE49-F238E27FC236}">
                <a16:creationId xmlns:a16="http://schemas.microsoft.com/office/drawing/2014/main" id="{80D484BD-2FAF-CFDC-DAAC-5FDCDB42875F}"/>
              </a:ext>
            </a:extLst>
          </p:cNvPr>
          <p:cNvSpPr txBox="1"/>
          <p:nvPr/>
        </p:nvSpPr>
        <p:spPr>
          <a:xfrm>
            <a:off x="4200525" y="6372225"/>
            <a:ext cx="7698902" cy="369332"/>
          </a:xfrm>
          <a:prstGeom prst="rect">
            <a:avLst/>
          </a:prstGeom>
          <a:noFill/>
        </p:spPr>
        <p:txBody>
          <a:bodyPr wrap="none" rtlCol="0">
            <a:spAutoFit/>
          </a:bodyPr>
          <a:lstStyle/>
          <a:p>
            <a:r>
              <a:rPr lang="en-US" i="1" u="sng" dirty="0"/>
              <a:t>Narrative Visualization: Telling Stories with Data</a:t>
            </a:r>
            <a:r>
              <a:rPr lang="en-US" dirty="0"/>
              <a:t>. Edward </a:t>
            </a:r>
            <a:r>
              <a:rPr lang="en-US" dirty="0" err="1"/>
              <a:t>Segel</a:t>
            </a:r>
            <a:r>
              <a:rPr lang="en-US" dirty="0"/>
              <a:t> and Jeffrey Heer</a:t>
            </a:r>
          </a:p>
        </p:txBody>
      </p:sp>
      <p:pic>
        <p:nvPicPr>
          <p:cNvPr id="4" name="Graphic 3" descr="Stop outline">
            <a:extLst>
              <a:ext uri="{FF2B5EF4-FFF2-40B4-BE49-F238E27FC236}">
                <a16:creationId xmlns:a16="http://schemas.microsoft.com/office/drawing/2014/main" id="{EC829974-FB92-90E7-ED75-A2884C6B663F}"/>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481637" y="1536096"/>
            <a:ext cx="3776663" cy="3776663"/>
          </a:xfrm>
          <a:prstGeom prst="rect">
            <a:avLst/>
          </a:prstGeom>
        </p:spPr>
      </p:pic>
      <p:pic>
        <p:nvPicPr>
          <p:cNvPr id="10" name="Graphic 9" descr="Periodic Graph outline">
            <a:extLst>
              <a:ext uri="{FF2B5EF4-FFF2-40B4-BE49-F238E27FC236}">
                <a16:creationId xmlns:a16="http://schemas.microsoft.com/office/drawing/2014/main" id="{A2CAF791-A6F8-BE45-2D1B-67F73647E81D}"/>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6136481" y="2169509"/>
            <a:ext cx="914400" cy="914400"/>
          </a:xfrm>
          <a:prstGeom prst="rect">
            <a:avLst/>
          </a:prstGeom>
        </p:spPr>
      </p:pic>
      <p:pic>
        <p:nvPicPr>
          <p:cNvPr id="17" name="Graphic 16" descr="Logarithmic Graph outline">
            <a:extLst>
              <a:ext uri="{FF2B5EF4-FFF2-40B4-BE49-F238E27FC236}">
                <a16:creationId xmlns:a16="http://schemas.microsoft.com/office/drawing/2014/main" id="{F27145C5-77BB-97EE-1C07-D37B03DCE500}"/>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7705725" y="2169509"/>
            <a:ext cx="914400" cy="914400"/>
          </a:xfrm>
          <a:prstGeom prst="rect">
            <a:avLst/>
          </a:prstGeom>
        </p:spPr>
      </p:pic>
      <p:pic>
        <p:nvPicPr>
          <p:cNvPr id="19" name="Graphic 18" descr="Scatterplot outline">
            <a:extLst>
              <a:ext uri="{FF2B5EF4-FFF2-40B4-BE49-F238E27FC236}">
                <a16:creationId xmlns:a16="http://schemas.microsoft.com/office/drawing/2014/main" id="{85A35F2C-16CB-17A2-78D1-DDF0A413BC32}"/>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6210300" y="3774091"/>
            <a:ext cx="914400" cy="914400"/>
          </a:xfrm>
          <a:prstGeom prst="rect">
            <a:avLst/>
          </a:prstGeom>
        </p:spPr>
      </p:pic>
      <p:pic>
        <p:nvPicPr>
          <p:cNvPr id="23" name="Graphic 22" descr="Pie chart with solid fill">
            <a:extLst>
              <a:ext uri="{FF2B5EF4-FFF2-40B4-BE49-F238E27FC236}">
                <a16:creationId xmlns:a16="http://schemas.microsoft.com/office/drawing/2014/main" id="{BFA4DCF3-E3DC-47F6-B89C-B82F55574079}"/>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6908007" y="2971800"/>
            <a:ext cx="914400" cy="914400"/>
          </a:xfrm>
          <a:prstGeom prst="rect">
            <a:avLst/>
          </a:prstGeom>
        </p:spPr>
      </p:pic>
      <p:pic>
        <p:nvPicPr>
          <p:cNvPr id="25" name="Graphic 24" descr="Network with solid fill">
            <a:extLst>
              <a:ext uri="{FF2B5EF4-FFF2-40B4-BE49-F238E27FC236}">
                <a16:creationId xmlns:a16="http://schemas.microsoft.com/office/drawing/2014/main" id="{BF02F588-BA9E-1E41-0D14-F8E5164ACC68}"/>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8999934" y="4928092"/>
            <a:ext cx="914400" cy="914400"/>
          </a:xfrm>
          <a:prstGeom prst="rect">
            <a:avLst/>
          </a:prstGeom>
        </p:spPr>
      </p:pic>
      <p:pic>
        <p:nvPicPr>
          <p:cNvPr id="31" name="Graphic 30" descr="Hierarchy outline">
            <a:extLst>
              <a:ext uri="{FF2B5EF4-FFF2-40B4-BE49-F238E27FC236}">
                <a16:creationId xmlns:a16="http://schemas.microsoft.com/office/drawing/2014/main" id="{457FE9AA-1C20-1C08-55FD-C872DDA140BA}"/>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7736680" y="3774091"/>
            <a:ext cx="914400" cy="914400"/>
          </a:xfrm>
          <a:prstGeom prst="rect">
            <a:avLst/>
          </a:prstGeom>
        </p:spPr>
      </p:pic>
      <p:pic>
        <p:nvPicPr>
          <p:cNvPr id="33" name="Graphic 32" descr="Bar graph with upward trend outline">
            <a:extLst>
              <a:ext uri="{FF2B5EF4-FFF2-40B4-BE49-F238E27FC236}">
                <a16:creationId xmlns:a16="http://schemas.microsoft.com/office/drawing/2014/main" id="{C6614293-AD50-BB19-DD66-D0D04EC303AC}"/>
              </a:ext>
            </a:extLst>
          </p:cNvPr>
          <p:cNvPicPr>
            <a:picLocks noChangeAspect="1"/>
          </p:cNvPicPr>
          <p:nvPr/>
        </p:nvPicPr>
        <p:blipFill>
          <a:blip>
            <a:extLst>
              <a:ext uri="{96DAC541-7B7A-43D3-8B79-37D633B846F1}">
                <asvg:svgBlip xmlns:asvg="http://schemas.microsoft.com/office/drawing/2016/SVG/main" r:embed="rId10"/>
              </a:ext>
            </a:extLst>
          </a:blip>
          <a:stretch>
            <a:fillRect/>
          </a:stretch>
        </p:blipFill>
        <p:spPr>
          <a:xfrm>
            <a:off x="7031831" y="5088541"/>
            <a:ext cx="914400" cy="914400"/>
          </a:xfrm>
          <a:prstGeom prst="rect">
            <a:avLst/>
          </a:prstGeom>
        </p:spPr>
      </p:pic>
      <p:pic>
        <p:nvPicPr>
          <p:cNvPr id="35" name="Graphic 34" descr="Linear Graph outline">
            <a:extLst>
              <a:ext uri="{FF2B5EF4-FFF2-40B4-BE49-F238E27FC236}">
                <a16:creationId xmlns:a16="http://schemas.microsoft.com/office/drawing/2014/main" id="{C843FA90-094B-D92B-D642-4D18C2E62C78}"/>
              </a:ext>
            </a:extLst>
          </p:cNvPr>
          <p:cNvPicPr>
            <a:picLocks noChangeAspect="1"/>
          </p:cNvPicPr>
          <p:nvPr/>
        </p:nvPicPr>
        <p:blipFill>
          <a:blip>
            <a:extLst>
              <a:ext uri="{96DAC541-7B7A-43D3-8B79-37D633B846F1}">
                <asvg:svgBlip xmlns:asvg="http://schemas.microsoft.com/office/drawing/2016/SVG/main" r:embed="rId11"/>
              </a:ext>
            </a:extLst>
          </a:blip>
          <a:stretch>
            <a:fillRect/>
          </a:stretch>
        </p:blipFill>
        <p:spPr>
          <a:xfrm>
            <a:off x="4430316" y="3424427"/>
            <a:ext cx="914400" cy="914400"/>
          </a:xfrm>
          <a:prstGeom prst="rect">
            <a:avLst/>
          </a:prstGeom>
        </p:spPr>
      </p:pic>
      <p:pic>
        <p:nvPicPr>
          <p:cNvPr id="37" name="Graphic 36" descr="Scatterplot outline">
            <a:extLst>
              <a:ext uri="{FF2B5EF4-FFF2-40B4-BE49-F238E27FC236}">
                <a16:creationId xmlns:a16="http://schemas.microsoft.com/office/drawing/2014/main" id="{205C71D5-A44C-08B5-FB36-F4DF6D8614AA}"/>
              </a:ext>
            </a:extLst>
          </p:cNvPr>
          <p:cNvPicPr>
            <a:picLocks noChangeAspect="1"/>
          </p:cNvPicPr>
          <p:nvPr/>
        </p:nvPicPr>
        <p:blipFill>
          <a:blip>
            <a:extLst>
              <a:ext uri="{96DAC541-7B7A-43D3-8B79-37D633B846F1}">
                <asvg:svgBlip xmlns:asvg="http://schemas.microsoft.com/office/drawing/2016/SVG/main" r:embed="rId12"/>
              </a:ext>
            </a:extLst>
          </a:blip>
          <a:stretch>
            <a:fillRect/>
          </a:stretch>
        </p:blipFill>
        <p:spPr>
          <a:xfrm>
            <a:off x="5753100" y="415433"/>
            <a:ext cx="914400" cy="914400"/>
          </a:xfrm>
          <a:prstGeom prst="rect">
            <a:avLst/>
          </a:prstGeom>
        </p:spPr>
      </p:pic>
      <p:pic>
        <p:nvPicPr>
          <p:cNvPr id="39" name="Graphic 38" descr="Table outline">
            <a:extLst>
              <a:ext uri="{FF2B5EF4-FFF2-40B4-BE49-F238E27FC236}">
                <a16:creationId xmlns:a16="http://schemas.microsoft.com/office/drawing/2014/main" id="{9357FBAD-5C91-3D93-22BA-59E4D1632079}"/>
              </a:ext>
            </a:extLst>
          </p:cNvPr>
          <p:cNvPicPr>
            <a:picLocks noChangeAspect="1"/>
          </p:cNvPicPr>
          <p:nvPr/>
        </p:nvPicPr>
        <p:blipFill>
          <a:blip>
            <a:extLst>
              <a:ext uri="{96DAC541-7B7A-43D3-8B79-37D633B846F1}">
                <asvg:svgBlip xmlns:asvg="http://schemas.microsoft.com/office/drawing/2016/SVG/main" r:embed="rId13"/>
              </a:ext>
            </a:extLst>
          </a:blip>
          <a:stretch>
            <a:fillRect/>
          </a:stretch>
        </p:blipFill>
        <p:spPr>
          <a:xfrm>
            <a:off x="9317831" y="1255109"/>
            <a:ext cx="914400" cy="914400"/>
          </a:xfrm>
          <a:prstGeom prst="rect">
            <a:avLst/>
          </a:prstGeom>
        </p:spPr>
      </p:pic>
      <p:cxnSp>
        <p:nvCxnSpPr>
          <p:cNvPr id="41" name="Curved Connector 40">
            <a:extLst>
              <a:ext uri="{FF2B5EF4-FFF2-40B4-BE49-F238E27FC236}">
                <a16:creationId xmlns:a16="http://schemas.microsoft.com/office/drawing/2014/main" id="{3383E389-E2BB-F1B0-53BC-A06BE2428A8C}"/>
              </a:ext>
            </a:extLst>
          </p:cNvPr>
          <p:cNvCxnSpPr/>
          <p:nvPr/>
        </p:nvCxnSpPr>
        <p:spPr>
          <a:xfrm rot="16200000" flipV="1">
            <a:off x="6009680" y="1511688"/>
            <a:ext cx="914400" cy="401241"/>
          </a:xfrm>
          <a:prstGeom prst="curvedConnector3">
            <a:avLst/>
          </a:prstGeom>
          <a:ln w="57150">
            <a:solidFill>
              <a:srgbClr val="000000"/>
            </a:solidFill>
            <a:tailEnd type="triangle"/>
          </a:ln>
        </p:spPr>
        <p:style>
          <a:lnRef idx="1">
            <a:schemeClr val="accent1"/>
          </a:lnRef>
          <a:fillRef idx="0">
            <a:schemeClr val="accent1"/>
          </a:fillRef>
          <a:effectRef idx="0">
            <a:schemeClr val="accent1"/>
          </a:effectRef>
          <a:fontRef idx="minor">
            <a:schemeClr val="tx1"/>
          </a:fontRef>
        </p:style>
      </p:cxnSp>
      <p:cxnSp>
        <p:nvCxnSpPr>
          <p:cNvPr id="42" name="Curved Connector 41">
            <a:extLst>
              <a:ext uri="{FF2B5EF4-FFF2-40B4-BE49-F238E27FC236}">
                <a16:creationId xmlns:a16="http://schemas.microsoft.com/office/drawing/2014/main" id="{B3EF67E5-15BC-9334-8343-AA9E083A5E0C}"/>
              </a:ext>
            </a:extLst>
          </p:cNvPr>
          <p:cNvCxnSpPr>
            <a:cxnSpLocks/>
          </p:cNvCxnSpPr>
          <p:nvPr/>
        </p:nvCxnSpPr>
        <p:spPr>
          <a:xfrm flipV="1">
            <a:off x="8546307" y="1879377"/>
            <a:ext cx="939997" cy="901205"/>
          </a:xfrm>
          <a:prstGeom prst="curvedConnector3">
            <a:avLst/>
          </a:prstGeom>
          <a:ln w="57150">
            <a:solidFill>
              <a:srgbClr val="000000"/>
            </a:solidFill>
            <a:tailEnd type="triangle"/>
          </a:ln>
        </p:spPr>
        <p:style>
          <a:lnRef idx="1">
            <a:schemeClr val="accent1"/>
          </a:lnRef>
          <a:fillRef idx="0">
            <a:schemeClr val="accent1"/>
          </a:fillRef>
          <a:effectRef idx="0">
            <a:schemeClr val="accent1"/>
          </a:effectRef>
          <a:fontRef idx="minor">
            <a:schemeClr val="tx1"/>
          </a:fontRef>
        </p:style>
      </p:cxnSp>
      <p:cxnSp>
        <p:nvCxnSpPr>
          <p:cNvPr id="44" name="Curved Connector 43">
            <a:extLst>
              <a:ext uri="{FF2B5EF4-FFF2-40B4-BE49-F238E27FC236}">
                <a16:creationId xmlns:a16="http://schemas.microsoft.com/office/drawing/2014/main" id="{2C376435-DBBB-9447-47A2-E1C491C6A97C}"/>
              </a:ext>
            </a:extLst>
          </p:cNvPr>
          <p:cNvCxnSpPr>
            <a:cxnSpLocks/>
          </p:cNvCxnSpPr>
          <p:nvPr/>
        </p:nvCxnSpPr>
        <p:spPr>
          <a:xfrm rot="16200000" flipH="1">
            <a:off x="8423820" y="4134999"/>
            <a:ext cx="866776" cy="802183"/>
          </a:xfrm>
          <a:prstGeom prst="curvedConnector3">
            <a:avLst/>
          </a:prstGeom>
          <a:ln w="57150">
            <a:solidFill>
              <a:srgbClr val="000000"/>
            </a:solidFill>
            <a:tailEnd type="triangle"/>
          </a:ln>
        </p:spPr>
        <p:style>
          <a:lnRef idx="1">
            <a:schemeClr val="accent1"/>
          </a:lnRef>
          <a:fillRef idx="0">
            <a:schemeClr val="accent1"/>
          </a:fillRef>
          <a:effectRef idx="0">
            <a:schemeClr val="accent1"/>
          </a:effectRef>
          <a:fontRef idx="minor">
            <a:schemeClr val="tx1"/>
          </a:fontRef>
        </p:style>
      </p:cxnSp>
      <p:cxnSp>
        <p:nvCxnSpPr>
          <p:cNvPr id="47" name="Curved Connector 46">
            <a:extLst>
              <a:ext uri="{FF2B5EF4-FFF2-40B4-BE49-F238E27FC236}">
                <a16:creationId xmlns:a16="http://schemas.microsoft.com/office/drawing/2014/main" id="{87CE74E1-3187-85CD-2D16-6A438FFA9F83}"/>
              </a:ext>
            </a:extLst>
          </p:cNvPr>
          <p:cNvCxnSpPr>
            <a:cxnSpLocks/>
            <a:endCxn id="33" idx="0"/>
          </p:cNvCxnSpPr>
          <p:nvPr/>
        </p:nvCxnSpPr>
        <p:spPr>
          <a:xfrm rot="16200000" flipH="1">
            <a:off x="6823497" y="4423007"/>
            <a:ext cx="1177624" cy="153444"/>
          </a:xfrm>
          <a:prstGeom prst="curvedConnector3">
            <a:avLst/>
          </a:prstGeom>
          <a:ln w="57150">
            <a:solidFill>
              <a:srgbClr val="000000"/>
            </a:solidFill>
            <a:tailEnd type="triangle"/>
          </a:ln>
        </p:spPr>
        <p:style>
          <a:lnRef idx="1">
            <a:schemeClr val="accent1"/>
          </a:lnRef>
          <a:fillRef idx="0">
            <a:schemeClr val="accent1"/>
          </a:fillRef>
          <a:effectRef idx="0">
            <a:schemeClr val="accent1"/>
          </a:effectRef>
          <a:fontRef idx="minor">
            <a:schemeClr val="tx1"/>
          </a:fontRef>
        </p:style>
      </p:cxnSp>
      <p:cxnSp>
        <p:nvCxnSpPr>
          <p:cNvPr id="49" name="Curved Connector 48">
            <a:extLst>
              <a:ext uri="{FF2B5EF4-FFF2-40B4-BE49-F238E27FC236}">
                <a16:creationId xmlns:a16="http://schemas.microsoft.com/office/drawing/2014/main" id="{77BB6C8B-2BDB-0EEC-586E-51AD221F9444}"/>
              </a:ext>
            </a:extLst>
          </p:cNvPr>
          <p:cNvCxnSpPr>
            <a:cxnSpLocks/>
          </p:cNvCxnSpPr>
          <p:nvPr/>
        </p:nvCxnSpPr>
        <p:spPr>
          <a:xfrm rot="10800000">
            <a:off x="5299472" y="3717323"/>
            <a:ext cx="1013964" cy="650795"/>
          </a:xfrm>
          <a:prstGeom prst="curvedConnector3">
            <a:avLst/>
          </a:prstGeom>
          <a:ln w="57150">
            <a:solidFill>
              <a:srgbClr val="00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89712883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382"/>
        <p:cNvGrpSpPr/>
        <p:nvPr/>
      </p:nvGrpSpPr>
      <p:grpSpPr>
        <a:xfrm>
          <a:off x="0" y="0"/>
          <a:ext cx="0" cy="0"/>
          <a:chOff x="0" y="0"/>
          <a:chExt cx="0" cy="0"/>
        </a:xfrm>
      </p:grpSpPr>
      <p:pic>
        <p:nvPicPr>
          <p:cNvPr id="385" name="Google Shape;385;p38"/>
          <p:cNvPicPr preferRelativeResize="0"/>
          <p:nvPr/>
        </p:nvPicPr>
        <p:blipFill rotWithShape="1">
          <a:blip r:embed="rId3">
            <a:alphaModFix/>
          </a:blip>
          <a:srcRect/>
          <a:stretch/>
        </p:blipFill>
        <p:spPr>
          <a:xfrm>
            <a:off x="3965545" y="581887"/>
            <a:ext cx="7253508" cy="5791200"/>
          </a:xfrm>
          <a:prstGeom prst="rect">
            <a:avLst/>
          </a:prstGeom>
          <a:noFill/>
          <a:ln>
            <a:noFill/>
          </a:ln>
        </p:spPr>
      </p:pic>
      <p:grpSp>
        <p:nvGrpSpPr>
          <p:cNvPr id="386" name="Google Shape;386;p38"/>
          <p:cNvGrpSpPr/>
          <p:nvPr/>
        </p:nvGrpSpPr>
        <p:grpSpPr>
          <a:xfrm>
            <a:off x="4391900" y="2648380"/>
            <a:ext cx="5575969" cy="1895907"/>
            <a:chOff x="1371600" y="1893907"/>
            <a:chExt cx="5575969" cy="1895907"/>
          </a:xfrm>
        </p:grpSpPr>
        <p:sp>
          <p:nvSpPr>
            <p:cNvPr id="387" name="Google Shape;387;p38"/>
            <p:cNvSpPr/>
            <p:nvPr/>
          </p:nvSpPr>
          <p:spPr>
            <a:xfrm rot="-8098774">
              <a:off x="2580108" y="3216177"/>
              <a:ext cx="775368" cy="219508"/>
            </a:xfrm>
            <a:prstGeom prst="rightArrow">
              <a:avLst>
                <a:gd name="adj1" fmla="val 50000"/>
                <a:gd name="adj2" fmla="val 50000"/>
              </a:avLst>
            </a:prstGeom>
            <a:solidFill>
              <a:schemeClr val="dk1"/>
            </a:solidFill>
            <a:ln>
              <a:noFill/>
            </a:ln>
          </p:spPr>
          <p:txBody>
            <a:bodyPr spcFirstLastPara="1" wrap="square" lIns="91425" tIns="45700" rIns="91425" bIns="45700" anchor="ctr" anchorCtr="0">
              <a:noAutofit/>
            </a:bodyPr>
            <a:lstStyle/>
            <a:p>
              <a:pPr algn="ctr"/>
              <a:endParaRPr>
                <a:solidFill>
                  <a:schemeClr val="lt1"/>
                </a:solidFill>
                <a:latin typeface="Arial"/>
                <a:ea typeface="Arial"/>
                <a:cs typeface="Arial"/>
                <a:sym typeface="Arial"/>
              </a:endParaRPr>
            </a:p>
          </p:txBody>
        </p:sp>
        <p:sp>
          <p:nvSpPr>
            <p:cNvPr id="388" name="Google Shape;388;p38"/>
            <p:cNvSpPr/>
            <p:nvPr/>
          </p:nvSpPr>
          <p:spPr>
            <a:xfrm>
              <a:off x="1371600" y="1893907"/>
              <a:ext cx="775368" cy="219508"/>
            </a:xfrm>
            <a:prstGeom prst="rightArrow">
              <a:avLst>
                <a:gd name="adj1" fmla="val 50000"/>
                <a:gd name="adj2" fmla="val 50000"/>
              </a:avLst>
            </a:prstGeom>
            <a:solidFill>
              <a:schemeClr val="dk1"/>
            </a:solidFill>
            <a:ln>
              <a:noFill/>
            </a:ln>
          </p:spPr>
          <p:txBody>
            <a:bodyPr spcFirstLastPara="1" wrap="square" lIns="91425" tIns="45700" rIns="91425" bIns="45700" anchor="ctr" anchorCtr="0">
              <a:noAutofit/>
            </a:bodyPr>
            <a:lstStyle/>
            <a:p>
              <a:pPr algn="ctr"/>
              <a:endParaRPr>
                <a:solidFill>
                  <a:schemeClr val="lt1"/>
                </a:solidFill>
                <a:latin typeface="Arial"/>
                <a:ea typeface="Arial"/>
                <a:cs typeface="Arial"/>
                <a:sym typeface="Arial"/>
              </a:endParaRPr>
            </a:p>
          </p:txBody>
        </p:sp>
        <p:sp>
          <p:nvSpPr>
            <p:cNvPr id="389" name="Google Shape;389;p38"/>
            <p:cNvSpPr/>
            <p:nvPr/>
          </p:nvSpPr>
          <p:spPr>
            <a:xfrm rot="10800000">
              <a:off x="6172201" y="3570306"/>
              <a:ext cx="775368" cy="219508"/>
            </a:xfrm>
            <a:prstGeom prst="rightArrow">
              <a:avLst>
                <a:gd name="adj1" fmla="val 50000"/>
                <a:gd name="adj2" fmla="val 50000"/>
              </a:avLst>
            </a:prstGeom>
            <a:solidFill>
              <a:schemeClr val="dk1"/>
            </a:solidFill>
            <a:ln>
              <a:noFill/>
            </a:ln>
          </p:spPr>
          <p:txBody>
            <a:bodyPr spcFirstLastPara="1" wrap="square" lIns="91425" tIns="45700" rIns="91425" bIns="45700" anchor="ctr" anchorCtr="0">
              <a:noAutofit/>
            </a:bodyPr>
            <a:lstStyle/>
            <a:p>
              <a:pPr algn="ctr"/>
              <a:endParaRPr>
                <a:solidFill>
                  <a:schemeClr val="lt1"/>
                </a:solidFill>
                <a:latin typeface="Arial"/>
                <a:ea typeface="Arial"/>
                <a:cs typeface="Arial"/>
                <a:sym typeface="Arial"/>
              </a:endParaRPr>
            </a:p>
          </p:txBody>
        </p:sp>
      </p:grpSp>
      <p:sp>
        <p:nvSpPr>
          <p:cNvPr id="390" name="Google Shape;390;p38"/>
          <p:cNvSpPr/>
          <p:nvPr/>
        </p:nvSpPr>
        <p:spPr>
          <a:xfrm>
            <a:off x="3858499" y="583225"/>
            <a:ext cx="5791200" cy="4494463"/>
          </a:xfrm>
          <a:prstGeom prst="frame">
            <a:avLst>
              <a:gd name="adj1" fmla="val 1573"/>
            </a:avLst>
          </a:prstGeom>
          <a:solidFill>
            <a:schemeClr val="dk1"/>
          </a:solidFill>
          <a:ln>
            <a:noFill/>
          </a:ln>
        </p:spPr>
        <p:txBody>
          <a:bodyPr spcFirstLastPara="1" wrap="square" lIns="91425" tIns="45700" rIns="91425" bIns="45700" anchor="ctr" anchorCtr="0">
            <a:noAutofit/>
          </a:bodyPr>
          <a:lstStyle/>
          <a:p>
            <a:pPr algn="ctr"/>
            <a:endParaRPr>
              <a:solidFill>
                <a:schemeClr val="dk1"/>
              </a:solidFill>
              <a:latin typeface="Arial"/>
              <a:ea typeface="Arial"/>
              <a:cs typeface="Arial"/>
              <a:sym typeface="Arial"/>
            </a:endParaRPr>
          </a:p>
        </p:txBody>
      </p:sp>
      <p:sp>
        <p:nvSpPr>
          <p:cNvPr id="391" name="Google Shape;391;p38"/>
          <p:cNvSpPr/>
          <p:nvPr/>
        </p:nvSpPr>
        <p:spPr>
          <a:xfrm>
            <a:off x="9573499" y="581888"/>
            <a:ext cx="1905000" cy="4495800"/>
          </a:xfrm>
          <a:prstGeom prst="frame">
            <a:avLst>
              <a:gd name="adj1" fmla="val 5021"/>
            </a:avLst>
          </a:prstGeom>
          <a:solidFill>
            <a:schemeClr val="dk1"/>
          </a:solidFill>
          <a:ln>
            <a:noFill/>
          </a:ln>
        </p:spPr>
        <p:txBody>
          <a:bodyPr spcFirstLastPara="1" wrap="square" lIns="91425" tIns="45700" rIns="91425" bIns="45700" anchor="ctr" anchorCtr="0">
            <a:noAutofit/>
          </a:bodyPr>
          <a:lstStyle/>
          <a:p>
            <a:pPr algn="ctr"/>
            <a:endParaRPr>
              <a:solidFill>
                <a:schemeClr val="dk1"/>
              </a:solidFill>
              <a:latin typeface="Arial"/>
              <a:ea typeface="Arial"/>
              <a:cs typeface="Arial"/>
              <a:sym typeface="Arial"/>
            </a:endParaRPr>
          </a:p>
        </p:txBody>
      </p:sp>
      <p:sp>
        <p:nvSpPr>
          <p:cNvPr id="392" name="Google Shape;392;p38"/>
          <p:cNvSpPr/>
          <p:nvPr/>
        </p:nvSpPr>
        <p:spPr>
          <a:xfrm>
            <a:off x="3858499" y="5001487"/>
            <a:ext cx="7620000" cy="1371600"/>
          </a:xfrm>
          <a:prstGeom prst="frame">
            <a:avLst>
              <a:gd name="adj1" fmla="val 6111"/>
            </a:avLst>
          </a:prstGeom>
          <a:solidFill>
            <a:schemeClr val="dk1"/>
          </a:solidFill>
          <a:ln>
            <a:noFill/>
          </a:ln>
        </p:spPr>
        <p:txBody>
          <a:bodyPr spcFirstLastPara="1" wrap="square" lIns="91425" tIns="45700" rIns="91425" bIns="45700" anchor="ctr" anchorCtr="0">
            <a:noAutofit/>
          </a:bodyPr>
          <a:lstStyle/>
          <a:p>
            <a:pPr algn="ctr"/>
            <a:endParaRPr>
              <a:solidFill>
                <a:schemeClr val="dk1"/>
              </a:solidFill>
              <a:latin typeface="Arial"/>
              <a:ea typeface="Arial"/>
              <a:cs typeface="Arial"/>
              <a:sym typeface="Arial"/>
            </a:endParaRPr>
          </a:p>
        </p:txBody>
      </p:sp>
      <p:sp>
        <p:nvSpPr>
          <p:cNvPr id="2" name="Title 1">
            <a:extLst>
              <a:ext uri="{FF2B5EF4-FFF2-40B4-BE49-F238E27FC236}">
                <a16:creationId xmlns:a16="http://schemas.microsoft.com/office/drawing/2014/main" id="{D7745669-E84A-E8B4-6E96-7CD8AC388F00}"/>
              </a:ext>
            </a:extLst>
          </p:cNvPr>
          <p:cNvSpPr txBox="1">
            <a:spLocks/>
          </p:cNvSpPr>
          <p:nvPr/>
        </p:nvSpPr>
        <p:spPr>
          <a:xfrm>
            <a:off x="252919" y="1123837"/>
            <a:ext cx="2947482" cy="460118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3600" kern="1200" spc="-60" baseline="0">
                <a:solidFill>
                  <a:srgbClr val="FFFFFF"/>
                </a:solidFill>
                <a:latin typeface="+mj-lt"/>
                <a:ea typeface="+mj-ea"/>
                <a:cs typeface="+mj-cs"/>
              </a:defRPr>
            </a:lvl1pPr>
          </a:lstStyle>
          <a:p>
            <a:r>
              <a:rPr lang="en-US" dirty="0"/>
              <a:t>Example: Baseball (static)</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8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9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91"/>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9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396"/>
        <p:cNvGrpSpPr/>
        <p:nvPr/>
      </p:nvGrpSpPr>
      <p:grpSpPr>
        <a:xfrm>
          <a:off x="0" y="0"/>
          <a:ext cx="0" cy="0"/>
          <a:chOff x="0" y="0"/>
          <a:chExt cx="0" cy="0"/>
        </a:xfrm>
      </p:grpSpPr>
      <p:pic>
        <p:nvPicPr>
          <p:cNvPr id="398" name="Google Shape;398;p39"/>
          <p:cNvPicPr preferRelativeResize="0">
            <a:picLocks noGrp="1"/>
          </p:cNvPicPr>
          <p:nvPr>
            <p:ph type="body" idx="1"/>
          </p:nvPr>
        </p:nvPicPr>
        <p:blipFill rotWithShape="1">
          <a:blip r:embed="rId3">
            <a:alphaModFix/>
          </a:blip>
          <a:srcRect/>
          <a:stretch/>
        </p:blipFill>
        <p:spPr>
          <a:xfrm>
            <a:off x="3532909" y="811171"/>
            <a:ext cx="8229600" cy="4629150"/>
          </a:xfrm>
          <a:prstGeom prst="rect">
            <a:avLst/>
          </a:prstGeom>
          <a:noFill/>
          <a:ln>
            <a:noFill/>
          </a:ln>
        </p:spPr>
      </p:pic>
      <p:sp>
        <p:nvSpPr>
          <p:cNvPr id="2" name="Title 1">
            <a:extLst>
              <a:ext uri="{FF2B5EF4-FFF2-40B4-BE49-F238E27FC236}">
                <a16:creationId xmlns:a16="http://schemas.microsoft.com/office/drawing/2014/main" id="{D5BD393E-7AB0-1AFD-2510-1EE5B587BE3D}"/>
              </a:ext>
            </a:extLst>
          </p:cNvPr>
          <p:cNvSpPr txBox="1">
            <a:spLocks/>
          </p:cNvSpPr>
          <p:nvPr/>
        </p:nvSpPr>
        <p:spPr>
          <a:xfrm>
            <a:off x="252919" y="1123837"/>
            <a:ext cx="2947482" cy="460118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3600" kern="1200" spc="-60" baseline="0">
                <a:solidFill>
                  <a:srgbClr val="FFFFFF"/>
                </a:solidFill>
                <a:latin typeface="+mj-lt"/>
                <a:ea typeface="+mj-ea"/>
                <a:cs typeface="+mj-cs"/>
              </a:defRPr>
            </a:lvl1pPr>
          </a:lstStyle>
          <a:p>
            <a:r>
              <a:rPr lang="en-US" dirty="0"/>
              <a:t>Example: Wealth inequality in the US (animated)</a:t>
            </a:r>
          </a:p>
        </p:txBody>
      </p:sp>
      <p:sp>
        <p:nvSpPr>
          <p:cNvPr id="6" name="TextBox 5">
            <a:extLst>
              <a:ext uri="{FF2B5EF4-FFF2-40B4-BE49-F238E27FC236}">
                <a16:creationId xmlns:a16="http://schemas.microsoft.com/office/drawing/2014/main" id="{83F624D7-F0BD-98DB-94F6-8058D4846BD7}"/>
              </a:ext>
            </a:extLst>
          </p:cNvPr>
          <p:cNvSpPr txBox="1"/>
          <p:nvPr/>
        </p:nvSpPr>
        <p:spPr>
          <a:xfrm>
            <a:off x="3532909" y="5540354"/>
            <a:ext cx="6102926" cy="369332"/>
          </a:xfrm>
          <a:prstGeom prst="rect">
            <a:avLst/>
          </a:prstGeom>
          <a:noFill/>
        </p:spPr>
        <p:txBody>
          <a:bodyPr wrap="square">
            <a:spAutoFit/>
          </a:bodyPr>
          <a:lstStyle/>
          <a:p>
            <a:r>
              <a:rPr lang="en-US" dirty="0"/>
              <a:t>https://</a:t>
            </a:r>
            <a:r>
              <a:rPr lang="en-US" dirty="0" err="1"/>
              <a:t>youtu.be</a:t>
            </a:r>
            <a:r>
              <a:rPr lang="en-US" dirty="0"/>
              <a:t>/</a:t>
            </a:r>
            <a:r>
              <a:rPr lang="en-US" dirty="0" err="1"/>
              <a:t>QPKKQnijnsM?si</a:t>
            </a:r>
            <a:r>
              <a:rPr lang="en-US" dirty="0"/>
              <a:t>=</a:t>
            </a:r>
            <a:r>
              <a:rPr lang="en-US" dirty="0" err="1"/>
              <a:t>j_hPOOsIxFGkNgHM</a:t>
            </a:r>
            <a:endParaRPr lang="en-US"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402"/>
        <p:cNvGrpSpPr/>
        <p:nvPr/>
      </p:nvGrpSpPr>
      <p:grpSpPr>
        <a:xfrm>
          <a:off x="0" y="0"/>
          <a:ext cx="0" cy="0"/>
          <a:chOff x="0" y="0"/>
          <a:chExt cx="0" cy="0"/>
        </a:xfrm>
      </p:grpSpPr>
      <p:sp>
        <p:nvSpPr>
          <p:cNvPr id="2" name="Title 1">
            <a:extLst>
              <a:ext uri="{FF2B5EF4-FFF2-40B4-BE49-F238E27FC236}">
                <a16:creationId xmlns:a16="http://schemas.microsoft.com/office/drawing/2014/main" id="{6E31D581-117E-F886-8614-AD27570441C8}"/>
              </a:ext>
            </a:extLst>
          </p:cNvPr>
          <p:cNvSpPr txBox="1">
            <a:spLocks/>
          </p:cNvSpPr>
          <p:nvPr/>
        </p:nvSpPr>
        <p:spPr>
          <a:xfrm>
            <a:off x="252919" y="1123837"/>
            <a:ext cx="2947482" cy="460118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3600" kern="1200" spc="-60" baseline="0">
                <a:solidFill>
                  <a:srgbClr val="FFFFFF"/>
                </a:solidFill>
                <a:latin typeface="+mj-lt"/>
                <a:ea typeface="+mj-ea"/>
                <a:cs typeface="+mj-cs"/>
              </a:defRPr>
            </a:lvl1pPr>
          </a:lstStyle>
          <a:p>
            <a:r>
              <a:rPr lang="en-US" dirty="0"/>
              <a:t>Example: Track Covid-19 in the US (interactive)</a:t>
            </a:r>
          </a:p>
        </p:txBody>
      </p:sp>
      <p:sp>
        <p:nvSpPr>
          <p:cNvPr id="4" name="TextBox 3">
            <a:extLst>
              <a:ext uri="{FF2B5EF4-FFF2-40B4-BE49-F238E27FC236}">
                <a16:creationId xmlns:a16="http://schemas.microsoft.com/office/drawing/2014/main" id="{DB85F6EC-F44C-37C1-4417-E5348025C6D5}"/>
              </a:ext>
            </a:extLst>
          </p:cNvPr>
          <p:cNvSpPr txBox="1"/>
          <p:nvPr/>
        </p:nvSpPr>
        <p:spPr>
          <a:xfrm>
            <a:off x="3605646" y="5973925"/>
            <a:ext cx="6102926" cy="646331"/>
          </a:xfrm>
          <a:prstGeom prst="rect">
            <a:avLst/>
          </a:prstGeom>
          <a:noFill/>
        </p:spPr>
        <p:txBody>
          <a:bodyPr wrap="square">
            <a:spAutoFit/>
          </a:bodyPr>
          <a:lstStyle/>
          <a:p>
            <a:r>
              <a:rPr lang="en-US" dirty="0">
                <a:hlinkClick r:id="rId3"/>
              </a:rPr>
              <a:t>https://www.nytimes.com/interactive/2023/us/covid-cases.html</a:t>
            </a:r>
            <a:r>
              <a:rPr lang="en-US" dirty="0"/>
              <a:t> </a:t>
            </a:r>
          </a:p>
        </p:txBody>
      </p:sp>
      <p:pic>
        <p:nvPicPr>
          <p:cNvPr id="7" name="Content Placeholder 6">
            <a:extLst>
              <a:ext uri="{FF2B5EF4-FFF2-40B4-BE49-F238E27FC236}">
                <a16:creationId xmlns:a16="http://schemas.microsoft.com/office/drawing/2014/main" id="{9CD8A788-AE41-B07C-FC51-3E055099EF72}"/>
              </a:ext>
            </a:extLst>
          </p:cNvPr>
          <p:cNvPicPr>
            <a:picLocks noGrp="1" noChangeAspect="1"/>
          </p:cNvPicPr>
          <p:nvPr>
            <p:ph idx="1"/>
          </p:nvPr>
        </p:nvPicPr>
        <p:blipFill>
          <a:blip r:embed="rId4"/>
          <a:stretch>
            <a:fillRect/>
          </a:stretch>
        </p:blipFill>
        <p:spPr>
          <a:xfrm>
            <a:off x="4035578" y="863600"/>
            <a:ext cx="6981519" cy="5121275"/>
          </a:xfrm>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402">
          <a:extLst>
            <a:ext uri="{FF2B5EF4-FFF2-40B4-BE49-F238E27FC236}">
              <a16:creationId xmlns:a16="http://schemas.microsoft.com/office/drawing/2014/main" id="{73D2CC45-16EF-FED0-2A93-2F9B63246EC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FFC442C-93A3-E285-BD38-CB85243A4B5A}"/>
              </a:ext>
            </a:extLst>
          </p:cNvPr>
          <p:cNvSpPr txBox="1">
            <a:spLocks/>
          </p:cNvSpPr>
          <p:nvPr/>
        </p:nvSpPr>
        <p:spPr>
          <a:xfrm>
            <a:off x="252919" y="1123837"/>
            <a:ext cx="2947482" cy="460118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3600" kern="1200" spc="-60" baseline="0">
                <a:solidFill>
                  <a:srgbClr val="FFFFFF"/>
                </a:solidFill>
                <a:latin typeface="+mj-lt"/>
                <a:ea typeface="+mj-ea"/>
                <a:cs typeface="+mj-cs"/>
              </a:defRPr>
            </a:lvl1pPr>
          </a:lstStyle>
          <a:p>
            <a:r>
              <a:rPr lang="en-US" dirty="0"/>
              <a:t>Example: Hospital Data (interactive)</a:t>
            </a:r>
          </a:p>
        </p:txBody>
      </p:sp>
      <p:sp>
        <p:nvSpPr>
          <p:cNvPr id="4" name="TextBox 3">
            <a:extLst>
              <a:ext uri="{FF2B5EF4-FFF2-40B4-BE49-F238E27FC236}">
                <a16:creationId xmlns:a16="http://schemas.microsoft.com/office/drawing/2014/main" id="{4D57306A-C452-D0D3-302A-60953840D81C}"/>
              </a:ext>
            </a:extLst>
          </p:cNvPr>
          <p:cNvSpPr txBox="1"/>
          <p:nvPr/>
        </p:nvSpPr>
        <p:spPr>
          <a:xfrm>
            <a:off x="3605646" y="5973925"/>
            <a:ext cx="6102926" cy="646331"/>
          </a:xfrm>
          <a:prstGeom prst="rect">
            <a:avLst/>
          </a:prstGeom>
          <a:noFill/>
        </p:spPr>
        <p:txBody>
          <a:bodyPr wrap="square">
            <a:spAutoFit/>
          </a:bodyPr>
          <a:lstStyle/>
          <a:p>
            <a:r>
              <a:rPr lang="en-US" dirty="0">
                <a:hlinkClick r:id="rId3"/>
              </a:rPr>
              <a:t>https://shiny.posit.co/r/gallery/life-sciences/hospital-data-antimicrobial/</a:t>
            </a:r>
            <a:r>
              <a:rPr lang="en-US" dirty="0"/>
              <a:t> </a:t>
            </a:r>
          </a:p>
        </p:txBody>
      </p:sp>
      <p:pic>
        <p:nvPicPr>
          <p:cNvPr id="8" name="Content Placeholder 7" descr="A screenshot of a computer&#10;&#10;AI-generated content may be incorrect.">
            <a:extLst>
              <a:ext uri="{FF2B5EF4-FFF2-40B4-BE49-F238E27FC236}">
                <a16:creationId xmlns:a16="http://schemas.microsoft.com/office/drawing/2014/main" id="{C97B2881-3C69-6178-3DDE-EFAD95EDE6CE}"/>
              </a:ext>
            </a:extLst>
          </p:cNvPr>
          <p:cNvPicPr>
            <a:picLocks noGrp="1" noChangeAspect="1"/>
          </p:cNvPicPr>
          <p:nvPr>
            <p:ph idx="1"/>
          </p:nvPr>
        </p:nvPicPr>
        <p:blipFill>
          <a:blip r:embed="rId4"/>
          <a:stretch>
            <a:fillRect/>
          </a:stretch>
        </p:blipFill>
        <p:spPr>
          <a:xfrm>
            <a:off x="3662218" y="827206"/>
            <a:ext cx="7315200" cy="4753794"/>
          </a:xfrm>
        </p:spPr>
      </p:pic>
    </p:spTree>
    <p:extLst>
      <p:ext uri="{BB962C8B-B14F-4D97-AF65-F5344CB8AC3E}">
        <p14:creationId xmlns:p14="http://schemas.microsoft.com/office/powerpoint/2010/main" val="243093167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408"/>
        <p:cNvGrpSpPr/>
        <p:nvPr/>
      </p:nvGrpSpPr>
      <p:grpSpPr>
        <a:xfrm>
          <a:off x="0" y="0"/>
          <a:ext cx="0" cy="0"/>
          <a:chOff x="0" y="0"/>
          <a:chExt cx="0" cy="0"/>
        </a:xfrm>
      </p:grpSpPr>
      <p:sp>
        <p:nvSpPr>
          <p:cNvPr id="410" name="Google Shape;410;p41"/>
          <p:cNvSpPr txBox="1">
            <a:spLocks noGrp="1"/>
          </p:cNvSpPr>
          <p:nvPr>
            <p:ph type="body" idx="1"/>
          </p:nvPr>
        </p:nvSpPr>
        <p:spPr>
          <a:xfrm>
            <a:off x="3519054" y="1253836"/>
            <a:ext cx="8229600" cy="4876800"/>
          </a:xfrm>
          <a:prstGeom prst="rect">
            <a:avLst/>
          </a:prstGeom>
          <a:noFill/>
          <a:ln>
            <a:noFill/>
          </a:ln>
        </p:spPr>
        <p:txBody>
          <a:bodyPr spcFirstLastPara="1" vert="horz" wrap="square" lIns="91425" tIns="45700" rIns="91425" bIns="45700" rtlCol="0" anchor="t" anchorCtr="0">
            <a:noAutofit/>
          </a:bodyPr>
          <a:lstStyle/>
          <a:p>
            <a:pPr>
              <a:spcBef>
                <a:spcPts val="0"/>
              </a:spcBef>
              <a:buSzPts val="2040"/>
              <a:buFont typeface="Arial"/>
              <a:buChar char="•"/>
            </a:pPr>
            <a:r>
              <a:rPr lang="en-US" sz="2400" dirty="0">
                <a:ea typeface="Arial"/>
                <a:cs typeface="Arial"/>
                <a:sym typeface="Arial"/>
              </a:rPr>
              <a:t>Work in small groups or pairs</a:t>
            </a:r>
          </a:p>
          <a:p>
            <a:pPr>
              <a:spcBef>
                <a:spcPts val="0"/>
              </a:spcBef>
              <a:buSzPts val="2040"/>
              <a:buFont typeface="Arial"/>
              <a:buChar char="•"/>
            </a:pPr>
            <a:endParaRPr lang="en-US" sz="2400" dirty="0">
              <a:ea typeface="Arial"/>
              <a:cs typeface="Arial"/>
              <a:sym typeface="Arial"/>
            </a:endParaRPr>
          </a:p>
          <a:p>
            <a:pPr>
              <a:spcBef>
                <a:spcPts val="0"/>
              </a:spcBef>
              <a:buSzPts val="2040"/>
              <a:buFont typeface="Arial"/>
              <a:buChar char="•"/>
            </a:pPr>
            <a:r>
              <a:rPr lang="en-US" sz="2400" dirty="0">
                <a:ea typeface="Arial"/>
                <a:cs typeface="Arial"/>
                <a:sym typeface="Arial"/>
              </a:rPr>
              <a:t>Pick a topic of interest to you </a:t>
            </a:r>
          </a:p>
          <a:p>
            <a:pPr>
              <a:spcBef>
                <a:spcPts val="0"/>
              </a:spcBef>
              <a:buSzPts val="2040"/>
              <a:buFont typeface="Arial"/>
              <a:buChar char="•"/>
            </a:pPr>
            <a:endParaRPr lang="en-US" sz="2400" dirty="0">
              <a:ea typeface="Arial"/>
              <a:cs typeface="Arial"/>
              <a:sym typeface="Arial"/>
            </a:endParaRPr>
          </a:p>
          <a:p>
            <a:pPr>
              <a:spcBef>
                <a:spcPts val="0"/>
              </a:spcBef>
              <a:buSzPts val="2040"/>
              <a:buFont typeface="Arial"/>
              <a:buChar char="•"/>
            </a:pPr>
            <a:r>
              <a:rPr lang="en-US" sz="2400" dirty="0">
                <a:ea typeface="Arial"/>
                <a:cs typeface="Arial"/>
                <a:sym typeface="Arial"/>
              </a:rPr>
              <a:t>Sketch 3 possible narrative visualizations for your topic</a:t>
            </a:r>
          </a:p>
          <a:p>
            <a:pPr>
              <a:spcBef>
                <a:spcPts val="0"/>
              </a:spcBef>
              <a:buSzPts val="2040"/>
              <a:buFont typeface="Arial"/>
              <a:buChar char="•"/>
            </a:pPr>
            <a:endParaRPr lang="en-US" sz="2400" dirty="0">
              <a:ea typeface="Arial"/>
              <a:cs typeface="Arial"/>
              <a:sym typeface="Arial"/>
            </a:endParaRPr>
          </a:p>
          <a:p>
            <a:pPr lvl="1">
              <a:spcBef>
                <a:spcPts val="0"/>
              </a:spcBef>
              <a:buSzPts val="2040"/>
              <a:buFont typeface="Arial"/>
              <a:buChar char="•"/>
            </a:pPr>
            <a:r>
              <a:rPr lang="en-US" sz="2200" dirty="0">
                <a:ea typeface="Arial"/>
                <a:cs typeface="Arial"/>
                <a:sym typeface="Arial"/>
              </a:rPr>
              <a:t>One should be primary author-driven</a:t>
            </a:r>
          </a:p>
          <a:p>
            <a:pPr lvl="1">
              <a:spcBef>
                <a:spcPts val="0"/>
              </a:spcBef>
              <a:buSzPts val="2040"/>
              <a:buFont typeface="Arial"/>
              <a:buChar char="•"/>
            </a:pPr>
            <a:r>
              <a:rPr lang="en-US" sz="2200" dirty="0">
                <a:ea typeface="Arial"/>
                <a:cs typeface="Arial"/>
                <a:sym typeface="Arial"/>
              </a:rPr>
              <a:t>One should be primarily reader-driven</a:t>
            </a:r>
          </a:p>
          <a:p>
            <a:pPr lvl="1">
              <a:spcBef>
                <a:spcPts val="0"/>
              </a:spcBef>
              <a:buSzPts val="2040"/>
              <a:buFont typeface="Arial"/>
              <a:buChar char="•"/>
            </a:pPr>
            <a:r>
              <a:rPr lang="en-US" sz="2200" dirty="0">
                <a:ea typeface="Arial"/>
                <a:cs typeface="Arial"/>
                <a:sym typeface="Arial"/>
              </a:rPr>
              <a:t>And the last should be somewhere between</a:t>
            </a:r>
            <a:endParaRPr sz="2200" dirty="0">
              <a:ea typeface="Arial"/>
              <a:cs typeface="Arial"/>
              <a:sym typeface="Arial"/>
            </a:endParaRPr>
          </a:p>
        </p:txBody>
      </p:sp>
      <p:sp>
        <p:nvSpPr>
          <p:cNvPr id="2" name="Title 1">
            <a:extLst>
              <a:ext uri="{FF2B5EF4-FFF2-40B4-BE49-F238E27FC236}">
                <a16:creationId xmlns:a16="http://schemas.microsoft.com/office/drawing/2014/main" id="{009A9AC3-B035-3A25-CE13-5648E801AD25}"/>
              </a:ext>
            </a:extLst>
          </p:cNvPr>
          <p:cNvSpPr txBox="1">
            <a:spLocks/>
          </p:cNvSpPr>
          <p:nvPr/>
        </p:nvSpPr>
        <p:spPr>
          <a:xfrm>
            <a:off x="252919" y="1123837"/>
            <a:ext cx="2947482" cy="460118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3600" kern="1200" spc="-60" baseline="0">
                <a:solidFill>
                  <a:srgbClr val="FFFFFF"/>
                </a:solidFill>
                <a:latin typeface="+mj-lt"/>
                <a:ea typeface="+mj-ea"/>
                <a:cs typeface="+mj-cs"/>
              </a:defRPr>
            </a:lvl1pPr>
          </a:lstStyle>
          <a:p>
            <a:r>
              <a:rPr lang="en-US" dirty="0"/>
              <a:t>Practice</a:t>
            </a:r>
          </a:p>
        </p:txBody>
      </p:sp>
    </p:spTree>
  </p:cSld>
  <p:clrMapOvr>
    <a:masterClrMapping/>
  </p:clrMapOvr>
</p:sld>
</file>

<file path=ppt/theme/theme1.xml><?xml version="1.0" encoding="utf-8"?>
<a:theme xmlns:a="http://schemas.openxmlformats.org/drawingml/2006/main" name="Frame">
  <a:themeElements>
    <a:clrScheme name="Frame">
      <a:dk1>
        <a:srgbClr val="2F2B20"/>
      </a:dk1>
      <a:lt1>
        <a:srgbClr val="FFFFFF"/>
      </a:lt1>
      <a:dk2>
        <a:srgbClr val="675E47"/>
      </a:dk2>
      <a:lt2>
        <a:srgbClr val="DFDCB7"/>
      </a:lt2>
      <a:accent1>
        <a:srgbClr val="A9A57C"/>
      </a:accent1>
      <a:accent2>
        <a:srgbClr val="9CBEBD"/>
      </a:accent2>
      <a:accent3>
        <a:srgbClr val="D2CB6C"/>
      </a:accent3>
      <a:accent4>
        <a:srgbClr val="95A39D"/>
      </a:accent4>
      <a:accent5>
        <a:srgbClr val="C89F5D"/>
      </a:accent5>
      <a:accent6>
        <a:srgbClr val="B1A089"/>
      </a:accent6>
      <a:hlink>
        <a:srgbClr val="D25814"/>
      </a:hlink>
      <a:folHlink>
        <a:srgbClr val="849A0A"/>
      </a:folHlink>
    </a:clrScheme>
    <a:fontScheme name="Frame">
      <a:majorFont>
        <a:latin typeface="Corbel" panose="020B0503020204020204"/>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orbel" panose="020B0503020204020204"/>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Frame">
      <a:fillStyleLst>
        <a:solidFill>
          <a:schemeClr val="phClr"/>
        </a:solidFill>
        <a:solidFill>
          <a:schemeClr val="phClr">
            <a:tint val="65000"/>
          </a:schemeClr>
        </a:solidFill>
        <a:solidFill>
          <a:schemeClr val="phClr">
            <a:shade val="80000"/>
            <a:satMod val="15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2700" h="25400" prst="coolSlant"/>
          </a:sp3d>
        </a:effectStyle>
      </a:effectStyleLst>
      <a:bgFillStyleLst>
        <a:solidFill>
          <a:schemeClr val="phClr"/>
        </a:solidFill>
        <a:solidFill>
          <a:schemeClr val="phClr">
            <a:tint val="95000"/>
            <a:satMod val="170000"/>
          </a:schemeClr>
        </a:solidFill>
        <a:gradFill rotWithShape="1">
          <a:gsLst>
            <a:gs pos="0">
              <a:schemeClr val="phClr">
                <a:tint val="93000"/>
                <a:shade val="98000"/>
                <a:satMod val="120000"/>
                <a:lumMod val="102000"/>
              </a:schemeClr>
            </a:gs>
            <a:gs pos="48000">
              <a:schemeClr val="phClr">
                <a:tint val="98000"/>
                <a:shade val="90000"/>
                <a:satMod val="110000"/>
                <a:lumMod val="103000"/>
              </a:schemeClr>
            </a:gs>
            <a:gs pos="100000">
              <a:schemeClr val="phClr">
                <a:tint val="98000"/>
                <a:shade val="80000"/>
                <a:satMod val="100000"/>
              </a:schemeClr>
            </a:gs>
          </a:gsLst>
          <a:lin ang="5400000" scaled="0"/>
        </a:gradFill>
      </a:bgFillStyleLst>
    </a:fmtScheme>
  </a:themeElements>
  <a:objectDefaults/>
  <a:extraClrSchemeLst/>
  <a:extLst>
    <a:ext uri="{05A4C25C-085E-4340-85A3-A5531E510DB2}">
      <thm15:themeFamily xmlns:thm15="http://schemas.microsoft.com/office/thememl/2012/main" name="Frame" id="{F226E7A2-7162-461C-9490-D27D9DC04E43}" vid="{18A1B607-7BAE-46D6-8090-545AC7BDD739}"/>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1130</TotalTime>
  <Words>1513</Words>
  <Application>Microsoft Macintosh PowerPoint</Application>
  <PresentationFormat>Widescreen</PresentationFormat>
  <Paragraphs>193</Paragraphs>
  <Slides>33</Slides>
  <Notes>28</Notes>
  <HiddenSlides>2</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33</vt:i4>
      </vt:variant>
    </vt:vector>
  </HeadingPairs>
  <TitlesOfParts>
    <vt:vector size="38" baseType="lpstr">
      <vt:lpstr>Arial</vt:lpstr>
      <vt:lpstr>Calibri</vt:lpstr>
      <vt:lpstr>Corbel</vt:lpstr>
      <vt:lpstr>Wingdings 2</vt:lpstr>
      <vt:lpstr>Frame</vt:lpstr>
      <vt:lpstr>Communicating with Data – Storytelling</vt:lpstr>
      <vt:lpstr>ADD EXAMPLES FROM AMPLIFY PANELISTS</vt:lpstr>
      <vt:lpstr>Plan for Today</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Design Space of Narrative Visualization</vt:lpstr>
      <vt:lpstr>Genre</vt:lpstr>
      <vt:lpstr>Visual Narrative Tactics</vt:lpstr>
      <vt:lpstr>Narrative Structure</vt:lpstr>
      <vt:lpstr>Narrative Structure: Martini Glass</vt:lpstr>
      <vt:lpstr>Narrative Structure: Interactive Slide Show</vt:lpstr>
      <vt:lpstr>Narrative Structure: Drill-Down Story</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Data Science for Everyone – Welcome!</dc:title>
  <dc:creator>Mosca, Ab</dc:creator>
  <cp:lastModifiedBy>Ab Mosca</cp:lastModifiedBy>
  <cp:revision>35</cp:revision>
  <dcterms:created xsi:type="dcterms:W3CDTF">2023-08-03T18:49:17Z</dcterms:created>
  <dcterms:modified xsi:type="dcterms:W3CDTF">2026-09-10T13:48:35Z</dcterms:modified>
</cp:coreProperties>
</file>