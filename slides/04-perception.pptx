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2" r:id="rId1"/>
  </p:sldMasterIdLst>
  <p:notesMasterIdLst>
    <p:notesMasterId r:id="rId70"/>
  </p:notesMasterIdLst>
  <p:sldIdLst>
    <p:sldId id="256" r:id="rId2"/>
    <p:sldId id="394" r:id="rId3"/>
    <p:sldId id="395" r:id="rId4"/>
    <p:sldId id="324" r:id="rId5"/>
    <p:sldId id="393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370" r:id="rId15"/>
    <p:sldId id="371" r:id="rId16"/>
    <p:sldId id="372" r:id="rId17"/>
    <p:sldId id="318" r:id="rId18"/>
    <p:sldId id="272" r:id="rId19"/>
    <p:sldId id="319" r:id="rId20"/>
    <p:sldId id="273" r:id="rId21"/>
    <p:sldId id="373" r:id="rId22"/>
    <p:sldId id="375" r:id="rId23"/>
    <p:sldId id="376" r:id="rId24"/>
    <p:sldId id="377" r:id="rId25"/>
    <p:sldId id="378" r:id="rId26"/>
    <p:sldId id="379" r:id="rId27"/>
    <p:sldId id="380" r:id="rId28"/>
    <p:sldId id="381" r:id="rId29"/>
    <p:sldId id="382" r:id="rId30"/>
    <p:sldId id="383" r:id="rId31"/>
    <p:sldId id="384" r:id="rId32"/>
    <p:sldId id="385" r:id="rId33"/>
    <p:sldId id="386" r:id="rId34"/>
    <p:sldId id="387" r:id="rId35"/>
    <p:sldId id="388" r:id="rId36"/>
    <p:sldId id="353" r:id="rId37"/>
    <p:sldId id="390" r:id="rId38"/>
    <p:sldId id="389" r:id="rId39"/>
    <p:sldId id="354" r:id="rId40"/>
    <p:sldId id="355" r:id="rId41"/>
    <p:sldId id="356" r:id="rId42"/>
    <p:sldId id="348" r:id="rId43"/>
    <p:sldId id="357" r:id="rId44"/>
    <p:sldId id="358" r:id="rId45"/>
    <p:sldId id="359" r:id="rId46"/>
    <p:sldId id="360" r:id="rId47"/>
    <p:sldId id="361" r:id="rId48"/>
    <p:sldId id="391" r:id="rId49"/>
    <p:sldId id="362" r:id="rId50"/>
    <p:sldId id="392" r:id="rId51"/>
    <p:sldId id="363" r:id="rId52"/>
    <p:sldId id="364" r:id="rId53"/>
    <p:sldId id="365" r:id="rId54"/>
    <p:sldId id="366" r:id="rId55"/>
    <p:sldId id="367" r:id="rId56"/>
    <p:sldId id="368" r:id="rId57"/>
    <p:sldId id="369" r:id="rId58"/>
    <p:sldId id="327" r:id="rId59"/>
    <p:sldId id="336" r:id="rId60"/>
    <p:sldId id="337" r:id="rId61"/>
    <p:sldId id="338" r:id="rId62"/>
    <p:sldId id="339" r:id="rId63"/>
    <p:sldId id="340" r:id="rId64"/>
    <p:sldId id="341" r:id="rId65"/>
    <p:sldId id="282" r:id="rId66"/>
    <p:sldId id="283" r:id="rId67"/>
    <p:sldId id="351" r:id="rId68"/>
    <p:sldId id="352" r:id="rId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08"/>
    <p:restoredTop sz="83151"/>
  </p:normalViewPr>
  <p:slideViewPr>
    <p:cSldViewPr snapToGrid="0">
      <p:cViewPr varScale="1">
        <p:scale>
          <a:sx n="105" d="100"/>
          <a:sy n="105" d="100"/>
        </p:scale>
        <p:origin x="10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BB8A52-8AC5-C74C-97FB-632C448F367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506D-5C9B-294C-B2AE-15ACE8B5B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6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Different hue</a:t>
            </a:r>
            <a:endParaRPr dirty="0"/>
          </a:p>
        </p:txBody>
      </p:sp>
      <p:sp>
        <p:nvSpPr>
          <p:cNvPr id="156" name="Google Shape;15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526DEF9F-697D-7A79-A9DE-84BD0503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:notes">
            <a:extLst>
              <a:ext uri="{FF2B5EF4-FFF2-40B4-BE49-F238E27FC236}">
                <a16:creationId xmlns:a16="http://schemas.microsoft.com/office/drawing/2014/main" id="{DC5822E0-3C29-C94E-7502-F059057322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Different curvature</a:t>
            </a:r>
            <a:endParaRPr dirty="0"/>
          </a:p>
        </p:txBody>
      </p:sp>
      <p:sp>
        <p:nvSpPr>
          <p:cNvPr id="156" name="Google Shape;156;p16:notes">
            <a:extLst>
              <a:ext uri="{FF2B5EF4-FFF2-40B4-BE49-F238E27FC236}">
                <a16:creationId xmlns:a16="http://schemas.microsoft.com/office/drawing/2014/main" id="{A157CE9C-7D04-FDD9-E690-835DB981CB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13729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F7A909E5-C249-3529-48A3-B24ACB4C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3606A946-2AD3-6479-51F0-025AB7F29E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FD38FB5B-11B1-16A4-2CD1-B98F7327C4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5428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E7C988F4-A803-989A-90F9-6991D3F75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964CEFB4-1D63-2158-B947-0A8CC4AED0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7EECE39B-B519-3065-6CAD-5B386DFBCC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0339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6" name="Google Shape;226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I’m going to flash an image on the screen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991426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Same on next slide but threes </a:t>
            </a:r>
            <a:endParaRPr dirty="0"/>
          </a:p>
        </p:txBody>
      </p:sp>
      <p:sp>
        <p:nvSpPr>
          <p:cNvPr id="234" name="Google Shape;23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Same on next slide but threes </a:t>
            </a:r>
            <a:endParaRPr dirty="0"/>
          </a:p>
        </p:txBody>
      </p:sp>
      <p:sp>
        <p:nvSpPr>
          <p:cNvPr id="234" name="Google Shape;23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81891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0" name="Google Shape;24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3B27EB9A-9285-BAE2-B668-436296D2A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2DBDCD01-B84D-41CA-AEA6-7A3B15AC05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371BE21D-FA5A-EAF1-5174-2671A2CEBB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9836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3DD93E22-74C6-2684-FFD7-3EF8B24E0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76EFCE27-D2F2-9641-A737-00110BB5D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5A91AB70-73C8-5ABE-A21A-205224E66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79700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A9F49E8D-3C38-F4E3-954E-E6642415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119E53A6-D685-EA1B-94AE-3C2FE07C51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3DE6F457-3663-C6CE-0E06-23372A071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5603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FFBB6960-9031-94DD-BD55-329282D76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93DC2D55-07EA-65C4-8D5B-F08D578E4D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3A96527F-8EF4-25FB-DE4F-94AD37306A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0694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308B28-CAA3-0167-C051-8FBDD6C9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A33EA943-5B9A-20C1-59C0-4523A858E9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F3305A3B-A9E5-53B7-2200-33CD8C1B60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20223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548FE7-8923-09D4-775B-A458AA0CF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C3FE1429-728C-AA2C-74ED-575A15B60B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59057B7E-BA0D-D9FB-06FE-7EC16600FD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60289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1327EC-7D7B-C701-DCAC-5BBAA8BC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FD732664-FF96-589E-33EF-644EDCD28A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EE1D036C-9BE0-E327-4978-DD7DFD0BDE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35834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C2EC0B-D2F3-D7A2-4185-1753CBFE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0238D88F-7F72-92F4-E3E2-EB4DF464DC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A9228E22-C7CE-8CDB-5DC6-5D651DC5F3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86620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D02ABC36-2DC2-9586-1A44-54CD48633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008FF247-69D9-9B2F-3ABD-95D71E886D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Flash image on next screen 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CB3024C0-80B1-91C2-1D98-8B4751451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05509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CADBD602-520C-5457-BD67-4DF3472F0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72BC7420-F76F-2EE3-AB49-AFD3D2807A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 on wing of plane added/removed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3F61162B-FAD1-1A1F-043E-A581A17921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41628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254CF4EF-3D39-0DBA-47D4-9BEF75CD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E1FD52FC-623C-5FE0-BBFD-EFE28B011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 change (pants)</a:t>
            </a:r>
            <a:endParaRPr dirty="0"/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0358F0E6-01CA-4DC9-0A77-3181090851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178926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7E2FAE3A-65B1-5EB6-09CF-6EBEA1825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E4A22728-2F5A-9D29-192A-4EA1F13143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luminance of car window on right </a:t>
            </a:r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37DBE59D-2344-4545-5A70-FFA0370DCA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48184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4AF769A2-D53E-E27F-6836-41A3D386C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ECB1E299-807C-3ED7-1431-58AA2B6AB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54C85745-8172-EADF-5E37-006514F88B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13519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1FBC1961-1409-6FFF-DB77-ECB1426C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055D2684-72F7-3E18-1BE8-D60B8B01C7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DA4D6C58-6A49-D318-0351-D63C812EBB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73054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2F4FF6A9-62E3-6B86-0D39-8E57CC446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:notes">
            <a:extLst>
              <a:ext uri="{FF2B5EF4-FFF2-40B4-BE49-F238E27FC236}">
                <a16:creationId xmlns:a16="http://schemas.microsoft.com/office/drawing/2014/main" id="{6E5BAAF2-141A-080A-D2C3-AAADE4B0F4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Significant changes in the data may be missed if attention is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 deployed or focused on a specific location in a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visualization. Attending to data elements in one frame of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animation may render us temporarily blind to what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follows at that location. These issues must be considered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during visualization design.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50" name="Google Shape;150;p15:notes">
            <a:extLst>
              <a:ext uri="{FF2B5EF4-FFF2-40B4-BE49-F238E27FC236}">
                <a16:creationId xmlns:a16="http://schemas.microsoft.com/office/drawing/2014/main" id="{A5B506D3-8F45-2342-BE81-1824EF7120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79873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197674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D8552E46-889C-F12E-1534-44D040ABE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4:notes">
            <a:extLst>
              <a:ext uri="{FF2B5EF4-FFF2-40B4-BE49-F238E27FC236}">
                <a16:creationId xmlns:a16="http://schemas.microsoft.com/office/drawing/2014/main" id="{80CB1F66-66A4-0275-7991-A09B71252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44:notes">
            <a:extLst>
              <a:ext uri="{FF2B5EF4-FFF2-40B4-BE49-F238E27FC236}">
                <a16:creationId xmlns:a16="http://schemas.microsoft.com/office/drawing/2014/main" id="{9E5546F6-881C-B19F-8820-27CFD9BE4C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237266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9CF4B471-F89E-D61E-48B6-1CC0A80A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4:notes">
            <a:extLst>
              <a:ext uri="{FF2B5EF4-FFF2-40B4-BE49-F238E27FC236}">
                <a16:creationId xmlns:a16="http://schemas.microsoft.com/office/drawing/2014/main" id="{3E66B9B6-DD03-E4B6-3548-1B30ACF4E7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44:notes">
            <a:extLst>
              <a:ext uri="{FF2B5EF4-FFF2-40B4-BE49-F238E27FC236}">
                <a16:creationId xmlns:a16="http://schemas.microsoft.com/office/drawing/2014/main" id="{7A10DB03-858B-32BE-AE5C-ACE0A37FE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991783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2043144B-9772-13A4-FDB7-5C530C40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4:notes">
            <a:extLst>
              <a:ext uri="{FF2B5EF4-FFF2-40B4-BE49-F238E27FC236}">
                <a16:creationId xmlns:a16="http://schemas.microsoft.com/office/drawing/2014/main" id="{230B3C16-5FA8-6747-EE4E-5BBCB95C8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6" name="Google Shape;396;p44:notes">
            <a:extLst>
              <a:ext uri="{FF2B5EF4-FFF2-40B4-BE49-F238E27FC236}">
                <a16:creationId xmlns:a16="http://schemas.microsoft.com/office/drawing/2014/main" id="{3FCB217D-02C1-2237-98DF-4216165CBB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010862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C0C20524-7BAA-D0BD-7D67-B922425B9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4:notes">
            <a:extLst>
              <a:ext uri="{FF2B5EF4-FFF2-40B4-BE49-F238E27FC236}">
                <a16:creationId xmlns:a16="http://schemas.microsoft.com/office/drawing/2014/main" id="{DF9527D2-41E4-5368-7BEA-11AD23C65C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44:notes">
            <a:extLst>
              <a:ext uri="{FF2B5EF4-FFF2-40B4-BE49-F238E27FC236}">
                <a16:creationId xmlns:a16="http://schemas.microsoft.com/office/drawing/2014/main" id="{BF7D25BD-6B13-9391-CE84-BB6DD64CA4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991190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How many groups and what are they?</a:t>
            </a:r>
            <a:endParaRPr dirty="0"/>
          </a:p>
        </p:txBody>
      </p:sp>
      <p:sp>
        <p:nvSpPr>
          <p:cNvPr id="330" name="Google Shape;33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3" name="Google Shape;343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Lines seem different sizes </a:t>
            </a:r>
            <a:endParaRPr dirty="0"/>
          </a:p>
        </p:txBody>
      </p:sp>
      <p:sp>
        <p:nvSpPr>
          <p:cNvPr id="465" name="Google Shape;465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All right angles </a:t>
            </a:r>
            <a:endParaRPr dirty="0"/>
          </a:p>
        </p:txBody>
      </p:sp>
      <p:sp>
        <p:nvSpPr>
          <p:cNvPr id="472" name="Google Shape;47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3AD8D80E-B740-5242-984F-D487CDD46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39:notes">
            <a:extLst>
              <a:ext uri="{FF2B5EF4-FFF2-40B4-BE49-F238E27FC236}">
                <a16:creationId xmlns:a16="http://schemas.microsoft.com/office/drawing/2014/main" id="{4571CA48-EAED-E42D-3EB8-97DB99B4F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All same length or different?</a:t>
            </a:r>
            <a:endParaRPr dirty="0"/>
          </a:p>
        </p:txBody>
      </p:sp>
      <p:sp>
        <p:nvSpPr>
          <p:cNvPr id="472" name="Google Shape;472;p39:notes">
            <a:extLst>
              <a:ext uri="{FF2B5EF4-FFF2-40B4-BE49-F238E27FC236}">
                <a16:creationId xmlns:a16="http://schemas.microsoft.com/office/drawing/2014/main" id="{FD70CB9E-66A4-D2AC-0428-759BEA1637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502339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>
          <a:extLst>
            <a:ext uri="{FF2B5EF4-FFF2-40B4-BE49-F238E27FC236}">
              <a16:creationId xmlns:a16="http://schemas.microsoft.com/office/drawing/2014/main" id="{B698F6AA-EE64-2618-179C-E52E20743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44:notes">
            <a:extLst>
              <a:ext uri="{FF2B5EF4-FFF2-40B4-BE49-F238E27FC236}">
                <a16:creationId xmlns:a16="http://schemas.microsoft.com/office/drawing/2014/main" id="{72875117-D80A-E526-D29A-D02EA409F8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Can you see all 12 black dots? </a:t>
            </a:r>
            <a:endParaRPr dirty="0"/>
          </a:p>
        </p:txBody>
      </p:sp>
      <p:sp>
        <p:nvSpPr>
          <p:cNvPr id="542" name="Google Shape;542;p44:notes">
            <a:extLst>
              <a:ext uri="{FF2B5EF4-FFF2-40B4-BE49-F238E27FC236}">
                <a16:creationId xmlns:a16="http://schemas.microsoft.com/office/drawing/2014/main" id="{2549E6DB-0529-301B-FAD3-67FE96CAE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7765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078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862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148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35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16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828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068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64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679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5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224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9/21/26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071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jcrouser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JG698U2Mvo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kVvzpviOB7o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6711-FD41-BF2C-3200-E86657F109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Communicating with Data – Perception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BE8CA1-49DD-7D0B-3796-B4A0CE9405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Dr. Ab Mosca (they/them)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47612-0F01-5A1D-003F-59C048DD3D08}"/>
              </a:ext>
            </a:extLst>
          </p:cNvPr>
          <p:cNvSpPr txBox="1"/>
          <p:nvPr/>
        </p:nvSpPr>
        <p:spPr>
          <a:xfrm>
            <a:off x="2286000" y="6342185"/>
            <a:ext cx="7444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Slides based off slides courtesy of Jordan Crouser (</a:t>
            </a:r>
            <a:r>
              <a:rPr lang="en-US" dirty="0">
                <a:hlinkClick r:id="rId2"/>
              </a:rPr>
              <a:t>https://jcrouser.github.io/</a:t>
            </a:r>
            <a:r>
              <a:rPr lang="en-US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2905323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CE031-A809-5695-0DE4-95F44225A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ACFC791-7067-D937-81CB-CC1F7338DB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34653" y="1123837"/>
            <a:ext cx="3950983" cy="5121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3784C7-4E19-1980-5F93-5FD699ED8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293" y="1140579"/>
            <a:ext cx="4092344" cy="511290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74445-3E90-E5DA-0813-94F2AC051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5072" y="1132208"/>
            <a:ext cx="3957349" cy="512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068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7A98E-255B-861B-C583-1A0A6DC1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C25A8C-D3F6-133D-F0B0-716022AB9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978" y="0"/>
            <a:ext cx="52993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204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330C2-52A4-1ABA-980B-56FBC97F3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E50F6-429C-715A-C25C-1C7744AED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Recap last class</a:t>
            </a: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What is perception?</a:t>
            </a:r>
            <a:endParaRPr lang="en-US" sz="2400" kern="0" dirty="0">
              <a:cs typeface="Arial"/>
              <a:sym typeface="Arial"/>
            </a:endParaRP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Pre-attentive processing</a:t>
            </a: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lang="en-US" sz="2400" kern="0" dirty="0">
                <a:ea typeface="Arial"/>
                <a:cs typeface="Arial"/>
                <a:sym typeface="Arial"/>
              </a:rPr>
              <a:t>Using perception to rank visual channels</a:t>
            </a: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Arial"/>
              <a:cs typeface="Arial"/>
              <a:sym typeface="Arial"/>
            </a:endParaRP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Takeaways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D722EF7-01B8-5B77-7435-E385ECDDC94D}"/>
              </a:ext>
            </a:extLst>
          </p:cNvPr>
          <p:cNvSpPr/>
          <p:nvPr/>
        </p:nvSpPr>
        <p:spPr>
          <a:xfrm>
            <a:off x="9296400" y="1701135"/>
            <a:ext cx="2895600" cy="3446585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Note: I’m going to flash a bunch of slides quickly today. If that doesn’t work for you, you are welcome to step out, close your eyes, etc.. (none of us will be offended and I will fill you in on anything crucial you missed!) </a:t>
            </a:r>
          </a:p>
        </p:txBody>
      </p:sp>
    </p:spTree>
    <p:extLst>
      <p:ext uri="{BB962C8B-B14F-4D97-AF65-F5344CB8AC3E}">
        <p14:creationId xmlns:p14="http://schemas.microsoft.com/office/powerpoint/2010/main" val="1066703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FD8A3-F204-9921-82A3-C2B23B4F6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FBBD-00D1-6312-7D75-B531E60BB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E7A2D-64D2-4B95-BDBC-E96F8F034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Work in small groups</a:t>
            </a: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Arial"/>
              <a:cs typeface="Arial"/>
              <a:sym typeface="Arial"/>
            </a:endParaRP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lang="en-US" sz="2400" kern="0" dirty="0">
                <a:ea typeface="Arial"/>
                <a:cs typeface="Arial"/>
                <a:sym typeface="Arial"/>
              </a:rPr>
              <a:t>White a checklist guide to decomposing a visual encoding (we’ve been using the same 4 steps in our examples, what are they?)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0294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6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790" t="5541" r="1131" b="6845"/>
          <a:stretch/>
        </p:blipFill>
        <p:spPr>
          <a:xfrm>
            <a:off x="3552092" y="986028"/>
            <a:ext cx="8229600" cy="4876800"/>
          </a:xfrm>
          <a:prstGeom prst="rect">
            <a:avLst/>
          </a:prstGeom>
          <a:noFill/>
          <a:ln w="38100" cap="sq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000000">
                <a:alpha val="42745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A05F76-64CB-CE56-8CE4-21DD79766A9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is perception?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10152" t="742" r="10791" b="1382"/>
          <a:stretch/>
        </p:blipFill>
        <p:spPr>
          <a:xfrm>
            <a:off x="3686035" y="955431"/>
            <a:ext cx="8229600" cy="4876800"/>
          </a:xfrm>
          <a:prstGeom prst="rect">
            <a:avLst/>
          </a:prstGeom>
          <a:noFill/>
          <a:ln w="38100" cap="sq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000000">
                <a:alpha val="42745"/>
              </a:srgbClr>
            </a:outerShdw>
          </a:effectLst>
        </p:spPr>
      </p:pic>
      <p:sp>
        <p:nvSpPr>
          <p:cNvPr id="121" name="Google Shape;121;p17"/>
          <p:cNvSpPr txBox="1"/>
          <p:nvPr/>
        </p:nvSpPr>
        <p:spPr>
          <a:xfrm>
            <a:off x="5904338" y="4155831"/>
            <a:ext cx="3770884" cy="160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en-US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(sometimes imperfect) </a:t>
            </a:r>
            <a:endParaRPr dirty="0"/>
          </a:p>
          <a:p>
            <a:pPr algn="ctr"/>
            <a:r>
              <a:rPr lang="en-US" sz="2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 by which we </a:t>
            </a:r>
            <a:endParaRPr dirty="0"/>
          </a:p>
          <a:p>
            <a:pPr algn="ctr"/>
            <a:r>
              <a:rPr lang="en-US" sz="32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detect</a:t>
            </a: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lang="en-US" sz="32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interpret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/>
            <a:r>
              <a:rPr lang="en-US" sz="2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visual signals</a:t>
            </a:r>
            <a:endParaRPr sz="24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3F2D5B-5E26-9DB3-A274-946A8239BD91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perception (def.)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96308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5344019-F336-662C-0F33-5E41416E8C1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Do you see movement?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 descr="Pages from lecture2-perceptionandprinciples-140227091630-phpapp01.pdf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95081" y="-4572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5B8D7F3-EB9B-7D23-7D4B-FE77786B36E4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Do you see movement?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0"/>
          <p:cNvSpPr txBox="1">
            <a:spLocks noGrp="1"/>
          </p:cNvSpPr>
          <p:nvPr>
            <p:ph type="title"/>
          </p:nvPr>
        </p:nvSpPr>
        <p:spPr>
          <a:xfrm>
            <a:off x="3709481" y="2286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400" dirty="0">
                <a:solidFill>
                  <a:schemeClr val="dk2"/>
                </a:solidFill>
                <a:latin typeface="+mn-lt"/>
                <a:ea typeface="Arial"/>
                <a:cs typeface="Arial"/>
                <a:sym typeface="Arial"/>
              </a:rPr>
              <a:t>Some things are processed slowly</a:t>
            </a:r>
            <a:endParaRPr sz="2400" dirty="0">
              <a:solidFill>
                <a:schemeClr val="dk2"/>
              </a:solidFill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2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t="10494" b="10493"/>
          <a:stretch/>
        </p:blipFill>
        <p:spPr>
          <a:xfrm>
            <a:off x="3709481" y="1219200"/>
            <a:ext cx="8229600" cy="4876800"/>
          </a:xfrm>
          <a:prstGeom prst="rect">
            <a:avLst/>
          </a:prstGeom>
          <a:noFill/>
          <a:ln w="38100" cap="sq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000000">
                <a:alpha val="42745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F80FD2-B704-8190-A365-FDCEDEFF7BBB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perception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"/>
          <p:cNvSpPr txBox="1">
            <a:spLocks noGrp="1"/>
          </p:cNvSpPr>
          <p:nvPr>
            <p:ph type="title"/>
          </p:nvPr>
        </p:nvSpPr>
        <p:spPr>
          <a:xfrm>
            <a:off x="3493477" y="216877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400" dirty="0">
                <a:solidFill>
                  <a:schemeClr val="dk2"/>
                </a:solidFill>
                <a:latin typeface="+mn-lt"/>
                <a:cs typeface="Arial"/>
                <a:sym typeface="Arial"/>
              </a:rPr>
              <a:t>Others are incredibly fast</a:t>
            </a:r>
            <a:endParaRPr sz="2400" dirty="0">
              <a:solidFill>
                <a:schemeClr val="dk2"/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CE6256-D495-FD14-0A25-46B45278125A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perception</a:t>
            </a:r>
          </a:p>
        </p:txBody>
      </p:sp>
      <p:pic>
        <p:nvPicPr>
          <p:cNvPr id="3" name="Google Shape;139;p20">
            <a:extLst>
              <a:ext uri="{FF2B5EF4-FFF2-40B4-BE49-F238E27FC236}">
                <a16:creationId xmlns:a16="http://schemas.microsoft.com/office/drawing/2014/main" id="{0F3D0DFC-8916-80DD-2AFD-5753CF366268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10494" b="10493"/>
          <a:stretch/>
        </p:blipFill>
        <p:spPr>
          <a:xfrm>
            <a:off x="3709481" y="1219200"/>
            <a:ext cx="8229600" cy="4876800"/>
          </a:xfrm>
          <a:prstGeom prst="rect">
            <a:avLst/>
          </a:prstGeom>
          <a:noFill/>
          <a:ln w="38100" cap="sq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000000">
                <a:alpha val="42745"/>
              </a:srgbClr>
            </a:outerShdw>
          </a:effectLst>
        </p:spPr>
      </p:pic>
      <p:pic>
        <p:nvPicPr>
          <p:cNvPr id="146" name="Google Shape;146;p2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 l="48255" t="34045" r="48797" b="59096"/>
          <a:stretch/>
        </p:blipFill>
        <p:spPr>
          <a:xfrm>
            <a:off x="7679541" y="2666954"/>
            <a:ext cx="242587" cy="423348"/>
          </a:xfrm>
          <a:prstGeom prst="roundRect">
            <a:avLst>
              <a:gd name="adj" fmla="val 42157"/>
            </a:avLst>
          </a:prstGeom>
          <a:noFill/>
          <a:ln w="6350" cap="sq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000000">
                <a:alpha val="42745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2"/>
          <p:cNvSpPr txBox="1">
            <a:spLocks noGrp="1"/>
          </p:cNvSpPr>
          <p:nvPr>
            <p:ph type="title"/>
          </p:nvPr>
        </p:nvSpPr>
        <p:spPr>
          <a:xfrm>
            <a:off x="3516923" y="310661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Arial"/>
                <a:cs typeface="Arial"/>
                <a:sym typeface="Arial"/>
              </a:rPr>
              <a:t>Fast = “pre-attentive processing”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2"/>
          <p:cNvSpPr txBox="1">
            <a:spLocks noGrp="1"/>
          </p:cNvSpPr>
          <p:nvPr>
            <p:ph type="body" idx="1"/>
          </p:nvPr>
        </p:nvSpPr>
        <p:spPr>
          <a:xfrm>
            <a:off x="3516923" y="1682261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Things that happen in &lt;200ms of visual stimulation</a:t>
            </a:r>
            <a:endParaRPr sz="2400" dirty="0"/>
          </a:p>
          <a:p>
            <a:pPr>
              <a:lnSpc>
                <a:spcPct val="100000"/>
              </a:lnSpc>
              <a:spcBef>
                <a:spcPts val="60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Performed in parallel across the entire visual field</a:t>
            </a:r>
            <a:endParaRPr sz="2400" dirty="0"/>
          </a:p>
          <a:p>
            <a:pPr>
              <a:lnSpc>
                <a:spcPct val="100000"/>
              </a:lnSpc>
              <a:spcBef>
                <a:spcPts val="60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Example… 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5FA268-3636-06E9-A9CA-4084342E066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59EDF2-0241-9B51-F75E-185935F63677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 descr="http://www.csc.ncsu.edu/faculty/healey/PP/figs/tg_hue.gif"/>
          <p:cNvSpPr/>
          <p:nvPr/>
        </p:nvSpPr>
        <p:spPr>
          <a:xfrm>
            <a:off x="1679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936802C-A746-80BB-073E-274A7E1CFCAC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15AED8-8620-D16F-D32D-5415DD7F9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284" y="276211"/>
            <a:ext cx="5571715" cy="54488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46649CA-E786-2D47-C851-C4EBB1C4DC0F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A1675D5F-969A-EDAB-C2C8-014434EC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 descr="http://www.csc.ncsu.edu/faculty/healey/PP/figs/tg_hue.gif">
            <a:extLst>
              <a:ext uri="{FF2B5EF4-FFF2-40B4-BE49-F238E27FC236}">
                <a16:creationId xmlns:a16="http://schemas.microsoft.com/office/drawing/2014/main" id="{1E9918F7-6417-5CA8-E5B2-DA9ECE58CFB7}"/>
              </a:ext>
            </a:extLst>
          </p:cNvPr>
          <p:cNvSpPr/>
          <p:nvPr/>
        </p:nvSpPr>
        <p:spPr>
          <a:xfrm>
            <a:off x="1679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9BC47DC-E4D2-AC9D-CE10-18A76F616D1E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40A8A-47C1-DC2D-5C40-85A39D0842D9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5CD4BF-B7DD-9B84-6CEC-35ADFBE7D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284" y="383646"/>
            <a:ext cx="5341374" cy="5341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583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FDFE0A88-7760-C15A-615B-0131B0B7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2">
            <a:extLst>
              <a:ext uri="{FF2B5EF4-FFF2-40B4-BE49-F238E27FC236}">
                <a16:creationId xmlns:a16="http://schemas.microsoft.com/office/drawing/2014/main" id="{E8873476-156B-983C-6A6C-F829C13223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16923" y="310661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Arial"/>
                <a:cs typeface="Arial"/>
                <a:sym typeface="Arial"/>
              </a:rPr>
              <a:t>Fast = “pre-attentive processing”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E195DF37-B2BE-2DEE-6014-9839A7452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1682261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Things that happen in &lt;200ms of visual stimulation</a:t>
            </a:r>
            <a:endParaRPr sz="2400" dirty="0"/>
          </a:p>
          <a:p>
            <a:pPr>
              <a:lnSpc>
                <a:spcPct val="100000"/>
              </a:lnSpc>
              <a:spcBef>
                <a:spcPts val="60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Performed in parallel across the entire visual field</a:t>
            </a:r>
            <a:endParaRPr sz="2400" dirty="0"/>
          </a:p>
          <a:p>
            <a:pPr>
              <a:lnSpc>
                <a:spcPct val="100000"/>
              </a:lnSpc>
              <a:spcBef>
                <a:spcPts val="60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A target with a unique visual property (ex. hue, curvature) “pops out” of a display; it can be easily detected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4F5554-5282-0925-EF16-40F3658A4F1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55B11D-8441-5595-275C-902669F2CA84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275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5CD12595-EF49-18AE-1CE2-F3B13797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0334CBDF-A44F-A614-F2C0-3544118DB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2846439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How do you think we as visualization designers can leverage pre-attentive processing?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91C584-C039-219D-D268-C929D5B39BF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517C81-A56F-AA0F-5C72-3DD5C34FFFDE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267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8"/>
          <p:cNvSpPr txBox="1">
            <a:spLocks noGrp="1"/>
          </p:cNvSpPr>
          <p:nvPr>
            <p:ph type="body" idx="1"/>
          </p:nvPr>
        </p:nvSpPr>
        <p:spPr>
          <a:xfrm>
            <a:off x="3709481" y="1123837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SzPts val="2040"/>
              <a:buNone/>
            </a:pPr>
            <a:r>
              <a:rPr lang="en-US" sz="2400" dirty="0">
                <a:cs typeface="Arial"/>
                <a:sym typeface="Arial"/>
              </a:rPr>
              <a:t>On the next slide count how many zeros you see as fast as you can. Raise your hand (do not shout the number) when you have the answer.  </a:t>
            </a:r>
            <a:endParaRPr dirty="0"/>
          </a:p>
        </p:txBody>
      </p:sp>
      <p:sp>
        <p:nvSpPr>
          <p:cNvPr id="231" name="Google Shape;231;p28" descr="http://www.csc.ncsu.edu/faculty/healey/PP/figs/tg_hue.gif"/>
          <p:cNvSpPr/>
          <p:nvPr/>
        </p:nvSpPr>
        <p:spPr>
          <a:xfrm>
            <a:off x="1679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DEB9EA-CDAE-E4D0-C9B5-3C429EBEFA63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</p:spTree>
    <p:extLst>
      <p:ext uri="{BB962C8B-B14F-4D97-AF65-F5344CB8AC3E}">
        <p14:creationId xmlns:p14="http://schemas.microsoft.com/office/powerpoint/2010/main" val="1650403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9"/>
          <p:cNvSpPr txBox="1">
            <a:spLocks noGrp="1"/>
          </p:cNvSpPr>
          <p:nvPr>
            <p:ph type="body" idx="1"/>
          </p:nvPr>
        </p:nvSpPr>
        <p:spPr>
          <a:xfrm>
            <a:off x="3528646" y="1123837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1281768756138976546984506985624982826762 </a:t>
            </a:r>
            <a:endParaRPr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9809858458224519856458945098459985943585 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9891330249945959595772564675750678974567 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8845789819821677654876364968560912949686 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many zeros are there?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EDC2FB-DD66-5A4D-5927-DD2A7005FD5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Attentive counting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9"/>
          <p:cNvSpPr txBox="1">
            <a:spLocks noGrp="1"/>
          </p:cNvSpPr>
          <p:nvPr>
            <p:ph type="body" idx="1"/>
          </p:nvPr>
        </p:nvSpPr>
        <p:spPr>
          <a:xfrm>
            <a:off x="3528646" y="1123837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We’ll do the same on the next slide for threes.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EDC2FB-DD66-5A4D-5927-DD2A7005FD5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Attentive counting</a:t>
            </a:r>
          </a:p>
        </p:txBody>
      </p:sp>
    </p:spTree>
    <p:extLst>
      <p:ext uri="{BB962C8B-B14F-4D97-AF65-F5344CB8AC3E}">
        <p14:creationId xmlns:p14="http://schemas.microsoft.com/office/powerpoint/2010/main" val="2647059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0"/>
          <p:cNvSpPr txBox="1">
            <a:spLocks noGrp="1"/>
          </p:cNvSpPr>
          <p:nvPr>
            <p:ph type="body" idx="1"/>
          </p:nvPr>
        </p:nvSpPr>
        <p:spPr>
          <a:xfrm>
            <a:off x="3493477" y="1041776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12817687561</a:t>
            </a:r>
            <a:r>
              <a:rPr lang="en-US" sz="2400" dirty="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8976546984506985604982826762 </a:t>
            </a:r>
            <a:endParaRPr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980985845822450985645894509845098094</a:t>
            </a:r>
            <a:r>
              <a:rPr lang="en-US" sz="2400" dirty="0">
                <a:solidFill>
                  <a:srgbClr val="D2533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585 </a:t>
            </a:r>
            <a:endParaRPr sz="2400" dirty="0">
              <a:solidFill>
                <a:srgbClr val="BFBFB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90910</a:t>
            </a:r>
            <a:r>
              <a:rPr lang="en-US" sz="2400" dirty="0">
                <a:solidFill>
                  <a:srgbClr val="D2533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0209905959595772564675050678904567 </a:t>
            </a:r>
            <a:endParaRPr sz="2400" dirty="0">
              <a:solidFill>
                <a:srgbClr val="BFBFB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8845789809821677654876</a:t>
            </a:r>
            <a:r>
              <a:rPr lang="en-US" sz="2400" dirty="0">
                <a:solidFill>
                  <a:srgbClr val="D2533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400" dirty="0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64908560912949686</a:t>
            </a:r>
            <a:endParaRPr dirty="0"/>
          </a:p>
          <a:p>
            <a:pPr marL="0" indent="0" algn="ctr">
              <a:lnSpc>
                <a:spcPct val="100000"/>
              </a:lnSpc>
              <a:buNone/>
            </a:pPr>
            <a:endParaRPr sz="2400" dirty="0">
              <a:solidFill>
                <a:srgbClr val="BFBFB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endParaRPr sz="2400" dirty="0">
              <a:solidFill>
                <a:srgbClr val="BFBFB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many threes are there?</a:t>
            </a:r>
            <a:endParaRPr sz="2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F133B8-68C6-EF1B-1F9A-67DD52438800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counting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1116042A-AF35-DCCA-339F-3803582FB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0856CEA3-44FA-C8CE-A778-73B51D185C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2846439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Can we combine pre-attentive visual features to make something ”pop out” even more?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3EEDAD-352F-10B4-4E18-AF5B1935031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B65AC0-72FE-F67A-E0C7-2737A9201E54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053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FCFFE19B-4DFF-069F-D773-B6A039810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424B7-063A-7C6F-EDE9-1640D722A9E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FF82EF-ED7A-4168-0734-D4F401D031F2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74A6CC-EC0D-2372-2FB9-F612F1135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284" y="570519"/>
            <a:ext cx="5446046" cy="5364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3763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A884FB9A-7CB7-F2EE-23D1-83209BC0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BDF86258-9A4A-18BC-EBA2-BC3CAAEFD4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31672" y="986028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A conjunction search (multiple visual features that are each present in distractors) is not pre-attentive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lang="en-US"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lang="en-US"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lang="en-US"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Hue returns squares and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   the red circle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Curvature returns blue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   circles and the red circle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r>
              <a:rPr lang="en-US" sz="2400" dirty="0">
                <a:ea typeface="Arial"/>
                <a:cs typeface="Arial"/>
                <a:sym typeface="Arial"/>
              </a:rPr>
              <a:t>In both cases, you have to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   search the set returned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6DC0D2-ED40-309A-8823-307222858683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15A7B-864B-39B5-79D2-7CEE023D8581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2EB579-9F0F-7A36-3AFB-DEB753AE4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472" y="2150063"/>
            <a:ext cx="3629536" cy="357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567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5D68F7B8-EC32-3BEC-50CA-ABEB73F55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3D342BB5-87F8-1775-01F6-3F80623DE9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Some pre-attentive features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00211A-9589-23E9-6D39-A644CCB63D97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90C28C-6ACC-1CE3-BCC3-8FF2D2327A7E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51759E-A6F0-B6BB-5100-0055B7C09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6923" y="1138584"/>
            <a:ext cx="8757408" cy="4796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782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0415B4F9-F59F-455B-FEC1-4D5F134DE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10C6D2BE-17A1-499D-F19D-99BA95C2C7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Some pre-attentive features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E104A6-1602-7C6B-EC6D-BE14A96331E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13B918-CB2E-F4A5-061D-457882088275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E30A0C-5ECF-1B2A-78FB-53D6FF64F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6922" y="1169631"/>
            <a:ext cx="8675077" cy="477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092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FE862DD1-892F-69DE-A282-C7D5C4E3C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DA21E40C-7F9E-F673-157B-D59BED068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Pre-attentive features have been shown to support: </a:t>
            </a:r>
          </a:p>
          <a:p>
            <a:pPr marL="502920" lvl="1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200" b="1" dirty="0">
                <a:ea typeface="Arial"/>
                <a:cs typeface="Arial"/>
                <a:sym typeface="Arial"/>
              </a:rPr>
              <a:t>Target detection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000" dirty="0">
                <a:ea typeface="Arial"/>
                <a:cs typeface="Arial"/>
                <a:sym typeface="Arial"/>
              </a:rPr>
              <a:t>Viewers detect a target element with a unique visual feature within a field of distractor elements</a:t>
            </a:r>
          </a:p>
          <a:p>
            <a:pPr marL="502920" lvl="1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200" b="1" dirty="0">
                <a:ea typeface="Arial"/>
                <a:cs typeface="Arial"/>
                <a:sym typeface="Arial"/>
              </a:rPr>
              <a:t>Boundary detection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000" dirty="0">
                <a:ea typeface="Arial"/>
                <a:cs typeface="Arial"/>
                <a:sym typeface="Arial"/>
              </a:rPr>
              <a:t>Viewers detect a texture boundary between two groups of elements, where all of the elements in each group have a common visual property</a:t>
            </a:r>
          </a:p>
          <a:p>
            <a:pPr marL="502920" lvl="1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200" b="1" dirty="0">
                <a:ea typeface="Arial"/>
                <a:cs typeface="Arial"/>
                <a:sym typeface="Arial"/>
              </a:rPr>
              <a:t>Region tracking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000" dirty="0">
                <a:ea typeface="Arial"/>
                <a:cs typeface="Arial"/>
                <a:sym typeface="Arial"/>
              </a:rPr>
              <a:t>Viewers track one or more elements with a unique visual feature as they move in time and space</a:t>
            </a:r>
          </a:p>
          <a:p>
            <a:pPr marL="502920" lvl="1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200" b="1" dirty="0">
                <a:ea typeface="Arial"/>
                <a:cs typeface="Arial"/>
                <a:sym typeface="Arial"/>
              </a:rPr>
              <a:t>Counting and estimation 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000" dirty="0">
                <a:ea typeface="Arial"/>
                <a:cs typeface="Arial"/>
                <a:sym typeface="Arial"/>
              </a:rPr>
              <a:t>Viewers count the number of elements with a unique visual feature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sz="20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FDC5C3-6FB4-F750-E9D3-D77B21D68E53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8A713B-6AE3-84AF-4AFE-4E7527DBB7A5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6513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418ADB6-6DCA-63E4-1BFC-8C50FF7C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18C65C43-8B47-CE27-1E70-859CEC42E1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Pre-attention focuses on what draws the eye.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Visual memory asks, what do people remember from a glance?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BE43C6-A697-A0A5-9358-07F001F323B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087712-73C9-9CC4-685C-D6EC9E7C2CC4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0783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4964C3B-908A-4AAD-7914-79ED7F394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0DACDEB9-F976-80AD-9939-D2734E5757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Pre-attention focuses on what draws the eye.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Visual memory asks, what do people remember from a glance?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		What are your hypotheses?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C7CF9A-90D9-4FEA-E64A-31D7B6766C2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60529-FF80-5CCF-3910-34648DBD3198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4217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487F7839-C713-80A5-E107-93B6EDB5C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4D70D386-3801-4438-9D31-F39480CFCB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r>
              <a:rPr lang="en-US" sz="2400" dirty="0">
                <a:ea typeface="Arial"/>
                <a:cs typeface="Arial"/>
                <a:sym typeface="Arial"/>
              </a:rPr>
              <a:t>Visual processing is a dynamic process. 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endParaRPr lang="en-US"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r>
              <a:rPr lang="en-US" sz="2400" dirty="0">
                <a:ea typeface="Arial"/>
                <a:cs typeface="Arial"/>
                <a:sym typeface="Arial"/>
              </a:rPr>
              <a:t>Your visual system is constantly building short-lived models of the external works that are specifically designed for your current visually guided tasks. 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endParaRPr lang="en-US" sz="2400" dirty="0">
              <a:ea typeface="Arial"/>
              <a:cs typeface="Arial"/>
              <a:sym typeface="Arial"/>
            </a:endParaRPr>
          </a:p>
          <a:p>
            <a:r>
              <a:rPr lang="en-US" sz="2400" dirty="0">
                <a:cs typeface="Arial"/>
              </a:rPr>
              <a:t>There does not appear to be any general purpose vision. What we “see” when confronted with a new scene depends as much on our goals and expectations as it does on the light that enters our eyes. </a:t>
            </a:r>
          </a:p>
          <a:p>
            <a:pPr marL="0" indent="0">
              <a:buNone/>
            </a:pPr>
            <a:r>
              <a:rPr lang="en-US" sz="2400" dirty="0">
                <a:cs typeface="Arial"/>
              </a:rPr>
              <a:t>	</a:t>
            </a:r>
          </a:p>
          <a:p>
            <a:r>
              <a:rPr lang="en-US" sz="2400" dirty="0">
                <a:cs typeface="Arial"/>
              </a:rPr>
              <a:t>What is the implication here for visualization? 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endParaRPr lang="en-US"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4AE6E-4191-D243-D9BB-2BDFBE00428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E47531-2D26-0069-EDF3-6C3B46E62141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146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ABFDC22C-9EF2-061F-70C4-FDF31E95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F3F6BC11-805B-E0DB-FA7F-C49A4A5C5A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Things to look out for: Change Blindness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r>
              <a:rPr lang="en-US" sz="2400" dirty="0"/>
              <a:t>An interruption in what is being seen—a blink, an eye saccade, or a blank screen—renders us “blind” to significant changes that occur in the scene during the interruption.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endParaRPr lang="en-US"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B6BC6F-9A54-FE19-F978-15602F4B1171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4201D-4BD1-37A4-C270-5119DA7BC3F5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5BC013-678F-D2BE-6818-DF3B7A4FE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2717" y="2682363"/>
            <a:ext cx="9129283" cy="325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8474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3595BB2C-5773-059E-4EEC-E326A48C2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088B77DA-66FE-EC96-643E-8D70A08924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Things to look out for: Change Blindness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r>
              <a:rPr lang="en-US" sz="2400" dirty="0"/>
              <a:t>An interruption in what is being seen—a blink, an eye saccade, or a blank screen—renders us “blind” to significant changes that occur in the scene during the interruption.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endParaRPr lang="en-US"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946FD0-DEAF-A374-66D7-72B6703E007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E6E485-CF2B-68EB-3F2B-85017F968987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E82DD7-7A5B-FBFA-0145-5FD6F3CE4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209" y="2794534"/>
            <a:ext cx="8744872" cy="307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543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930D1F32-1157-EC91-8866-1BD9FFF45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D1AD2462-31E8-03A1-F610-FDFC86360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Things to look out for: Change Blindness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r>
              <a:rPr lang="en-US" sz="2400" dirty="0"/>
              <a:t>An interruption in what is being seen—a blink, an eye saccade, or a blank screen—renders us “blind” to significant changes that occur in the scene during the interruption.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endParaRPr lang="en-US"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75A6A-9A63-F05A-5544-249A5C7D4DF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A0CB1-D35C-6AEB-55EB-503DF7A0D2F8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9B002D-57F1-9286-BC4C-7B2C69198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1" y="2736592"/>
            <a:ext cx="8738680" cy="3137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0290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803C2EC-4E82-59D4-0A05-582B7D2E8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18A4B114-6C5C-9F2A-AEFD-A12EE293A5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Things to look out for: Inattentional Blindness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r>
              <a:rPr lang="en-US" sz="2400" dirty="0"/>
              <a:t>Viewers can completely fail to perceive visually salient objects or activities when attending elsewhere</a:t>
            </a:r>
          </a:p>
          <a:p>
            <a:endParaRPr lang="en-US" sz="2400" dirty="0"/>
          </a:p>
          <a:p>
            <a:r>
              <a:rPr lang="en-US" sz="2400" dirty="0">
                <a:hlinkClick r:id="rId3"/>
              </a:rPr>
              <a:t>https://www.youtube.com/watch?v=vJG698U2Mvo</a:t>
            </a:r>
            <a:r>
              <a:rPr lang="en-US" sz="240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</a:pPr>
            <a:endParaRPr lang="en-US"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036A37-A3CA-0A4B-3835-536D03511F24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EE6CC-95E1-F020-93E9-AA631C12DB63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4756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4B963631-2965-1A9A-CAAE-ACBF0E4B0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F1FE32AD-44DB-D238-060C-F9FC835767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766916"/>
            <a:ext cx="8229600" cy="57921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Things to look out for: Attentional Blink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endParaRPr lang="en-US" sz="2400" dirty="0">
              <a:ea typeface="Arial"/>
              <a:cs typeface="Arial"/>
              <a:sym typeface="Arial"/>
            </a:endParaRPr>
          </a:p>
          <a:p>
            <a:r>
              <a:rPr lang="en-US" sz="2400" dirty="0"/>
              <a:t>When two targets are presented in rapid succession, the second of the two targets cannot be detected or identified when it appears within approximately 100-500 msec following the first target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hlinkClick r:id="rId3"/>
              </a:rPr>
              <a:t>https://www.youtube.com/watch?v=kVvzpviOB7o</a:t>
            </a:r>
            <a:r>
              <a:rPr lang="en-US" sz="2400" dirty="0"/>
              <a:t> </a:t>
            </a:r>
            <a:endParaRPr lang="en-US"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DE4CB-6133-D293-2466-5F0A3ACB9212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A1AE6-6C58-64E8-09C0-A70AC02E77E1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46777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7994A0AE-439F-B560-5A3E-00EB1A09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>
            <a:extLst>
              <a:ext uri="{FF2B5EF4-FFF2-40B4-BE49-F238E27FC236}">
                <a16:creationId xmlns:a16="http://schemas.microsoft.com/office/drawing/2014/main" id="{05749B28-AC99-91A0-13C0-1D2819455E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16923" y="2212257"/>
            <a:ext cx="8229600" cy="43468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2040"/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What are the implications of Change blindness, Inattentional Blindness, and Attentional Blink for visualization?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F85DF9-674D-0651-B3C2-CA005059C89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Visual Expectation and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F49791-BA76-3BBB-EEBB-E7A04AEC32FA}"/>
              </a:ext>
            </a:extLst>
          </p:cNvPr>
          <p:cNvSpPr txBox="1"/>
          <p:nvPr/>
        </p:nvSpPr>
        <p:spPr>
          <a:xfrm>
            <a:off x="4643284" y="5934670"/>
            <a:ext cx="75487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Healey and J. Enns, "Attention and Visual Memory in Visualization and Computer Graphics," in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IEEE Transactions on Visualization and Computer Graphics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vol. 18, no. 7, pp. 1170-1188, July 2012,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10.1109/TVCG.2011.127.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57542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5"/>
          <p:cNvSpPr txBox="1">
            <a:spLocks noGrp="1"/>
          </p:cNvSpPr>
          <p:nvPr>
            <p:ph type="title"/>
          </p:nvPr>
        </p:nvSpPr>
        <p:spPr>
          <a:xfrm>
            <a:off x="234145" y="2446089"/>
            <a:ext cx="2917767" cy="1965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/>
              <a:t>Ranking Visual Channels</a:t>
            </a:r>
            <a:endParaRPr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44C5CC-C890-5257-8493-134AA9AA8F18}"/>
              </a:ext>
            </a:extLst>
          </p:cNvPr>
          <p:cNvSpPr/>
          <p:nvPr/>
        </p:nvSpPr>
        <p:spPr>
          <a:xfrm>
            <a:off x="7256206" y="959159"/>
            <a:ext cx="766917" cy="51319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D59949-73F2-8B32-148D-A1036926F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8607" y="959160"/>
            <a:ext cx="8050054" cy="5746440"/>
          </a:xfrm>
        </p:spPr>
        <p:txBody>
          <a:bodyPr anchor="t">
            <a:normAutofit/>
          </a:bodyPr>
          <a:lstStyle/>
          <a:p>
            <a:r>
              <a:rPr lang="en-US" sz="2600" dirty="0"/>
              <a:t>Leveraging the perceptual system for visualization goes beyond understanding pre-attention and visual memory</a:t>
            </a:r>
          </a:p>
          <a:p>
            <a:r>
              <a:rPr lang="en-US" sz="2600" dirty="0"/>
              <a:t>It is also a means for ranking visual channels.   </a:t>
            </a:r>
          </a:p>
          <a:p>
            <a:pPr marL="0" indent="0">
              <a:buNone/>
            </a:pPr>
            <a:endParaRPr lang="en-US" sz="2600" b="1" dirty="0"/>
          </a:p>
          <a:p>
            <a:endParaRPr lang="en-US" sz="2600" b="1" dirty="0"/>
          </a:p>
        </p:txBody>
      </p:sp>
    </p:spTree>
    <p:extLst>
      <p:ext uri="{BB962C8B-B14F-4D97-AF65-F5344CB8AC3E}">
        <p14:creationId xmlns:p14="http://schemas.microsoft.com/office/powerpoint/2010/main" val="38457522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1C7443E3-BDE3-B445-19CE-880044A07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5">
            <a:extLst>
              <a:ext uri="{FF2B5EF4-FFF2-40B4-BE49-F238E27FC236}">
                <a16:creationId xmlns:a16="http://schemas.microsoft.com/office/drawing/2014/main" id="{3C121FED-B270-21BA-585C-69724C44DA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4145" y="2446089"/>
            <a:ext cx="2917767" cy="1965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/>
              <a:t>Recall</a:t>
            </a:r>
            <a:endParaRPr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1CD7AA-72A6-24AF-0B27-5656BFFC920E}"/>
              </a:ext>
            </a:extLst>
          </p:cNvPr>
          <p:cNvSpPr/>
          <p:nvPr/>
        </p:nvSpPr>
        <p:spPr>
          <a:xfrm>
            <a:off x="7256206" y="959159"/>
            <a:ext cx="766917" cy="51319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66EA4D7-51C9-94E6-CBB5-2D4E39C24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8607" y="959160"/>
            <a:ext cx="8050054" cy="574644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600" dirty="0"/>
              <a:t>Flashback– </a:t>
            </a:r>
          </a:p>
          <a:p>
            <a:pPr marL="0" indent="0">
              <a:buNone/>
            </a:pPr>
            <a:endParaRPr lang="en-US" sz="2600" dirty="0"/>
          </a:p>
          <a:p>
            <a:r>
              <a:rPr lang="en-US" sz="2600" dirty="0"/>
              <a:t>What three types of data do we use in visualization?</a:t>
            </a:r>
          </a:p>
          <a:p>
            <a:pPr marL="0" indent="0">
              <a:buNone/>
            </a:pPr>
            <a:endParaRPr lang="en-US" sz="2600" dirty="0"/>
          </a:p>
          <a:p>
            <a:r>
              <a:rPr lang="en-US" sz="2600" dirty="0"/>
              <a:t>What two major categories do we use for visual channels?</a:t>
            </a:r>
          </a:p>
          <a:p>
            <a:endParaRPr lang="en-US" sz="2600" dirty="0"/>
          </a:p>
          <a:p>
            <a:r>
              <a:rPr lang="en-US" sz="2600" dirty="0"/>
              <a:t>Name 7 visual channels. </a:t>
            </a:r>
          </a:p>
          <a:p>
            <a:endParaRPr lang="en-US" sz="2600" b="1" dirty="0"/>
          </a:p>
        </p:txBody>
      </p:sp>
    </p:spTree>
    <p:extLst>
      <p:ext uri="{BB962C8B-B14F-4D97-AF65-F5344CB8AC3E}">
        <p14:creationId xmlns:p14="http://schemas.microsoft.com/office/powerpoint/2010/main" val="122174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D4F60B65-8807-8AE4-B7BE-8BA7726D6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5">
            <a:extLst>
              <a:ext uri="{FF2B5EF4-FFF2-40B4-BE49-F238E27FC236}">
                <a16:creationId xmlns:a16="http://schemas.microsoft.com/office/drawing/2014/main" id="{9EBE85F2-25E1-DD8D-2F60-08597E0E18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4145" y="2446089"/>
            <a:ext cx="2917767" cy="1965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/>
              <a:t>Ranking Visual Channels</a:t>
            </a:r>
            <a:endParaRPr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7F9FC0-58D9-F95A-2617-707C9EC06D24}"/>
              </a:ext>
            </a:extLst>
          </p:cNvPr>
          <p:cNvSpPr/>
          <p:nvPr/>
        </p:nvSpPr>
        <p:spPr>
          <a:xfrm>
            <a:off x="7256206" y="959159"/>
            <a:ext cx="766917" cy="51319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F8F8ADA-659D-E257-0DB9-BA8865D1FE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8607" y="959160"/>
            <a:ext cx="8050054" cy="5746440"/>
          </a:xfrm>
        </p:spPr>
        <p:txBody>
          <a:bodyPr anchor="t">
            <a:normAutofit/>
          </a:bodyPr>
          <a:lstStyle/>
          <a:p>
            <a:endParaRPr lang="en-US" sz="2600" dirty="0"/>
          </a:p>
          <a:p>
            <a:r>
              <a:rPr lang="en-US" sz="2600" dirty="0"/>
              <a:t>Using the correct visual channel type for the correct variable type is called </a:t>
            </a:r>
            <a:r>
              <a:rPr lang="en-US" sz="2600" b="1" dirty="0"/>
              <a:t>expressiveness</a:t>
            </a:r>
          </a:p>
          <a:p>
            <a:pPr lvl="1"/>
            <a:r>
              <a:rPr lang="en-US" sz="2400" dirty="0"/>
              <a:t>Ex. A Magnitude channel, like luminance, for a quantitative or ordinal variable</a:t>
            </a:r>
          </a:p>
          <a:p>
            <a:pPr lvl="1"/>
            <a:r>
              <a:rPr lang="en-US" sz="2400" dirty="0"/>
              <a:t>Ex. An identity channel, like shape, for a nominal variable</a:t>
            </a:r>
          </a:p>
          <a:p>
            <a:pPr marL="502920" lvl="1" indent="0">
              <a:buNone/>
            </a:pPr>
            <a:r>
              <a:rPr lang="en-US" sz="2400" dirty="0"/>
              <a:t> </a:t>
            </a:r>
          </a:p>
          <a:p>
            <a:r>
              <a:rPr lang="en-US" sz="2600" dirty="0"/>
              <a:t>We also consider </a:t>
            </a:r>
            <a:r>
              <a:rPr lang="en-US" sz="2600" b="1" dirty="0"/>
              <a:t>effectiveness</a:t>
            </a:r>
            <a:r>
              <a:rPr lang="en-US" sz="2600" dirty="0"/>
              <a:t> to choose visual channels</a:t>
            </a:r>
          </a:p>
          <a:p>
            <a:endParaRPr lang="en-US" sz="2600" b="1" dirty="0"/>
          </a:p>
          <a:p>
            <a:endParaRPr lang="en-US" sz="26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E5F49A-E0F9-A80D-C299-C6B64478663D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96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CBF7B502-8516-6350-D1E0-9BEE8FF87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5">
            <a:extLst>
              <a:ext uri="{FF2B5EF4-FFF2-40B4-BE49-F238E27FC236}">
                <a16:creationId xmlns:a16="http://schemas.microsoft.com/office/drawing/2014/main" id="{4FDE467F-5B61-97B3-0845-E3B6AD92AE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4145" y="2446089"/>
            <a:ext cx="2917767" cy="1965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/>
              <a:t>Ranking Visual Channels</a:t>
            </a:r>
            <a:endParaRPr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50A227-2C4A-1BDB-2970-9217976F4F65}"/>
              </a:ext>
            </a:extLst>
          </p:cNvPr>
          <p:cNvSpPr/>
          <p:nvPr/>
        </p:nvSpPr>
        <p:spPr>
          <a:xfrm>
            <a:off x="7256206" y="959159"/>
            <a:ext cx="766917" cy="51319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0BC6E16-6964-3922-C0A7-74721CE9C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8103" y="766916"/>
            <a:ext cx="8020557" cy="5938683"/>
          </a:xfrm>
        </p:spPr>
        <p:txBody>
          <a:bodyPr anchor="t">
            <a:normAutofit/>
          </a:bodyPr>
          <a:lstStyle/>
          <a:p>
            <a:pPr lvl="0">
              <a:defRPr sz="6400"/>
            </a:pPr>
            <a:r>
              <a:rPr lang="en-US" sz="2600" dirty="0"/>
              <a:t>More important attributes should be encoded with more </a:t>
            </a:r>
            <a:r>
              <a:rPr lang="en-US" sz="2600" b="1" dirty="0"/>
              <a:t>effective</a:t>
            </a:r>
            <a:r>
              <a:rPr lang="en-US" sz="2600" dirty="0"/>
              <a:t> channels.   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b="1" dirty="0"/>
              <a:t>Effectiveness</a:t>
            </a:r>
            <a:r>
              <a:rPr lang="en-US" sz="2800" dirty="0"/>
              <a:t> refers to how well a channel supports:</a:t>
            </a:r>
          </a:p>
          <a:p>
            <a:pPr lvl="1">
              <a:defRPr/>
            </a:pPr>
            <a:r>
              <a:rPr lang="en-US" sz="2600" dirty="0"/>
              <a:t>Accuracy</a:t>
            </a:r>
          </a:p>
          <a:p>
            <a:pPr lvl="1">
              <a:defRPr/>
            </a:pPr>
            <a:r>
              <a:rPr lang="en-US" sz="2600" dirty="0"/>
              <a:t>Discriminability</a:t>
            </a:r>
          </a:p>
          <a:p>
            <a:pPr lvl="1">
              <a:defRPr/>
            </a:pPr>
            <a:r>
              <a:rPr lang="en-US" sz="2600" dirty="0"/>
              <a:t>Separability </a:t>
            </a:r>
          </a:p>
          <a:p>
            <a:pPr lvl="1">
              <a:defRPr/>
            </a:pPr>
            <a:r>
              <a:rPr lang="en-US" sz="2600" dirty="0"/>
              <a:t>Visual popout</a:t>
            </a:r>
          </a:p>
          <a:p>
            <a:pPr lvl="1">
              <a:defRPr/>
            </a:pPr>
            <a:r>
              <a:rPr lang="en-US" sz="2600" dirty="0"/>
              <a:t>Grouping</a:t>
            </a:r>
          </a:p>
          <a:p>
            <a:endParaRPr lang="en-US" sz="2600" dirty="0"/>
          </a:p>
          <a:p>
            <a:endParaRPr lang="en-US" sz="2600" b="1" dirty="0"/>
          </a:p>
          <a:p>
            <a:endParaRPr lang="en-US" sz="26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4A4BAE-B42E-44A1-A755-084203731B2A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5680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75632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5282F6-D2CE-30EA-2BA9-41C944CA4EBD}"/>
              </a:ext>
            </a:extLst>
          </p:cNvPr>
          <p:cNvSpPr/>
          <p:nvPr/>
        </p:nvSpPr>
        <p:spPr>
          <a:xfrm>
            <a:off x="3935529" y="2698872"/>
            <a:ext cx="3657600" cy="72555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72EC48-4BA2-F2B8-EE66-5A276B4CE2A6}"/>
              </a:ext>
            </a:extLst>
          </p:cNvPr>
          <p:cNvSpPr/>
          <p:nvPr/>
        </p:nvSpPr>
        <p:spPr>
          <a:xfrm>
            <a:off x="3935529" y="3616253"/>
            <a:ext cx="7315200" cy="72555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88D7064F-7A71-BE07-FB5A-D2BF13546179}"/>
              </a:ext>
            </a:extLst>
          </p:cNvPr>
          <p:cNvSpPr/>
          <p:nvPr/>
        </p:nvSpPr>
        <p:spPr>
          <a:xfrm>
            <a:off x="4273460" y="4808352"/>
            <a:ext cx="6639339" cy="725557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How much longer is the second bar?</a:t>
            </a:r>
          </a:p>
        </p:txBody>
      </p:sp>
    </p:spTree>
    <p:extLst>
      <p:ext uri="{BB962C8B-B14F-4D97-AF65-F5344CB8AC3E}">
        <p14:creationId xmlns:p14="http://schemas.microsoft.com/office/powerpoint/2010/main" val="10340568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5282F6-D2CE-30EA-2BA9-41C944CA4EBD}"/>
              </a:ext>
            </a:extLst>
          </p:cNvPr>
          <p:cNvSpPr/>
          <p:nvPr/>
        </p:nvSpPr>
        <p:spPr>
          <a:xfrm>
            <a:off x="3935529" y="2698872"/>
            <a:ext cx="3657600" cy="72555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72EC48-4BA2-F2B8-EE66-5A276B4CE2A6}"/>
              </a:ext>
            </a:extLst>
          </p:cNvPr>
          <p:cNvSpPr/>
          <p:nvPr/>
        </p:nvSpPr>
        <p:spPr>
          <a:xfrm>
            <a:off x="3935529" y="3616253"/>
            <a:ext cx="7315200" cy="72555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88D7064F-7A71-BE07-FB5A-D2BF13546179}"/>
              </a:ext>
            </a:extLst>
          </p:cNvPr>
          <p:cNvSpPr/>
          <p:nvPr/>
        </p:nvSpPr>
        <p:spPr>
          <a:xfrm>
            <a:off x="4273460" y="4808352"/>
            <a:ext cx="6639339" cy="1176397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How much longer is the second bar?</a:t>
            </a:r>
          </a:p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2X</a:t>
            </a:r>
          </a:p>
        </p:txBody>
      </p:sp>
    </p:spTree>
    <p:extLst>
      <p:ext uri="{BB962C8B-B14F-4D97-AF65-F5344CB8AC3E}">
        <p14:creationId xmlns:p14="http://schemas.microsoft.com/office/powerpoint/2010/main" val="2579518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5282F6-D2CE-30EA-2BA9-41C944CA4EBD}"/>
              </a:ext>
            </a:extLst>
          </p:cNvPr>
          <p:cNvSpPr/>
          <p:nvPr/>
        </p:nvSpPr>
        <p:spPr>
          <a:xfrm>
            <a:off x="5466520" y="2825959"/>
            <a:ext cx="914400" cy="91440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72EC48-4BA2-F2B8-EE66-5A276B4CE2A6}"/>
              </a:ext>
            </a:extLst>
          </p:cNvPr>
          <p:cNvSpPr/>
          <p:nvPr/>
        </p:nvSpPr>
        <p:spPr>
          <a:xfrm>
            <a:off x="7593128" y="2368759"/>
            <a:ext cx="1828800" cy="182880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88D7064F-7A71-BE07-FB5A-D2BF13546179}"/>
              </a:ext>
            </a:extLst>
          </p:cNvPr>
          <p:cNvSpPr/>
          <p:nvPr/>
        </p:nvSpPr>
        <p:spPr>
          <a:xfrm>
            <a:off x="4273460" y="4808352"/>
            <a:ext cx="6639339" cy="725557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How much bigger is the second square?</a:t>
            </a:r>
          </a:p>
        </p:txBody>
      </p:sp>
    </p:spTree>
    <p:extLst>
      <p:ext uri="{BB962C8B-B14F-4D97-AF65-F5344CB8AC3E}">
        <p14:creationId xmlns:p14="http://schemas.microsoft.com/office/powerpoint/2010/main" val="33935369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88D7064F-7A71-BE07-FB5A-D2BF13546179}"/>
              </a:ext>
            </a:extLst>
          </p:cNvPr>
          <p:cNvSpPr/>
          <p:nvPr/>
        </p:nvSpPr>
        <p:spPr>
          <a:xfrm>
            <a:off x="4273460" y="4808352"/>
            <a:ext cx="6639339" cy="1176397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How much bigger is the second square?</a:t>
            </a:r>
          </a:p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4X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079FB3-8739-3535-13E1-2E6DA51310E6}"/>
              </a:ext>
            </a:extLst>
          </p:cNvPr>
          <p:cNvSpPr/>
          <p:nvPr/>
        </p:nvSpPr>
        <p:spPr>
          <a:xfrm>
            <a:off x="5466520" y="2825959"/>
            <a:ext cx="914400" cy="91440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45E2C5-7B26-5D35-BCD5-125B17241819}"/>
              </a:ext>
            </a:extLst>
          </p:cNvPr>
          <p:cNvSpPr/>
          <p:nvPr/>
        </p:nvSpPr>
        <p:spPr>
          <a:xfrm>
            <a:off x="7593128" y="2368759"/>
            <a:ext cx="1828800" cy="182880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21507070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88D7064F-7A71-BE07-FB5A-D2BF13546179}"/>
              </a:ext>
            </a:extLst>
          </p:cNvPr>
          <p:cNvSpPr/>
          <p:nvPr/>
        </p:nvSpPr>
        <p:spPr>
          <a:xfrm>
            <a:off x="4273460" y="4808352"/>
            <a:ext cx="6639339" cy="725557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How much bigger is the second box?</a:t>
            </a:r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605B615D-DF08-56CE-7221-686C4347C930}"/>
              </a:ext>
            </a:extLst>
          </p:cNvPr>
          <p:cNvSpPr/>
          <p:nvPr/>
        </p:nvSpPr>
        <p:spPr>
          <a:xfrm>
            <a:off x="5466520" y="2825959"/>
            <a:ext cx="914400" cy="914400"/>
          </a:xfrm>
          <a:prstGeom prst="cub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216E6D83-8D61-BAA7-5DF4-5A6189586BE8}"/>
              </a:ext>
            </a:extLst>
          </p:cNvPr>
          <p:cNvSpPr/>
          <p:nvPr/>
        </p:nvSpPr>
        <p:spPr>
          <a:xfrm>
            <a:off x="7248571" y="1798916"/>
            <a:ext cx="2743200" cy="2743200"/>
          </a:xfrm>
          <a:prstGeom prst="cub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1483611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88D7064F-7A71-BE07-FB5A-D2BF13546179}"/>
              </a:ext>
            </a:extLst>
          </p:cNvPr>
          <p:cNvSpPr/>
          <p:nvPr/>
        </p:nvSpPr>
        <p:spPr>
          <a:xfrm>
            <a:off x="4273460" y="4808352"/>
            <a:ext cx="6639339" cy="1176397"/>
          </a:xfrm>
          <a:prstGeom prst="flowChartAlternate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How much bigger is the second box?</a:t>
            </a:r>
          </a:p>
          <a:p>
            <a:pPr algn="ctr"/>
            <a:r>
              <a:rPr lang="en-US" sz="2800" dirty="0">
                <a:solidFill>
                  <a:srgbClr val="C00000"/>
                </a:solidFill>
                <a:latin typeface="Corbel" panose="020B0503020204020204"/>
                <a:sym typeface="Gill Sans"/>
              </a:rPr>
              <a:t>27X</a:t>
            </a:r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E7079FB3-8739-3535-13E1-2E6DA51310E6}"/>
              </a:ext>
            </a:extLst>
          </p:cNvPr>
          <p:cNvSpPr/>
          <p:nvPr/>
        </p:nvSpPr>
        <p:spPr>
          <a:xfrm>
            <a:off x="5466520" y="2825959"/>
            <a:ext cx="914400" cy="914400"/>
          </a:xfrm>
          <a:prstGeom prst="cub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B945E2C5-7B26-5D35-BCD5-125B17241819}"/>
              </a:ext>
            </a:extLst>
          </p:cNvPr>
          <p:cNvSpPr/>
          <p:nvPr/>
        </p:nvSpPr>
        <p:spPr>
          <a:xfrm>
            <a:off x="7248571" y="1798916"/>
            <a:ext cx="2743200" cy="2743200"/>
          </a:xfrm>
          <a:prstGeom prst="cub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  <a:latin typeface="Corbel" panose="020B0503020204020204"/>
              <a:sym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35688122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close human perceptual judgement is to an objective measurement of the stimulus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5" name="Picture 4" descr="Diagram&#10;&#10;Description automatically generated with low confidence">
            <a:extLst>
              <a:ext uri="{FF2B5EF4-FFF2-40B4-BE49-F238E27FC236}">
                <a16:creationId xmlns:a16="http://schemas.microsoft.com/office/drawing/2014/main" id="{D3DC8321-2BAA-29F2-B7CF-529E15394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686" y="2062295"/>
            <a:ext cx="7116418" cy="464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7976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7AD6-EC98-5062-AB9B-60D09A9F9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2EB87-CE22-8D5A-9A7C-413D6C000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25CE0-6287-0ECE-6271-973F0F6E5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2816942"/>
            <a:ext cx="7315200" cy="3167806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800" dirty="0"/>
              <a:t>Will a 2D or 3D bar chart result in better perceptual judgements? Why?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708854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8"/>
            <a:ext cx="3086629" cy="4601183"/>
          </a:xfrm>
        </p:spPr>
        <p:txBody>
          <a:bodyPr/>
          <a:lstStyle/>
          <a:p>
            <a:r>
              <a:rPr lang="en-US" dirty="0"/>
              <a:t>Discriminability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3200" dirty="0"/>
              <a:t>how differentiable levels of the channel are  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B84F2F-45C4-A970-322D-FAC2538F1F78}"/>
              </a:ext>
            </a:extLst>
          </p:cNvPr>
          <p:cNvSpPr txBox="1"/>
          <p:nvPr/>
        </p:nvSpPr>
        <p:spPr>
          <a:xfrm>
            <a:off x="9139767" y="5416811"/>
            <a:ext cx="25744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12750" hangingPunct="0"/>
            <a:r>
              <a:rPr lang="en-US" kern="0" dirty="0">
                <a:solidFill>
                  <a:srgbClr val="000000"/>
                </a:solidFill>
                <a:latin typeface="Corbel" panose="020B0503020204020204"/>
                <a:ea typeface="+mj-ea"/>
                <a:cs typeface="+mj-cs"/>
                <a:sym typeface="Gill Sans"/>
              </a:rPr>
              <a:t>https://</a:t>
            </a:r>
            <a:r>
              <a:rPr lang="en-US" kern="0" dirty="0" err="1">
                <a:solidFill>
                  <a:srgbClr val="000000"/>
                </a:solidFill>
                <a:latin typeface="Corbel" panose="020B0503020204020204"/>
                <a:ea typeface="+mj-ea"/>
                <a:cs typeface="+mj-cs"/>
                <a:sym typeface="Gill Sans"/>
              </a:rPr>
              <a:t>web.cse.ohio-state.edu</a:t>
            </a:r>
            <a:r>
              <a:rPr lang="en-US" kern="0" dirty="0">
                <a:solidFill>
                  <a:srgbClr val="000000"/>
                </a:solidFill>
                <a:latin typeface="Corbel" panose="020B0503020204020204"/>
                <a:ea typeface="+mj-ea"/>
                <a:cs typeface="+mj-cs"/>
                <a:sym typeface="Gill Sans"/>
              </a:rPr>
              <a:t>/~shen.94/Melbourne/Slides/TamaraChp5.pdf</a:t>
            </a: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95683CBF-F83F-CF0A-9154-42D8D2AC0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313" y="1703494"/>
            <a:ext cx="5617521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9129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3611D-E305-98DA-9EC6-4971C8B4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7D30D-4BED-799D-BB86-7C716FB29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8"/>
            <a:ext cx="3086629" cy="4601183"/>
          </a:xfrm>
        </p:spPr>
        <p:txBody>
          <a:bodyPr/>
          <a:lstStyle/>
          <a:p>
            <a:r>
              <a:rPr lang="en-US" dirty="0"/>
              <a:t>Discriminability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D10FC-3C48-B2D1-1B44-13A35C826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dirty="0"/>
              <a:t>Could a different visual encoding make differences more clear? What might you try?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48339-1656-8A87-9C61-E8FF07EEF121}"/>
              </a:ext>
            </a:extLst>
          </p:cNvPr>
          <p:cNvSpPr txBox="1"/>
          <p:nvPr/>
        </p:nvSpPr>
        <p:spPr>
          <a:xfrm>
            <a:off x="9139767" y="5416811"/>
            <a:ext cx="25744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12750" hangingPunct="0"/>
            <a:r>
              <a:rPr lang="en-US" kern="0" dirty="0">
                <a:solidFill>
                  <a:srgbClr val="000000"/>
                </a:solidFill>
                <a:latin typeface="Corbel" panose="020B0503020204020204"/>
                <a:ea typeface="+mj-ea"/>
                <a:cs typeface="+mj-cs"/>
                <a:sym typeface="Gill Sans"/>
              </a:rPr>
              <a:t>https://</a:t>
            </a:r>
            <a:r>
              <a:rPr lang="en-US" kern="0" dirty="0" err="1">
                <a:solidFill>
                  <a:srgbClr val="000000"/>
                </a:solidFill>
                <a:latin typeface="Corbel" panose="020B0503020204020204"/>
                <a:ea typeface="+mj-ea"/>
                <a:cs typeface="+mj-cs"/>
                <a:sym typeface="Gill Sans"/>
              </a:rPr>
              <a:t>web.cse.ohio-state.edu</a:t>
            </a:r>
            <a:r>
              <a:rPr lang="en-US" kern="0" dirty="0">
                <a:solidFill>
                  <a:srgbClr val="000000"/>
                </a:solidFill>
                <a:latin typeface="Corbel" panose="020B0503020204020204"/>
                <a:ea typeface="+mj-ea"/>
                <a:cs typeface="+mj-cs"/>
                <a:sym typeface="Gill Sans"/>
              </a:rPr>
              <a:t>/~shen.94/Melbourne/Slides/TamaraChp5.pdf</a:t>
            </a: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906F2581-B8FF-DD9B-BD96-B96AC4564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8121" y="2323248"/>
            <a:ext cx="4541646" cy="413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8620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whether channels exist independently or integrally with others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73DA2-0AE7-64C7-FE07-0F7D6DA0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566" y="2250571"/>
            <a:ext cx="8272303" cy="26658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309A26-A654-2735-FC47-FAC5C415D81B}"/>
              </a:ext>
            </a:extLst>
          </p:cNvPr>
          <p:cNvSpPr txBox="1"/>
          <p:nvPr/>
        </p:nvSpPr>
        <p:spPr>
          <a:xfrm>
            <a:off x="10348984" y="2607735"/>
            <a:ext cx="14221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412750" hangingPunct="0"/>
            <a:r>
              <a:rPr lang="en-US" sz="2000" kern="0" dirty="0">
                <a:solidFill>
                  <a:srgbClr val="000000"/>
                </a:solidFill>
                <a:latin typeface="Corbel" panose="020B0503020204020204"/>
                <a:ea typeface="+mj-ea"/>
                <a:cs typeface="+mj-cs"/>
                <a:sym typeface="Gill Sans"/>
              </a:rPr>
              <a:t>(saturation)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77FE17-AE41-E9A7-F994-2C3D344628B7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31926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</a:t>
            </a:r>
            <a:r>
              <a:rPr lang="en-US" dirty="0" err="1"/>
              <a:t>Popout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well a distinct item stands out from others </a:t>
            </a:r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EE368640-223C-28A7-C806-E59C6E4684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6" r="65373"/>
          <a:stretch/>
        </p:blipFill>
        <p:spPr>
          <a:xfrm>
            <a:off x="5234609" y="2073661"/>
            <a:ext cx="4572000" cy="29865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17E83B-D1DB-85D6-A8EB-EE024DA560DE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5593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</a:t>
            </a:r>
            <a:r>
              <a:rPr lang="en-US" dirty="0" err="1"/>
              <a:t>Popout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well a distinct item stands out from others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Color is a good channel for this </a:t>
            </a:r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EE368640-223C-28A7-C806-E59C6E4684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6" r="65373"/>
          <a:stretch/>
        </p:blipFill>
        <p:spPr>
          <a:xfrm>
            <a:off x="5240868" y="1676096"/>
            <a:ext cx="4572000" cy="29865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BB62A8-11BC-CEFE-4E5E-2C6CE4A8B758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8491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</a:t>
            </a:r>
            <a:r>
              <a:rPr lang="en-US" dirty="0" err="1"/>
              <a:t>Popout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well a distinct item stands out from others </a:t>
            </a:r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BFCC9DA4-5058-BED3-BA5C-13A20C326A0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41" r="33152"/>
          <a:stretch/>
        </p:blipFill>
        <p:spPr>
          <a:xfrm>
            <a:off x="5227616" y="2086914"/>
            <a:ext cx="4598504" cy="29865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2C0D48F-2403-E17E-EB1A-387473FBC267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7359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</a:t>
            </a:r>
            <a:r>
              <a:rPr lang="en-US" dirty="0" err="1"/>
              <a:t>Popout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well a distinct item stands out from others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Shape is not as helpful </a:t>
            </a:r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BFCC9DA4-5058-BED3-BA5C-13A20C326A0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41" r="33152"/>
          <a:stretch/>
        </p:blipFill>
        <p:spPr>
          <a:xfrm>
            <a:off x="5227616" y="2086914"/>
            <a:ext cx="4598504" cy="29865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D00C28-9952-6142-0277-530EB9EF76B4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22207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92AF7-948C-E6BE-D6F9-AFA94071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22BBD-5E7B-481A-E5ED-CC807BA9F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/>
              <a:t>Definition: </a:t>
            </a:r>
            <a:r>
              <a:rPr lang="en-US" sz="2800" dirty="0"/>
              <a:t>how likely people are to infer differences as representing distinct groups </a:t>
            </a:r>
          </a:p>
        </p:txBody>
      </p:sp>
      <p:pic>
        <p:nvPicPr>
          <p:cNvPr id="5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5CA5CD4B-ECDD-D97B-5C0F-6EE9BAD27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395" y="2267226"/>
            <a:ext cx="7086600" cy="264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798E33-AA3F-4C9F-6E5F-E64B8B202EE8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3205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6F52069A-CC74-7BB4-0F23-7B421B5D7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5">
            <a:extLst>
              <a:ext uri="{FF2B5EF4-FFF2-40B4-BE49-F238E27FC236}">
                <a16:creationId xmlns:a16="http://schemas.microsoft.com/office/drawing/2014/main" id="{2A43F835-A05A-F7E8-D654-A2629DAF1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4145" y="2446089"/>
            <a:ext cx="2917767" cy="1965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/>
              <a:t>Ranking Visual Channels</a:t>
            </a:r>
            <a:endParaRPr dirty="0"/>
          </a:p>
        </p:txBody>
      </p:sp>
      <p:pic>
        <p:nvPicPr>
          <p:cNvPr id="10" name="Picture 2" descr="Figure Showing the effectiveness of channels that modify the appearance of marks depends on matching the expressiveness of channels with the attributes being encoded.">
            <a:extLst>
              <a:ext uri="{FF2B5EF4-FFF2-40B4-BE49-F238E27FC236}">
                <a16:creationId xmlns:a16="http://schemas.microsoft.com/office/drawing/2014/main" id="{9CB0C88F-9E1A-26A9-AEE6-26A2DBFCB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34"/>
          <a:stretch/>
        </p:blipFill>
        <p:spPr bwMode="auto">
          <a:xfrm>
            <a:off x="3730156" y="1342617"/>
            <a:ext cx="7620000" cy="4939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2B554FB-C0DB-3FDC-C2AE-561B77C85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0156" y="361336"/>
            <a:ext cx="8083302" cy="1334729"/>
          </a:xfrm>
        </p:spPr>
        <p:txBody>
          <a:bodyPr anchor="t">
            <a:normAutofit/>
          </a:bodyPr>
          <a:lstStyle/>
          <a:p>
            <a:r>
              <a:rPr lang="en-US" sz="2600" b="1" dirty="0"/>
              <a:t>Design takeaway</a:t>
            </a:r>
            <a:r>
              <a:rPr lang="en-US" sz="2600" dirty="0"/>
              <a:t>: Prioritize most effective channels for most important data</a:t>
            </a:r>
          </a:p>
          <a:p>
            <a:endParaRPr lang="en-US" sz="26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18F0BF-31D3-8E4C-1808-9881ECE5E42D}"/>
              </a:ext>
            </a:extLst>
          </p:cNvPr>
          <p:cNvSpPr txBox="1"/>
          <p:nvPr/>
        </p:nvSpPr>
        <p:spPr>
          <a:xfrm>
            <a:off x="6205384" y="6134163"/>
            <a:ext cx="609845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Munzner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T. (2014). Visualization Analysis and Design (1st ed.). A K Peters/CRC Press.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/10.1201/b17511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8381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2B386-7114-281E-65BC-9E5FCD4653E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The “gestalt effect”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F211D76-E901-8BC9-5621-B5680D512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4921456"/>
            <a:ext cx="7779393" cy="80356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Our brain’s ability to generate whole forms, instead of just collections of unrelated elements</a:t>
            </a: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862960CD-B1AC-217D-B790-1C4462D1F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172" y="1423554"/>
            <a:ext cx="7772400" cy="3113572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3"/>
          <p:cNvSpPr txBox="1">
            <a:spLocks noGrp="1"/>
          </p:cNvSpPr>
          <p:nvPr>
            <p:ph type="body" idx="1"/>
          </p:nvPr>
        </p:nvSpPr>
        <p:spPr>
          <a:xfrm>
            <a:off x="3817489" y="955964"/>
            <a:ext cx="7266712" cy="460118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We interpret objects that are </a:t>
            </a:r>
            <a:r>
              <a:rPr lang="en-US" sz="2400" b="1" dirty="0">
                <a:ea typeface="Arial"/>
                <a:cs typeface="Arial"/>
                <a:sym typeface="Arial"/>
              </a:rPr>
              <a:t>close</a:t>
            </a:r>
            <a:r>
              <a:rPr lang="en-US" sz="2400" dirty="0">
                <a:ea typeface="Arial"/>
                <a:cs typeface="Arial"/>
                <a:sym typeface="Arial"/>
              </a:rPr>
              <a:t> to each other as a group</a:t>
            </a:r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5B0622-6EFF-7BBD-7FF9-EC20E56223F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Law of Proximity</a:t>
            </a:r>
          </a:p>
        </p:txBody>
      </p:sp>
      <p:pic>
        <p:nvPicPr>
          <p:cNvPr id="4" name="Picture 3" descr="A close-up of a pill&#10;&#10;Description automatically generated">
            <a:extLst>
              <a:ext uri="{FF2B5EF4-FFF2-40B4-BE49-F238E27FC236}">
                <a16:creationId xmlns:a16="http://schemas.microsoft.com/office/drawing/2014/main" id="{F0954E6C-37A4-68CE-416C-523A186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485" y="2085363"/>
            <a:ext cx="7772400" cy="3119416"/>
          </a:xfrm>
          <a:prstGeom prst="rect">
            <a:avLst/>
          </a:prstGeom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D33700A2-DD81-090A-F4A9-58D6EFC200F4}"/>
              </a:ext>
            </a:extLst>
          </p:cNvPr>
          <p:cNvSpPr/>
          <p:nvPr/>
        </p:nvSpPr>
        <p:spPr>
          <a:xfrm>
            <a:off x="3817489" y="2145323"/>
            <a:ext cx="3181188" cy="3037792"/>
          </a:xfrm>
          <a:prstGeom prst="frame">
            <a:avLst>
              <a:gd name="adj1" fmla="val 733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8E1E5D00-F3B5-FCA9-40CD-4110E71B6814}"/>
              </a:ext>
            </a:extLst>
          </p:cNvPr>
          <p:cNvSpPr/>
          <p:nvPr/>
        </p:nvSpPr>
        <p:spPr>
          <a:xfrm>
            <a:off x="7592319" y="2152161"/>
            <a:ext cx="1282050" cy="3037792"/>
          </a:xfrm>
          <a:prstGeom prst="frame">
            <a:avLst>
              <a:gd name="adj1" fmla="val 1922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CD5773CA-B186-D4EF-5591-F10DEFEC997B}"/>
              </a:ext>
            </a:extLst>
          </p:cNvPr>
          <p:cNvSpPr/>
          <p:nvPr/>
        </p:nvSpPr>
        <p:spPr>
          <a:xfrm>
            <a:off x="8874369" y="2152161"/>
            <a:ext cx="1282050" cy="3037792"/>
          </a:xfrm>
          <a:prstGeom prst="frame">
            <a:avLst>
              <a:gd name="adj1" fmla="val 1922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E4993BDE-BAB6-A2CB-0DF6-BB09C325C0D1}"/>
              </a:ext>
            </a:extLst>
          </p:cNvPr>
          <p:cNvSpPr/>
          <p:nvPr/>
        </p:nvSpPr>
        <p:spPr>
          <a:xfrm>
            <a:off x="10210797" y="2152162"/>
            <a:ext cx="1282050" cy="3037792"/>
          </a:xfrm>
          <a:prstGeom prst="frame">
            <a:avLst>
              <a:gd name="adj1" fmla="val 1922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98B2BF-854E-F736-85FE-653E60FA515E}"/>
              </a:ext>
            </a:extLst>
          </p:cNvPr>
          <p:cNvSpPr txBox="1"/>
          <p:nvPr/>
        </p:nvSpPr>
        <p:spPr>
          <a:xfrm>
            <a:off x="2376760" y="6009780"/>
            <a:ext cx="98152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Wagemans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J., Elder, J. H.,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Kubovy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M., Palmer, S. E., Peterson, M. A., Singh, M., &amp; von der Heydt, R. (2012). A century of Gestalt psychology in visual perception: I. Perceptual grouping and figure-ground organization.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Psychological bulletin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138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(6), 1172–1217.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/10.1037/a0029333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4"/>
          <p:cNvSpPr txBox="1">
            <a:spLocks noGrp="1"/>
          </p:cNvSpPr>
          <p:nvPr>
            <p:ph type="body" idx="1"/>
          </p:nvPr>
        </p:nvSpPr>
        <p:spPr>
          <a:xfrm>
            <a:off x="3505206" y="893612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We interpret objects that are </a:t>
            </a:r>
            <a:r>
              <a:rPr lang="en-US" sz="2400" b="1" dirty="0">
                <a:ea typeface="Arial"/>
                <a:cs typeface="Arial"/>
                <a:sym typeface="Arial"/>
              </a:rPr>
              <a:t>visually similar </a:t>
            </a:r>
            <a:r>
              <a:rPr lang="en-US" sz="2400" dirty="0">
                <a:ea typeface="Arial"/>
                <a:cs typeface="Arial"/>
                <a:sym typeface="Arial"/>
              </a:rPr>
              <a:t>to each other as a group</a:t>
            </a:r>
            <a:endParaRPr sz="2400" dirty="0"/>
          </a:p>
          <a:p>
            <a:pPr indent="-53339">
              <a:lnSpc>
                <a:spcPct val="100000"/>
              </a:lnSpc>
              <a:buSzPts val="2040"/>
              <a:buNone/>
            </a:pP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34"/>
          <p:cNvSpPr/>
          <p:nvPr/>
        </p:nvSpPr>
        <p:spPr>
          <a:xfrm>
            <a:off x="5216245" y="1738743"/>
            <a:ext cx="4994558" cy="487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48" name="Google Shape;348;p34"/>
          <p:cNvGrpSpPr/>
          <p:nvPr/>
        </p:nvGrpSpPr>
        <p:grpSpPr>
          <a:xfrm>
            <a:off x="3463645" y="2653143"/>
            <a:ext cx="2171547" cy="2615096"/>
            <a:chOff x="152400" y="2819400"/>
            <a:chExt cx="2286000" cy="2819400"/>
          </a:xfrm>
        </p:grpSpPr>
        <p:grpSp>
          <p:nvGrpSpPr>
            <p:cNvPr id="349" name="Google Shape;349;p34"/>
            <p:cNvGrpSpPr/>
            <p:nvPr/>
          </p:nvGrpSpPr>
          <p:grpSpPr>
            <a:xfrm>
              <a:off x="1828800" y="2819400"/>
              <a:ext cx="609600" cy="2819400"/>
              <a:chOff x="1828800" y="2819400"/>
              <a:chExt cx="609600" cy="2819400"/>
            </a:xfrm>
          </p:grpSpPr>
          <p:cxnSp>
            <p:nvCxnSpPr>
              <p:cNvPr id="350" name="Google Shape;350;p34"/>
              <p:cNvCxnSpPr/>
              <p:nvPr/>
            </p:nvCxnSpPr>
            <p:spPr>
              <a:xfrm>
                <a:off x="1828800" y="2819400"/>
                <a:ext cx="609600" cy="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51" name="Google Shape;351;p34"/>
              <p:cNvCxnSpPr/>
              <p:nvPr/>
            </p:nvCxnSpPr>
            <p:spPr>
              <a:xfrm>
                <a:off x="1828800" y="4191000"/>
                <a:ext cx="609600" cy="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52" name="Google Shape;352;p34"/>
              <p:cNvCxnSpPr/>
              <p:nvPr/>
            </p:nvCxnSpPr>
            <p:spPr>
              <a:xfrm>
                <a:off x="1828800" y="5638800"/>
                <a:ext cx="609600" cy="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53" name="Google Shape;353;p34"/>
              <p:cNvCxnSpPr/>
              <p:nvPr/>
            </p:nvCxnSpPr>
            <p:spPr>
              <a:xfrm>
                <a:off x="1828800" y="2819400"/>
                <a:ext cx="0" cy="281940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54" name="Google Shape;354;p34"/>
            <p:cNvSpPr txBox="1"/>
            <p:nvPr/>
          </p:nvSpPr>
          <p:spPr>
            <a:xfrm>
              <a:off x="152400" y="3962400"/>
              <a:ext cx="1655622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r>
                <a: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“grey dots”</a:t>
              </a:r>
              <a:endParaRPr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5" name="Google Shape;355;p34"/>
          <p:cNvGrpSpPr/>
          <p:nvPr/>
        </p:nvGrpSpPr>
        <p:grpSpPr>
          <a:xfrm>
            <a:off x="9864445" y="3338943"/>
            <a:ext cx="2316317" cy="2615096"/>
            <a:chOff x="6553200" y="3505200"/>
            <a:chExt cx="2438400" cy="2819400"/>
          </a:xfrm>
        </p:grpSpPr>
        <p:grpSp>
          <p:nvGrpSpPr>
            <p:cNvPr id="356" name="Google Shape;356;p34"/>
            <p:cNvGrpSpPr/>
            <p:nvPr/>
          </p:nvGrpSpPr>
          <p:grpSpPr>
            <a:xfrm flipH="1">
              <a:off x="6553200" y="3505200"/>
              <a:ext cx="609600" cy="2819400"/>
              <a:chOff x="1828800" y="2819400"/>
              <a:chExt cx="609600" cy="2819400"/>
            </a:xfrm>
          </p:grpSpPr>
          <p:cxnSp>
            <p:nvCxnSpPr>
              <p:cNvPr id="357" name="Google Shape;357;p34"/>
              <p:cNvCxnSpPr/>
              <p:nvPr/>
            </p:nvCxnSpPr>
            <p:spPr>
              <a:xfrm>
                <a:off x="1828800" y="2819400"/>
                <a:ext cx="609600" cy="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58" name="Google Shape;358;p34"/>
              <p:cNvCxnSpPr/>
              <p:nvPr/>
            </p:nvCxnSpPr>
            <p:spPr>
              <a:xfrm>
                <a:off x="1828800" y="4191000"/>
                <a:ext cx="609600" cy="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59" name="Google Shape;359;p34"/>
              <p:cNvCxnSpPr/>
              <p:nvPr/>
            </p:nvCxnSpPr>
            <p:spPr>
              <a:xfrm>
                <a:off x="1828800" y="5638800"/>
                <a:ext cx="609600" cy="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360" name="Google Shape;360;p34"/>
              <p:cNvCxnSpPr/>
              <p:nvPr/>
            </p:nvCxnSpPr>
            <p:spPr>
              <a:xfrm>
                <a:off x="1828800" y="2819400"/>
                <a:ext cx="0" cy="2819400"/>
              </a:xfrm>
              <a:prstGeom prst="straightConnector1">
                <a:avLst/>
              </a:prstGeom>
              <a:noFill/>
              <a:ln w="5715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sp>
          <p:nvSpPr>
            <p:cNvPr id="361" name="Google Shape;361;p34"/>
            <p:cNvSpPr txBox="1"/>
            <p:nvPr/>
          </p:nvSpPr>
          <p:spPr>
            <a:xfrm>
              <a:off x="7216204" y="4619266"/>
              <a:ext cx="1775396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r>
                <a:rPr lang="en-US"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“black dots”</a:t>
              </a: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C28518-8AEC-E7A5-4C37-92FF30B4C2F4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Law of Similarity</a:t>
            </a:r>
          </a:p>
        </p:txBody>
      </p:sp>
      <p:pic>
        <p:nvPicPr>
          <p:cNvPr id="4" name="Picture 3" descr="A black and white circle pattern&#10;&#10;Description automatically generated">
            <a:extLst>
              <a:ext uri="{FF2B5EF4-FFF2-40B4-BE49-F238E27FC236}">
                <a16:creationId xmlns:a16="http://schemas.microsoft.com/office/drawing/2014/main" id="{65E81FB3-CB3A-AE0A-3175-89990C807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432" y="2451528"/>
            <a:ext cx="3688379" cy="37414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A0C2B4-C875-FFF1-3AC4-62FB6AEA3B29}"/>
              </a:ext>
            </a:extLst>
          </p:cNvPr>
          <p:cNvSpPr txBox="1"/>
          <p:nvPr/>
        </p:nvSpPr>
        <p:spPr>
          <a:xfrm>
            <a:off x="2376760" y="6009780"/>
            <a:ext cx="98152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Wagemans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J., Elder, J. H.,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Kubovy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M., Palmer, S. E., Peterson, M. A., Singh, M., &amp; von der Heydt, R. (2012). A century of Gestalt psychology in visual perception: I. Perceptual grouping and figure-ground organization.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Psychological bulletin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138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(6), 1172–1217.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/10.1037/a0029333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5"/>
          <p:cNvSpPr txBox="1">
            <a:spLocks noGrp="1"/>
          </p:cNvSpPr>
          <p:nvPr>
            <p:ph type="body" idx="1"/>
          </p:nvPr>
        </p:nvSpPr>
        <p:spPr>
          <a:xfrm>
            <a:off x="3534229" y="905268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When parts of a picture are missing, we fill in the visual gap</a:t>
            </a:r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F386A4-30FF-E185-C12E-37B84C3D1FE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Law of Closure</a:t>
            </a:r>
          </a:p>
        </p:txBody>
      </p:sp>
      <p:pic>
        <p:nvPicPr>
          <p:cNvPr id="2052" name="Picture 4" descr="WWF logo">
            <a:extLst>
              <a:ext uri="{FF2B5EF4-FFF2-40B4-BE49-F238E27FC236}">
                <a16:creationId xmlns:a16="http://schemas.microsoft.com/office/drawing/2014/main" id="{90FFF0CB-712A-D938-AB70-F52A1948F6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306" y="1652815"/>
            <a:ext cx="2985407" cy="4442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c 5">
            <a:extLst>
              <a:ext uri="{FF2B5EF4-FFF2-40B4-BE49-F238E27FC236}">
                <a16:creationId xmlns:a16="http://schemas.microsoft.com/office/drawing/2014/main" id="{20B4FB92-1BD7-B37D-59BC-ABB801CC1CD6}"/>
              </a:ext>
            </a:extLst>
          </p:cNvPr>
          <p:cNvSpPr/>
          <p:nvPr/>
        </p:nvSpPr>
        <p:spPr>
          <a:xfrm rot="16515343">
            <a:off x="6505974" y="1814287"/>
            <a:ext cx="798286" cy="1436914"/>
          </a:xfrm>
          <a:prstGeom prst="arc">
            <a:avLst>
              <a:gd name="adj1" fmla="val 19082292"/>
              <a:gd name="adj2" fmla="val 0"/>
            </a:avLst>
          </a:prstGeom>
          <a:ln w="762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9F318F8-268D-2004-5487-1ABC13E4D3AD}"/>
              </a:ext>
            </a:extLst>
          </p:cNvPr>
          <p:cNvSpPr/>
          <p:nvPr/>
        </p:nvSpPr>
        <p:spPr>
          <a:xfrm rot="16515343">
            <a:off x="7330489" y="1716804"/>
            <a:ext cx="798286" cy="1436914"/>
          </a:xfrm>
          <a:prstGeom prst="arc">
            <a:avLst>
              <a:gd name="adj1" fmla="val 19082292"/>
              <a:gd name="adj2" fmla="val 3247823"/>
            </a:avLst>
          </a:prstGeom>
          <a:ln w="762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A8DD5DE6-973D-0A8D-52E3-F5F07A0EA74F}"/>
              </a:ext>
            </a:extLst>
          </p:cNvPr>
          <p:cNvSpPr/>
          <p:nvPr/>
        </p:nvSpPr>
        <p:spPr>
          <a:xfrm rot="19498122">
            <a:off x="7851599" y="1942944"/>
            <a:ext cx="798286" cy="1436914"/>
          </a:xfrm>
          <a:prstGeom prst="arc">
            <a:avLst>
              <a:gd name="adj1" fmla="val 674605"/>
              <a:gd name="adj2" fmla="val 3247823"/>
            </a:avLst>
          </a:prstGeom>
          <a:ln w="762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D64F82-E976-CACB-2796-0DA070013E14}"/>
              </a:ext>
            </a:extLst>
          </p:cNvPr>
          <p:cNvSpPr txBox="1"/>
          <p:nvPr/>
        </p:nvSpPr>
        <p:spPr>
          <a:xfrm>
            <a:off x="2376760" y="6009780"/>
            <a:ext cx="98152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Wagemans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J., Elder, J. H.,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Kubovy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M., Palmer, S. E., Peterson, M. A., Singh, M., &amp; von der Heydt, R. (2012). A century of Gestalt psychology in visual perception: I. Perceptual grouping and figure-ground organization.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Psychological bulletin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138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(6), 1172–1217.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/10.1037/a0029333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"/>
          <p:cNvSpPr txBox="1">
            <a:spLocks noGrp="1"/>
          </p:cNvSpPr>
          <p:nvPr>
            <p:ph type="body" idx="1"/>
          </p:nvPr>
        </p:nvSpPr>
        <p:spPr>
          <a:xfrm>
            <a:off x="3477500" y="990596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We perceive objects as being symmetrical, arranged around a center point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36"/>
          <p:cNvSpPr txBox="1"/>
          <p:nvPr/>
        </p:nvSpPr>
        <p:spPr>
          <a:xfrm>
            <a:off x="4010431" y="2438396"/>
            <a:ext cx="716374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en-US" sz="96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    ] {    } [    ]</a:t>
            </a:r>
            <a:endParaRPr sz="96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9" name="Google Shape;379;p36"/>
          <p:cNvGrpSpPr/>
          <p:nvPr/>
        </p:nvGrpSpPr>
        <p:grpSpPr>
          <a:xfrm>
            <a:off x="5153900" y="2666996"/>
            <a:ext cx="4876800" cy="1447800"/>
            <a:chOff x="2133600" y="3276600"/>
            <a:chExt cx="4876800" cy="1447800"/>
          </a:xfrm>
        </p:grpSpPr>
        <p:cxnSp>
          <p:nvCxnSpPr>
            <p:cNvPr id="380" name="Google Shape;380;p36"/>
            <p:cNvCxnSpPr/>
            <p:nvPr/>
          </p:nvCxnSpPr>
          <p:spPr>
            <a:xfrm>
              <a:off x="2133600" y="3276600"/>
              <a:ext cx="0" cy="1447800"/>
            </a:xfrm>
            <a:prstGeom prst="straightConnector1">
              <a:avLst/>
            </a:prstGeom>
            <a:noFill/>
            <a:ln w="38100" cap="rnd" cmpd="sng">
              <a:solidFill>
                <a:srgbClr val="000000"/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381" name="Google Shape;381;p36"/>
            <p:cNvCxnSpPr/>
            <p:nvPr/>
          </p:nvCxnSpPr>
          <p:spPr>
            <a:xfrm>
              <a:off x="7010400" y="3276600"/>
              <a:ext cx="0" cy="1447800"/>
            </a:xfrm>
            <a:prstGeom prst="straightConnector1">
              <a:avLst/>
            </a:prstGeom>
            <a:noFill/>
            <a:ln w="38100" cap="rnd" cmpd="sng">
              <a:solidFill>
                <a:srgbClr val="000000"/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382" name="Google Shape;382;p36"/>
            <p:cNvCxnSpPr/>
            <p:nvPr/>
          </p:nvCxnSpPr>
          <p:spPr>
            <a:xfrm>
              <a:off x="4572000" y="3276600"/>
              <a:ext cx="0" cy="1447800"/>
            </a:xfrm>
            <a:prstGeom prst="straightConnector1">
              <a:avLst/>
            </a:prstGeom>
            <a:noFill/>
            <a:ln w="38100" cap="rnd" cmpd="sng">
              <a:solidFill>
                <a:srgbClr val="000000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383" name="Google Shape;383;p36"/>
          <p:cNvSpPr/>
          <p:nvPr/>
        </p:nvSpPr>
        <p:spPr>
          <a:xfrm>
            <a:off x="4126724" y="2743196"/>
            <a:ext cx="2057400" cy="1295400"/>
          </a:xfrm>
          <a:prstGeom prst="rect">
            <a:avLst/>
          </a:prstGeom>
          <a:noFill/>
          <a:ln w="38100" cap="flat" cmpd="sng">
            <a:solidFill>
              <a:srgbClr val="29293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36"/>
          <p:cNvSpPr/>
          <p:nvPr/>
        </p:nvSpPr>
        <p:spPr>
          <a:xfrm>
            <a:off x="6449300" y="2743196"/>
            <a:ext cx="2286000" cy="1295400"/>
          </a:xfrm>
          <a:prstGeom prst="rect">
            <a:avLst/>
          </a:prstGeom>
          <a:noFill/>
          <a:ln w="38100" cap="flat" cmpd="sng">
            <a:solidFill>
              <a:srgbClr val="29293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6"/>
          <p:cNvSpPr/>
          <p:nvPr/>
        </p:nvSpPr>
        <p:spPr>
          <a:xfrm>
            <a:off x="9009620" y="2743196"/>
            <a:ext cx="2057400" cy="1295400"/>
          </a:xfrm>
          <a:prstGeom prst="rect">
            <a:avLst/>
          </a:prstGeom>
          <a:noFill/>
          <a:ln w="38100" cap="flat" cmpd="sng">
            <a:solidFill>
              <a:srgbClr val="29293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6" name="Google Shape;386;p36"/>
          <p:cNvGrpSpPr/>
          <p:nvPr/>
        </p:nvGrpSpPr>
        <p:grpSpPr>
          <a:xfrm>
            <a:off x="5992100" y="1904997"/>
            <a:ext cx="3200400" cy="762001"/>
            <a:chOff x="2971800" y="2514600"/>
            <a:chExt cx="3200400" cy="762001"/>
          </a:xfrm>
        </p:grpSpPr>
        <p:grpSp>
          <p:nvGrpSpPr>
            <p:cNvPr id="387" name="Google Shape;387;p36"/>
            <p:cNvGrpSpPr/>
            <p:nvPr/>
          </p:nvGrpSpPr>
          <p:grpSpPr>
            <a:xfrm rot="10800000" flipH="1">
              <a:off x="2971800" y="3124200"/>
              <a:ext cx="3200400" cy="152401"/>
              <a:chOff x="2971800" y="4724400"/>
              <a:chExt cx="3200400" cy="152401"/>
            </a:xfrm>
          </p:grpSpPr>
          <p:sp>
            <p:nvSpPr>
              <p:cNvPr id="388" name="Google Shape;388;p36"/>
              <p:cNvSpPr/>
              <p:nvPr/>
            </p:nvSpPr>
            <p:spPr>
              <a:xfrm rot="-5400000">
                <a:off x="3276600" y="4419600"/>
                <a:ext cx="152400" cy="762000"/>
              </a:xfrm>
              <a:prstGeom prst="leftBracket">
                <a:avLst>
                  <a:gd name="adj" fmla="val 8333"/>
                </a:avLst>
              </a:prstGeom>
              <a:noFill/>
              <a:ln w="381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tx1">
                      <a:lumMod val="75000"/>
                      <a:lumOff val="25000"/>
                    </a:schemeClr>
                  </a:solidFill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9" name="Google Shape;389;p36"/>
              <p:cNvSpPr/>
              <p:nvPr/>
            </p:nvSpPr>
            <p:spPr>
              <a:xfrm rot="-5400000">
                <a:off x="5715000" y="4419601"/>
                <a:ext cx="152400" cy="762000"/>
              </a:xfrm>
              <a:prstGeom prst="leftBracket">
                <a:avLst>
                  <a:gd name="adj" fmla="val 8333"/>
                </a:avLst>
              </a:prstGeom>
              <a:noFill/>
              <a:ln w="381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tx1">
                      <a:lumMod val="75000"/>
                      <a:lumOff val="25000"/>
                    </a:schemeClr>
                  </a:solidFill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90" name="Google Shape;390;p36"/>
            <p:cNvSpPr txBox="1"/>
            <p:nvPr/>
          </p:nvSpPr>
          <p:spPr>
            <a:xfrm>
              <a:off x="3429000" y="2514600"/>
              <a:ext cx="2305439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r>
                <a:rPr lang="en-US" sz="2400">
                  <a:solidFill>
                    <a:schemeClr val="tx1">
                      <a:lumMod val="75000"/>
                      <a:lumOff val="25000"/>
                    </a:schemeClr>
                  </a:solidFill>
                  <a:ea typeface="Arial"/>
                  <a:cs typeface="Arial"/>
                  <a:sym typeface="Arial"/>
                </a:rPr>
                <a:t>law of proximity</a:t>
              </a:r>
              <a:endParaRPr sz="240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1" name="Google Shape;391;p36"/>
          <p:cNvGrpSpPr/>
          <p:nvPr/>
        </p:nvGrpSpPr>
        <p:grpSpPr>
          <a:xfrm>
            <a:off x="4315700" y="4114797"/>
            <a:ext cx="6553200" cy="766465"/>
            <a:chOff x="1295400" y="4724400"/>
            <a:chExt cx="6553200" cy="766465"/>
          </a:xfrm>
        </p:grpSpPr>
        <p:grpSp>
          <p:nvGrpSpPr>
            <p:cNvPr id="392" name="Google Shape;392;p36"/>
            <p:cNvGrpSpPr/>
            <p:nvPr/>
          </p:nvGrpSpPr>
          <p:grpSpPr>
            <a:xfrm rot="10800000" flipH="1">
              <a:off x="1295400" y="4724400"/>
              <a:ext cx="6553200" cy="152401"/>
              <a:chOff x="1295400" y="3124200"/>
              <a:chExt cx="6553200" cy="152401"/>
            </a:xfrm>
          </p:grpSpPr>
          <p:sp>
            <p:nvSpPr>
              <p:cNvPr id="393" name="Google Shape;393;p36"/>
              <p:cNvSpPr/>
              <p:nvPr/>
            </p:nvSpPr>
            <p:spPr>
              <a:xfrm rot="-5400000" flipH="1">
                <a:off x="2057400" y="2362200"/>
                <a:ext cx="152400" cy="1676400"/>
              </a:xfrm>
              <a:prstGeom prst="leftBracket">
                <a:avLst>
                  <a:gd name="adj" fmla="val 8333"/>
                </a:avLst>
              </a:prstGeom>
              <a:noFill/>
              <a:ln w="381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tx1">
                      <a:lumMod val="75000"/>
                      <a:lumOff val="25000"/>
                    </a:schemeClr>
                  </a:solidFill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4" name="Google Shape;394;p36"/>
              <p:cNvSpPr/>
              <p:nvPr/>
            </p:nvSpPr>
            <p:spPr>
              <a:xfrm rot="-5400000" flipH="1">
                <a:off x="4495800" y="2362201"/>
                <a:ext cx="152400" cy="1676400"/>
              </a:xfrm>
              <a:prstGeom prst="leftBracket">
                <a:avLst>
                  <a:gd name="adj" fmla="val 8333"/>
                </a:avLst>
              </a:prstGeom>
              <a:noFill/>
              <a:ln w="381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tx1">
                      <a:lumMod val="75000"/>
                      <a:lumOff val="25000"/>
                    </a:schemeClr>
                  </a:solidFill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5" name="Google Shape;395;p36"/>
              <p:cNvSpPr/>
              <p:nvPr/>
            </p:nvSpPr>
            <p:spPr>
              <a:xfrm rot="-5400000" flipH="1">
                <a:off x="6934200" y="2362201"/>
                <a:ext cx="152400" cy="1676400"/>
              </a:xfrm>
              <a:prstGeom prst="leftBracket">
                <a:avLst>
                  <a:gd name="adj" fmla="val 8333"/>
                </a:avLst>
              </a:prstGeom>
              <a:noFill/>
              <a:ln w="381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tx1">
                      <a:lumMod val="75000"/>
                      <a:lumOff val="25000"/>
                    </a:schemeClr>
                  </a:solidFill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96" name="Google Shape;396;p36"/>
            <p:cNvSpPr txBox="1"/>
            <p:nvPr/>
          </p:nvSpPr>
          <p:spPr>
            <a:xfrm>
              <a:off x="2149552" y="5029200"/>
              <a:ext cx="4844896" cy="4616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r>
                <a:rPr lang="en-US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Arial"/>
                  <a:cs typeface="Arial"/>
                  <a:sym typeface="Arial"/>
                </a:rPr>
                <a:t>law of symmetry + law of similarity</a:t>
              </a:r>
              <a:endParaRPr sz="2400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C46EC14-962D-0F61-D7AB-FCA6D023DDCA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Law of Symmetry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DD3369-6BB7-7C89-711A-0BDD44E94EC2}"/>
              </a:ext>
            </a:extLst>
          </p:cNvPr>
          <p:cNvSpPr txBox="1"/>
          <p:nvPr/>
        </p:nvSpPr>
        <p:spPr>
          <a:xfrm>
            <a:off x="2376760" y="6009780"/>
            <a:ext cx="98152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Wagemans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J., Elder, J. H.,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Kubovy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M., Palmer, S. E., Peterson, M. A., Singh, M., &amp; von der Heydt, R. (2012). A century of Gestalt psychology in visual perception: I. Perceptual grouping and figure-ground organization.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Psychological bulletin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138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(6), 1172–1217.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/10.1037/a0029333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 txBox="1">
            <a:spLocks noGrp="1"/>
          </p:cNvSpPr>
          <p:nvPr>
            <p:ph type="body" idx="1"/>
          </p:nvPr>
        </p:nvSpPr>
        <p:spPr>
          <a:xfrm>
            <a:off x="3532910" y="84822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We group objects that we perceive to be moving along the same path</a:t>
            </a:r>
            <a:endParaRPr sz="2400" dirty="0">
              <a:ea typeface="Arial"/>
              <a:cs typeface="Arial"/>
              <a:sym typeface="Arial"/>
            </a:endParaRPr>
          </a:p>
        </p:txBody>
      </p:sp>
      <p:grpSp>
        <p:nvGrpSpPr>
          <p:cNvPr id="403" name="Google Shape;403;p37"/>
          <p:cNvGrpSpPr/>
          <p:nvPr/>
        </p:nvGrpSpPr>
        <p:grpSpPr>
          <a:xfrm>
            <a:off x="5361710" y="2448420"/>
            <a:ext cx="4343400" cy="3048000"/>
            <a:chOff x="2286000" y="3200400"/>
            <a:chExt cx="4343400" cy="3048000"/>
          </a:xfrm>
        </p:grpSpPr>
        <p:grpSp>
          <p:nvGrpSpPr>
            <p:cNvPr id="404" name="Google Shape;404;p37"/>
            <p:cNvGrpSpPr/>
            <p:nvPr/>
          </p:nvGrpSpPr>
          <p:grpSpPr>
            <a:xfrm>
              <a:off x="2286000" y="3200400"/>
              <a:ext cx="4343400" cy="3048000"/>
              <a:chOff x="2286000" y="3200400"/>
              <a:chExt cx="4343400" cy="3048000"/>
            </a:xfrm>
          </p:grpSpPr>
          <p:sp>
            <p:nvSpPr>
              <p:cNvPr id="405" name="Google Shape;405;p37"/>
              <p:cNvSpPr/>
              <p:nvPr/>
            </p:nvSpPr>
            <p:spPr>
              <a:xfrm>
                <a:off x="2286000" y="5638800"/>
                <a:ext cx="4343400" cy="609600"/>
              </a:xfrm>
              <a:prstGeom prst="rect">
                <a:avLst/>
              </a:prstGeom>
              <a:solidFill>
                <a:srgbClr val="D8D8D8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6" name="Google Shape;406;p37"/>
              <p:cNvSpPr/>
              <p:nvPr/>
            </p:nvSpPr>
            <p:spPr>
              <a:xfrm>
                <a:off x="2286000" y="4419600"/>
                <a:ext cx="4343400" cy="609600"/>
              </a:xfrm>
              <a:prstGeom prst="rect">
                <a:avLst/>
              </a:prstGeom>
              <a:solidFill>
                <a:srgbClr val="D8D8D8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7" name="Google Shape;407;p37"/>
              <p:cNvSpPr/>
              <p:nvPr/>
            </p:nvSpPr>
            <p:spPr>
              <a:xfrm>
                <a:off x="2286000" y="3200400"/>
                <a:ext cx="4343400" cy="609600"/>
              </a:xfrm>
              <a:prstGeom prst="rect">
                <a:avLst/>
              </a:prstGeom>
              <a:solidFill>
                <a:srgbClr val="D8D8D8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algn="ctr"/>
                <a:endParaRPr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8" name="Google Shape;408;p37"/>
            <p:cNvGrpSpPr/>
            <p:nvPr/>
          </p:nvGrpSpPr>
          <p:grpSpPr>
            <a:xfrm>
              <a:off x="2286000" y="3200400"/>
              <a:ext cx="4343400" cy="2438400"/>
              <a:chOff x="1066800" y="3581400"/>
              <a:chExt cx="2438400" cy="1219200"/>
            </a:xfrm>
          </p:grpSpPr>
          <p:cxnSp>
            <p:nvCxnSpPr>
              <p:cNvPr id="409" name="Google Shape;409;p37"/>
              <p:cNvCxnSpPr/>
              <p:nvPr/>
            </p:nvCxnSpPr>
            <p:spPr>
              <a:xfrm rot="10800000" flipH="1">
                <a:off x="1066800" y="3581400"/>
                <a:ext cx="2438400" cy="1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0000"/>
                </a:solidFill>
                <a:prstDash val="dash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10" name="Google Shape;410;p37"/>
              <p:cNvCxnSpPr/>
              <p:nvPr/>
            </p:nvCxnSpPr>
            <p:spPr>
              <a:xfrm rot="10800000" flipH="1">
                <a:off x="1066800" y="3886200"/>
                <a:ext cx="2438400" cy="1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0000"/>
                </a:solidFill>
                <a:prstDash val="dash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11" name="Google Shape;411;p37"/>
              <p:cNvCxnSpPr/>
              <p:nvPr/>
            </p:nvCxnSpPr>
            <p:spPr>
              <a:xfrm rot="10800000" flipH="1">
                <a:off x="1066800" y="4190999"/>
                <a:ext cx="2438400" cy="1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0000"/>
                </a:solidFill>
                <a:prstDash val="dash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12" name="Google Shape;412;p37"/>
              <p:cNvCxnSpPr/>
              <p:nvPr/>
            </p:nvCxnSpPr>
            <p:spPr>
              <a:xfrm rot="10800000" flipH="1">
                <a:off x="1066800" y="4495799"/>
                <a:ext cx="2438400" cy="1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0000"/>
                </a:solidFill>
                <a:prstDash val="dash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13" name="Google Shape;413;p37"/>
              <p:cNvCxnSpPr/>
              <p:nvPr/>
            </p:nvCxnSpPr>
            <p:spPr>
              <a:xfrm rot="10800000" flipH="1">
                <a:off x="1066800" y="4800599"/>
                <a:ext cx="2438400" cy="1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0000"/>
                </a:solidFill>
                <a:prstDash val="dash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414" name="Google Shape;414;p37"/>
          <p:cNvGrpSpPr/>
          <p:nvPr/>
        </p:nvGrpSpPr>
        <p:grpSpPr>
          <a:xfrm>
            <a:off x="5836772" y="2143620"/>
            <a:ext cx="3334939" cy="3048000"/>
            <a:chOff x="2761061" y="2895600"/>
            <a:chExt cx="5163739" cy="3048000"/>
          </a:xfrm>
        </p:grpSpPr>
        <p:grpSp>
          <p:nvGrpSpPr>
            <p:cNvPr id="415" name="Google Shape;415;p37"/>
            <p:cNvGrpSpPr/>
            <p:nvPr/>
          </p:nvGrpSpPr>
          <p:grpSpPr>
            <a:xfrm>
              <a:off x="2761061" y="2895600"/>
              <a:ext cx="3393279" cy="3048000"/>
              <a:chOff x="1295401" y="3429000"/>
              <a:chExt cx="1904999" cy="1524000"/>
            </a:xfrm>
          </p:grpSpPr>
          <p:cxnSp>
            <p:nvCxnSpPr>
              <p:cNvPr id="416" name="Google Shape;416;p37"/>
              <p:cNvCxnSpPr/>
              <p:nvPr/>
            </p:nvCxnSpPr>
            <p:spPr>
              <a:xfrm>
                <a:off x="2286000" y="34290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17" name="Google Shape;417;p37"/>
              <p:cNvCxnSpPr/>
              <p:nvPr/>
            </p:nvCxnSpPr>
            <p:spPr>
              <a:xfrm rot="10800000">
                <a:off x="2286000" y="37338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18" name="Google Shape;418;p37"/>
              <p:cNvCxnSpPr/>
              <p:nvPr/>
            </p:nvCxnSpPr>
            <p:spPr>
              <a:xfrm>
                <a:off x="2286000" y="40386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19" name="Google Shape;419;p37"/>
              <p:cNvCxnSpPr/>
              <p:nvPr/>
            </p:nvCxnSpPr>
            <p:spPr>
              <a:xfrm rot="10800000">
                <a:off x="2286000" y="43434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0" name="Google Shape;420;p37"/>
              <p:cNvCxnSpPr/>
              <p:nvPr/>
            </p:nvCxnSpPr>
            <p:spPr>
              <a:xfrm>
                <a:off x="2286000" y="46482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1" name="Google Shape;421;p37"/>
              <p:cNvCxnSpPr/>
              <p:nvPr/>
            </p:nvCxnSpPr>
            <p:spPr>
              <a:xfrm rot="10800000">
                <a:off x="2286000" y="49530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2" name="Google Shape;422;p37"/>
              <p:cNvCxnSpPr/>
              <p:nvPr/>
            </p:nvCxnSpPr>
            <p:spPr>
              <a:xfrm>
                <a:off x="1295401" y="34290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3" name="Google Shape;423;p37"/>
              <p:cNvCxnSpPr/>
              <p:nvPr/>
            </p:nvCxnSpPr>
            <p:spPr>
              <a:xfrm rot="10800000">
                <a:off x="1295401" y="37338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4" name="Google Shape;424;p37"/>
              <p:cNvCxnSpPr/>
              <p:nvPr/>
            </p:nvCxnSpPr>
            <p:spPr>
              <a:xfrm>
                <a:off x="1295401" y="40386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5" name="Google Shape;425;p37"/>
              <p:cNvCxnSpPr/>
              <p:nvPr/>
            </p:nvCxnSpPr>
            <p:spPr>
              <a:xfrm rot="10800000">
                <a:off x="1295401" y="43434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6" name="Google Shape;426;p37"/>
              <p:cNvCxnSpPr/>
              <p:nvPr/>
            </p:nvCxnSpPr>
            <p:spPr>
              <a:xfrm>
                <a:off x="1295401" y="46482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427" name="Google Shape;427;p37"/>
              <p:cNvCxnSpPr/>
              <p:nvPr/>
            </p:nvCxnSpPr>
            <p:spPr>
              <a:xfrm rot="10800000">
                <a:off x="1295401" y="4953000"/>
                <a:ext cx="914400" cy="0"/>
              </a:xfrm>
              <a:prstGeom prst="straightConnector1">
                <a:avLst/>
              </a:prstGeom>
              <a:noFill/>
              <a:ln w="762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cxnSp>
          <p:nvCxnSpPr>
            <p:cNvPr id="428" name="Google Shape;428;p37"/>
            <p:cNvCxnSpPr/>
            <p:nvPr/>
          </p:nvCxnSpPr>
          <p:spPr>
            <a:xfrm>
              <a:off x="6296025" y="2895600"/>
              <a:ext cx="1628775" cy="0"/>
            </a:xfrm>
            <a:prstGeom prst="straightConnector1">
              <a:avLst/>
            </a:prstGeom>
            <a:noFill/>
            <a:ln w="76200" cap="rnd" cmpd="sng">
              <a:solidFill>
                <a:srgbClr val="000000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429" name="Google Shape;429;p37"/>
            <p:cNvCxnSpPr/>
            <p:nvPr/>
          </p:nvCxnSpPr>
          <p:spPr>
            <a:xfrm rot="10800000">
              <a:off x="6296025" y="3505200"/>
              <a:ext cx="1628775" cy="0"/>
            </a:xfrm>
            <a:prstGeom prst="straightConnector1">
              <a:avLst/>
            </a:prstGeom>
            <a:noFill/>
            <a:ln w="76200" cap="rnd" cmpd="sng">
              <a:solidFill>
                <a:srgbClr val="000000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430" name="Google Shape;430;p37"/>
            <p:cNvCxnSpPr/>
            <p:nvPr/>
          </p:nvCxnSpPr>
          <p:spPr>
            <a:xfrm>
              <a:off x="6296025" y="4114800"/>
              <a:ext cx="1628775" cy="0"/>
            </a:xfrm>
            <a:prstGeom prst="straightConnector1">
              <a:avLst/>
            </a:prstGeom>
            <a:noFill/>
            <a:ln w="76200" cap="rnd" cmpd="sng">
              <a:solidFill>
                <a:srgbClr val="000000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431" name="Google Shape;431;p37"/>
            <p:cNvCxnSpPr/>
            <p:nvPr/>
          </p:nvCxnSpPr>
          <p:spPr>
            <a:xfrm rot="10800000">
              <a:off x="6296025" y="4724400"/>
              <a:ext cx="1628775" cy="0"/>
            </a:xfrm>
            <a:prstGeom prst="straightConnector1">
              <a:avLst/>
            </a:prstGeom>
            <a:noFill/>
            <a:ln w="76200" cap="rnd" cmpd="sng">
              <a:solidFill>
                <a:srgbClr val="000000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432" name="Google Shape;432;p37"/>
            <p:cNvCxnSpPr/>
            <p:nvPr/>
          </p:nvCxnSpPr>
          <p:spPr>
            <a:xfrm>
              <a:off x="6296025" y="5334000"/>
              <a:ext cx="1628775" cy="0"/>
            </a:xfrm>
            <a:prstGeom prst="straightConnector1">
              <a:avLst/>
            </a:prstGeom>
            <a:noFill/>
            <a:ln w="76200" cap="rnd" cmpd="sng">
              <a:solidFill>
                <a:srgbClr val="000000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433" name="Google Shape;433;p37"/>
            <p:cNvCxnSpPr/>
            <p:nvPr/>
          </p:nvCxnSpPr>
          <p:spPr>
            <a:xfrm rot="10800000">
              <a:off x="6296025" y="5943600"/>
              <a:ext cx="1628775" cy="0"/>
            </a:xfrm>
            <a:prstGeom prst="straightConnector1">
              <a:avLst/>
            </a:prstGeom>
            <a:noFill/>
            <a:ln w="76200" cap="rnd" cmpd="sng">
              <a:solidFill>
                <a:srgbClr val="000000"/>
              </a:solidFill>
              <a:prstDash val="solid"/>
              <a:round/>
              <a:headEnd type="none" w="sm" len="sm"/>
              <a:tailEnd type="triangle" w="med" len="med"/>
            </a:ln>
          </p:spPr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B582E1-C8F7-1066-D16A-616C4A2B599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Law of Common Fate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9F7CE-B4F5-6A37-084B-48D7D6D1BD6F}"/>
              </a:ext>
            </a:extLst>
          </p:cNvPr>
          <p:cNvSpPr txBox="1"/>
          <p:nvPr/>
        </p:nvSpPr>
        <p:spPr>
          <a:xfrm>
            <a:off x="2376760" y="6009780"/>
            <a:ext cx="98152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Wagemans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J., Elder, J. H.,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Kubovy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M., Palmer, S. E., Peterson, M. A., Singh, M., &amp; von der Heydt, R. (2012). A century of Gestalt psychology in visual perception: I. Perceptual grouping and figure-ground organization.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Psychological bulletin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138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(6), 1172–1217.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/10.1037/a0029333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38"/>
          <p:cNvSpPr txBox="1">
            <a:spLocks noGrp="1"/>
          </p:cNvSpPr>
          <p:nvPr>
            <p:ph type="body" idx="1"/>
          </p:nvPr>
        </p:nvSpPr>
        <p:spPr>
          <a:xfrm>
            <a:off x="3491346" y="84822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>
                <a:ea typeface="Arial"/>
                <a:cs typeface="Arial"/>
                <a:sym typeface="Arial"/>
              </a:rPr>
              <a:t>We tend to group objects along the </a:t>
            </a:r>
            <a:r>
              <a:rPr lang="en-US" sz="2400" b="1" dirty="0">
                <a:ea typeface="Arial"/>
                <a:cs typeface="Arial"/>
                <a:sym typeface="Arial"/>
              </a:rPr>
              <a:t>smoothest path</a:t>
            </a:r>
            <a:endParaRPr sz="2400" b="1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881C9-DE12-20B9-7872-DCE2EACC4D8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Law of Continuity</a:t>
            </a:r>
          </a:p>
        </p:txBody>
      </p: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6D029BFD-F072-BE31-3819-6175DB37AD9B}"/>
              </a:ext>
            </a:extLst>
          </p:cNvPr>
          <p:cNvCxnSpPr>
            <a:cxnSpLocks/>
          </p:cNvCxnSpPr>
          <p:nvPr/>
        </p:nvCxnSpPr>
        <p:spPr>
          <a:xfrm flipV="1">
            <a:off x="6096000" y="2424546"/>
            <a:ext cx="2493816" cy="2382983"/>
          </a:xfrm>
          <a:prstGeom prst="curvedConnector3">
            <a:avLst>
              <a:gd name="adj1" fmla="val 50000"/>
            </a:avLst>
          </a:prstGeom>
          <a:ln w="228600" cap="rnd">
            <a:solidFill>
              <a:srgbClr val="00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870D709E-1255-D7C4-1016-247098E39D49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45199" y="2082800"/>
            <a:ext cx="2946400" cy="2757714"/>
          </a:xfrm>
          <a:prstGeom prst="curvedConnector3">
            <a:avLst>
              <a:gd name="adj1" fmla="val 50000"/>
            </a:avLst>
          </a:prstGeom>
          <a:ln w="228600" cap="rnd">
            <a:solidFill>
              <a:srgbClr val="00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19E7C712-7BEF-C68F-E9B2-9751037E803C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45196" y="2082797"/>
            <a:ext cx="2946400" cy="2757714"/>
          </a:xfrm>
          <a:prstGeom prst="curvedConnector3">
            <a:avLst>
              <a:gd name="adj1" fmla="val 50000"/>
            </a:avLst>
          </a:prstGeom>
          <a:ln w="228600" cap="rnd">
            <a:solidFill>
              <a:srgbClr val="FFC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4C6F482-7235-8DA0-7BAE-F859899A99D8}"/>
              </a:ext>
            </a:extLst>
          </p:cNvPr>
          <p:cNvSpPr txBox="1"/>
          <p:nvPr/>
        </p:nvSpPr>
        <p:spPr>
          <a:xfrm>
            <a:off x="2376760" y="6009780"/>
            <a:ext cx="98152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Wagemans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J., Elder, J. H.,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Kubovy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M., Palmer, S. E., Peterson, M. A., Singh, M., &amp; von der Heydt, R. (2012). A century of Gestalt psychology in visual perception: I. Perceptual grouping and figure-ground organization.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Psychological bulletin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138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(6), 1172–1217.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/10.1037/a0029333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9"/>
          <p:cNvSpPr txBox="1">
            <a:spLocks noGrp="1"/>
          </p:cNvSpPr>
          <p:nvPr>
            <p:ph type="title"/>
          </p:nvPr>
        </p:nvSpPr>
        <p:spPr>
          <a:xfrm>
            <a:off x="3581400" y="815027"/>
            <a:ext cx="8610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400" dirty="0">
                <a:solidFill>
                  <a:schemeClr val="dk2"/>
                </a:solidFill>
                <a:latin typeface="+mn-lt"/>
                <a:ea typeface="Arial"/>
                <a:cs typeface="Arial"/>
                <a:sym typeface="Arial"/>
              </a:rPr>
              <a:t>Sometimes gestalt &amp; pre-attention compete</a:t>
            </a:r>
            <a:endParaRPr sz="2400" dirty="0">
              <a:latin typeface="+mn-lt"/>
            </a:endParaRPr>
          </a:p>
        </p:txBody>
      </p:sp>
      <p:pic>
        <p:nvPicPr>
          <p:cNvPr id="468" name="Google Shape;468;p39"/>
          <p:cNvPicPr preferRelativeResize="0"/>
          <p:nvPr/>
        </p:nvPicPr>
        <p:blipFill rotWithShape="1">
          <a:blip r:embed="rId3">
            <a:alphaModFix/>
          </a:blip>
          <a:srcRect b="55199"/>
          <a:stretch/>
        </p:blipFill>
        <p:spPr>
          <a:xfrm>
            <a:off x="4747846" y="1957755"/>
            <a:ext cx="5334000" cy="2617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p39"/>
          <p:cNvPicPr preferRelativeResize="0"/>
          <p:nvPr/>
        </p:nvPicPr>
        <p:blipFill rotWithShape="1">
          <a:blip r:embed="rId3">
            <a:alphaModFix/>
          </a:blip>
          <a:srcRect l="2035" t="56487" r="-2034" b="-1287"/>
          <a:stretch/>
        </p:blipFill>
        <p:spPr>
          <a:xfrm>
            <a:off x="4857574" y="2083710"/>
            <a:ext cx="5334000" cy="261724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175F080-0CB1-1443-CB6C-8D0DAC931413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 for visualization: The downsides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4E76-86A1-AB62-6985-50483F48BF44}"/>
              </a:ext>
            </a:extLst>
          </p:cNvPr>
          <p:cNvSpPr txBox="1"/>
          <p:nvPr/>
        </p:nvSpPr>
        <p:spPr>
          <a:xfrm>
            <a:off x="870155" y="6182173"/>
            <a:ext cx="1132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Gregory R. L. (1997). Knowledge in perception and illusion.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Philosophical transactions of the Royal Society of London. Series B, Biological sciences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352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(1358), 1121–1127.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/10.1098/rstb.1997.0095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5" name="Google Shape;475;p4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-1212" r="-1211"/>
          <a:stretch/>
        </p:blipFill>
        <p:spPr>
          <a:xfrm>
            <a:off x="3581400" y="1318847"/>
            <a:ext cx="8229600" cy="4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3EFB6D7-97C2-A03D-587D-B1B639411561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 for visualization: The downsides</a:t>
            </a:r>
          </a:p>
        </p:txBody>
      </p:sp>
      <p:sp>
        <p:nvSpPr>
          <p:cNvPr id="6" name="Google Shape;467;p39">
            <a:extLst>
              <a:ext uri="{FF2B5EF4-FFF2-40B4-BE49-F238E27FC236}">
                <a16:creationId xmlns:a16="http://schemas.microsoft.com/office/drawing/2014/main" id="{D640D403-2570-AA4F-4866-53D25670D323}"/>
              </a:ext>
            </a:extLst>
          </p:cNvPr>
          <p:cNvSpPr txBox="1">
            <a:spLocks/>
          </p:cNvSpPr>
          <p:nvPr/>
        </p:nvSpPr>
        <p:spPr>
          <a:xfrm>
            <a:off x="3581400" y="580567"/>
            <a:ext cx="8610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400">
                <a:solidFill>
                  <a:schemeClr val="dk2"/>
                </a:solidFill>
                <a:latin typeface="+mn-lt"/>
                <a:ea typeface="Arial"/>
                <a:cs typeface="Arial"/>
                <a:sym typeface="Arial"/>
              </a:rPr>
              <a:t>Sometimes gestalt &amp; pre-attention compete</a:t>
            </a:r>
            <a:endParaRPr lang="en-US" sz="24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400F19-6F2B-3654-9AA8-66581C2A2F87}"/>
              </a:ext>
            </a:extLst>
          </p:cNvPr>
          <p:cNvSpPr txBox="1"/>
          <p:nvPr/>
        </p:nvSpPr>
        <p:spPr>
          <a:xfrm>
            <a:off x="870155" y="6182173"/>
            <a:ext cx="1132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Gregory R. L. (1997). Knowledge in perception and illusion.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Philosophical transactions of the Royal Society of London. Series B, Biological sciences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352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(1358), 1121–1127. https://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doi.org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/10.1098/rstb.1997.0095</a:t>
            </a:r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70BEC088-B1F9-407C-CD42-D7FD6B9A2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59B27DB-CEF4-C4ED-6D77-22B9117A145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Pre-attentive processing for visualization: The downsides</a:t>
            </a:r>
          </a:p>
        </p:txBody>
      </p:sp>
      <p:sp>
        <p:nvSpPr>
          <p:cNvPr id="6" name="Google Shape;467;p39">
            <a:extLst>
              <a:ext uri="{FF2B5EF4-FFF2-40B4-BE49-F238E27FC236}">
                <a16:creationId xmlns:a16="http://schemas.microsoft.com/office/drawing/2014/main" id="{39919B1C-2A47-77E1-CD28-430C52F7BCFB}"/>
              </a:ext>
            </a:extLst>
          </p:cNvPr>
          <p:cNvSpPr txBox="1">
            <a:spLocks/>
          </p:cNvSpPr>
          <p:nvPr/>
        </p:nvSpPr>
        <p:spPr>
          <a:xfrm>
            <a:off x="3581400" y="580567"/>
            <a:ext cx="8610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400">
                <a:solidFill>
                  <a:schemeClr val="dk2"/>
                </a:solidFill>
                <a:latin typeface="+mn-lt"/>
                <a:ea typeface="Arial"/>
                <a:cs typeface="Arial"/>
                <a:sym typeface="Arial"/>
              </a:rPr>
              <a:t>Sometimes gestalt &amp; pre-attention compete</a:t>
            </a:r>
            <a:endParaRPr lang="en-US" sz="2400" dirty="0">
              <a:latin typeface="+mn-lt"/>
            </a:endParaRPr>
          </a:p>
        </p:txBody>
      </p:sp>
      <p:pic>
        <p:nvPicPr>
          <p:cNvPr id="7" name="Content Placeholder 6" descr="A graph of a function&#10;&#10;AI-generated content may be incorrect.">
            <a:extLst>
              <a:ext uri="{FF2B5EF4-FFF2-40B4-BE49-F238E27FC236}">
                <a16:creationId xmlns:a16="http://schemas.microsoft.com/office/drawing/2014/main" id="{10BDAC6D-EAA5-D9BD-1CC9-766267BD34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78238" y="1571167"/>
            <a:ext cx="7315200" cy="4763911"/>
          </a:xfrm>
        </p:spPr>
      </p:pic>
    </p:spTree>
    <p:extLst>
      <p:ext uri="{BB962C8B-B14F-4D97-AF65-F5344CB8AC3E}">
        <p14:creationId xmlns:p14="http://schemas.microsoft.com/office/powerpoint/2010/main" val="4354108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>
          <a:extLst>
            <a:ext uri="{FF2B5EF4-FFF2-40B4-BE49-F238E27FC236}">
              <a16:creationId xmlns:a16="http://schemas.microsoft.com/office/drawing/2014/main" id="{7798C3CC-4A5F-E5D6-EB02-106F1B53E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45">
            <a:extLst>
              <a:ext uri="{FF2B5EF4-FFF2-40B4-BE49-F238E27FC236}">
                <a16:creationId xmlns:a16="http://schemas.microsoft.com/office/drawing/2014/main" id="{2E516E9D-17EB-ED35-B609-15023B4453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22431" y="240323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Short term “working” memory is limited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546" name="Google Shape;546;p45">
            <a:extLst>
              <a:ext uri="{FF2B5EF4-FFF2-40B4-BE49-F238E27FC236}">
                <a16:creationId xmlns:a16="http://schemas.microsoft.com/office/drawing/2014/main" id="{32241B3D-AEA1-C993-78D4-61C3A1A7BFEF}"/>
              </a:ext>
            </a:extLst>
          </p:cNvPr>
          <p:cNvSpPr/>
          <p:nvPr/>
        </p:nvSpPr>
        <p:spPr>
          <a:xfrm>
            <a:off x="5257800" y="6581002"/>
            <a:ext cx="54102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r"/>
            <a:r>
              <a:rPr lang="en-US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</a:t>
            </a:r>
            <a:r>
              <a:rPr lang="en-US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homepage.divms.uiowa.edu</a:t>
            </a:r>
            <a:r>
              <a:rPr lang="en-US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/~</a:t>
            </a:r>
            <a:r>
              <a:rPr lang="en-US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luke</a:t>
            </a:r>
            <a:r>
              <a:rPr lang="en-US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/classes/STAT4580/</a:t>
            </a:r>
            <a:r>
              <a:rPr lang="en-US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percep.html</a:t>
            </a: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357B33C-5D47-8664-CBE3-EF1C59D1838E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Attentive processing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2BE38B8-D9FF-5BB0-16E1-CE06B78519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11"/>
          <a:stretch/>
        </p:blipFill>
        <p:spPr bwMode="auto">
          <a:xfrm>
            <a:off x="3932238" y="1230923"/>
            <a:ext cx="7094537" cy="506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6316515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18A1B607-7BAE-46D6-8090-545AC7BDD7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1221</TotalTime>
  <Words>3640</Words>
  <Application>Microsoft Macintosh PowerPoint</Application>
  <PresentationFormat>Widescreen</PresentationFormat>
  <Paragraphs>328</Paragraphs>
  <Slides>68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3" baseType="lpstr">
      <vt:lpstr>Arial</vt:lpstr>
      <vt:lpstr>Calibri</vt:lpstr>
      <vt:lpstr>Corbel</vt:lpstr>
      <vt:lpstr>Wingdings 2</vt:lpstr>
      <vt:lpstr>Frame</vt:lpstr>
      <vt:lpstr>Communicating with Data – Perception</vt:lpstr>
      <vt:lpstr>PowerPoint Presentation</vt:lpstr>
      <vt:lpstr>PowerPoint Presentation</vt:lpstr>
      <vt:lpstr>Plan for Today</vt:lpstr>
      <vt:lpstr>Recap</vt:lpstr>
      <vt:lpstr>PowerPoint Presentation</vt:lpstr>
      <vt:lpstr>PowerPoint Presentation</vt:lpstr>
      <vt:lpstr>PowerPoint Presentation</vt:lpstr>
      <vt:lpstr>PowerPoint Presentation</vt:lpstr>
      <vt:lpstr>Some things are processed slowly</vt:lpstr>
      <vt:lpstr>Others are incredibly fast</vt:lpstr>
      <vt:lpstr>Fast = “pre-attentive processing”</vt:lpstr>
      <vt:lpstr>PowerPoint Presentation</vt:lpstr>
      <vt:lpstr>PowerPoint Presentation</vt:lpstr>
      <vt:lpstr>Fast = “pre-attentive processing”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Ranking Visual Channels</vt:lpstr>
      <vt:lpstr>Recall</vt:lpstr>
      <vt:lpstr>Ranking Visual Channels</vt:lpstr>
      <vt:lpstr>Ranking Visual Channels</vt:lpstr>
      <vt:lpstr>Accuracy</vt:lpstr>
      <vt:lpstr>Accuracy</vt:lpstr>
      <vt:lpstr>Accuracy</vt:lpstr>
      <vt:lpstr>Accuracy</vt:lpstr>
      <vt:lpstr>Accuracy</vt:lpstr>
      <vt:lpstr>Accuracy</vt:lpstr>
      <vt:lpstr>Accuracy</vt:lpstr>
      <vt:lpstr>Accuracy</vt:lpstr>
      <vt:lpstr>Accuracy</vt:lpstr>
      <vt:lpstr>Discriminability</vt:lpstr>
      <vt:lpstr>Discriminability</vt:lpstr>
      <vt:lpstr>Separability</vt:lpstr>
      <vt:lpstr>Visual Popout</vt:lpstr>
      <vt:lpstr>Visual Popout</vt:lpstr>
      <vt:lpstr>Visual Popout</vt:lpstr>
      <vt:lpstr>Visual Popout</vt:lpstr>
      <vt:lpstr>Grouping</vt:lpstr>
      <vt:lpstr>Ranking Visual Channels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Sometimes gestalt &amp; pre-attention compete</vt:lpstr>
      <vt:lpstr>PowerPoint Presentation</vt:lpstr>
      <vt:lpstr>PowerPoint Presentation</vt:lpstr>
      <vt:lpstr>Short term “working” memory is limited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for Everyone – Welcome!</dc:title>
  <dc:creator>Mosca, Ab</dc:creator>
  <cp:lastModifiedBy>Ab Mosca</cp:lastModifiedBy>
  <cp:revision>41</cp:revision>
  <dcterms:created xsi:type="dcterms:W3CDTF">2023-08-03T18:49:17Z</dcterms:created>
  <dcterms:modified xsi:type="dcterms:W3CDTF">2026-09-21T11:09:22Z</dcterms:modified>
</cp:coreProperties>
</file>