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52" r:id="rId1"/>
  </p:sldMasterIdLst>
  <p:notesMasterIdLst>
    <p:notesMasterId r:id="rId29"/>
  </p:notesMasterIdLst>
  <p:sldIdLst>
    <p:sldId id="256" r:id="rId2"/>
    <p:sldId id="350" r:id="rId3"/>
    <p:sldId id="324" r:id="rId4"/>
    <p:sldId id="327" r:id="rId5"/>
    <p:sldId id="325" r:id="rId6"/>
    <p:sldId id="326" r:id="rId7"/>
    <p:sldId id="329" r:id="rId8"/>
    <p:sldId id="334" r:id="rId9"/>
    <p:sldId id="335" r:id="rId10"/>
    <p:sldId id="336" r:id="rId11"/>
    <p:sldId id="337" r:id="rId12"/>
    <p:sldId id="338" r:id="rId13"/>
    <p:sldId id="339" r:id="rId14"/>
    <p:sldId id="333" r:id="rId15"/>
    <p:sldId id="330" r:id="rId16"/>
    <p:sldId id="331" r:id="rId17"/>
    <p:sldId id="340" r:id="rId18"/>
    <p:sldId id="342" r:id="rId19"/>
    <p:sldId id="343" r:id="rId20"/>
    <p:sldId id="344" r:id="rId21"/>
    <p:sldId id="332" r:id="rId22"/>
    <p:sldId id="341" r:id="rId23"/>
    <p:sldId id="345" r:id="rId24"/>
    <p:sldId id="346" r:id="rId25"/>
    <p:sldId id="347" r:id="rId26"/>
    <p:sldId id="348" r:id="rId27"/>
    <p:sldId id="349"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38"/>
    <p:restoredTop sz="91164"/>
  </p:normalViewPr>
  <p:slideViewPr>
    <p:cSldViewPr snapToGrid="0">
      <p:cViewPr varScale="1">
        <p:scale>
          <a:sx n="115" d="100"/>
          <a:sy n="115" d="100"/>
        </p:scale>
        <p:origin x="124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BB8A52-8AC5-C74C-97FB-632C448F3674}" type="datetimeFigureOut">
              <a:rPr lang="en-US" smtClean="0"/>
              <a:t>10/2/26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66506D-5C9B-294C-B2AE-15ACE8B5B9F7}" type="slidenum">
              <a:rPr lang="en-US" smtClean="0"/>
              <a:t>‹#›</a:t>
            </a:fld>
            <a:endParaRPr lang="en-US"/>
          </a:p>
        </p:txBody>
      </p:sp>
    </p:spTree>
    <p:extLst>
      <p:ext uri="{BB962C8B-B14F-4D97-AF65-F5344CB8AC3E}">
        <p14:creationId xmlns:p14="http://schemas.microsoft.com/office/powerpoint/2010/main" val="1937161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7CCA7-5C19-5573-4050-567E3AB571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A70F70-D387-0BF6-5B48-336FB04EC0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8651F7-6CCC-C47B-FEEB-1088DE126F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9E4C41-E700-A8A1-D68C-C196E5E5E106}"/>
              </a:ext>
            </a:extLst>
          </p:cNvPr>
          <p:cNvSpPr>
            <a:spLocks noGrp="1"/>
          </p:cNvSpPr>
          <p:nvPr>
            <p:ph type="sldNum" sz="quarter" idx="5"/>
          </p:nvPr>
        </p:nvSpPr>
        <p:spPr/>
        <p:txBody>
          <a:bodyPr/>
          <a:lstStyle/>
          <a:p>
            <a:fld id="{E666506D-5C9B-294C-B2AE-15ACE8B5B9F7}" type="slidenum">
              <a:rPr lang="en-US" smtClean="0"/>
              <a:t>2</a:t>
            </a:fld>
            <a:endParaRPr lang="en-US"/>
          </a:p>
        </p:txBody>
      </p:sp>
    </p:spTree>
    <p:extLst>
      <p:ext uri="{BB962C8B-B14F-4D97-AF65-F5344CB8AC3E}">
        <p14:creationId xmlns:p14="http://schemas.microsoft.com/office/powerpoint/2010/main" val="734257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7FF91-6720-72EB-13D0-98F2A73013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3762F0-7DAB-AE5C-4E26-C78A8ED388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41724-DFCA-84BC-7088-FC69865819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5EA39F-BD85-C8B5-A1C1-7E8CC427241D}"/>
              </a:ext>
            </a:extLst>
          </p:cNvPr>
          <p:cNvSpPr>
            <a:spLocks noGrp="1"/>
          </p:cNvSpPr>
          <p:nvPr>
            <p:ph type="sldNum" sz="quarter" idx="5"/>
          </p:nvPr>
        </p:nvSpPr>
        <p:spPr/>
        <p:txBody>
          <a:bodyPr/>
          <a:lstStyle/>
          <a:p>
            <a:fld id="{E666506D-5C9B-294C-B2AE-15ACE8B5B9F7}" type="slidenum">
              <a:rPr lang="en-US" smtClean="0"/>
              <a:t>4</a:t>
            </a:fld>
            <a:endParaRPr lang="en-US"/>
          </a:p>
        </p:txBody>
      </p:sp>
    </p:spTree>
    <p:extLst>
      <p:ext uri="{BB962C8B-B14F-4D97-AF65-F5344CB8AC3E}">
        <p14:creationId xmlns:p14="http://schemas.microsoft.com/office/powerpoint/2010/main" val="1710428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66506D-5C9B-294C-B2AE-15ACE8B5B9F7}" type="slidenum">
              <a:rPr lang="en-US" smtClean="0"/>
              <a:t>5</a:t>
            </a:fld>
            <a:endParaRPr lang="en-US"/>
          </a:p>
        </p:txBody>
      </p:sp>
    </p:spTree>
    <p:extLst>
      <p:ext uri="{BB962C8B-B14F-4D97-AF65-F5344CB8AC3E}">
        <p14:creationId xmlns:p14="http://schemas.microsoft.com/office/powerpoint/2010/main" val="26719062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80019-C765-5C94-71DB-00B7E5B5FD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1E6FD9-7F64-4238-00A5-49CAEEC6B0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6CE07E-E9F8-EF3F-3220-3DF7E4A354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64E264-2D94-3458-38F1-41043DC45FC4}"/>
              </a:ext>
            </a:extLst>
          </p:cNvPr>
          <p:cNvSpPr>
            <a:spLocks noGrp="1"/>
          </p:cNvSpPr>
          <p:nvPr>
            <p:ph type="sldNum" sz="quarter" idx="5"/>
          </p:nvPr>
        </p:nvSpPr>
        <p:spPr/>
        <p:txBody>
          <a:bodyPr/>
          <a:lstStyle/>
          <a:p>
            <a:fld id="{E666506D-5C9B-294C-B2AE-15ACE8B5B9F7}" type="slidenum">
              <a:rPr lang="en-US" smtClean="0"/>
              <a:t>6</a:t>
            </a:fld>
            <a:endParaRPr lang="en-US"/>
          </a:p>
        </p:txBody>
      </p:sp>
    </p:spTree>
    <p:extLst>
      <p:ext uri="{BB962C8B-B14F-4D97-AF65-F5344CB8AC3E}">
        <p14:creationId xmlns:p14="http://schemas.microsoft.com/office/powerpoint/2010/main" val="4697838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F98D0-59DA-324F-355A-A428C7A135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516FC-FCCA-B89E-3B82-C204635E09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C7870-4B95-A63D-62CF-B3340CB51B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B6CBFD-0555-CE83-3960-CD7C22FC61AB}"/>
              </a:ext>
            </a:extLst>
          </p:cNvPr>
          <p:cNvSpPr>
            <a:spLocks noGrp="1"/>
          </p:cNvSpPr>
          <p:nvPr>
            <p:ph type="sldNum" sz="quarter" idx="5"/>
          </p:nvPr>
        </p:nvSpPr>
        <p:spPr/>
        <p:txBody>
          <a:bodyPr/>
          <a:lstStyle/>
          <a:p>
            <a:fld id="{E666506D-5C9B-294C-B2AE-15ACE8B5B9F7}" type="slidenum">
              <a:rPr lang="en-US" smtClean="0"/>
              <a:t>7</a:t>
            </a:fld>
            <a:endParaRPr lang="en-US"/>
          </a:p>
        </p:txBody>
      </p:sp>
    </p:spTree>
    <p:extLst>
      <p:ext uri="{BB962C8B-B14F-4D97-AF65-F5344CB8AC3E}">
        <p14:creationId xmlns:p14="http://schemas.microsoft.com/office/powerpoint/2010/main" val="26128633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A0376-0E6F-1039-9967-A01FDDB4CC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2A4E36-4AEA-67D2-BE62-961AC21930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FF7AC2-2A75-7707-0295-32C341BE4A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B12DBD-6979-6218-4AA7-E781B8DD95FF}"/>
              </a:ext>
            </a:extLst>
          </p:cNvPr>
          <p:cNvSpPr>
            <a:spLocks noGrp="1"/>
          </p:cNvSpPr>
          <p:nvPr>
            <p:ph type="sldNum" sz="quarter" idx="5"/>
          </p:nvPr>
        </p:nvSpPr>
        <p:spPr/>
        <p:txBody>
          <a:bodyPr/>
          <a:lstStyle/>
          <a:p>
            <a:fld id="{E666506D-5C9B-294C-B2AE-15ACE8B5B9F7}" type="slidenum">
              <a:rPr lang="en-US" smtClean="0"/>
              <a:t>8</a:t>
            </a:fld>
            <a:endParaRPr lang="en-US"/>
          </a:p>
        </p:txBody>
      </p:sp>
    </p:spTree>
    <p:extLst>
      <p:ext uri="{BB962C8B-B14F-4D97-AF65-F5344CB8AC3E}">
        <p14:creationId xmlns:p14="http://schemas.microsoft.com/office/powerpoint/2010/main" val="38821968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6B450-A13A-7A54-03A2-51624B05CA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034F85-6BB1-C4AE-703F-43F9036559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413F32-D810-799A-D7C0-26E593DFD8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7336F7-534B-1FCD-0040-4C4096F6E174}"/>
              </a:ext>
            </a:extLst>
          </p:cNvPr>
          <p:cNvSpPr>
            <a:spLocks noGrp="1"/>
          </p:cNvSpPr>
          <p:nvPr>
            <p:ph type="sldNum" sz="quarter" idx="5"/>
          </p:nvPr>
        </p:nvSpPr>
        <p:spPr/>
        <p:txBody>
          <a:bodyPr/>
          <a:lstStyle/>
          <a:p>
            <a:fld id="{E666506D-5C9B-294C-B2AE-15ACE8B5B9F7}" type="slidenum">
              <a:rPr lang="en-US" smtClean="0"/>
              <a:t>9</a:t>
            </a:fld>
            <a:endParaRPr lang="en-US"/>
          </a:p>
        </p:txBody>
      </p:sp>
    </p:spTree>
    <p:extLst>
      <p:ext uri="{BB962C8B-B14F-4D97-AF65-F5344CB8AC3E}">
        <p14:creationId xmlns:p14="http://schemas.microsoft.com/office/powerpoint/2010/main" val="20985567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E6278-CB63-0D31-055E-F1972E5A84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55BDBA-0755-7515-E257-EC29B65037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B2D52A-B8E4-EFBF-6F92-8158375FA5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1378F4-8E08-8EAF-5EFA-79130B35BAEA}"/>
              </a:ext>
            </a:extLst>
          </p:cNvPr>
          <p:cNvSpPr>
            <a:spLocks noGrp="1"/>
          </p:cNvSpPr>
          <p:nvPr>
            <p:ph type="sldNum" sz="quarter" idx="5"/>
          </p:nvPr>
        </p:nvSpPr>
        <p:spPr/>
        <p:txBody>
          <a:bodyPr/>
          <a:lstStyle/>
          <a:p>
            <a:fld id="{E666506D-5C9B-294C-B2AE-15ACE8B5B9F7}" type="slidenum">
              <a:rPr lang="en-US" smtClean="0"/>
              <a:t>10</a:t>
            </a:fld>
            <a:endParaRPr lang="en-US"/>
          </a:p>
        </p:txBody>
      </p:sp>
    </p:spTree>
    <p:extLst>
      <p:ext uri="{BB962C8B-B14F-4D97-AF65-F5344CB8AC3E}">
        <p14:creationId xmlns:p14="http://schemas.microsoft.com/office/powerpoint/2010/main" val="31565346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FD96B-7A38-993E-199C-5A4B74910E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D4E878-59DB-25E3-5E6A-B2B129E55E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30EA7-C443-11B9-DB4C-7986EB037A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7FD161-B249-4AE5-8766-28B17D228751}"/>
              </a:ext>
            </a:extLst>
          </p:cNvPr>
          <p:cNvSpPr>
            <a:spLocks noGrp="1"/>
          </p:cNvSpPr>
          <p:nvPr>
            <p:ph type="sldNum" sz="quarter" idx="5"/>
          </p:nvPr>
        </p:nvSpPr>
        <p:spPr/>
        <p:txBody>
          <a:bodyPr/>
          <a:lstStyle/>
          <a:p>
            <a:fld id="{E666506D-5C9B-294C-B2AE-15ACE8B5B9F7}" type="slidenum">
              <a:rPr lang="en-US" smtClean="0"/>
              <a:t>11</a:t>
            </a:fld>
            <a:endParaRPr lang="en-US"/>
          </a:p>
        </p:txBody>
      </p:sp>
    </p:spTree>
    <p:extLst>
      <p:ext uri="{BB962C8B-B14F-4D97-AF65-F5344CB8AC3E}">
        <p14:creationId xmlns:p14="http://schemas.microsoft.com/office/powerpoint/2010/main" val="3033591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8C607-60CE-2D0A-F4B7-30707BE238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582F31-7742-328B-07E7-ED1403247C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9E5884-B2D4-FF31-41F5-3782987DF1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976E90-3130-1892-8827-31FB7DC39FCC}"/>
              </a:ext>
            </a:extLst>
          </p:cNvPr>
          <p:cNvSpPr>
            <a:spLocks noGrp="1"/>
          </p:cNvSpPr>
          <p:nvPr>
            <p:ph type="sldNum" sz="quarter" idx="5"/>
          </p:nvPr>
        </p:nvSpPr>
        <p:spPr/>
        <p:txBody>
          <a:bodyPr/>
          <a:lstStyle/>
          <a:p>
            <a:fld id="{E666506D-5C9B-294C-B2AE-15ACE8B5B9F7}" type="slidenum">
              <a:rPr lang="en-US" smtClean="0"/>
              <a:t>12</a:t>
            </a:fld>
            <a:endParaRPr lang="en-US"/>
          </a:p>
        </p:txBody>
      </p:sp>
    </p:spTree>
    <p:extLst>
      <p:ext uri="{BB962C8B-B14F-4D97-AF65-F5344CB8AC3E}">
        <p14:creationId xmlns:p14="http://schemas.microsoft.com/office/powerpoint/2010/main" val="42516795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A2632-44BA-78FC-5BB9-DC5620801B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F8DDF8-A81E-92D0-8260-27C5654B70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49D9B2-39FB-9DA8-C9DE-96329C561D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6E5791-E2FD-ACE8-0A66-BBD75186857D}"/>
              </a:ext>
            </a:extLst>
          </p:cNvPr>
          <p:cNvSpPr>
            <a:spLocks noGrp="1"/>
          </p:cNvSpPr>
          <p:nvPr>
            <p:ph type="sldNum" sz="quarter" idx="5"/>
          </p:nvPr>
        </p:nvSpPr>
        <p:spPr/>
        <p:txBody>
          <a:bodyPr/>
          <a:lstStyle/>
          <a:p>
            <a:fld id="{E666506D-5C9B-294C-B2AE-15ACE8B5B9F7}" type="slidenum">
              <a:rPr lang="en-US" smtClean="0"/>
              <a:t>13</a:t>
            </a:fld>
            <a:endParaRPr lang="en-US"/>
          </a:p>
        </p:txBody>
      </p:sp>
    </p:spTree>
    <p:extLst>
      <p:ext uri="{BB962C8B-B14F-4D97-AF65-F5344CB8AC3E}">
        <p14:creationId xmlns:p14="http://schemas.microsoft.com/office/powerpoint/2010/main" val="8384225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B38BE-75F9-BE0C-FBBF-522777BC40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0C7A08-F7A4-7F3A-2E3F-A1D2F9958B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2A9754-A646-E46D-D4EB-BA21887ED5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3B5E80-BF27-C23E-4278-6840D68D9E17}"/>
              </a:ext>
            </a:extLst>
          </p:cNvPr>
          <p:cNvSpPr>
            <a:spLocks noGrp="1"/>
          </p:cNvSpPr>
          <p:nvPr>
            <p:ph type="sldNum" sz="quarter" idx="5"/>
          </p:nvPr>
        </p:nvSpPr>
        <p:spPr/>
        <p:txBody>
          <a:bodyPr/>
          <a:lstStyle/>
          <a:p>
            <a:fld id="{E666506D-5C9B-294C-B2AE-15ACE8B5B9F7}" type="slidenum">
              <a:rPr lang="en-US" smtClean="0"/>
              <a:t>14</a:t>
            </a:fld>
            <a:endParaRPr lang="en-US"/>
          </a:p>
        </p:txBody>
      </p:sp>
    </p:spTree>
    <p:extLst>
      <p:ext uri="{BB962C8B-B14F-4D97-AF65-F5344CB8AC3E}">
        <p14:creationId xmlns:p14="http://schemas.microsoft.com/office/powerpoint/2010/main" val="17710225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FB699-AB27-1BF6-D91A-482302E134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9159D6-BA4D-5827-05DE-2DC5EF983B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2B2593-56D8-BCAB-E685-BA74CF7D01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D6CA8D-FBB1-347D-F5F0-1F02DFD4FE25}"/>
              </a:ext>
            </a:extLst>
          </p:cNvPr>
          <p:cNvSpPr>
            <a:spLocks noGrp="1"/>
          </p:cNvSpPr>
          <p:nvPr>
            <p:ph type="sldNum" sz="quarter" idx="5"/>
          </p:nvPr>
        </p:nvSpPr>
        <p:spPr/>
        <p:txBody>
          <a:bodyPr/>
          <a:lstStyle/>
          <a:p>
            <a:fld id="{E666506D-5C9B-294C-B2AE-15ACE8B5B9F7}" type="slidenum">
              <a:rPr lang="en-US" smtClean="0"/>
              <a:t>15</a:t>
            </a:fld>
            <a:endParaRPr lang="en-US"/>
          </a:p>
        </p:txBody>
      </p:sp>
    </p:spTree>
    <p:extLst>
      <p:ext uri="{BB962C8B-B14F-4D97-AF65-F5344CB8AC3E}">
        <p14:creationId xmlns:p14="http://schemas.microsoft.com/office/powerpoint/2010/main" val="5593310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9C9E6-F9B3-40F1-EC85-A76610B480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B1739F-3874-C2B2-8FD1-A8BEA0AA5C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659EBE-60C6-1600-C01E-B10AB1E484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94F26F-E89C-74A4-8B90-F4AFD3C39E08}"/>
              </a:ext>
            </a:extLst>
          </p:cNvPr>
          <p:cNvSpPr>
            <a:spLocks noGrp="1"/>
          </p:cNvSpPr>
          <p:nvPr>
            <p:ph type="sldNum" sz="quarter" idx="5"/>
          </p:nvPr>
        </p:nvSpPr>
        <p:spPr/>
        <p:txBody>
          <a:bodyPr/>
          <a:lstStyle/>
          <a:p>
            <a:fld id="{E666506D-5C9B-294C-B2AE-15ACE8B5B9F7}" type="slidenum">
              <a:rPr lang="en-US" smtClean="0"/>
              <a:t>16</a:t>
            </a:fld>
            <a:endParaRPr lang="en-US"/>
          </a:p>
        </p:txBody>
      </p:sp>
    </p:spTree>
    <p:extLst>
      <p:ext uri="{BB962C8B-B14F-4D97-AF65-F5344CB8AC3E}">
        <p14:creationId xmlns:p14="http://schemas.microsoft.com/office/powerpoint/2010/main" val="12742750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6788F-BEE5-9626-23FB-74CBEE26A0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4DC1C4-22A8-69FE-4268-3B1BD89B21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633DC1-1727-6FF6-A267-D231422047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E2CE22-01CC-CAA5-3EEC-52F86590BEF9}"/>
              </a:ext>
            </a:extLst>
          </p:cNvPr>
          <p:cNvSpPr>
            <a:spLocks noGrp="1"/>
          </p:cNvSpPr>
          <p:nvPr>
            <p:ph type="sldNum" sz="quarter" idx="5"/>
          </p:nvPr>
        </p:nvSpPr>
        <p:spPr/>
        <p:txBody>
          <a:bodyPr/>
          <a:lstStyle/>
          <a:p>
            <a:fld id="{E666506D-5C9B-294C-B2AE-15ACE8B5B9F7}" type="slidenum">
              <a:rPr lang="en-US" smtClean="0"/>
              <a:t>17</a:t>
            </a:fld>
            <a:endParaRPr lang="en-US"/>
          </a:p>
        </p:txBody>
      </p:sp>
    </p:spTree>
    <p:extLst>
      <p:ext uri="{BB962C8B-B14F-4D97-AF65-F5344CB8AC3E}">
        <p14:creationId xmlns:p14="http://schemas.microsoft.com/office/powerpoint/2010/main" val="15146356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F7817-56DF-6837-03B4-F55B45DA62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8BA8EE-4F1C-2861-6E3E-E81010DC5B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E27DBD-7A1C-0927-FEE1-2BD487D1FA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7D0C2F-8C70-D714-3937-073159F910EF}"/>
              </a:ext>
            </a:extLst>
          </p:cNvPr>
          <p:cNvSpPr>
            <a:spLocks noGrp="1"/>
          </p:cNvSpPr>
          <p:nvPr>
            <p:ph type="sldNum" sz="quarter" idx="5"/>
          </p:nvPr>
        </p:nvSpPr>
        <p:spPr/>
        <p:txBody>
          <a:bodyPr/>
          <a:lstStyle/>
          <a:p>
            <a:fld id="{E666506D-5C9B-294C-B2AE-15ACE8B5B9F7}" type="slidenum">
              <a:rPr lang="en-US" smtClean="0"/>
              <a:t>18</a:t>
            </a:fld>
            <a:endParaRPr lang="en-US"/>
          </a:p>
        </p:txBody>
      </p:sp>
    </p:spTree>
    <p:extLst>
      <p:ext uri="{BB962C8B-B14F-4D97-AF65-F5344CB8AC3E}">
        <p14:creationId xmlns:p14="http://schemas.microsoft.com/office/powerpoint/2010/main" val="28739577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1C698-2271-9975-CFF5-C0218D35A7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6AACF5-4ABF-7D6E-ED80-C01DC0682F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C97F93-6290-F38D-24D0-8C978C2846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68EBF9-B36A-E16C-1E0D-081C3B69DF63}"/>
              </a:ext>
            </a:extLst>
          </p:cNvPr>
          <p:cNvSpPr>
            <a:spLocks noGrp="1"/>
          </p:cNvSpPr>
          <p:nvPr>
            <p:ph type="sldNum" sz="quarter" idx="5"/>
          </p:nvPr>
        </p:nvSpPr>
        <p:spPr/>
        <p:txBody>
          <a:bodyPr/>
          <a:lstStyle/>
          <a:p>
            <a:fld id="{E666506D-5C9B-294C-B2AE-15ACE8B5B9F7}" type="slidenum">
              <a:rPr lang="en-US" smtClean="0"/>
              <a:t>19</a:t>
            </a:fld>
            <a:endParaRPr lang="en-US"/>
          </a:p>
        </p:txBody>
      </p:sp>
    </p:spTree>
    <p:extLst>
      <p:ext uri="{BB962C8B-B14F-4D97-AF65-F5344CB8AC3E}">
        <p14:creationId xmlns:p14="http://schemas.microsoft.com/office/powerpoint/2010/main" val="41769379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3EE10-771F-66A3-5225-AAC7AE3744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EA0D4B-189B-468E-9D9A-24D97494DF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A304E5-7A10-EB8C-FAF3-F495A1649E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6C1692-B112-85A3-FC08-C829BC38832F}"/>
              </a:ext>
            </a:extLst>
          </p:cNvPr>
          <p:cNvSpPr>
            <a:spLocks noGrp="1"/>
          </p:cNvSpPr>
          <p:nvPr>
            <p:ph type="sldNum" sz="quarter" idx="5"/>
          </p:nvPr>
        </p:nvSpPr>
        <p:spPr/>
        <p:txBody>
          <a:bodyPr/>
          <a:lstStyle/>
          <a:p>
            <a:fld id="{E666506D-5C9B-294C-B2AE-15ACE8B5B9F7}" type="slidenum">
              <a:rPr lang="en-US" smtClean="0"/>
              <a:t>20</a:t>
            </a:fld>
            <a:endParaRPr lang="en-US"/>
          </a:p>
        </p:txBody>
      </p:sp>
    </p:spTree>
    <p:extLst>
      <p:ext uri="{BB962C8B-B14F-4D97-AF65-F5344CB8AC3E}">
        <p14:creationId xmlns:p14="http://schemas.microsoft.com/office/powerpoint/2010/main" val="36498458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4752C-E543-2A9A-78B1-61E24D70F7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ACBDF9-98E3-FE70-ECB9-820B7E559D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69BBB3-E18E-3B4A-8A6F-2ABB9C0617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5FB079-3BD3-E310-8646-BFCFC42FA13A}"/>
              </a:ext>
            </a:extLst>
          </p:cNvPr>
          <p:cNvSpPr>
            <a:spLocks noGrp="1"/>
          </p:cNvSpPr>
          <p:nvPr>
            <p:ph type="sldNum" sz="quarter" idx="5"/>
          </p:nvPr>
        </p:nvSpPr>
        <p:spPr/>
        <p:txBody>
          <a:bodyPr/>
          <a:lstStyle/>
          <a:p>
            <a:fld id="{E666506D-5C9B-294C-B2AE-15ACE8B5B9F7}" type="slidenum">
              <a:rPr lang="en-US" smtClean="0"/>
              <a:t>21</a:t>
            </a:fld>
            <a:endParaRPr lang="en-US"/>
          </a:p>
        </p:txBody>
      </p:sp>
    </p:spTree>
    <p:extLst>
      <p:ext uri="{BB962C8B-B14F-4D97-AF65-F5344CB8AC3E}">
        <p14:creationId xmlns:p14="http://schemas.microsoft.com/office/powerpoint/2010/main" val="21856178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3ACA0-4B0F-BB8A-9A9E-106BC6398F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3D725B-47FD-7D07-9A18-72FBCEB11B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866530-A3C3-C4C4-60D0-71ABE3E94C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E2FE7E-D439-18D6-8B31-78ED6D0A53CC}"/>
              </a:ext>
            </a:extLst>
          </p:cNvPr>
          <p:cNvSpPr>
            <a:spLocks noGrp="1"/>
          </p:cNvSpPr>
          <p:nvPr>
            <p:ph type="sldNum" sz="quarter" idx="5"/>
          </p:nvPr>
        </p:nvSpPr>
        <p:spPr/>
        <p:txBody>
          <a:bodyPr/>
          <a:lstStyle/>
          <a:p>
            <a:fld id="{E666506D-5C9B-294C-B2AE-15ACE8B5B9F7}" type="slidenum">
              <a:rPr lang="en-US" smtClean="0"/>
              <a:t>22</a:t>
            </a:fld>
            <a:endParaRPr lang="en-US"/>
          </a:p>
        </p:txBody>
      </p:sp>
    </p:spTree>
    <p:extLst>
      <p:ext uri="{BB962C8B-B14F-4D97-AF65-F5344CB8AC3E}">
        <p14:creationId xmlns:p14="http://schemas.microsoft.com/office/powerpoint/2010/main" val="20967894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AD56D-6399-99CE-FBC5-09A0405970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522B11-9F8A-7C58-C940-4F1CFB4D0E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659DE7-E17F-E637-4E33-A69BB7F7A1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E27B14-6CC9-53E0-345B-6C31C2872D35}"/>
              </a:ext>
            </a:extLst>
          </p:cNvPr>
          <p:cNvSpPr>
            <a:spLocks noGrp="1"/>
          </p:cNvSpPr>
          <p:nvPr>
            <p:ph type="sldNum" sz="quarter" idx="5"/>
          </p:nvPr>
        </p:nvSpPr>
        <p:spPr/>
        <p:txBody>
          <a:bodyPr/>
          <a:lstStyle/>
          <a:p>
            <a:fld id="{E666506D-5C9B-294C-B2AE-15ACE8B5B9F7}" type="slidenum">
              <a:rPr lang="en-US" smtClean="0"/>
              <a:t>23</a:t>
            </a:fld>
            <a:endParaRPr lang="en-US"/>
          </a:p>
        </p:txBody>
      </p:sp>
    </p:spTree>
    <p:extLst>
      <p:ext uri="{BB962C8B-B14F-4D97-AF65-F5344CB8AC3E}">
        <p14:creationId xmlns:p14="http://schemas.microsoft.com/office/powerpoint/2010/main" val="34889323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D651B-39DA-C97F-A834-DB523955C6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8D4503-5AD3-C206-5BD1-9E89174C80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52CFEC-2895-260C-71AB-5ED95E890E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903982-D3E5-3D65-7CE8-070FBC575EDA}"/>
              </a:ext>
            </a:extLst>
          </p:cNvPr>
          <p:cNvSpPr>
            <a:spLocks noGrp="1"/>
          </p:cNvSpPr>
          <p:nvPr>
            <p:ph type="sldNum" sz="quarter" idx="5"/>
          </p:nvPr>
        </p:nvSpPr>
        <p:spPr/>
        <p:txBody>
          <a:bodyPr/>
          <a:lstStyle/>
          <a:p>
            <a:fld id="{E666506D-5C9B-294C-B2AE-15ACE8B5B9F7}" type="slidenum">
              <a:rPr lang="en-US" smtClean="0"/>
              <a:t>24</a:t>
            </a:fld>
            <a:endParaRPr lang="en-US"/>
          </a:p>
        </p:txBody>
      </p:sp>
    </p:spTree>
    <p:extLst>
      <p:ext uri="{BB962C8B-B14F-4D97-AF65-F5344CB8AC3E}">
        <p14:creationId xmlns:p14="http://schemas.microsoft.com/office/powerpoint/2010/main" val="18554288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E92F0-7FEE-26BD-C63A-A5139FC757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7CE05F-3C10-3D41-EF31-E34FC02CD5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AAD8E5-8702-3A82-54A4-E269B3B934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7885D5-129A-D6B4-D1F8-7B2F689245E8}"/>
              </a:ext>
            </a:extLst>
          </p:cNvPr>
          <p:cNvSpPr>
            <a:spLocks noGrp="1"/>
          </p:cNvSpPr>
          <p:nvPr>
            <p:ph type="sldNum" sz="quarter" idx="5"/>
          </p:nvPr>
        </p:nvSpPr>
        <p:spPr/>
        <p:txBody>
          <a:bodyPr/>
          <a:lstStyle/>
          <a:p>
            <a:fld id="{E666506D-5C9B-294C-B2AE-15ACE8B5B9F7}" type="slidenum">
              <a:rPr lang="en-US" smtClean="0"/>
              <a:t>25</a:t>
            </a:fld>
            <a:endParaRPr lang="en-US"/>
          </a:p>
        </p:txBody>
      </p:sp>
    </p:spTree>
    <p:extLst>
      <p:ext uri="{BB962C8B-B14F-4D97-AF65-F5344CB8AC3E}">
        <p14:creationId xmlns:p14="http://schemas.microsoft.com/office/powerpoint/2010/main" val="27322586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23C03-D136-FBE1-C328-62935F6DDF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68093A-4FCF-B837-9C67-D2DB13124E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C3E7EF-7F0B-313B-85AB-9C404C1CE2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3C346C-2AE9-42DB-E8F7-2BFE95B5DF54}"/>
              </a:ext>
            </a:extLst>
          </p:cNvPr>
          <p:cNvSpPr>
            <a:spLocks noGrp="1"/>
          </p:cNvSpPr>
          <p:nvPr>
            <p:ph type="sldNum" sz="quarter" idx="5"/>
          </p:nvPr>
        </p:nvSpPr>
        <p:spPr/>
        <p:txBody>
          <a:bodyPr/>
          <a:lstStyle/>
          <a:p>
            <a:fld id="{E666506D-5C9B-294C-B2AE-15ACE8B5B9F7}" type="slidenum">
              <a:rPr lang="en-US" smtClean="0"/>
              <a:t>26</a:t>
            </a:fld>
            <a:endParaRPr lang="en-US"/>
          </a:p>
        </p:txBody>
      </p:sp>
    </p:spTree>
    <p:extLst>
      <p:ext uri="{BB962C8B-B14F-4D97-AF65-F5344CB8AC3E}">
        <p14:creationId xmlns:p14="http://schemas.microsoft.com/office/powerpoint/2010/main" val="689430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1D7EE-A5A9-90D4-2C49-F30773E06A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155327-E570-907D-FC28-D055569FA9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72C16C-09B3-CDF3-5145-D0ED63AF89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0F9E0C-515D-92D3-F557-584E3429D72B}"/>
              </a:ext>
            </a:extLst>
          </p:cNvPr>
          <p:cNvSpPr>
            <a:spLocks noGrp="1"/>
          </p:cNvSpPr>
          <p:nvPr>
            <p:ph type="sldNum" sz="quarter" idx="5"/>
          </p:nvPr>
        </p:nvSpPr>
        <p:spPr/>
        <p:txBody>
          <a:bodyPr/>
          <a:lstStyle/>
          <a:p>
            <a:fld id="{E666506D-5C9B-294C-B2AE-15ACE8B5B9F7}" type="slidenum">
              <a:rPr lang="en-US" smtClean="0"/>
              <a:t>27</a:t>
            </a:fld>
            <a:endParaRPr lang="en-US"/>
          </a:p>
        </p:txBody>
      </p:sp>
    </p:spTree>
    <p:extLst>
      <p:ext uri="{BB962C8B-B14F-4D97-AF65-F5344CB8AC3E}">
        <p14:creationId xmlns:p14="http://schemas.microsoft.com/office/powerpoint/2010/main" val="31248270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9270263" y="761999"/>
            <a:ext cx="2925318" cy="5334001"/>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10/2/26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850781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10/2/26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676862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2">
                    <a:lumMod val="7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10/2/26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19148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smtClean="0"/>
              <a:pPr/>
              <a:t>10/2/26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6835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smtClean="0"/>
              <a:pPr/>
              <a:t>10/2/26</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509116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smtClean="0"/>
              <a:pPr/>
              <a:t>10/2/26</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86828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smtClean="0"/>
              <a:pPr/>
              <a:t>10/2/26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06068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smtClean="0"/>
              <a:pPr/>
              <a:t>10/2/26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44644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smtClean="0"/>
              <a:pPr/>
              <a:t>10/2/26</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727679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10/2/26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466850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10/2/26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958224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smtClean="0"/>
              <a:pPr/>
              <a:t>10/2/26</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62071484"/>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75000"/>
              <a:lumOff val="2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75000"/>
              <a:lumOff val="2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75000"/>
              <a:lumOff val="2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jcrouser.github.io/"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https://doi.org/10.1145/3411764.3445739"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smith.edu/your-campus/offices-services/institutional-research/data-about-smith"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66711-FD41-BF2C-3200-E86657F1099A}"/>
              </a:ext>
            </a:extLst>
          </p:cNvPr>
          <p:cNvSpPr>
            <a:spLocks noGrp="1"/>
          </p:cNvSpPr>
          <p:nvPr>
            <p:ph type="ctrTitle"/>
          </p:nvPr>
        </p:nvSpPr>
        <p:spPr/>
        <p:txBody>
          <a:bodyPr>
            <a:normAutofit/>
          </a:bodyPr>
          <a:lstStyle/>
          <a:p>
            <a:r>
              <a:rPr lang="en-US" dirty="0"/>
              <a:t>Communicating with Data – Embellishment </a:t>
            </a:r>
          </a:p>
        </p:txBody>
      </p:sp>
      <p:sp>
        <p:nvSpPr>
          <p:cNvPr id="3" name="Subtitle 2">
            <a:extLst>
              <a:ext uri="{FF2B5EF4-FFF2-40B4-BE49-F238E27FC236}">
                <a16:creationId xmlns:a16="http://schemas.microsoft.com/office/drawing/2014/main" id="{D0BE8CA1-49DD-7D0B-3796-B4A0CE9405C0}"/>
              </a:ext>
            </a:extLst>
          </p:cNvPr>
          <p:cNvSpPr>
            <a:spLocks noGrp="1"/>
          </p:cNvSpPr>
          <p:nvPr>
            <p:ph type="subTitle" idx="1"/>
          </p:nvPr>
        </p:nvSpPr>
        <p:spPr/>
        <p:txBody>
          <a:bodyPr/>
          <a:lstStyle/>
          <a:p>
            <a:r>
              <a:rPr lang="en-US" dirty="0"/>
              <a:t>Dr. Ab Mosca (they/them) </a:t>
            </a:r>
          </a:p>
        </p:txBody>
      </p:sp>
      <p:sp>
        <p:nvSpPr>
          <p:cNvPr id="5" name="TextBox 4">
            <a:extLst>
              <a:ext uri="{FF2B5EF4-FFF2-40B4-BE49-F238E27FC236}">
                <a16:creationId xmlns:a16="http://schemas.microsoft.com/office/drawing/2014/main" id="{51C47612-0F01-5A1D-003F-59C048DD3D08}"/>
              </a:ext>
            </a:extLst>
          </p:cNvPr>
          <p:cNvSpPr txBox="1"/>
          <p:nvPr/>
        </p:nvSpPr>
        <p:spPr>
          <a:xfrm>
            <a:off x="2286000" y="6342185"/>
            <a:ext cx="7444410" cy="369332"/>
          </a:xfrm>
          <a:prstGeom prst="rect">
            <a:avLst/>
          </a:prstGeom>
          <a:noFill/>
        </p:spPr>
        <p:txBody>
          <a:bodyPr wrap="none" rtlCol="0">
            <a:spAutoFit/>
          </a:bodyPr>
          <a:lstStyle/>
          <a:p>
            <a:r>
              <a:rPr lang="en-US" dirty="0"/>
              <a:t>Slides based off slides courtesy of Jordan Crouser (</a:t>
            </a:r>
            <a:r>
              <a:rPr lang="en-US" dirty="0">
                <a:hlinkClick r:id="rId2"/>
              </a:rPr>
              <a:t>https://jcrouser.github.io/</a:t>
            </a:r>
            <a:r>
              <a:rPr lang="en-US" dirty="0"/>
              <a:t>) </a:t>
            </a:r>
          </a:p>
        </p:txBody>
      </p:sp>
    </p:spTree>
    <p:extLst>
      <p:ext uri="{BB962C8B-B14F-4D97-AF65-F5344CB8AC3E}">
        <p14:creationId xmlns:p14="http://schemas.microsoft.com/office/powerpoint/2010/main" val="2905323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34DC9-AA19-CD97-60DA-BCAC4753CE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32FB29-0DA5-3953-1997-5775C9FBA422}"/>
              </a:ext>
            </a:extLst>
          </p:cNvPr>
          <p:cNvSpPr>
            <a:spLocks noGrp="1"/>
          </p:cNvSpPr>
          <p:nvPr>
            <p:ph type="title"/>
          </p:nvPr>
        </p:nvSpPr>
        <p:spPr/>
        <p:txBody>
          <a:bodyPr/>
          <a:lstStyle/>
          <a:p>
            <a:r>
              <a:rPr lang="en-US" dirty="0"/>
              <a:t>Recall </a:t>
            </a:r>
          </a:p>
        </p:txBody>
      </p:sp>
      <p:sp>
        <p:nvSpPr>
          <p:cNvPr id="3" name="Content Placeholder 2">
            <a:extLst>
              <a:ext uri="{FF2B5EF4-FFF2-40B4-BE49-F238E27FC236}">
                <a16:creationId xmlns:a16="http://schemas.microsoft.com/office/drawing/2014/main" id="{33A08C39-AF7E-CF6C-1FD1-9B16CAEF6634}"/>
              </a:ext>
            </a:extLst>
          </p:cNvPr>
          <p:cNvSpPr>
            <a:spLocks noGrp="1"/>
          </p:cNvSpPr>
          <p:nvPr>
            <p:ph idx="1"/>
          </p:nvPr>
        </p:nvSpPr>
        <p:spPr>
          <a:xfrm>
            <a:off x="3640668" y="2974848"/>
            <a:ext cx="7315200" cy="2427006"/>
          </a:xfrm>
        </p:spPr>
        <p:txBody>
          <a:bodyPr anchor="t">
            <a:normAutofit/>
          </a:bodyPr>
          <a:lstStyle/>
          <a:p>
            <a:pPr>
              <a:lnSpc>
                <a:spcPct val="100000"/>
              </a:lnSpc>
              <a:buClr>
                <a:srgbClr val="93A299"/>
              </a:buClr>
              <a:buSzPts val="2040"/>
              <a:defRPr/>
            </a:pPr>
            <a:r>
              <a:rPr kumimoji="0" lang="en-US" b="0" i="0" u="none" strike="noStrike" kern="0" cap="none" spc="0" normalizeH="0" baseline="0" noProof="0" dirty="0">
                <a:ln>
                  <a:noFill/>
                </a:ln>
                <a:effectLst/>
                <a:uLnTx/>
                <a:uFillTx/>
                <a:cs typeface="Arial"/>
                <a:sym typeface="Arial"/>
              </a:rPr>
              <a:t>What is one caveat to keep in mind when encoding data via color (hue, or saturation)?</a:t>
            </a:r>
            <a:endParaRPr lang="en-US" kern="0" dirty="0">
              <a:cs typeface="Arial"/>
              <a:sym typeface="Arial"/>
            </a:endParaRPr>
          </a:p>
          <a:p>
            <a:pPr marL="0" marR="0" lvl="0" indent="0" algn="l" defTabSz="914400" rtl="0" eaLnBrk="1" fontAlgn="auto" latinLnBrk="0" hangingPunct="1">
              <a:lnSpc>
                <a:spcPct val="100000"/>
              </a:lnSpc>
              <a:spcBef>
                <a:spcPts val="1200"/>
              </a:spcBef>
              <a:spcAft>
                <a:spcPts val="0"/>
              </a:spcAft>
              <a:buClr>
                <a:srgbClr val="93A299"/>
              </a:buClr>
              <a:buSzPts val="2040"/>
              <a:buNone/>
              <a:tabLst/>
              <a:defRPr/>
            </a:pPr>
            <a:endParaRPr kumimoji="0" lang="en-US" sz="2400" b="0" i="0" u="none" strike="noStrike" kern="0" cap="none" spc="0" normalizeH="0" baseline="0" noProof="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p:txBody>
      </p:sp>
    </p:spTree>
    <p:extLst>
      <p:ext uri="{BB962C8B-B14F-4D97-AF65-F5344CB8AC3E}">
        <p14:creationId xmlns:p14="http://schemas.microsoft.com/office/powerpoint/2010/main" val="3471668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Plan for Today</a:t>
            </a:r>
          </a:p>
        </p:txBody>
      </p:sp>
      <p:sp>
        <p:nvSpPr>
          <p:cNvPr id="3" name="Content Placeholder 2">
            <a:extLst>
              <a:ext uri="{FF2B5EF4-FFF2-40B4-BE49-F238E27FC236}">
                <a16:creationId xmlns:a16="http://schemas.microsoft.com/office/drawing/2014/main" id="{9EAE50F6-429C-715A-C25C-1C7744AED1CF}"/>
              </a:ext>
            </a:extLst>
          </p:cNvPr>
          <p:cNvSpPr>
            <a:spLocks noGrp="1"/>
          </p:cNvSpPr>
          <p:nvPr>
            <p:ph idx="1"/>
          </p:nvPr>
        </p:nvSpPr>
        <p:spPr/>
        <p:txBody>
          <a:bodyPr>
            <a:normAutofit/>
          </a:bodyPr>
          <a:lstStyle/>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r>
              <a:rPr lang="en-US" sz="2400" kern="0" dirty="0">
                <a:cs typeface="Arial"/>
                <a:sym typeface="Arial"/>
              </a:rPr>
              <a:t>What is embellishment for visualization?</a:t>
            </a: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r>
              <a:rPr kumimoji="0" lang="en-US" sz="2400" b="0" i="0" u="none" strike="noStrike" kern="0" cap="none" spc="0" normalizeH="0" baseline="0" noProof="0" dirty="0">
                <a:ln>
                  <a:noFill/>
                </a:ln>
                <a:effectLst/>
                <a:uLnTx/>
                <a:uFillTx/>
                <a:cs typeface="Arial"/>
                <a:sym typeface="Arial"/>
              </a:rPr>
              <a:t>Chart Junk</a:t>
            </a: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r>
              <a:rPr lang="en-US" sz="2400" kern="0" dirty="0">
                <a:cs typeface="Arial"/>
                <a:sym typeface="Arial"/>
              </a:rPr>
              <a:t>Definition </a:t>
            </a: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r>
              <a:rPr lang="en-US" sz="2400" kern="0" dirty="0">
                <a:cs typeface="Arial"/>
                <a:sym typeface="Arial"/>
              </a:rPr>
              <a:t>Benefits and Drawbacks </a:t>
            </a:r>
            <a:endParaRPr kumimoji="0" lang="en-US" sz="2400" b="0" i="0" u="none" strike="noStrike" kern="0" cap="none" spc="0" normalizeH="0" baseline="0" noProof="0" dirty="0">
              <a:ln>
                <a:noFill/>
              </a:ln>
              <a:effectLst/>
              <a:uLnTx/>
              <a:uFillTx/>
              <a:cs typeface="Arial"/>
              <a:sym typeface="Arial"/>
            </a:endParaRPr>
          </a:p>
        </p:txBody>
      </p:sp>
    </p:spTree>
    <p:extLst>
      <p:ext uri="{BB962C8B-B14F-4D97-AF65-F5344CB8AC3E}">
        <p14:creationId xmlns:p14="http://schemas.microsoft.com/office/powerpoint/2010/main" val="1066703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41359-98C5-B68C-68AD-BB8A1BAAF1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6D20E-6012-D9A9-3D73-4E2DDF07C716}"/>
              </a:ext>
            </a:extLst>
          </p:cNvPr>
          <p:cNvSpPr>
            <a:spLocks noGrp="1"/>
          </p:cNvSpPr>
          <p:nvPr>
            <p:ph type="title"/>
          </p:nvPr>
        </p:nvSpPr>
        <p:spPr/>
        <p:txBody>
          <a:bodyPr/>
          <a:lstStyle/>
          <a:p>
            <a:r>
              <a:rPr lang="en-US" dirty="0"/>
              <a:t>Brainstorm</a:t>
            </a:r>
          </a:p>
        </p:txBody>
      </p:sp>
      <p:sp>
        <p:nvSpPr>
          <p:cNvPr id="3" name="Content Placeholder 2">
            <a:extLst>
              <a:ext uri="{FF2B5EF4-FFF2-40B4-BE49-F238E27FC236}">
                <a16:creationId xmlns:a16="http://schemas.microsoft.com/office/drawing/2014/main" id="{4277F3CB-7F7B-5D41-F5FD-90C1B58E2E13}"/>
              </a:ext>
            </a:extLst>
          </p:cNvPr>
          <p:cNvSpPr>
            <a:spLocks noGrp="1"/>
          </p:cNvSpPr>
          <p:nvPr>
            <p:ph idx="1"/>
          </p:nvPr>
        </p:nvSpPr>
        <p:spPr>
          <a:xfrm>
            <a:off x="3640668" y="2974848"/>
            <a:ext cx="7315200" cy="2427006"/>
          </a:xfrm>
        </p:spPr>
        <p:txBody>
          <a:bodyPr anchor="t">
            <a:normAutofit/>
          </a:bodyPr>
          <a:lstStyle/>
          <a:p>
            <a:pPr>
              <a:lnSpc>
                <a:spcPct val="100000"/>
              </a:lnSpc>
              <a:buClr>
                <a:srgbClr val="93A299"/>
              </a:buClr>
              <a:buSzPts val="2040"/>
              <a:defRPr/>
            </a:pPr>
            <a:r>
              <a:rPr kumimoji="0" lang="en-US" b="0" i="0" u="none" strike="noStrike" kern="0" cap="none" spc="0" normalizeH="0" baseline="0" noProof="0" dirty="0">
                <a:ln>
                  <a:noFill/>
                </a:ln>
                <a:effectLst/>
                <a:uLnTx/>
                <a:uFillTx/>
                <a:cs typeface="Arial"/>
                <a:sym typeface="Arial"/>
              </a:rPr>
              <a:t>What do you think embellishment </a:t>
            </a:r>
            <a:r>
              <a:rPr lang="en-US" kern="0" dirty="0">
                <a:cs typeface="Arial"/>
                <a:sym typeface="Arial"/>
              </a:rPr>
              <a:t>for a visualization is?</a:t>
            </a:r>
          </a:p>
          <a:p>
            <a:pPr marL="0" marR="0" lvl="0" indent="0" algn="l" defTabSz="914400" rtl="0" eaLnBrk="1" fontAlgn="auto" latinLnBrk="0" hangingPunct="1">
              <a:lnSpc>
                <a:spcPct val="100000"/>
              </a:lnSpc>
              <a:spcBef>
                <a:spcPts val="1200"/>
              </a:spcBef>
              <a:spcAft>
                <a:spcPts val="0"/>
              </a:spcAft>
              <a:buClr>
                <a:srgbClr val="93A299"/>
              </a:buClr>
              <a:buSzPts val="2040"/>
              <a:buNone/>
              <a:tabLst/>
              <a:defRPr/>
            </a:pPr>
            <a:endParaRPr kumimoji="0" lang="en-US" sz="2400" b="0" i="0" u="none" strike="noStrike" kern="0" cap="none" spc="0" normalizeH="0" baseline="0" noProof="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p:txBody>
      </p:sp>
    </p:spTree>
    <p:extLst>
      <p:ext uri="{BB962C8B-B14F-4D97-AF65-F5344CB8AC3E}">
        <p14:creationId xmlns:p14="http://schemas.microsoft.com/office/powerpoint/2010/main" val="669068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92DED-B5EA-D4A7-AAD6-ACE49E4761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F06E9F-A4D5-EB51-F39E-250F64E480F1}"/>
              </a:ext>
            </a:extLst>
          </p:cNvPr>
          <p:cNvSpPr>
            <a:spLocks noGrp="1"/>
          </p:cNvSpPr>
          <p:nvPr>
            <p:ph type="title"/>
          </p:nvPr>
        </p:nvSpPr>
        <p:spPr/>
        <p:txBody>
          <a:bodyPr/>
          <a:lstStyle/>
          <a:p>
            <a:r>
              <a:rPr lang="en-US" dirty="0"/>
              <a:t>Brainstorm</a:t>
            </a:r>
          </a:p>
        </p:txBody>
      </p:sp>
      <p:sp>
        <p:nvSpPr>
          <p:cNvPr id="7" name="TextBox 6">
            <a:extLst>
              <a:ext uri="{FF2B5EF4-FFF2-40B4-BE49-F238E27FC236}">
                <a16:creationId xmlns:a16="http://schemas.microsoft.com/office/drawing/2014/main" id="{4D97FE96-8873-22B8-22E0-ADC91B5D162D}"/>
              </a:ext>
            </a:extLst>
          </p:cNvPr>
          <p:cNvSpPr txBox="1"/>
          <p:nvPr/>
        </p:nvSpPr>
        <p:spPr>
          <a:xfrm>
            <a:off x="6806184" y="6554878"/>
            <a:ext cx="6568440" cy="276999"/>
          </a:xfrm>
          <a:prstGeom prst="rect">
            <a:avLst/>
          </a:prstGeom>
          <a:noFill/>
        </p:spPr>
        <p:txBody>
          <a:bodyPr wrap="square">
            <a:spAutoFit/>
          </a:bodyPr>
          <a:lstStyle/>
          <a:p>
            <a:r>
              <a:rPr lang="en-US" sz="1200" dirty="0"/>
              <a:t>https://</a:t>
            </a:r>
            <a:r>
              <a:rPr lang="en-US" sz="1200" dirty="0" err="1"/>
              <a:t>www.mass.edu</a:t>
            </a:r>
            <a:r>
              <a:rPr lang="en-US" sz="1200" dirty="0"/>
              <a:t>/datacenter/</a:t>
            </a:r>
            <a:r>
              <a:rPr lang="en-US" sz="1200" dirty="0" err="1"/>
              <a:t>pmrs</a:t>
            </a:r>
            <a:r>
              <a:rPr lang="en-US" sz="1200" dirty="0"/>
              <a:t>/reports/2019/Success-</a:t>
            </a:r>
            <a:r>
              <a:rPr lang="en-US" sz="1200" dirty="0" err="1"/>
              <a:t>Completion.asp</a:t>
            </a:r>
            <a:endParaRPr lang="en-US" sz="1200" dirty="0"/>
          </a:p>
        </p:txBody>
      </p:sp>
      <p:pic>
        <p:nvPicPr>
          <p:cNvPr id="14" name="Picture 13">
            <a:extLst>
              <a:ext uri="{FF2B5EF4-FFF2-40B4-BE49-F238E27FC236}">
                <a16:creationId xmlns:a16="http://schemas.microsoft.com/office/drawing/2014/main" id="{76CE03AB-436E-0A1C-08A6-3F075263E557}"/>
              </a:ext>
            </a:extLst>
          </p:cNvPr>
          <p:cNvPicPr>
            <a:picLocks noChangeAspect="1"/>
          </p:cNvPicPr>
          <p:nvPr/>
        </p:nvPicPr>
        <p:blipFill>
          <a:blip r:embed="rId3"/>
          <a:stretch>
            <a:fillRect/>
          </a:stretch>
        </p:blipFill>
        <p:spPr>
          <a:xfrm>
            <a:off x="3786972" y="1000227"/>
            <a:ext cx="7772400" cy="2016026"/>
          </a:xfrm>
          <a:prstGeom prst="rect">
            <a:avLst/>
          </a:prstGeom>
        </p:spPr>
      </p:pic>
      <p:pic>
        <p:nvPicPr>
          <p:cNvPr id="15" name="Picture 14">
            <a:extLst>
              <a:ext uri="{FF2B5EF4-FFF2-40B4-BE49-F238E27FC236}">
                <a16:creationId xmlns:a16="http://schemas.microsoft.com/office/drawing/2014/main" id="{A9B6624B-C0AC-120B-8513-4371547AB0F9}"/>
              </a:ext>
            </a:extLst>
          </p:cNvPr>
          <p:cNvPicPr>
            <a:picLocks noChangeAspect="1"/>
          </p:cNvPicPr>
          <p:nvPr/>
        </p:nvPicPr>
        <p:blipFill>
          <a:blip r:embed="rId4"/>
          <a:stretch>
            <a:fillRect/>
          </a:stretch>
        </p:blipFill>
        <p:spPr>
          <a:xfrm>
            <a:off x="3786972" y="3294822"/>
            <a:ext cx="7772400" cy="3284440"/>
          </a:xfrm>
          <a:prstGeom prst="rect">
            <a:avLst/>
          </a:prstGeom>
        </p:spPr>
      </p:pic>
      <p:sp>
        <p:nvSpPr>
          <p:cNvPr id="16" name="Content Placeholder 2">
            <a:extLst>
              <a:ext uri="{FF2B5EF4-FFF2-40B4-BE49-F238E27FC236}">
                <a16:creationId xmlns:a16="http://schemas.microsoft.com/office/drawing/2014/main" id="{2B1A4DB1-A62E-23B8-A881-35A2B15F837D}"/>
              </a:ext>
            </a:extLst>
          </p:cNvPr>
          <p:cNvSpPr>
            <a:spLocks noGrp="1"/>
          </p:cNvSpPr>
          <p:nvPr>
            <p:ph idx="1"/>
          </p:nvPr>
        </p:nvSpPr>
        <p:spPr>
          <a:xfrm>
            <a:off x="3793068" y="433614"/>
            <a:ext cx="7315200" cy="5120640"/>
          </a:xfrm>
        </p:spPr>
        <p:txBody>
          <a:bodyPr anchor="t">
            <a:normAutofit/>
          </a:bodyPr>
          <a:lstStyle/>
          <a:p>
            <a:pPr>
              <a:lnSpc>
                <a:spcPct val="100000"/>
              </a:lnSpc>
              <a:buClr>
                <a:srgbClr val="93A299"/>
              </a:buClr>
              <a:buSzPts val="2040"/>
              <a:defRPr/>
            </a:pPr>
            <a:r>
              <a:rPr kumimoji="0" lang="en-US" b="0" i="0" u="none" strike="noStrike" kern="0" cap="none" spc="0" normalizeH="0" baseline="0" noProof="0" dirty="0">
                <a:ln>
                  <a:noFill/>
                </a:ln>
                <a:effectLst/>
                <a:uLnTx/>
                <a:uFillTx/>
                <a:cs typeface="Arial"/>
                <a:sym typeface="Arial"/>
              </a:rPr>
              <a:t>How might you embellish</a:t>
            </a:r>
            <a:r>
              <a:rPr lang="en-US" kern="0" dirty="0">
                <a:cs typeface="Arial"/>
                <a:sym typeface="Arial"/>
              </a:rPr>
              <a:t> these visualizations?</a:t>
            </a: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p:txBody>
      </p:sp>
      <p:sp>
        <p:nvSpPr>
          <p:cNvPr id="17" name="TextBox 16">
            <a:extLst>
              <a:ext uri="{FF2B5EF4-FFF2-40B4-BE49-F238E27FC236}">
                <a16:creationId xmlns:a16="http://schemas.microsoft.com/office/drawing/2014/main" id="{0B0AAF8C-1E76-A6A6-B48F-A5EB85FDF316}"/>
              </a:ext>
            </a:extLst>
          </p:cNvPr>
          <p:cNvSpPr txBox="1"/>
          <p:nvPr/>
        </p:nvSpPr>
        <p:spPr>
          <a:xfrm>
            <a:off x="4838532" y="2959496"/>
            <a:ext cx="7859436" cy="276999"/>
          </a:xfrm>
          <a:prstGeom prst="rect">
            <a:avLst/>
          </a:prstGeom>
          <a:noFill/>
        </p:spPr>
        <p:txBody>
          <a:bodyPr wrap="square">
            <a:spAutoFit/>
          </a:bodyPr>
          <a:lstStyle/>
          <a:p>
            <a:r>
              <a:rPr lang="en-US" sz="1200" dirty="0"/>
              <a:t>https://</a:t>
            </a:r>
            <a:r>
              <a:rPr lang="en-US" sz="1200" dirty="0" err="1"/>
              <a:t>www.mass.gov</a:t>
            </a:r>
            <a:r>
              <a:rPr lang="en-US" sz="1200" dirty="0"/>
              <a:t>/info-details/impact-of-trump-administration-and-congressional-cuts-on-massachusetts</a:t>
            </a:r>
          </a:p>
        </p:txBody>
      </p:sp>
    </p:spTree>
    <p:extLst>
      <p:ext uri="{BB962C8B-B14F-4D97-AF65-F5344CB8AC3E}">
        <p14:creationId xmlns:p14="http://schemas.microsoft.com/office/powerpoint/2010/main" val="4005674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94098-567F-93B1-D80D-4BE41AEF7B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ACF9D-5114-7DCB-89E5-26E87EB15133}"/>
              </a:ext>
            </a:extLst>
          </p:cNvPr>
          <p:cNvSpPr>
            <a:spLocks noGrp="1"/>
          </p:cNvSpPr>
          <p:nvPr>
            <p:ph type="title"/>
          </p:nvPr>
        </p:nvSpPr>
        <p:spPr/>
        <p:txBody>
          <a:bodyPr/>
          <a:lstStyle/>
          <a:p>
            <a:r>
              <a:rPr lang="en-US" dirty="0"/>
              <a:t>Brainstorm</a:t>
            </a:r>
          </a:p>
        </p:txBody>
      </p:sp>
      <p:sp>
        <p:nvSpPr>
          <p:cNvPr id="3" name="Content Placeholder 2">
            <a:extLst>
              <a:ext uri="{FF2B5EF4-FFF2-40B4-BE49-F238E27FC236}">
                <a16:creationId xmlns:a16="http://schemas.microsoft.com/office/drawing/2014/main" id="{72BA22B6-7EC3-0D3E-2433-F1692B4A5EEE}"/>
              </a:ext>
            </a:extLst>
          </p:cNvPr>
          <p:cNvSpPr>
            <a:spLocks noGrp="1"/>
          </p:cNvSpPr>
          <p:nvPr>
            <p:ph idx="1"/>
          </p:nvPr>
        </p:nvSpPr>
        <p:spPr>
          <a:xfrm>
            <a:off x="3640668" y="281214"/>
            <a:ext cx="7315200" cy="5120640"/>
          </a:xfrm>
        </p:spPr>
        <p:txBody>
          <a:bodyPr anchor="t">
            <a:normAutofit/>
          </a:bodyPr>
          <a:lstStyle/>
          <a:p>
            <a:pPr>
              <a:lnSpc>
                <a:spcPct val="100000"/>
              </a:lnSpc>
              <a:buClr>
                <a:srgbClr val="93A299"/>
              </a:buClr>
              <a:buSzPts val="2040"/>
              <a:defRPr/>
            </a:pPr>
            <a:r>
              <a:rPr kumimoji="0" lang="en-US" b="0" i="0" u="none" strike="noStrike" kern="0" cap="none" spc="0" normalizeH="0" baseline="0" noProof="0" dirty="0">
                <a:ln>
                  <a:noFill/>
                </a:ln>
                <a:effectLst/>
                <a:uLnTx/>
                <a:uFillTx/>
                <a:cs typeface="Arial"/>
                <a:sym typeface="Arial"/>
              </a:rPr>
              <a:t>Are these embellished? Why or why not?</a:t>
            </a:r>
            <a:endParaRPr lang="en-US"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p:txBody>
      </p:sp>
      <p:sp>
        <p:nvSpPr>
          <p:cNvPr id="6" name="TextBox 5">
            <a:extLst>
              <a:ext uri="{FF2B5EF4-FFF2-40B4-BE49-F238E27FC236}">
                <a16:creationId xmlns:a16="http://schemas.microsoft.com/office/drawing/2014/main" id="{2A5097D6-0D84-33AD-8964-241AB93F0ADD}"/>
              </a:ext>
            </a:extLst>
          </p:cNvPr>
          <p:cNvSpPr txBox="1"/>
          <p:nvPr/>
        </p:nvSpPr>
        <p:spPr>
          <a:xfrm>
            <a:off x="7985760" y="2754506"/>
            <a:ext cx="4206240" cy="461665"/>
          </a:xfrm>
          <a:prstGeom prst="rect">
            <a:avLst/>
          </a:prstGeom>
          <a:noFill/>
        </p:spPr>
        <p:txBody>
          <a:bodyPr wrap="square">
            <a:spAutoFit/>
          </a:bodyPr>
          <a:lstStyle/>
          <a:p>
            <a:r>
              <a:rPr lang="en-US" sz="1200" dirty="0"/>
              <a:t>https://</a:t>
            </a:r>
            <a:r>
              <a:rPr lang="en-US" sz="1200" dirty="0" err="1"/>
              <a:t>www.mass.edu</a:t>
            </a:r>
            <a:r>
              <a:rPr lang="en-US" sz="1200" dirty="0"/>
              <a:t>/datacenter/</a:t>
            </a:r>
            <a:r>
              <a:rPr lang="en-US" sz="1200" dirty="0" err="1"/>
              <a:t>equityspotlight-latinomales.asp</a:t>
            </a:r>
            <a:endParaRPr lang="en-US" sz="1200" dirty="0"/>
          </a:p>
        </p:txBody>
      </p:sp>
      <p:pic>
        <p:nvPicPr>
          <p:cNvPr id="10" name="Picture 9">
            <a:extLst>
              <a:ext uri="{FF2B5EF4-FFF2-40B4-BE49-F238E27FC236}">
                <a16:creationId xmlns:a16="http://schemas.microsoft.com/office/drawing/2014/main" id="{D2A75044-F36A-7A6F-1E9D-6AE631397A78}"/>
              </a:ext>
            </a:extLst>
          </p:cNvPr>
          <p:cNvPicPr>
            <a:picLocks noChangeAspect="1"/>
          </p:cNvPicPr>
          <p:nvPr/>
        </p:nvPicPr>
        <p:blipFill>
          <a:blip r:embed="rId3"/>
          <a:stretch>
            <a:fillRect/>
          </a:stretch>
        </p:blipFill>
        <p:spPr>
          <a:xfrm>
            <a:off x="3640668" y="696350"/>
            <a:ext cx="4345092" cy="2697411"/>
          </a:xfrm>
          <a:prstGeom prst="rect">
            <a:avLst/>
          </a:prstGeom>
        </p:spPr>
      </p:pic>
      <p:pic>
        <p:nvPicPr>
          <p:cNvPr id="15" name="Picture 14">
            <a:extLst>
              <a:ext uri="{FF2B5EF4-FFF2-40B4-BE49-F238E27FC236}">
                <a16:creationId xmlns:a16="http://schemas.microsoft.com/office/drawing/2014/main" id="{6A59768B-AC9D-4FCC-B464-9736C9EFB448}"/>
              </a:ext>
            </a:extLst>
          </p:cNvPr>
          <p:cNvPicPr>
            <a:picLocks noChangeAspect="1"/>
          </p:cNvPicPr>
          <p:nvPr/>
        </p:nvPicPr>
        <p:blipFill>
          <a:blip r:embed="rId4"/>
          <a:stretch>
            <a:fillRect/>
          </a:stretch>
        </p:blipFill>
        <p:spPr>
          <a:xfrm>
            <a:off x="3547872" y="3393761"/>
            <a:ext cx="6530511" cy="2973187"/>
          </a:xfrm>
          <a:prstGeom prst="rect">
            <a:avLst/>
          </a:prstGeom>
        </p:spPr>
      </p:pic>
      <p:sp>
        <p:nvSpPr>
          <p:cNvPr id="13" name="TextBox 12">
            <a:extLst>
              <a:ext uri="{FF2B5EF4-FFF2-40B4-BE49-F238E27FC236}">
                <a16:creationId xmlns:a16="http://schemas.microsoft.com/office/drawing/2014/main" id="{E09DC144-80C3-3CD8-EFCF-D0B5CC5AF098}"/>
              </a:ext>
            </a:extLst>
          </p:cNvPr>
          <p:cNvSpPr txBox="1"/>
          <p:nvPr/>
        </p:nvSpPr>
        <p:spPr>
          <a:xfrm>
            <a:off x="2487169" y="6366948"/>
            <a:ext cx="9704832" cy="461665"/>
          </a:xfrm>
          <a:prstGeom prst="rect">
            <a:avLst/>
          </a:prstGeom>
          <a:noFill/>
        </p:spPr>
        <p:txBody>
          <a:bodyPr wrap="square">
            <a:spAutoFit/>
          </a:bodyPr>
          <a:lstStyle/>
          <a:p>
            <a:pPr algn="r"/>
            <a:r>
              <a:rPr lang="en-US" sz="1200" b="0" i="0" dirty="0">
                <a:solidFill>
                  <a:srgbClr val="333333"/>
                </a:solidFill>
                <a:effectLst/>
                <a:latin typeface="+mj-lt"/>
              </a:rPr>
              <a:t>Scott Bateman, Regan L. Mandryk, Carl </a:t>
            </a:r>
            <a:r>
              <a:rPr lang="en-US" sz="1200" b="0" i="0" dirty="0" err="1">
                <a:solidFill>
                  <a:srgbClr val="333333"/>
                </a:solidFill>
                <a:effectLst/>
                <a:latin typeface="+mj-lt"/>
              </a:rPr>
              <a:t>Gutwin</a:t>
            </a:r>
            <a:r>
              <a:rPr lang="en-US" sz="1200" b="0" i="0" dirty="0">
                <a:solidFill>
                  <a:srgbClr val="333333"/>
                </a:solidFill>
                <a:effectLst/>
                <a:latin typeface="+mj-lt"/>
              </a:rPr>
              <a:t>, Aaron Genest, David </a:t>
            </a:r>
            <a:r>
              <a:rPr lang="en-US" sz="1200" b="0" i="0" dirty="0" err="1">
                <a:solidFill>
                  <a:srgbClr val="333333"/>
                </a:solidFill>
                <a:effectLst/>
                <a:latin typeface="+mj-lt"/>
              </a:rPr>
              <a:t>McDine</a:t>
            </a:r>
            <a:r>
              <a:rPr lang="en-US" sz="1200" b="0" i="0" dirty="0">
                <a:solidFill>
                  <a:srgbClr val="333333"/>
                </a:solidFill>
                <a:effectLst/>
                <a:latin typeface="+mj-lt"/>
              </a:rPr>
              <a:t>, and Christopher Brooks. 2010. Useful junk? the effects of visual embellishment on comprehension and memorability of charts. https://</a:t>
            </a:r>
            <a:r>
              <a:rPr lang="en-US" sz="1200" b="0" i="0" dirty="0" err="1">
                <a:solidFill>
                  <a:srgbClr val="333333"/>
                </a:solidFill>
                <a:effectLst/>
                <a:latin typeface="+mj-lt"/>
              </a:rPr>
              <a:t>doi.org</a:t>
            </a:r>
            <a:r>
              <a:rPr lang="en-US" sz="1200" b="0" i="0" dirty="0">
                <a:solidFill>
                  <a:srgbClr val="333333"/>
                </a:solidFill>
                <a:effectLst/>
                <a:latin typeface="+mj-lt"/>
              </a:rPr>
              <a:t>/10.1145/1753326.1753716</a:t>
            </a:r>
            <a:endParaRPr lang="en-US" sz="1200" dirty="0">
              <a:latin typeface="+mj-lt"/>
            </a:endParaRPr>
          </a:p>
        </p:txBody>
      </p:sp>
    </p:spTree>
    <p:extLst>
      <p:ext uri="{BB962C8B-B14F-4D97-AF65-F5344CB8AC3E}">
        <p14:creationId xmlns:p14="http://schemas.microsoft.com/office/powerpoint/2010/main" val="2283967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7B7FA-C476-C282-6219-F67D08898C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88EFD-CC9A-EE88-AB3B-BE0E0CE5712C}"/>
              </a:ext>
            </a:extLst>
          </p:cNvPr>
          <p:cNvSpPr>
            <a:spLocks noGrp="1"/>
          </p:cNvSpPr>
          <p:nvPr>
            <p:ph type="title"/>
          </p:nvPr>
        </p:nvSpPr>
        <p:spPr/>
        <p:txBody>
          <a:bodyPr/>
          <a:lstStyle/>
          <a:p>
            <a:r>
              <a:rPr lang="en-US" dirty="0"/>
              <a:t>Chart Junk</a:t>
            </a:r>
          </a:p>
        </p:txBody>
      </p:sp>
      <p:sp>
        <p:nvSpPr>
          <p:cNvPr id="3" name="Content Placeholder 2">
            <a:extLst>
              <a:ext uri="{FF2B5EF4-FFF2-40B4-BE49-F238E27FC236}">
                <a16:creationId xmlns:a16="http://schemas.microsoft.com/office/drawing/2014/main" id="{89F0FA61-6A9E-5CDE-C33E-8EAB5289A38D}"/>
              </a:ext>
            </a:extLst>
          </p:cNvPr>
          <p:cNvSpPr>
            <a:spLocks noGrp="1"/>
          </p:cNvSpPr>
          <p:nvPr>
            <p:ph idx="1"/>
          </p:nvPr>
        </p:nvSpPr>
        <p:spPr>
          <a:xfrm>
            <a:off x="3640668" y="800670"/>
            <a:ext cx="7315200" cy="4601184"/>
          </a:xfrm>
        </p:spPr>
        <p:txBody>
          <a:bodyPr anchor="t">
            <a:normAutofit/>
          </a:bodyPr>
          <a:lstStyle/>
          <a:p>
            <a:pPr marL="0" marR="0" lvl="0" indent="0" algn="l" defTabSz="914400" rtl="0" eaLnBrk="1" fontAlgn="auto" latinLnBrk="0" hangingPunct="1">
              <a:lnSpc>
                <a:spcPct val="100000"/>
              </a:lnSpc>
              <a:spcBef>
                <a:spcPts val="1200"/>
              </a:spcBef>
              <a:spcAft>
                <a:spcPts val="0"/>
              </a:spcAft>
              <a:buClr>
                <a:srgbClr val="93A299"/>
              </a:buClr>
              <a:buSzPts val="2040"/>
              <a:buNone/>
              <a:tabLst/>
              <a:defRPr/>
            </a:pPr>
            <a:r>
              <a:rPr kumimoji="0" lang="en-US" sz="2400" b="0" i="0" u="none" strike="noStrike" kern="0" cap="none" spc="0" normalizeH="0" baseline="0" noProof="0" dirty="0">
                <a:ln>
                  <a:noFill/>
                </a:ln>
                <a:effectLst/>
                <a:uLnTx/>
                <a:uFillTx/>
                <a:cs typeface="Arial"/>
                <a:sym typeface="Arial"/>
              </a:rPr>
              <a:t>Edward Tufte</a:t>
            </a:r>
          </a:p>
          <a:p>
            <a:pPr marL="0" marR="0" lvl="0" indent="0" algn="l" defTabSz="914400" rtl="0" eaLnBrk="1" fontAlgn="auto" latinLnBrk="0" hangingPunct="1">
              <a:lnSpc>
                <a:spcPct val="100000"/>
              </a:lnSpc>
              <a:spcBef>
                <a:spcPts val="1200"/>
              </a:spcBef>
              <a:spcAft>
                <a:spcPts val="0"/>
              </a:spcAft>
              <a:buClr>
                <a:srgbClr val="93A299"/>
              </a:buClr>
              <a:buSzPts val="2040"/>
              <a:buNone/>
              <a:tabLst/>
              <a:defRPr/>
            </a:pPr>
            <a:endParaRPr kumimoji="0" lang="en-US" sz="2400" b="0" i="0" u="none" strike="noStrike" kern="0" cap="none" spc="0" normalizeH="0" baseline="0" noProof="0" dirty="0">
              <a:ln>
                <a:noFill/>
              </a:ln>
              <a:effectLst/>
              <a:uLnTx/>
              <a:uFillTx/>
              <a:cs typeface="Arial"/>
              <a:sym typeface="Arial"/>
            </a:endParaRPr>
          </a:p>
          <a:p>
            <a:pPr>
              <a:lnSpc>
                <a:spcPct val="100000"/>
              </a:lnSpc>
              <a:buClr>
                <a:srgbClr val="93A299"/>
              </a:buClr>
              <a:buSzPts val="2040"/>
              <a:defRPr/>
            </a:pPr>
            <a:r>
              <a:rPr lang="en-US" sz="2400" b="1" kern="0" noProof="0" dirty="0">
                <a:cs typeface="Arial"/>
                <a:sym typeface="Arial"/>
              </a:rPr>
              <a:t>Data-Ink</a:t>
            </a:r>
            <a:r>
              <a:rPr lang="en-US" sz="2400" kern="0" noProof="0" dirty="0">
                <a:cs typeface="Arial"/>
                <a:sym typeface="Arial"/>
              </a:rPr>
              <a:t> == Ink on the page that displays data</a:t>
            </a:r>
          </a:p>
          <a:p>
            <a:pPr>
              <a:lnSpc>
                <a:spcPct val="100000"/>
              </a:lnSpc>
              <a:buClr>
                <a:srgbClr val="93A299"/>
              </a:buClr>
              <a:buSzPts val="2040"/>
              <a:defRPr/>
            </a:pPr>
            <a:r>
              <a:rPr lang="en-US" sz="2400" b="1" kern="0" noProof="0" dirty="0">
                <a:cs typeface="Arial"/>
                <a:sym typeface="Arial"/>
              </a:rPr>
              <a:t>Chart </a:t>
            </a:r>
            <a:r>
              <a:rPr lang="en-US" sz="2400" b="1" kern="0" dirty="0">
                <a:cs typeface="Arial"/>
                <a:sym typeface="Arial"/>
              </a:rPr>
              <a:t>J</a:t>
            </a:r>
            <a:r>
              <a:rPr lang="en-US" sz="2400" b="1" kern="0" noProof="0" dirty="0" err="1">
                <a:cs typeface="Arial"/>
                <a:sym typeface="Arial"/>
              </a:rPr>
              <a:t>unk</a:t>
            </a:r>
            <a:r>
              <a:rPr lang="en-US" sz="2400" b="1" kern="0" noProof="0" dirty="0">
                <a:cs typeface="Arial"/>
                <a:sym typeface="Arial"/>
              </a:rPr>
              <a:t> </a:t>
            </a:r>
            <a:r>
              <a:rPr lang="en-US" sz="2400" kern="0" noProof="0" dirty="0">
                <a:cs typeface="Arial"/>
                <a:sym typeface="Arial"/>
              </a:rPr>
              <a:t>==</a:t>
            </a:r>
            <a:endParaRPr lang="en-US" sz="2400" kern="0" dirty="0">
              <a:cs typeface="Arial"/>
              <a:sym typeface="Arial"/>
            </a:endParaRPr>
          </a:p>
          <a:p>
            <a:pPr lvl="1">
              <a:lnSpc>
                <a:spcPct val="100000"/>
              </a:lnSpc>
              <a:buClr>
                <a:srgbClr val="93A299"/>
              </a:buClr>
              <a:buSzPts val="2040"/>
              <a:defRPr/>
            </a:pPr>
            <a:r>
              <a:rPr lang="en-US" sz="2400" kern="0" dirty="0">
                <a:cs typeface="Arial"/>
                <a:sym typeface="Arial"/>
              </a:rPr>
              <a:t>N</a:t>
            </a:r>
            <a:r>
              <a:rPr lang="en-US" sz="2400" kern="0" noProof="0" dirty="0">
                <a:cs typeface="Arial"/>
                <a:sym typeface="Arial"/>
              </a:rPr>
              <a:t>on-data ink</a:t>
            </a:r>
          </a:p>
          <a:p>
            <a:pPr lvl="1">
              <a:lnSpc>
                <a:spcPct val="100000"/>
              </a:lnSpc>
              <a:buClr>
                <a:srgbClr val="93A299"/>
              </a:buClr>
              <a:buSzPts val="2040"/>
              <a:defRPr/>
            </a:pPr>
            <a:r>
              <a:rPr lang="en-US" sz="2400" kern="0" noProof="0" dirty="0">
                <a:cs typeface="Arial"/>
                <a:sym typeface="Arial"/>
              </a:rPr>
              <a:t>Purely style elements</a:t>
            </a:r>
          </a:p>
          <a:p>
            <a:pPr lvl="1">
              <a:lnSpc>
                <a:spcPct val="100000"/>
              </a:lnSpc>
              <a:buClr>
                <a:srgbClr val="93A299"/>
              </a:buClr>
              <a:buSzPts val="2040"/>
              <a:defRPr/>
            </a:pPr>
            <a:endParaRPr kumimoji="0" lang="en-US" sz="2400" b="0" i="0" u="none" strike="noStrike" kern="0" cap="none" spc="0" normalizeH="0" baseline="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b="1"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p:txBody>
      </p:sp>
      <p:sp>
        <p:nvSpPr>
          <p:cNvPr id="5" name="TextBox 4">
            <a:extLst>
              <a:ext uri="{FF2B5EF4-FFF2-40B4-BE49-F238E27FC236}">
                <a16:creationId xmlns:a16="http://schemas.microsoft.com/office/drawing/2014/main" id="{8DEF2C7C-AAB9-C506-B1F7-95B5AE24ED15}"/>
              </a:ext>
            </a:extLst>
          </p:cNvPr>
          <p:cNvSpPr txBox="1"/>
          <p:nvPr/>
        </p:nvSpPr>
        <p:spPr>
          <a:xfrm>
            <a:off x="4098235" y="6400799"/>
            <a:ext cx="8093765" cy="338554"/>
          </a:xfrm>
          <a:prstGeom prst="rect">
            <a:avLst/>
          </a:prstGeom>
          <a:noFill/>
        </p:spPr>
        <p:txBody>
          <a:bodyPr wrap="square">
            <a:spAutoFit/>
          </a:bodyPr>
          <a:lstStyle/>
          <a:p>
            <a:r>
              <a:rPr lang="en-US" sz="1600" b="0" u="none" strike="noStrike" dirty="0">
                <a:effectLst/>
                <a:latin typeface="+mj-lt"/>
              </a:rPr>
              <a:t>Tufte, E. R. (1983). </a:t>
            </a:r>
            <a:r>
              <a:rPr lang="en-US" sz="1600" b="0" i="1" u="none" strike="noStrike" dirty="0">
                <a:effectLst/>
                <a:latin typeface="+mj-lt"/>
              </a:rPr>
              <a:t>The Visual Display of Quantitative Information</a:t>
            </a:r>
            <a:r>
              <a:rPr lang="en-US" sz="1600" dirty="0">
                <a:latin typeface="+mj-lt"/>
              </a:rPr>
              <a:t>. Cheshire, CT: Graphics Press</a:t>
            </a:r>
          </a:p>
        </p:txBody>
      </p:sp>
    </p:spTree>
    <p:extLst>
      <p:ext uri="{BB962C8B-B14F-4D97-AF65-F5344CB8AC3E}">
        <p14:creationId xmlns:p14="http://schemas.microsoft.com/office/powerpoint/2010/main" val="2762790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1C796-B557-290C-99A1-DC90B7CDEB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DF7CF5-E9B5-BCB5-04FB-88E8BE952D91}"/>
              </a:ext>
            </a:extLst>
          </p:cNvPr>
          <p:cNvSpPr>
            <a:spLocks noGrp="1"/>
          </p:cNvSpPr>
          <p:nvPr>
            <p:ph type="title"/>
          </p:nvPr>
        </p:nvSpPr>
        <p:spPr/>
        <p:txBody>
          <a:bodyPr/>
          <a:lstStyle/>
          <a:p>
            <a:r>
              <a:rPr lang="en-US" dirty="0"/>
              <a:t>Chart Junk</a:t>
            </a:r>
          </a:p>
        </p:txBody>
      </p:sp>
      <p:sp>
        <p:nvSpPr>
          <p:cNvPr id="7" name="TextBox 6">
            <a:extLst>
              <a:ext uri="{FF2B5EF4-FFF2-40B4-BE49-F238E27FC236}">
                <a16:creationId xmlns:a16="http://schemas.microsoft.com/office/drawing/2014/main" id="{6238F910-1A9D-4EAE-7C0F-308AB940EF49}"/>
              </a:ext>
            </a:extLst>
          </p:cNvPr>
          <p:cNvSpPr txBox="1"/>
          <p:nvPr/>
        </p:nvSpPr>
        <p:spPr>
          <a:xfrm>
            <a:off x="2487169" y="6366948"/>
            <a:ext cx="9704832" cy="461665"/>
          </a:xfrm>
          <a:prstGeom prst="rect">
            <a:avLst/>
          </a:prstGeom>
          <a:noFill/>
        </p:spPr>
        <p:txBody>
          <a:bodyPr wrap="square">
            <a:spAutoFit/>
          </a:bodyPr>
          <a:lstStyle/>
          <a:p>
            <a:pPr algn="r"/>
            <a:r>
              <a:rPr lang="en-US" sz="1200" b="0" i="0" dirty="0">
                <a:solidFill>
                  <a:srgbClr val="333333"/>
                </a:solidFill>
                <a:effectLst/>
                <a:latin typeface="+mj-lt"/>
              </a:rPr>
              <a:t>Scott Bateman, Regan L. Mandryk, Carl </a:t>
            </a:r>
            <a:r>
              <a:rPr lang="en-US" sz="1200" b="0" i="0" dirty="0" err="1">
                <a:solidFill>
                  <a:srgbClr val="333333"/>
                </a:solidFill>
                <a:effectLst/>
                <a:latin typeface="+mj-lt"/>
              </a:rPr>
              <a:t>Gutwin</a:t>
            </a:r>
            <a:r>
              <a:rPr lang="en-US" sz="1200" b="0" i="0" dirty="0">
                <a:solidFill>
                  <a:srgbClr val="333333"/>
                </a:solidFill>
                <a:effectLst/>
                <a:latin typeface="+mj-lt"/>
              </a:rPr>
              <a:t>, Aaron Genest, David </a:t>
            </a:r>
            <a:r>
              <a:rPr lang="en-US" sz="1200" b="0" i="0" dirty="0" err="1">
                <a:solidFill>
                  <a:srgbClr val="333333"/>
                </a:solidFill>
                <a:effectLst/>
                <a:latin typeface="+mj-lt"/>
              </a:rPr>
              <a:t>McDine</a:t>
            </a:r>
            <a:r>
              <a:rPr lang="en-US" sz="1200" b="0" i="0" dirty="0">
                <a:solidFill>
                  <a:srgbClr val="333333"/>
                </a:solidFill>
                <a:effectLst/>
                <a:latin typeface="+mj-lt"/>
              </a:rPr>
              <a:t>, and Christopher Brooks. 2010. Useful junk? the effects of visual embellishment on comprehension and memorability of charts. https://</a:t>
            </a:r>
            <a:r>
              <a:rPr lang="en-US" sz="1200" b="0" i="0" dirty="0" err="1">
                <a:solidFill>
                  <a:srgbClr val="333333"/>
                </a:solidFill>
                <a:effectLst/>
                <a:latin typeface="+mj-lt"/>
              </a:rPr>
              <a:t>doi.org</a:t>
            </a:r>
            <a:r>
              <a:rPr lang="en-US" sz="1200" b="0" i="0" dirty="0">
                <a:solidFill>
                  <a:srgbClr val="333333"/>
                </a:solidFill>
                <a:effectLst/>
                <a:latin typeface="+mj-lt"/>
              </a:rPr>
              <a:t>/10.1145/1753326.1753716</a:t>
            </a:r>
            <a:endParaRPr lang="en-US" sz="1200" dirty="0">
              <a:latin typeface="+mj-lt"/>
            </a:endParaRPr>
          </a:p>
        </p:txBody>
      </p:sp>
      <p:sp>
        <p:nvSpPr>
          <p:cNvPr id="10" name="Content Placeholder 2">
            <a:extLst>
              <a:ext uri="{FF2B5EF4-FFF2-40B4-BE49-F238E27FC236}">
                <a16:creationId xmlns:a16="http://schemas.microsoft.com/office/drawing/2014/main" id="{A6FD5997-7697-7625-8EBE-E0F6FD073A45}"/>
              </a:ext>
            </a:extLst>
          </p:cNvPr>
          <p:cNvSpPr>
            <a:spLocks noGrp="1"/>
          </p:cNvSpPr>
          <p:nvPr>
            <p:ph idx="1"/>
          </p:nvPr>
        </p:nvSpPr>
        <p:spPr>
          <a:xfrm>
            <a:off x="3640668" y="800670"/>
            <a:ext cx="7315200" cy="4601184"/>
          </a:xfrm>
        </p:spPr>
        <p:txBody>
          <a:bodyPr anchor="t">
            <a:normAutofit/>
          </a:bodyPr>
          <a:lstStyle/>
          <a:p>
            <a:pPr marL="0" marR="0" lvl="0" indent="0" algn="l" defTabSz="914400" rtl="0" eaLnBrk="1" fontAlgn="auto" latinLnBrk="0" hangingPunct="1">
              <a:lnSpc>
                <a:spcPct val="100000"/>
              </a:lnSpc>
              <a:spcBef>
                <a:spcPts val="1200"/>
              </a:spcBef>
              <a:spcAft>
                <a:spcPts val="0"/>
              </a:spcAft>
              <a:buClr>
                <a:srgbClr val="93A299"/>
              </a:buClr>
              <a:buSzPts val="2040"/>
              <a:buNone/>
              <a:tabLst/>
              <a:defRPr/>
            </a:pPr>
            <a:r>
              <a:rPr kumimoji="0" lang="en-US" sz="2400" b="0" i="0" u="none" strike="noStrike" kern="0" cap="none" spc="0" normalizeH="0" baseline="0" noProof="0" dirty="0">
                <a:ln>
                  <a:noFill/>
                </a:ln>
                <a:effectLst/>
                <a:uLnTx/>
                <a:uFillTx/>
                <a:cs typeface="Arial"/>
                <a:sym typeface="Arial"/>
              </a:rPr>
              <a:t>Redraw the following </a:t>
            </a:r>
            <a:r>
              <a:rPr kumimoji="0" lang="en-US" sz="2400" b="0" i="1" u="none" strike="noStrike" kern="0" cap="none" spc="0" normalizeH="0" baseline="0" noProof="0" dirty="0">
                <a:ln>
                  <a:noFill/>
                </a:ln>
                <a:effectLst/>
                <a:uLnTx/>
                <a:uFillTx/>
                <a:cs typeface="Arial"/>
                <a:sym typeface="Arial"/>
              </a:rPr>
              <a:t>without</a:t>
            </a:r>
            <a:r>
              <a:rPr kumimoji="0" lang="en-US" sz="2400" b="0" i="0" u="none" strike="noStrike" kern="0" cap="none" spc="0" normalizeH="0" baseline="0" noProof="0" dirty="0">
                <a:ln>
                  <a:noFill/>
                </a:ln>
                <a:effectLst/>
                <a:uLnTx/>
                <a:uFillTx/>
                <a:cs typeface="Arial"/>
                <a:sym typeface="Arial"/>
              </a:rPr>
              <a:t> chart junk </a:t>
            </a:r>
            <a:endParaRPr kumimoji="0" lang="en-US" sz="2400" b="0" i="0" u="none" strike="noStrike" kern="0" cap="none" spc="0" normalizeH="0" baseline="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b="1"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p:txBody>
      </p:sp>
      <p:pic>
        <p:nvPicPr>
          <p:cNvPr id="9" name="Picture 8">
            <a:extLst>
              <a:ext uri="{FF2B5EF4-FFF2-40B4-BE49-F238E27FC236}">
                <a16:creationId xmlns:a16="http://schemas.microsoft.com/office/drawing/2014/main" id="{9D890FB9-2602-1B67-FD53-B2D0338932F8}"/>
              </a:ext>
            </a:extLst>
          </p:cNvPr>
          <p:cNvPicPr>
            <a:picLocks noChangeAspect="1"/>
          </p:cNvPicPr>
          <p:nvPr/>
        </p:nvPicPr>
        <p:blipFill>
          <a:blip r:embed="rId3"/>
          <a:srcRect l="2177" t="2469" r="2666"/>
          <a:stretch>
            <a:fillRect/>
          </a:stretch>
        </p:blipFill>
        <p:spPr>
          <a:xfrm>
            <a:off x="3640668" y="1683736"/>
            <a:ext cx="5861142" cy="4360046"/>
          </a:xfrm>
          <a:prstGeom prst="rect">
            <a:avLst/>
          </a:prstGeom>
        </p:spPr>
      </p:pic>
    </p:spTree>
    <p:extLst>
      <p:ext uri="{BB962C8B-B14F-4D97-AF65-F5344CB8AC3E}">
        <p14:creationId xmlns:p14="http://schemas.microsoft.com/office/powerpoint/2010/main" val="924196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182B9-A4F6-940E-DC0E-A7D2FAEAE0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54FB0F-2EDD-7CA5-AA18-1C4935232260}"/>
              </a:ext>
            </a:extLst>
          </p:cNvPr>
          <p:cNvSpPr>
            <a:spLocks noGrp="1"/>
          </p:cNvSpPr>
          <p:nvPr>
            <p:ph type="title"/>
          </p:nvPr>
        </p:nvSpPr>
        <p:spPr/>
        <p:txBody>
          <a:bodyPr/>
          <a:lstStyle/>
          <a:p>
            <a:r>
              <a:rPr lang="en-US" dirty="0"/>
              <a:t>Chart Junk</a:t>
            </a:r>
          </a:p>
        </p:txBody>
      </p:sp>
      <p:sp>
        <p:nvSpPr>
          <p:cNvPr id="7" name="TextBox 6">
            <a:extLst>
              <a:ext uri="{FF2B5EF4-FFF2-40B4-BE49-F238E27FC236}">
                <a16:creationId xmlns:a16="http://schemas.microsoft.com/office/drawing/2014/main" id="{E5F5ECCF-B2A5-E72E-3164-0233B50C3160}"/>
              </a:ext>
            </a:extLst>
          </p:cNvPr>
          <p:cNvSpPr txBox="1"/>
          <p:nvPr/>
        </p:nvSpPr>
        <p:spPr>
          <a:xfrm>
            <a:off x="2487169" y="6366948"/>
            <a:ext cx="9704832" cy="461665"/>
          </a:xfrm>
          <a:prstGeom prst="rect">
            <a:avLst/>
          </a:prstGeom>
          <a:noFill/>
        </p:spPr>
        <p:txBody>
          <a:bodyPr wrap="square">
            <a:spAutoFit/>
          </a:bodyPr>
          <a:lstStyle/>
          <a:p>
            <a:pPr algn="r"/>
            <a:r>
              <a:rPr lang="en-US" sz="1200" b="0" i="0" dirty="0">
                <a:solidFill>
                  <a:srgbClr val="333333"/>
                </a:solidFill>
                <a:effectLst/>
                <a:latin typeface="+mj-lt"/>
              </a:rPr>
              <a:t>Scott Bateman, Regan L. Mandryk, Carl </a:t>
            </a:r>
            <a:r>
              <a:rPr lang="en-US" sz="1200" b="0" i="0" dirty="0" err="1">
                <a:solidFill>
                  <a:srgbClr val="333333"/>
                </a:solidFill>
                <a:effectLst/>
                <a:latin typeface="+mj-lt"/>
              </a:rPr>
              <a:t>Gutwin</a:t>
            </a:r>
            <a:r>
              <a:rPr lang="en-US" sz="1200" b="0" i="0" dirty="0">
                <a:solidFill>
                  <a:srgbClr val="333333"/>
                </a:solidFill>
                <a:effectLst/>
                <a:latin typeface="+mj-lt"/>
              </a:rPr>
              <a:t>, Aaron Genest, David </a:t>
            </a:r>
            <a:r>
              <a:rPr lang="en-US" sz="1200" b="0" i="0" dirty="0" err="1">
                <a:solidFill>
                  <a:srgbClr val="333333"/>
                </a:solidFill>
                <a:effectLst/>
                <a:latin typeface="+mj-lt"/>
              </a:rPr>
              <a:t>McDine</a:t>
            </a:r>
            <a:r>
              <a:rPr lang="en-US" sz="1200" b="0" i="0" dirty="0">
                <a:solidFill>
                  <a:srgbClr val="333333"/>
                </a:solidFill>
                <a:effectLst/>
                <a:latin typeface="+mj-lt"/>
              </a:rPr>
              <a:t>, and Christopher Brooks. 2010. Useful junk? the effects of visual embellishment on comprehension and memorability of charts. https://</a:t>
            </a:r>
            <a:r>
              <a:rPr lang="en-US" sz="1200" b="0" i="0" dirty="0" err="1">
                <a:solidFill>
                  <a:srgbClr val="333333"/>
                </a:solidFill>
                <a:effectLst/>
                <a:latin typeface="+mj-lt"/>
              </a:rPr>
              <a:t>doi.org</a:t>
            </a:r>
            <a:r>
              <a:rPr lang="en-US" sz="1200" b="0" i="0" dirty="0">
                <a:solidFill>
                  <a:srgbClr val="333333"/>
                </a:solidFill>
                <a:effectLst/>
                <a:latin typeface="+mj-lt"/>
              </a:rPr>
              <a:t>/10.1145/1753326.1753716</a:t>
            </a:r>
            <a:endParaRPr lang="en-US" sz="1200" dirty="0">
              <a:latin typeface="+mj-lt"/>
            </a:endParaRPr>
          </a:p>
        </p:txBody>
      </p:sp>
      <p:sp>
        <p:nvSpPr>
          <p:cNvPr id="10" name="Content Placeholder 2">
            <a:extLst>
              <a:ext uri="{FF2B5EF4-FFF2-40B4-BE49-F238E27FC236}">
                <a16:creationId xmlns:a16="http://schemas.microsoft.com/office/drawing/2014/main" id="{8564746D-B888-15EC-6258-A2E4F726843B}"/>
              </a:ext>
            </a:extLst>
          </p:cNvPr>
          <p:cNvSpPr>
            <a:spLocks noGrp="1"/>
          </p:cNvSpPr>
          <p:nvPr>
            <p:ph idx="1"/>
          </p:nvPr>
        </p:nvSpPr>
        <p:spPr>
          <a:xfrm>
            <a:off x="3640668" y="800670"/>
            <a:ext cx="7315200" cy="4601184"/>
          </a:xfrm>
        </p:spPr>
        <p:txBody>
          <a:bodyPr anchor="t">
            <a:normAutofit/>
          </a:bodyPr>
          <a:lstStyle/>
          <a:p>
            <a:pPr marL="0" marR="0" lvl="0" indent="0" algn="l" defTabSz="914400" rtl="0" eaLnBrk="1" fontAlgn="auto" latinLnBrk="0" hangingPunct="1">
              <a:lnSpc>
                <a:spcPct val="100000"/>
              </a:lnSpc>
              <a:spcBef>
                <a:spcPts val="1200"/>
              </a:spcBef>
              <a:spcAft>
                <a:spcPts val="0"/>
              </a:spcAft>
              <a:buClr>
                <a:srgbClr val="93A299"/>
              </a:buClr>
              <a:buSzPts val="2040"/>
              <a:buNone/>
              <a:tabLst/>
              <a:defRPr/>
            </a:pPr>
            <a:r>
              <a:rPr kumimoji="0" lang="en-US" sz="2400" b="0" i="0" u="none" strike="noStrike" kern="0" cap="none" spc="0" normalizeH="0" baseline="0" noProof="0" dirty="0">
                <a:ln>
                  <a:noFill/>
                </a:ln>
                <a:effectLst/>
                <a:uLnTx/>
                <a:uFillTx/>
                <a:cs typeface="Arial"/>
                <a:sym typeface="Arial"/>
              </a:rPr>
              <a:t>Redraw the following </a:t>
            </a:r>
            <a:r>
              <a:rPr kumimoji="0" lang="en-US" sz="2400" b="0" i="1" u="none" strike="noStrike" kern="0" cap="none" spc="0" normalizeH="0" baseline="0" noProof="0" dirty="0">
                <a:ln>
                  <a:noFill/>
                </a:ln>
                <a:effectLst/>
                <a:uLnTx/>
                <a:uFillTx/>
                <a:cs typeface="Arial"/>
                <a:sym typeface="Arial"/>
              </a:rPr>
              <a:t>without</a:t>
            </a:r>
            <a:r>
              <a:rPr kumimoji="0" lang="en-US" sz="2400" b="0" i="0" u="none" strike="noStrike" kern="0" cap="none" spc="0" normalizeH="0" baseline="0" noProof="0" dirty="0">
                <a:ln>
                  <a:noFill/>
                </a:ln>
                <a:effectLst/>
                <a:uLnTx/>
                <a:uFillTx/>
                <a:cs typeface="Arial"/>
                <a:sym typeface="Arial"/>
              </a:rPr>
              <a:t> chart junk </a:t>
            </a:r>
            <a:endParaRPr kumimoji="0" lang="en-US" sz="2400" b="0" i="0" u="none" strike="noStrike" kern="0" cap="none" spc="0" normalizeH="0" baseline="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b="1"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p:txBody>
      </p:sp>
      <p:pic>
        <p:nvPicPr>
          <p:cNvPr id="9" name="Picture 8">
            <a:extLst>
              <a:ext uri="{FF2B5EF4-FFF2-40B4-BE49-F238E27FC236}">
                <a16:creationId xmlns:a16="http://schemas.microsoft.com/office/drawing/2014/main" id="{1216BF88-2497-0C6A-E33C-DC2FF8A243B5}"/>
              </a:ext>
            </a:extLst>
          </p:cNvPr>
          <p:cNvPicPr>
            <a:picLocks noChangeAspect="1"/>
          </p:cNvPicPr>
          <p:nvPr/>
        </p:nvPicPr>
        <p:blipFill>
          <a:blip r:embed="rId3"/>
          <a:srcRect l="2177" t="2469" r="2666"/>
          <a:stretch>
            <a:fillRect/>
          </a:stretch>
        </p:blipFill>
        <p:spPr>
          <a:xfrm>
            <a:off x="3508147" y="2117389"/>
            <a:ext cx="3526355" cy="2623221"/>
          </a:xfrm>
          <a:prstGeom prst="rect">
            <a:avLst/>
          </a:prstGeom>
        </p:spPr>
      </p:pic>
      <p:pic>
        <p:nvPicPr>
          <p:cNvPr id="4" name="Picture 3">
            <a:extLst>
              <a:ext uri="{FF2B5EF4-FFF2-40B4-BE49-F238E27FC236}">
                <a16:creationId xmlns:a16="http://schemas.microsoft.com/office/drawing/2014/main" id="{DDE5F17E-0707-5851-CEBF-00A6C38DB951}"/>
              </a:ext>
            </a:extLst>
          </p:cNvPr>
          <p:cNvPicPr>
            <a:picLocks noChangeAspect="1"/>
          </p:cNvPicPr>
          <p:nvPr/>
        </p:nvPicPr>
        <p:blipFill>
          <a:blip r:embed="rId4"/>
          <a:stretch>
            <a:fillRect/>
          </a:stretch>
        </p:blipFill>
        <p:spPr>
          <a:xfrm>
            <a:off x="7240081" y="1731554"/>
            <a:ext cx="4699000" cy="3670300"/>
          </a:xfrm>
          <a:prstGeom prst="rect">
            <a:avLst/>
          </a:prstGeom>
        </p:spPr>
      </p:pic>
    </p:spTree>
    <p:extLst>
      <p:ext uri="{BB962C8B-B14F-4D97-AF65-F5344CB8AC3E}">
        <p14:creationId xmlns:p14="http://schemas.microsoft.com/office/powerpoint/2010/main" val="2657498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8F722-8E00-C163-C654-0A6214E52F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2EC520-D2EA-7636-A310-DFAA4122B5FC}"/>
              </a:ext>
            </a:extLst>
          </p:cNvPr>
          <p:cNvSpPr>
            <a:spLocks noGrp="1"/>
          </p:cNvSpPr>
          <p:nvPr>
            <p:ph type="title"/>
          </p:nvPr>
        </p:nvSpPr>
        <p:spPr/>
        <p:txBody>
          <a:bodyPr/>
          <a:lstStyle/>
          <a:p>
            <a:r>
              <a:rPr lang="en-US" dirty="0"/>
              <a:t>Chart Junk</a:t>
            </a:r>
          </a:p>
        </p:txBody>
      </p:sp>
      <p:sp>
        <p:nvSpPr>
          <p:cNvPr id="7" name="TextBox 6">
            <a:extLst>
              <a:ext uri="{FF2B5EF4-FFF2-40B4-BE49-F238E27FC236}">
                <a16:creationId xmlns:a16="http://schemas.microsoft.com/office/drawing/2014/main" id="{3884D863-E270-C9AE-0189-542255F31A66}"/>
              </a:ext>
            </a:extLst>
          </p:cNvPr>
          <p:cNvSpPr txBox="1"/>
          <p:nvPr/>
        </p:nvSpPr>
        <p:spPr>
          <a:xfrm>
            <a:off x="2487169" y="6366948"/>
            <a:ext cx="9704832" cy="461665"/>
          </a:xfrm>
          <a:prstGeom prst="rect">
            <a:avLst/>
          </a:prstGeom>
          <a:noFill/>
        </p:spPr>
        <p:txBody>
          <a:bodyPr wrap="square">
            <a:spAutoFit/>
          </a:bodyPr>
          <a:lstStyle/>
          <a:p>
            <a:pPr algn="r"/>
            <a:r>
              <a:rPr lang="en-US" sz="1200" b="0" i="0" dirty="0">
                <a:solidFill>
                  <a:srgbClr val="333333"/>
                </a:solidFill>
                <a:effectLst/>
                <a:latin typeface="+mj-lt"/>
              </a:rPr>
              <a:t>Scott Bateman, Regan L. Mandryk, Carl </a:t>
            </a:r>
            <a:r>
              <a:rPr lang="en-US" sz="1200" b="0" i="0" dirty="0" err="1">
                <a:solidFill>
                  <a:srgbClr val="333333"/>
                </a:solidFill>
                <a:effectLst/>
                <a:latin typeface="+mj-lt"/>
              </a:rPr>
              <a:t>Gutwin</a:t>
            </a:r>
            <a:r>
              <a:rPr lang="en-US" sz="1200" b="0" i="0" dirty="0">
                <a:solidFill>
                  <a:srgbClr val="333333"/>
                </a:solidFill>
                <a:effectLst/>
                <a:latin typeface="+mj-lt"/>
              </a:rPr>
              <a:t>, Aaron Genest, David </a:t>
            </a:r>
            <a:r>
              <a:rPr lang="en-US" sz="1200" b="0" i="0" dirty="0" err="1">
                <a:solidFill>
                  <a:srgbClr val="333333"/>
                </a:solidFill>
                <a:effectLst/>
                <a:latin typeface="+mj-lt"/>
              </a:rPr>
              <a:t>McDine</a:t>
            </a:r>
            <a:r>
              <a:rPr lang="en-US" sz="1200" b="0" i="0" dirty="0">
                <a:solidFill>
                  <a:srgbClr val="333333"/>
                </a:solidFill>
                <a:effectLst/>
                <a:latin typeface="+mj-lt"/>
              </a:rPr>
              <a:t>, and Christopher Brooks. 2010. Useful junk? the effects of visual embellishment on comprehension and memorability of charts. https://</a:t>
            </a:r>
            <a:r>
              <a:rPr lang="en-US" sz="1200" b="0" i="0" dirty="0" err="1">
                <a:solidFill>
                  <a:srgbClr val="333333"/>
                </a:solidFill>
                <a:effectLst/>
                <a:latin typeface="+mj-lt"/>
              </a:rPr>
              <a:t>doi.org</a:t>
            </a:r>
            <a:r>
              <a:rPr lang="en-US" sz="1200" b="0" i="0" dirty="0">
                <a:solidFill>
                  <a:srgbClr val="333333"/>
                </a:solidFill>
                <a:effectLst/>
                <a:latin typeface="+mj-lt"/>
              </a:rPr>
              <a:t>/10.1145/1753326.1753716</a:t>
            </a:r>
            <a:endParaRPr lang="en-US" sz="1200" dirty="0">
              <a:latin typeface="+mj-lt"/>
            </a:endParaRPr>
          </a:p>
        </p:txBody>
      </p:sp>
      <p:sp>
        <p:nvSpPr>
          <p:cNvPr id="10" name="Content Placeholder 2">
            <a:extLst>
              <a:ext uri="{FF2B5EF4-FFF2-40B4-BE49-F238E27FC236}">
                <a16:creationId xmlns:a16="http://schemas.microsoft.com/office/drawing/2014/main" id="{45EF6F92-B409-C9AD-66C7-9E27CD954B32}"/>
              </a:ext>
            </a:extLst>
          </p:cNvPr>
          <p:cNvSpPr>
            <a:spLocks noGrp="1"/>
          </p:cNvSpPr>
          <p:nvPr>
            <p:ph idx="1"/>
          </p:nvPr>
        </p:nvSpPr>
        <p:spPr>
          <a:xfrm>
            <a:off x="3640668" y="800670"/>
            <a:ext cx="7315200" cy="4601184"/>
          </a:xfrm>
        </p:spPr>
        <p:txBody>
          <a:bodyPr anchor="t">
            <a:normAutofit/>
          </a:bodyPr>
          <a:lstStyle/>
          <a:p>
            <a:pPr marL="0" marR="0" lvl="0" indent="0" algn="l" defTabSz="914400" rtl="0" eaLnBrk="1" fontAlgn="auto" latinLnBrk="0" hangingPunct="1">
              <a:lnSpc>
                <a:spcPct val="100000"/>
              </a:lnSpc>
              <a:spcBef>
                <a:spcPts val="1200"/>
              </a:spcBef>
              <a:spcAft>
                <a:spcPts val="0"/>
              </a:spcAft>
              <a:buClr>
                <a:srgbClr val="93A299"/>
              </a:buClr>
              <a:buSzPts val="2040"/>
              <a:buNone/>
              <a:tabLst/>
              <a:defRPr/>
            </a:pPr>
            <a:r>
              <a:rPr kumimoji="0" lang="en-US" sz="2400" b="0" i="0" u="none" strike="noStrike" kern="0" cap="none" spc="0" normalizeH="0" baseline="0" noProof="0" dirty="0">
                <a:ln>
                  <a:noFill/>
                </a:ln>
                <a:effectLst/>
                <a:uLnTx/>
                <a:uFillTx/>
                <a:cs typeface="Arial"/>
                <a:sym typeface="Arial"/>
              </a:rPr>
              <a:t>Redraw the following </a:t>
            </a:r>
            <a:r>
              <a:rPr kumimoji="0" lang="en-US" sz="2400" b="0" i="1" u="none" strike="noStrike" kern="0" cap="none" spc="0" normalizeH="0" baseline="0" noProof="0" dirty="0">
                <a:ln>
                  <a:noFill/>
                </a:ln>
                <a:effectLst/>
                <a:uLnTx/>
                <a:uFillTx/>
                <a:cs typeface="Arial"/>
                <a:sym typeface="Arial"/>
              </a:rPr>
              <a:t>without</a:t>
            </a:r>
            <a:r>
              <a:rPr kumimoji="0" lang="en-US" sz="2400" b="0" i="0" u="none" strike="noStrike" kern="0" cap="none" spc="0" normalizeH="0" baseline="0" noProof="0" dirty="0">
                <a:ln>
                  <a:noFill/>
                </a:ln>
                <a:effectLst/>
                <a:uLnTx/>
                <a:uFillTx/>
                <a:cs typeface="Arial"/>
                <a:sym typeface="Arial"/>
              </a:rPr>
              <a:t> chart junk </a:t>
            </a:r>
            <a:endParaRPr kumimoji="0" lang="en-US" sz="2400" b="0" i="0" u="none" strike="noStrike" kern="0" cap="none" spc="0" normalizeH="0" baseline="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b="1"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p:txBody>
      </p:sp>
      <p:pic>
        <p:nvPicPr>
          <p:cNvPr id="4" name="Picture 3">
            <a:extLst>
              <a:ext uri="{FF2B5EF4-FFF2-40B4-BE49-F238E27FC236}">
                <a16:creationId xmlns:a16="http://schemas.microsoft.com/office/drawing/2014/main" id="{D4D212B4-2CD5-E153-0A22-463E5D70C166}"/>
              </a:ext>
            </a:extLst>
          </p:cNvPr>
          <p:cNvPicPr>
            <a:picLocks noChangeAspect="1"/>
          </p:cNvPicPr>
          <p:nvPr/>
        </p:nvPicPr>
        <p:blipFill>
          <a:blip r:embed="rId3"/>
          <a:stretch>
            <a:fillRect/>
          </a:stretch>
        </p:blipFill>
        <p:spPr>
          <a:xfrm>
            <a:off x="3640668" y="1456146"/>
            <a:ext cx="6134100" cy="4292600"/>
          </a:xfrm>
          <a:prstGeom prst="rect">
            <a:avLst/>
          </a:prstGeom>
        </p:spPr>
      </p:pic>
    </p:spTree>
    <p:extLst>
      <p:ext uri="{BB962C8B-B14F-4D97-AF65-F5344CB8AC3E}">
        <p14:creationId xmlns:p14="http://schemas.microsoft.com/office/powerpoint/2010/main" val="2444282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E9A60-7E19-A629-6DBB-463F9756E0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9D7476-F446-66A0-F672-D96B9A6FBC8B}"/>
              </a:ext>
            </a:extLst>
          </p:cNvPr>
          <p:cNvSpPr>
            <a:spLocks noGrp="1"/>
          </p:cNvSpPr>
          <p:nvPr>
            <p:ph type="title"/>
          </p:nvPr>
        </p:nvSpPr>
        <p:spPr/>
        <p:txBody>
          <a:bodyPr/>
          <a:lstStyle/>
          <a:p>
            <a:r>
              <a:rPr lang="en-US" dirty="0"/>
              <a:t>Chart Junk</a:t>
            </a:r>
          </a:p>
        </p:txBody>
      </p:sp>
      <p:sp>
        <p:nvSpPr>
          <p:cNvPr id="7" name="TextBox 6">
            <a:extLst>
              <a:ext uri="{FF2B5EF4-FFF2-40B4-BE49-F238E27FC236}">
                <a16:creationId xmlns:a16="http://schemas.microsoft.com/office/drawing/2014/main" id="{6A5BF87F-8596-49CA-11FE-0D815FA491B5}"/>
              </a:ext>
            </a:extLst>
          </p:cNvPr>
          <p:cNvSpPr txBox="1"/>
          <p:nvPr/>
        </p:nvSpPr>
        <p:spPr>
          <a:xfrm>
            <a:off x="2487169" y="6366948"/>
            <a:ext cx="9704832" cy="461665"/>
          </a:xfrm>
          <a:prstGeom prst="rect">
            <a:avLst/>
          </a:prstGeom>
          <a:noFill/>
        </p:spPr>
        <p:txBody>
          <a:bodyPr wrap="square">
            <a:spAutoFit/>
          </a:bodyPr>
          <a:lstStyle/>
          <a:p>
            <a:pPr algn="r"/>
            <a:r>
              <a:rPr lang="en-US" sz="1200" b="0" i="0" dirty="0">
                <a:solidFill>
                  <a:srgbClr val="333333"/>
                </a:solidFill>
                <a:effectLst/>
                <a:latin typeface="+mj-lt"/>
              </a:rPr>
              <a:t>Scott Bateman, Regan L. Mandryk, Carl </a:t>
            </a:r>
            <a:r>
              <a:rPr lang="en-US" sz="1200" b="0" i="0" dirty="0" err="1">
                <a:solidFill>
                  <a:srgbClr val="333333"/>
                </a:solidFill>
                <a:effectLst/>
                <a:latin typeface="+mj-lt"/>
              </a:rPr>
              <a:t>Gutwin</a:t>
            </a:r>
            <a:r>
              <a:rPr lang="en-US" sz="1200" b="0" i="0" dirty="0">
                <a:solidFill>
                  <a:srgbClr val="333333"/>
                </a:solidFill>
                <a:effectLst/>
                <a:latin typeface="+mj-lt"/>
              </a:rPr>
              <a:t>, Aaron Genest, David </a:t>
            </a:r>
            <a:r>
              <a:rPr lang="en-US" sz="1200" b="0" i="0" dirty="0" err="1">
                <a:solidFill>
                  <a:srgbClr val="333333"/>
                </a:solidFill>
                <a:effectLst/>
                <a:latin typeface="+mj-lt"/>
              </a:rPr>
              <a:t>McDine</a:t>
            </a:r>
            <a:r>
              <a:rPr lang="en-US" sz="1200" b="0" i="0" dirty="0">
                <a:solidFill>
                  <a:srgbClr val="333333"/>
                </a:solidFill>
                <a:effectLst/>
                <a:latin typeface="+mj-lt"/>
              </a:rPr>
              <a:t>, and Christopher Brooks. 2010. Useful junk? the effects of visual embellishment on comprehension and memorability of charts. https://</a:t>
            </a:r>
            <a:r>
              <a:rPr lang="en-US" sz="1200" b="0" i="0" dirty="0" err="1">
                <a:solidFill>
                  <a:srgbClr val="333333"/>
                </a:solidFill>
                <a:effectLst/>
                <a:latin typeface="+mj-lt"/>
              </a:rPr>
              <a:t>doi.org</a:t>
            </a:r>
            <a:r>
              <a:rPr lang="en-US" sz="1200" b="0" i="0" dirty="0">
                <a:solidFill>
                  <a:srgbClr val="333333"/>
                </a:solidFill>
                <a:effectLst/>
                <a:latin typeface="+mj-lt"/>
              </a:rPr>
              <a:t>/10.1145/1753326.1753716</a:t>
            </a:r>
            <a:endParaRPr lang="en-US" sz="1200" dirty="0">
              <a:latin typeface="+mj-lt"/>
            </a:endParaRPr>
          </a:p>
        </p:txBody>
      </p:sp>
      <p:sp>
        <p:nvSpPr>
          <p:cNvPr id="10" name="Content Placeholder 2">
            <a:extLst>
              <a:ext uri="{FF2B5EF4-FFF2-40B4-BE49-F238E27FC236}">
                <a16:creationId xmlns:a16="http://schemas.microsoft.com/office/drawing/2014/main" id="{488862A6-CC57-F18F-E617-0FAA7257A1EA}"/>
              </a:ext>
            </a:extLst>
          </p:cNvPr>
          <p:cNvSpPr>
            <a:spLocks noGrp="1"/>
          </p:cNvSpPr>
          <p:nvPr>
            <p:ph idx="1"/>
          </p:nvPr>
        </p:nvSpPr>
        <p:spPr>
          <a:xfrm>
            <a:off x="3640668" y="800670"/>
            <a:ext cx="7315200" cy="4601184"/>
          </a:xfrm>
        </p:spPr>
        <p:txBody>
          <a:bodyPr anchor="t">
            <a:normAutofit/>
          </a:bodyPr>
          <a:lstStyle/>
          <a:p>
            <a:pPr marL="0" marR="0" lvl="0" indent="0" algn="l" defTabSz="914400" rtl="0" eaLnBrk="1" fontAlgn="auto" latinLnBrk="0" hangingPunct="1">
              <a:lnSpc>
                <a:spcPct val="100000"/>
              </a:lnSpc>
              <a:spcBef>
                <a:spcPts val="1200"/>
              </a:spcBef>
              <a:spcAft>
                <a:spcPts val="0"/>
              </a:spcAft>
              <a:buClr>
                <a:srgbClr val="93A299"/>
              </a:buClr>
              <a:buSzPts val="2040"/>
              <a:buNone/>
              <a:tabLst/>
              <a:defRPr/>
            </a:pPr>
            <a:r>
              <a:rPr kumimoji="0" lang="en-US" sz="2400" b="0" i="0" u="none" strike="noStrike" kern="0" cap="none" spc="0" normalizeH="0" baseline="0" noProof="0" dirty="0">
                <a:ln>
                  <a:noFill/>
                </a:ln>
                <a:effectLst/>
                <a:uLnTx/>
                <a:uFillTx/>
                <a:cs typeface="Arial"/>
                <a:sym typeface="Arial"/>
              </a:rPr>
              <a:t>Redraw the following </a:t>
            </a:r>
            <a:r>
              <a:rPr kumimoji="0" lang="en-US" sz="2400" b="0" i="1" u="none" strike="noStrike" kern="0" cap="none" spc="0" normalizeH="0" baseline="0" noProof="0" dirty="0">
                <a:ln>
                  <a:noFill/>
                </a:ln>
                <a:effectLst/>
                <a:uLnTx/>
                <a:uFillTx/>
                <a:cs typeface="Arial"/>
                <a:sym typeface="Arial"/>
              </a:rPr>
              <a:t>without</a:t>
            </a:r>
            <a:r>
              <a:rPr kumimoji="0" lang="en-US" sz="2400" b="0" i="0" u="none" strike="noStrike" kern="0" cap="none" spc="0" normalizeH="0" baseline="0" noProof="0" dirty="0">
                <a:ln>
                  <a:noFill/>
                </a:ln>
                <a:effectLst/>
                <a:uLnTx/>
                <a:uFillTx/>
                <a:cs typeface="Arial"/>
                <a:sym typeface="Arial"/>
              </a:rPr>
              <a:t> chart junk </a:t>
            </a:r>
            <a:endParaRPr kumimoji="0" lang="en-US" sz="2400" b="0" i="0" u="none" strike="noStrike" kern="0" cap="none" spc="0" normalizeH="0" baseline="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b="1"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p:txBody>
      </p:sp>
      <p:pic>
        <p:nvPicPr>
          <p:cNvPr id="4" name="Picture 3">
            <a:extLst>
              <a:ext uri="{FF2B5EF4-FFF2-40B4-BE49-F238E27FC236}">
                <a16:creationId xmlns:a16="http://schemas.microsoft.com/office/drawing/2014/main" id="{6D6DA090-2801-26DA-D538-6C93D55DCEC4}"/>
              </a:ext>
            </a:extLst>
          </p:cNvPr>
          <p:cNvPicPr>
            <a:picLocks noChangeAspect="1"/>
          </p:cNvPicPr>
          <p:nvPr/>
        </p:nvPicPr>
        <p:blipFill>
          <a:blip r:embed="rId3"/>
          <a:stretch>
            <a:fillRect/>
          </a:stretch>
        </p:blipFill>
        <p:spPr>
          <a:xfrm>
            <a:off x="3640668" y="2395329"/>
            <a:ext cx="2941152" cy="2058197"/>
          </a:xfrm>
          <a:prstGeom prst="rect">
            <a:avLst/>
          </a:prstGeom>
        </p:spPr>
      </p:pic>
      <p:pic>
        <p:nvPicPr>
          <p:cNvPr id="5" name="Picture 4">
            <a:extLst>
              <a:ext uri="{FF2B5EF4-FFF2-40B4-BE49-F238E27FC236}">
                <a16:creationId xmlns:a16="http://schemas.microsoft.com/office/drawing/2014/main" id="{C3F09A36-026B-0CEE-D1B2-73B2B12ABB09}"/>
              </a:ext>
            </a:extLst>
          </p:cNvPr>
          <p:cNvPicPr>
            <a:picLocks noChangeAspect="1"/>
          </p:cNvPicPr>
          <p:nvPr/>
        </p:nvPicPr>
        <p:blipFill>
          <a:blip r:embed="rId4"/>
          <a:stretch>
            <a:fillRect/>
          </a:stretch>
        </p:blipFill>
        <p:spPr>
          <a:xfrm>
            <a:off x="6811617" y="1243548"/>
            <a:ext cx="5127464" cy="4951122"/>
          </a:xfrm>
          <a:prstGeom prst="rect">
            <a:avLst/>
          </a:prstGeom>
        </p:spPr>
      </p:pic>
    </p:spTree>
    <p:extLst>
      <p:ext uri="{BB962C8B-B14F-4D97-AF65-F5344CB8AC3E}">
        <p14:creationId xmlns:p14="http://schemas.microsoft.com/office/powerpoint/2010/main" val="495381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839C3-DCE8-FC9F-B4B9-C25AC5A0F5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AFB268-3AAD-7AFF-53DA-3440F7BB7FCA}"/>
              </a:ext>
            </a:extLst>
          </p:cNvPr>
          <p:cNvSpPr>
            <a:spLocks noGrp="1"/>
          </p:cNvSpPr>
          <p:nvPr>
            <p:ph type="title"/>
          </p:nvPr>
        </p:nvSpPr>
        <p:spPr/>
        <p:txBody>
          <a:bodyPr/>
          <a:lstStyle/>
          <a:p>
            <a:r>
              <a:rPr lang="en-US" dirty="0"/>
              <a:t>Chart Junk</a:t>
            </a:r>
          </a:p>
        </p:txBody>
      </p:sp>
      <p:sp>
        <p:nvSpPr>
          <p:cNvPr id="7" name="TextBox 6">
            <a:extLst>
              <a:ext uri="{FF2B5EF4-FFF2-40B4-BE49-F238E27FC236}">
                <a16:creationId xmlns:a16="http://schemas.microsoft.com/office/drawing/2014/main" id="{E0D34B86-5862-8654-4C16-1A7C96443F63}"/>
              </a:ext>
            </a:extLst>
          </p:cNvPr>
          <p:cNvSpPr txBox="1"/>
          <p:nvPr/>
        </p:nvSpPr>
        <p:spPr>
          <a:xfrm>
            <a:off x="2487169" y="6366948"/>
            <a:ext cx="9704832" cy="461665"/>
          </a:xfrm>
          <a:prstGeom prst="rect">
            <a:avLst/>
          </a:prstGeom>
          <a:noFill/>
        </p:spPr>
        <p:txBody>
          <a:bodyPr wrap="square">
            <a:spAutoFit/>
          </a:bodyPr>
          <a:lstStyle/>
          <a:p>
            <a:pPr algn="r"/>
            <a:r>
              <a:rPr lang="en-US" sz="1200" b="0" i="0" dirty="0">
                <a:solidFill>
                  <a:srgbClr val="333333"/>
                </a:solidFill>
                <a:effectLst/>
                <a:latin typeface="+mj-lt"/>
              </a:rPr>
              <a:t>Scott Bateman, Regan L. Mandryk, Carl </a:t>
            </a:r>
            <a:r>
              <a:rPr lang="en-US" sz="1200" b="0" i="0" dirty="0" err="1">
                <a:solidFill>
                  <a:srgbClr val="333333"/>
                </a:solidFill>
                <a:effectLst/>
                <a:latin typeface="+mj-lt"/>
              </a:rPr>
              <a:t>Gutwin</a:t>
            </a:r>
            <a:r>
              <a:rPr lang="en-US" sz="1200" b="0" i="0" dirty="0">
                <a:solidFill>
                  <a:srgbClr val="333333"/>
                </a:solidFill>
                <a:effectLst/>
                <a:latin typeface="+mj-lt"/>
              </a:rPr>
              <a:t>, Aaron Genest, David </a:t>
            </a:r>
            <a:r>
              <a:rPr lang="en-US" sz="1200" b="0" i="0" dirty="0" err="1">
                <a:solidFill>
                  <a:srgbClr val="333333"/>
                </a:solidFill>
                <a:effectLst/>
                <a:latin typeface="+mj-lt"/>
              </a:rPr>
              <a:t>McDine</a:t>
            </a:r>
            <a:r>
              <a:rPr lang="en-US" sz="1200" b="0" i="0" dirty="0">
                <a:solidFill>
                  <a:srgbClr val="333333"/>
                </a:solidFill>
                <a:effectLst/>
                <a:latin typeface="+mj-lt"/>
              </a:rPr>
              <a:t>, and Christopher Brooks. 2010. Useful junk? the effects of visual embellishment on comprehension and memorability of charts. https://</a:t>
            </a:r>
            <a:r>
              <a:rPr lang="en-US" sz="1200" b="0" i="0" dirty="0" err="1">
                <a:solidFill>
                  <a:srgbClr val="333333"/>
                </a:solidFill>
                <a:effectLst/>
                <a:latin typeface="+mj-lt"/>
              </a:rPr>
              <a:t>doi.org</a:t>
            </a:r>
            <a:r>
              <a:rPr lang="en-US" sz="1200" b="0" i="0" dirty="0">
                <a:solidFill>
                  <a:srgbClr val="333333"/>
                </a:solidFill>
                <a:effectLst/>
                <a:latin typeface="+mj-lt"/>
              </a:rPr>
              <a:t>/10.1145/1753326.1753716</a:t>
            </a:r>
            <a:endParaRPr lang="en-US" sz="1200" dirty="0">
              <a:latin typeface="+mj-lt"/>
            </a:endParaRPr>
          </a:p>
        </p:txBody>
      </p:sp>
      <p:sp>
        <p:nvSpPr>
          <p:cNvPr id="10" name="Content Placeholder 2">
            <a:extLst>
              <a:ext uri="{FF2B5EF4-FFF2-40B4-BE49-F238E27FC236}">
                <a16:creationId xmlns:a16="http://schemas.microsoft.com/office/drawing/2014/main" id="{E14B0E5D-E3FE-E867-0E43-2D13B3EAD3D9}"/>
              </a:ext>
            </a:extLst>
          </p:cNvPr>
          <p:cNvSpPr>
            <a:spLocks noGrp="1"/>
          </p:cNvSpPr>
          <p:nvPr>
            <p:ph idx="1"/>
          </p:nvPr>
        </p:nvSpPr>
        <p:spPr>
          <a:xfrm>
            <a:off x="3640668" y="800670"/>
            <a:ext cx="7315200" cy="4601184"/>
          </a:xfrm>
        </p:spPr>
        <p:txBody>
          <a:bodyPr anchor="t">
            <a:normAutofit/>
          </a:bodyPr>
          <a:lstStyle/>
          <a:p>
            <a:pPr marL="0" marR="0" lvl="0" indent="0" algn="l" defTabSz="914400" rtl="0" eaLnBrk="1" fontAlgn="auto" latinLnBrk="0" hangingPunct="1">
              <a:lnSpc>
                <a:spcPct val="100000"/>
              </a:lnSpc>
              <a:spcBef>
                <a:spcPts val="1200"/>
              </a:spcBef>
              <a:spcAft>
                <a:spcPts val="0"/>
              </a:spcAft>
              <a:buClr>
                <a:srgbClr val="93A299"/>
              </a:buClr>
              <a:buSzPts val="2040"/>
              <a:buNone/>
              <a:tabLst/>
              <a:defRPr/>
            </a:pPr>
            <a:r>
              <a:rPr kumimoji="0" lang="en-US" sz="2400" b="0" i="0" u="none" strike="noStrike" kern="0" cap="none" spc="0" normalizeH="0" baseline="0" noProof="0" dirty="0">
                <a:ln>
                  <a:noFill/>
                </a:ln>
                <a:effectLst/>
                <a:uLnTx/>
                <a:uFillTx/>
                <a:cs typeface="Arial"/>
                <a:sym typeface="Arial"/>
              </a:rPr>
              <a:t>Redraw the following </a:t>
            </a:r>
            <a:r>
              <a:rPr kumimoji="0" lang="en-US" sz="2400" b="0" i="1" u="none" strike="noStrike" kern="0" cap="none" spc="0" normalizeH="0" baseline="0" noProof="0" dirty="0">
                <a:ln>
                  <a:noFill/>
                </a:ln>
                <a:effectLst/>
                <a:uLnTx/>
                <a:uFillTx/>
                <a:cs typeface="Arial"/>
                <a:sym typeface="Arial"/>
              </a:rPr>
              <a:t>without</a:t>
            </a:r>
            <a:r>
              <a:rPr kumimoji="0" lang="en-US" sz="2400" b="0" i="0" u="none" strike="noStrike" kern="0" cap="none" spc="0" normalizeH="0" baseline="0" noProof="0" dirty="0">
                <a:ln>
                  <a:noFill/>
                </a:ln>
                <a:effectLst/>
                <a:uLnTx/>
                <a:uFillTx/>
                <a:cs typeface="Arial"/>
                <a:sym typeface="Arial"/>
              </a:rPr>
              <a:t> chart junk </a:t>
            </a:r>
            <a:endParaRPr kumimoji="0" lang="en-US" sz="2400" b="0" i="0" u="none" strike="noStrike" kern="0" cap="none" spc="0" normalizeH="0" baseline="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b="1"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p:txBody>
      </p:sp>
      <p:pic>
        <p:nvPicPr>
          <p:cNvPr id="5" name="Picture 4">
            <a:extLst>
              <a:ext uri="{FF2B5EF4-FFF2-40B4-BE49-F238E27FC236}">
                <a16:creationId xmlns:a16="http://schemas.microsoft.com/office/drawing/2014/main" id="{5462B361-085F-BDC5-F182-F4844BCBE7FE}"/>
              </a:ext>
            </a:extLst>
          </p:cNvPr>
          <p:cNvPicPr>
            <a:picLocks noChangeAspect="1"/>
          </p:cNvPicPr>
          <p:nvPr/>
        </p:nvPicPr>
        <p:blipFill>
          <a:blip r:embed="rId3"/>
          <a:stretch>
            <a:fillRect/>
          </a:stretch>
        </p:blipFill>
        <p:spPr>
          <a:xfrm>
            <a:off x="5153439" y="1246111"/>
            <a:ext cx="4006110" cy="5001568"/>
          </a:xfrm>
          <a:prstGeom prst="rect">
            <a:avLst/>
          </a:prstGeom>
        </p:spPr>
      </p:pic>
    </p:spTree>
    <p:extLst>
      <p:ext uri="{BB962C8B-B14F-4D97-AF65-F5344CB8AC3E}">
        <p14:creationId xmlns:p14="http://schemas.microsoft.com/office/powerpoint/2010/main" val="33745072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F3904-34F5-0CDA-D637-C40B7BE8DD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5FABA6-EA54-C18B-F6FE-1328CD140EAB}"/>
              </a:ext>
            </a:extLst>
          </p:cNvPr>
          <p:cNvSpPr>
            <a:spLocks noGrp="1"/>
          </p:cNvSpPr>
          <p:nvPr>
            <p:ph type="title"/>
          </p:nvPr>
        </p:nvSpPr>
        <p:spPr/>
        <p:txBody>
          <a:bodyPr/>
          <a:lstStyle/>
          <a:p>
            <a:r>
              <a:rPr lang="en-US" dirty="0"/>
              <a:t>Chart Junk</a:t>
            </a:r>
          </a:p>
        </p:txBody>
      </p:sp>
      <p:sp>
        <p:nvSpPr>
          <p:cNvPr id="7" name="TextBox 6">
            <a:extLst>
              <a:ext uri="{FF2B5EF4-FFF2-40B4-BE49-F238E27FC236}">
                <a16:creationId xmlns:a16="http://schemas.microsoft.com/office/drawing/2014/main" id="{D4CD1365-C01E-1505-579F-2DD26037D16F}"/>
              </a:ext>
            </a:extLst>
          </p:cNvPr>
          <p:cNvSpPr txBox="1"/>
          <p:nvPr/>
        </p:nvSpPr>
        <p:spPr>
          <a:xfrm>
            <a:off x="2487169" y="6366948"/>
            <a:ext cx="9704832" cy="461665"/>
          </a:xfrm>
          <a:prstGeom prst="rect">
            <a:avLst/>
          </a:prstGeom>
          <a:noFill/>
        </p:spPr>
        <p:txBody>
          <a:bodyPr wrap="square">
            <a:spAutoFit/>
          </a:bodyPr>
          <a:lstStyle/>
          <a:p>
            <a:pPr algn="r"/>
            <a:r>
              <a:rPr lang="en-US" sz="1200" b="0" i="0" dirty="0">
                <a:solidFill>
                  <a:srgbClr val="333333"/>
                </a:solidFill>
                <a:effectLst/>
                <a:latin typeface="+mj-lt"/>
              </a:rPr>
              <a:t>Scott Bateman, Regan L. Mandryk, Carl </a:t>
            </a:r>
            <a:r>
              <a:rPr lang="en-US" sz="1200" b="0" i="0" dirty="0" err="1">
                <a:solidFill>
                  <a:srgbClr val="333333"/>
                </a:solidFill>
                <a:effectLst/>
                <a:latin typeface="+mj-lt"/>
              </a:rPr>
              <a:t>Gutwin</a:t>
            </a:r>
            <a:r>
              <a:rPr lang="en-US" sz="1200" b="0" i="0" dirty="0">
                <a:solidFill>
                  <a:srgbClr val="333333"/>
                </a:solidFill>
                <a:effectLst/>
                <a:latin typeface="+mj-lt"/>
              </a:rPr>
              <a:t>, Aaron Genest, David </a:t>
            </a:r>
            <a:r>
              <a:rPr lang="en-US" sz="1200" b="0" i="0" dirty="0" err="1">
                <a:solidFill>
                  <a:srgbClr val="333333"/>
                </a:solidFill>
                <a:effectLst/>
                <a:latin typeface="+mj-lt"/>
              </a:rPr>
              <a:t>McDine</a:t>
            </a:r>
            <a:r>
              <a:rPr lang="en-US" sz="1200" b="0" i="0" dirty="0">
                <a:solidFill>
                  <a:srgbClr val="333333"/>
                </a:solidFill>
                <a:effectLst/>
                <a:latin typeface="+mj-lt"/>
              </a:rPr>
              <a:t>, and Christopher Brooks. 2010. Useful junk? the effects of visual embellishment on comprehension and memorability of charts. https://</a:t>
            </a:r>
            <a:r>
              <a:rPr lang="en-US" sz="1200" b="0" i="0" dirty="0" err="1">
                <a:solidFill>
                  <a:srgbClr val="333333"/>
                </a:solidFill>
                <a:effectLst/>
                <a:latin typeface="+mj-lt"/>
              </a:rPr>
              <a:t>doi.org</a:t>
            </a:r>
            <a:r>
              <a:rPr lang="en-US" sz="1200" b="0" i="0" dirty="0">
                <a:solidFill>
                  <a:srgbClr val="333333"/>
                </a:solidFill>
                <a:effectLst/>
                <a:latin typeface="+mj-lt"/>
              </a:rPr>
              <a:t>/10.1145/1753326.1753716</a:t>
            </a:r>
            <a:endParaRPr lang="en-US" sz="1200" dirty="0">
              <a:latin typeface="+mj-lt"/>
            </a:endParaRPr>
          </a:p>
        </p:txBody>
      </p:sp>
      <p:sp>
        <p:nvSpPr>
          <p:cNvPr id="10" name="Content Placeholder 2">
            <a:extLst>
              <a:ext uri="{FF2B5EF4-FFF2-40B4-BE49-F238E27FC236}">
                <a16:creationId xmlns:a16="http://schemas.microsoft.com/office/drawing/2014/main" id="{4A3EA8EF-1F12-A7A2-54EC-C94A2F038BA4}"/>
              </a:ext>
            </a:extLst>
          </p:cNvPr>
          <p:cNvSpPr>
            <a:spLocks noGrp="1"/>
          </p:cNvSpPr>
          <p:nvPr>
            <p:ph idx="1"/>
          </p:nvPr>
        </p:nvSpPr>
        <p:spPr>
          <a:xfrm>
            <a:off x="3640668" y="800670"/>
            <a:ext cx="7315200" cy="4601184"/>
          </a:xfrm>
        </p:spPr>
        <p:txBody>
          <a:bodyPr anchor="t">
            <a:normAutofit/>
          </a:bodyPr>
          <a:lstStyle/>
          <a:p>
            <a:pPr marL="0" marR="0" lvl="0" indent="0" algn="l" defTabSz="914400" rtl="0" eaLnBrk="1" fontAlgn="auto" latinLnBrk="0" hangingPunct="1">
              <a:lnSpc>
                <a:spcPct val="100000"/>
              </a:lnSpc>
              <a:spcBef>
                <a:spcPts val="1200"/>
              </a:spcBef>
              <a:spcAft>
                <a:spcPts val="0"/>
              </a:spcAft>
              <a:buClr>
                <a:srgbClr val="93A299"/>
              </a:buClr>
              <a:buSzPts val="2040"/>
              <a:buNone/>
              <a:tabLst/>
              <a:defRPr/>
            </a:pPr>
            <a:r>
              <a:rPr kumimoji="0" lang="en-US" sz="2400" b="0" i="0" u="none" strike="noStrike" kern="0" cap="none" spc="0" normalizeH="0" baseline="0" noProof="0" dirty="0">
                <a:ln>
                  <a:noFill/>
                </a:ln>
                <a:effectLst/>
                <a:uLnTx/>
                <a:uFillTx/>
                <a:cs typeface="Arial"/>
                <a:sym typeface="Arial"/>
              </a:rPr>
              <a:t>Redraw the following </a:t>
            </a:r>
            <a:r>
              <a:rPr kumimoji="0" lang="en-US" sz="2400" b="0" i="1" u="none" strike="noStrike" kern="0" cap="none" spc="0" normalizeH="0" baseline="0" noProof="0" dirty="0">
                <a:ln>
                  <a:noFill/>
                </a:ln>
                <a:effectLst/>
                <a:uLnTx/>
                <a:uFillTx/>
                <a:cs typeface="Arial"/>
                <a:sym typeface="Arial"/>
              </a:rPr>
              <a:t>without</a:t>
            </a:r>
            <a:r>
              <a:rPr kumimoji="0" lang="en-US" sz="2400" b="0" i="0" u="none" strike="noStrike" kern="0" cap="none" spc="0" normalizeH="0" baseline="0" noProof="0" dirty="0">
                <a:ln>
                  <a:noFill/>
                </a:ln>
                <a:effectLst/>
                <a:uLnTx/>
                <a:uFillTx/>
                <a:cs typeface="Arial"/>
                <a:sym typeface="Arial"/>
              </a:rPr>
              <a:t> chart junk </a:t>
            </a:r>
            <a:endParaRPr kumimoji="0" lang="en-US" sz="2400" b="0" i="0" u="none" strike="noStrike" kern="0" cap="none" spc="0" normalizeH="0" baseline="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b="1"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p:txBody>
      </p:sp>
      <p:pic>
        <p:nvPicPr>
          <p:cNvPr id="5" name="Picture 4">
            <a:extLst>
              <a:ext uri="{FF2B5EF4-FFF2-40B4-BE49-F238E27FC236}">
                <a16:creationId xmlns:a16="http://schemas.microsoft.com/office/drawing/2014/main" id="{3342C0F7-4657-81B9-2C95-84C29335AFCC}"/>
              </a:ext>
            </a:extLst>
          </p:cNvPr>
          <p:cNvPicPr>
            <a:picLocks noChangeAspect="1"/>
          </p:cNvPicPr>
          <p:nvPr/>
        </p:nvPicPr>
        <p:blipFill>
          <a:blip r:embed="rId3"/>
          <a:stretch>
            <a:fillRect/>
          </a:stretch>
        </p:blipFill>
        <p:spPr>
          <a:xfrm>
            <a:off x="3523620" y="1744971"/>
            <a:ext cx="2938570" cy="3668760"/>
          </a:xfrm>
          <a:prstGeom prst="rect">
            <a:avLst/>
          </a:prstGeom>
        </p:spPr>
      </p:pic>
      <p:pic>
        <p:nvPicPr>
          <p:cNvPr id="4" name="Picture 3">
            <a:extLst>
              <a:ext uri="{FF2B5EF4-FFF2-40B4-BE49-F238E27FC236}">
                <a16:creationId xmlns:a16="http://schemas.microsoft.com/office/drawing/2014/main" id="{826ABC83-F572-4430-0892-409D783D029D}"/>
              </a:ext>
            </a:extLst>
          </p:cNvPr>
          <p:cNvPicPr>
            <a:picLocks noChangeAspect="1"/>
          </p:cNvPicPr>
          <p:nvPr/>
        </p:nvPicPr>
        <p:blipFill>
          <a:blip r:embed="rId4"/>
          <a:stretch>
            <a:fillRect/>
          </a:stretch>
        </p:blipFill>
        <p:spPr>
          <a:xfrm>
            <a:off x="6785410" y="1274301"/>
            <a:ext cx="5207000" cy="4610100"/>
          </a:xfrm>
          <a:prstGeom prst="rect">
            <a:avLst/>
          </a:prstGeom>
        </p:spPr>
      </p:pic>
    </p:spTree>
    <p:extLst>
      <p:ext uri="{BB962C8B-B14F-4D97-AF65-F5344CB8AC3E}">
        <p14:creationId xmlns:p14="http://schemas.microsoft.com/office/powerpoint/2010/main" val="2356056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590DE-DAA3-3464-2869-6C07DA8F74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ECEBE0-C8AF-FBB8-6ED0-61B7BF633A1D}"/>
              </a:ext>
            </a:extLst>
          </p:cNvPr>
          <p:cNvSpPr>
            <a:spLocks noGrp="1"/>
          </p:cNvSpPr>
          <p:nvPr>
            <p:ph type="title"/>
          </p:nvPr>
        </p:nvSpPr>
        <p:spPr/>
        <p:txBody>
          <a:bodyPr/>
          <a:lstStyle/>
          <a:p>
            <a:r>
              <a:rPr lang="en-US" dirty="0"/>
              <a:t>Chart Junk</a:t>
            </a:r>
          </a:p>
        </p:txBody>
      </p:sp>
      <p:sp>
        <p:nvSpPr>
          <p:cNvPr id="3" name="Content Placeholder 2">
            <a:extLst>
              <a:ext uri="{FF2B5EF4-FFF2-40B4-BE49-F238E27FC236}">
                <a16:creationId xmlns:a16="http://schemas.microsoft.com/office/drawing/2014/main" id="{3893CE3A-BA91-1E96-6628-28CFB5403768}"/>
              </a:ext>
            </a:extLst>
          </p:cNvPr>
          <p:cNvSpPr>
            <a:spLocks noGrp="1"/>
          </p:cNvSpPr>
          <p:nvPr>
            <p:ph idx="1"/>
          </p:nvPr>
        </p:nvSpPr>
        <p:spPr>
          <a:xfrm>
            <a:off x="3640668" y="800670"/>
            <a:ext cx="7315200" cy="4601184"/>
          </a:xfrm>
        </p:spPr>
        <p:txBody>
          <a:bodyPr anchor="t">
            <a:normAutofit fontScale="92500" lnSpcReduction="20000"/>
          </a:bodyPr>
          <a:lstStyle/>
          <a:p>
            <a:pPr marL="0" marR="0" lvl="0" indent="0" algn="l" defTabSz="914400" rtl="0" eaLnBrk="1" fontAlgn="auto" latinLnBrk="0" hangingPunct="1">
              <a:lnSpc>
                <a:spcPct val="100000"/>
              </a:lnSpc>
              <a:spcBef>
                <a:spcPts val="1200"/>
              </a:spcBef>
              <a:spcAft>
                <a:spcPts val="0"/>
              </a:spcAft>
              <a:buClr>
                <a:srgbClr val="93A299"/>
              </a:buClr>
              <a:buSzPts val="2040"/>
              <a:buNone/>
              <a:tabLst/>
              <a:defRPr/>
            </a:pPr>
            <a:r>
              <a:rPr kumimoji="0" lang="en-US" sz="2400" b="0" i="0" u="none" strike="noStrike" kern="0" cap="none" spc="0" normalizeH="0" baseline="0" noProof="0" dirty="0">
                <a:ln>
                  <a:noFill/>
                </a:ln>
                <a:effectLst/>
                <a:uLnTx/>
                <a:uFillTx/>
                <a:cs typeface="Arial"/>
                <a:sym typeface="Arial"/>
              </a:rPr>
              <a:t>Edward Tufte</a:t>
            </a:r>
          </a:p>
          <a:p>
            <a:pPr marL="0" marR="0" lvl="0" indent="0" algn="l" defTabSz="914400" rtl="0" eaLnBrk="1" fontAlgn="auto" latinLnBrk="0" hangingPunct="1">
              <a:lnSpc>
                <a:spcPct val="100000"/>
              </a:lnSpc>
              <a:spcBef>
                <a:spcPts val="1200"/>
              </a:spcBef>
              <a:spcAft>
                <a:spcPts val="0"/>
              </a:spcAft>
              <a:buClr>
                <a:srgbClr val="93A299"/>
              </a:buClr>
              <a:buSzPts val="2040"/>
              <a:buNone/>
              <a:tabLst/>
              <a:defRPr/>
            </a:pPr>
            <a:endParaRPr kumimoji="0" lang="en-US" sz="2400" b="0" i="0" u="none" strike="noStrike" kern="0" cap="none" spc="0" normalizeH="0" baseline="0" noProof="0" dirty="0">
              <a:ln>
                <a:noFill/>
              </a:ln>
              <a:effectLst/>
              <a:uLnTx/>
              <a:uFillTx/>
              <a:cs typeface="Arial"/>
              <a:sym typeface="Arial"/>
            </a:endParaRPr>
          </a:p>
          <a:p>
            <a:pPr>
              <a:lnSpc>
                <a:spcPct val="100000"/>
              </a:lnSpc>
              <a:buClr>
                <a:srgbClr val="93A299"/>
              </a:buClr>
              <a:buSzPts val="2040"/>
              <a:defRPr/>
            </a:pPr>
            <a:r>
              <a:rPr lang="en-US" sz="2400" b="1" kern="0" noProof="0" dirty="0">
                <a:cs typeface="Arial"/>
                <a:sym typeface="Arial"/>
              </a:rPr>
              <a:t>Data-Ink</a:t>
            </a:r>
            <a:r>
              <a:rPr lang="en-US" sz="2400" kern="0" noProof="0" dirty="0">
                <a:cs typeface="Arial"/>
                <a:sym typeface="Arial"/>
              </a:rPr>
              <a:t> == Ink on the page that displays data</a:t>
            </a:r>
          </a:p>
          <a:p>
            <a:pPr>
              <a:lnSpc>
                <a:spcPct val="100000"/>
              </a:lnSpc>
              <a:buClr>
                <a:srgbClr val="93A299"/>
              </a:buClr>
              <a:buSzPts val="2040"/>
              <a:defRPr/>
            </a:pPr>
            <a:r>
              <a:rPr lang="en-US" sz="2400" b="1" kern="0" noProof="0" dirty="0">
                <a:cs typeface="Arial"/>
                <a:sym typeface="Arial"/>
              </a:rPr>
              <a:t>Chart </a:t>
            </a:r>
            <a:r>
              <a:rPr lang="en-US" sz="2400" b="1" kern="0" dirty="0">
                <a:cs typeface="Arial"/>
                <a:sym typeface="Arial"/>
              </a:rPr>
              <a:t>J</a:t>
            </a:r>
            <a:r>
              <a:rPr lang="en-US" sz="2400" b="1" kern="0" noProof="0" dirty="0" err="1">
                <a:cs typeface="Arial"/>
                <a:sym typeface="Arial"/>
              </a:rPr>
              <a:t>unk</a:t>
            </a:r>
            <a:r>
              <a:rPr lang="en-US" sz="2400" b="1" kern="0" noProof="0" dirty="0">
                <a:cs typeface="Arial"/>
                <a:sym typeface="Arial"/>
              </a:rPr>
              <a:t> </a:t>
            </a:r>
            <a:r>
              <a:rPr lang="en-US" sz="2400" kern="0" noProof="0" dirty="0">
                <a:cs typeface="Arial"/>
                <a:sym typeface="Arial"/>
              </a:rPr>
              <a:t>==</a:t>
            </a:r>
            <a:endParaRPr lang="en-US" sz="2400" kern="0" dirty="0">
              <a:cs typeface="Arial"/>
              <a:sym typeface="Arial"/>
            </a:endParaRPr>
          </a:p>
          <a:p>
            <a:pPr lvl="1">
              <a:lnSpc>
                <a:spcPct val="100000"/>
              </a:lnSpc>
              <a:buClr>
                <a:srgbClr val="93A299"/>
              </a:buClr>
              <a:buSzPts val="2040"/>
              <a:defRPr/>
            </a:pPr>
            <a:r>
              <a:rPr lang="en-US" sz="2400" kern="0" dirty="0">
                <a:cs typeface="Arial"/>
                <a:sym typeface="Arial"/>
              </a:rPr>
              <a:t>N</a:t>
            </a:r>
            <a:r>
              <a:rPr lang="en-US" sz="2400" kern="0" noProof="0" dirty="0">
                <a:cs typeface="Arial"/>
                <a:sym typeface="Arial"/>
              </a:rPr>
              <a:t>on-data ink</a:t>
            </a:r>
          </a:p>
          <a:p>
            <a:pPr lvl="1">
              <a:lnSpc>
                <a:spcPct val="100000"/>
              </a:lnSpc>
              <a:buClr>
                <a:srgbClr val="93A299"/>
              </a:buClr>
              <a:buSzPts val="2040"/>
              <a:defRPr/>
            </a:pPr>
            <a:r>
              <a:rPr lang="en-US" sz="2400" kern="0" noProof="0" dirty="0">
                <a:cs typeface="Arial"/>
                <a:sym typeface="Arial"/>
              </a:rPr>
              <a:t>Purely style elements</a:t>
            </a:r>
          </a:p>
          <a:p>
            <a:pPr lvl="1">
              <a:lnSpc>
                <a:spcPct val="100000"/>
              </a:lnSpc>
              <a:buClr>
                <a:srgbClr val="93A299"/>
              </a:buClr>
              <a:buSzPts val="2040"/>
              <a:defRPr/>
            </a:pPr>
            <a:endParaRPr kumimoji="0" lang="en-US" sz="2400" b="0" i="0" u="none" strike="noStrike" kern="0" cap="none" spc="0" normalizeH="0" baseline="0" dirty="0">
              <a:ln>
                <a:noFill/>
              </a:ln>
              <a:effectLst/>
              <a:uLnTx/>
              <a:uFillTx/>
              <a:cs typeface="Arial"/>
              <a:sym typeface="Arial"/>
            </a:endParaRPr>
          </a:p>
          <a:p>
            <a:pPr>
              <a:lnSpc>
                <a:spcPct val="100000"/>
              </a:lnSpc>
              <a:buClr>
                <a:srgbClr val="93A299"/>
              </a:buClr>
              <a:buSzPts val="2040"/>
              <a:defRPr/>
            </a:pPr>
            <a:r>
              <a:rPr lang="en-US" sz="2600" kern="0" noProof="0" dirty="0">
                <a:cs typeface="Arial"/>
                <a:sym typeface="Arial"/>
              </a:rPr>
              <a:t>Tufte’s take: the best visualizations minimize chart junk and focus explicitly on representing data</a:t>
            </a:r>
          </a:p>
          <a:p>
            <a:pPr>
              <a:lnSpc>
                <a:spcPct val="100000"/>
              </a:lnSpc>
              <a:buClr>
                <a:srgbClr val="93A299"/>
              </a:buClr>
              <a:buSzPts val="2040"/>
              <a:defRPr/>
            </a:pPr>
            <a:endParaRPr kumimoji="0" lang="en-US" sz="2600" b="0" i="0" u="none" strike="noStrike" kern="0" cap="none" spc="0" normalizeH="0" baseline="0" dirty="0">
              <a:ln>
                <a:noFill/>
              </a:ln>
              <a:effectLst/>
              <a:uLnTx/>
              <a:uFillTx/>
              <a:cs typeface="Arial"/>
              <a:sym typeface="Arial"/>
            </a:endParaRPr>
          </a:p>
          <a:p>
            <a:pPr>
              <a:lnSpc>
                <a:spcPct val="100000"/>
              </a:lnSpc>
              <a:buClr>
                <a:srgbClr val="93A299"/>
              </a:buClr>
              <a:buSzPts val="2040"/>
              <a:defRPr/>
            </a:pPr>
            <a:r>
              <a:rPr lang="en-US" sz="2600" b="1" kern="0" noProof="0" dirty="0">
                <a:effectLst>
                  <a:glow rad="228600">
                    <a:schemeClr val="accent3">
                      <a:satMod val="175000"/>
                      <a:alpha val="40000"/>
                    </a:schemeClr>
                  </a:glow>
                </a:effectLst>
                <a:cs typeface="Arial"/>
                <a:sym typeface="Arial"/>
              </a:rPr>
              <a:t>Do you agree? </a:t>
            </a:r>
            <a:endParaRPr kumimoji="0" lang="en-US" sz="2600" b="1" i="0" u="none" strike="noStrike" kern="0" cap="none" spc="0" normalizeH="0" baseline="0" noProof="0" dirty="0">
              <a:ln>
                <a:noFill/>
              </a:ln>
              <a:effectLst>
                <a:glow rad="228600">
                  <a:schemeClr val="accent3">
                    <a:satMod val="175000"/>
                    <a:alpha val="40000"/>
                  </a:schemeClr>
                </a:glow>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lang="en-US" sz="2400" b="1" kern="0" dirty="0">
              <a:cs typeface="Arial"/>
              <a:sym typeface="Arial"/>
            </a:endParaRPr>
          </a:p>
          <a:p>
            <a:pPr marL="182880" marR="0" lvl="0" indent="-182880" algn="l" defTabSz="914400" rtl="0" eaLnBrk="1" fontAlgn="auto" latinLnBrk="0" hangingPunct="1">
              <a:lnSpc>
                <a:spcPct val="100000"/>
              </a:lnSpc>
              <a:spcBef>
                <a:spcPts val="1200"/>
              </a:spcBef>
              <a:spcAft>
                <a:spcPts val="0"/>
              </a:spcAft>
              <a:buClr>
                <a:srgbClr val="93A299"/>
              </a:buClr>
              <a:buSzPts val="2040"/>
              <a:buFont typeface="Arial"/>
              <a:buChar char="•"/>
              <a:tabLst/>
              <a:defRPr/>
            </a:pPr>
            <a:endParaRPr kumimoji="0" lang="en-US" sz="2400" b="0" i="0" u="none" strike="noStrike" kern="0" cap="none" spc="0" normalizeH="0" baseline="0" noProof="0" dirty="0">
              <a:ln>
                <a:noFill/>
              </a:ln>
              <a:effectLst/>
              <a:uLnTx/>
              <a:uFillTx/>
              <a:cs typeface="Arial"/>
              <a:sym typeface="Arial"/>
            </a:endParaRPr>
          </a:p>
        </p:txBody>
      </p:sp>
      <p:sp>
        <p:nvSpPr>
          <p:cNvPr id="5" name="TextBox 4">
            <a:extLst>
              <a:ext uri="{FF2B5EF4-FFF2-40B4-BE49-F238E27FC236}">
                <a16:creationId xmlns:a16="http://schemas.microsoft.com/office/drawing/2014/main" id="{689C1D1A-05AA-7D1E-BF84-6D5B9DDC8849}"/>
              </a:ext>
            </a:extLst>
          </p:cNvPr>
          <p:cNvSpPr txBox="1"/>
          <p:nvPr/>
        </p:nvSpPr>
        <p:spPr>
          <a:xfrm>
            <a:off x="4098235" y="6400799"/>
            <a:ext cx="8093765" cy="338554"/>
          </a:xfrm>
          <a:prstGeom prst="rect">
            <a:avLst/>
          </a:prstGeom>
          <a:noFill/>
        </p:spPr>
        <p:txBody>
          <a:bodyPr wrap="square">
            <a:spAutoFit/>
          </a:bodyPr>
          <a:lstStyle/>
          <a:p>
            <a:r>
              <a:rPr lang="en-US" sz="1600" b="0" u="none" strike="noStrike" dirty="0">
                <a:effectLst/>
                <a:latin typeface="+mj-lt"/>
              </a:rPr>
              <a:t>Tufte, E. R. (1983). </a:t>
            </a:r>
            <a:r>
              <a:rPr lang="en-US" sz="1600" b="0" i="1" u="none" strike="noStrike" dirty="0">
                <a:effectLst/>
                <a:latin typeface="+mj-lt"/>
              </a:rPr>
              <a:t>The Visual Display of Quantitative Information</a:t>
            </a:r>
            <a:r>
              <a:rPr lang="en-US" sz="1600" dirty="0">
                <a:latin typeface="+mj-lt"/>
              </a:rPr>
              <a:t>. Cheshire, CT: Graphics Press</a:t>
            </a:r>
          </a:p>
        </p:txBody>
      </p:sp>
    </p:spTree>
    <p:extLst>
      <p:ext uri="{BB962C8B-B14F-4D97-AF65-F5344CB8AC3E}">
        <p14:creationId xmlns:p14="http://schemas.microsoft.com/office/powerpoint/2010/main" val="368181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3A61A-FC70-4B68-B690-BAF9D96B92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08DAF0-39CA-C2A1-4F85-ED0F1908F9EB}"/>
              </a:ext>
            </a:extLst>
          </p:cNvPr>
          <p:cNvSpPr>
            <a:spLocks noGrp="1"/>
          </p:cNvSpPr>
          <p:nvPr>
            <p:ph type="title"/>
          </p:nvPr>
        </p:nvSpPr>
        <p:spPr/>
        <p:txBody>
          <a:bodyPr/>
          <a:lstStyle/>
          <a:p>
            <a:r>
              <a:rPr lang="en-US" dirty="0"/>
              <a:t>Definition</a:t>
            </a:r>
          </a:p>
        </p:txBody>
      </p:sp>
      <p:sp>
        <p:nvSpPr>
          <p:cNvPr id="3" name="Content Placeholder 2">
            <a:extLst>
              <a:ext uri="{FF2B5EF4-FFF2-40B4-BE49-F238E27FC236}">
                <a16:creationId xmlns:a16="http://schemas.microsoft.com/office/drawing/2014/main" id="{BE2E7C98-27A3-349C-B93D-82A1721B516E}"/>
              </a:ext>
            </a:extLst>
          </p:cNvPr>
          <p:cNvSpPr>
            <a:spLocks noGrp="1"/>
          </p:cNvSpPr>
          <p:nvPr>
            <p:ph idx="1"/>
          </p:nvPr>
        </p:nvSpPr>
        <p:spPr>
          <a:xfrm>
            <a:off x="3640668" y="800670"/>
            <a:ext cx="7315200" cy="4601184"/>
          </a:xfrm>
        </p:spPr>
        <p:txBody>
          <a:bodyPr anchor="ctr">
            <a:normAutofit/>
          </a:bodyPr>
          <a:lstStyle/>
          <a:p>
            <a:pPr marL="0" marR="0" lvl="0" indent="0" algn="l" defTabSz="914400" rtl="0" eaLnBrk="1" fontAlgn="auto" latinLnBrk="0" hangingPunct="1">
              <a:lnSpc>
                <a:spcPct val="100000"/>
              </a:lnSpc>
              <a:spcBef>
                <a:spcPts val="1200"/>
              </a:spcBef>
              <a:spcAft>
                <a:spcPts val="0"/>
              </a:spcAft>
              <a:buClr>
                <a:srgbClr val="93A299"/>
              </a:buClr>
              <a:buSzPts val="2040"/>
              <a:buNone/>
              <a:tabLst/>
              <a:defRPr/>
            </a:pPr>
            <a:r>
              <a:rPr lang="en-US" sz="2400" kern="0" dirty="0">
                <a:cs typeface="Arial"/>
                <a:sym typeface="Arial"/>
              </a:rPr>
              <a:t>When we say </a:t>
            </a:r>
            <a:r>
              <a:rPr lang="en-US" sz="2400" b="1" kern="0" dirty="0">
                <a:cs typeface="Arial"/>
                <a:sym typeface="Arial"/>
              </a:rPr>
              <a:t>embellishment</a:t>
            </a:r>
            <a:r>
              <a:rPr lang="en-US" sz="2400" kern="0" dirty="0">
                <a:cs typeface="Arial"/>
                <a:sym typeface="Arial"/>
              </a:rPr>
              <a:t> in a visualization context, we’re referring to graphical elements that do not directly display data, or that are added for stylistic reasons to a chart.  </a:t>
            </a:r>
          </a:p>
          <a:p>
            <a:pPr marL="0" marR="0" lvl="0" indent="0" algn="l" defTabSz="914400" rtl="0" eaLnBrk="1" fontAlgn="auto" latinLnBrk="0" hangingPunct="1">
              <a:lnSpc>
                <a:spcPct val="100000"/>
              </a:lnSpc>
              <a:spcBef>
                <a:spcPts val="1200"/>
              </a:spcBef>
              <a:spcAft>
                <a:spcPts val="0"/>
              </a:spcAft>
              <a:buClr>
                <a:srgbClr val="93A299"/>
              </a:buClr>
              <a:buSzPts val="2040"/>
              <a:buNone/>
              <a:tabLst/>
              <a:defRPr/>
            </a:pPr>
            <a:endParaRPr kumimoji="0" lang="en-US" sz="2400" b="0" i="0" u="none" strike="noStrike" kern="0" cap="none" spc="0" normalizeH="0" baseline="0" noProof="0" dirty="0">
              <a:ln>
                <a:noFill/>
              </a:ln>
              <a:effectLst/>
              <a:uLnTx/>
              <a:uFillTx/>
              <a:cs typeface="Arial"/>
              <a:sym typeface="Arial"/>
            </a:endParaRPr>
          </a:p>
          <a:p>
            <a:pPr marL="0" marR="0" lvl="0" indent="0" algn="l" defTabSz="914400" rtl="0" eaLnBrk="1" fontAlgn="auto" latinLnBrk="0" hangingPunct="1">
              <a:lnSpc>
                <a:spcPct val="100000"/>
              </a:lnSpc>
              <a:spcBef>
                <a:spcPts val="1200"/>
              </a:spcBef>
              <a:spcAft>
                <a:spcPts val="0"/>
              </a:spcAft>
              <a:buClr>
                <a:srgbClr val="93A299"/>
              </a:buClr>
              <a:buSzPts val="2040"/>
              <a:buNone/>
              <a:tabLst/>
              <a:defRPr/>
            </a:pPr>
            <a:r>
              <a:rPr lang="en-US" sz="2400" kern="0" dirty="0">
                <a:cs typeface="Arial"/>
                <a:sym typeface="Arial"/>
              </a:rPr>
              <a:t>You can think of embellishment as chart junk. Like anything, there are benefits and drawbacks… </a:t>
            </a:r>
            <a:endParaRPr kumimoji="0" lang="en-US" sz="2400" b="0" i="0" u="none" strike="noStrike" kern="0" cap="none" spc="0" normalizeH="0" baseline="0" noProof="0" dirty="0">
              <a:ln>
                <a:noFill/>
              </a:ln>
              <a:effectLst/>
              <a:uLnTx/>
              <a:uFillTx/>
              <a:cs typeface="Arial"/>
              <a:sym typeface="Arial"/>
            </a:endParaRPr>
          </a:p>
        </p:txBody>
      </p:sp>
    </p:spTree>
    <p:extLst>
      <p:ext uri="{BB962C8B-B14F-4D97-AF65-F5344CB8AC3E}">
        <p14:creationId xmlns:p14="http://schemas.microsoft.com/office/powerpoint/2010/main" val="428483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3F51B-B1CD-DA17-52AE-BB14006B31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E274DC-69DB-8E83-DADA-5A42F924517F}"/>
              </a:ext>
            </a:extLst>
          </p:cNvPr>
          <p:cNvSpPr>
            <a:spLocks noGrp="1"/>
          </p:cNvSpPr>
          <p:nvPr>
            <p:ph type="title"/>
          </p:nvPr>
        </p:nvSpPr>
        <p:spPr/>
        <p:txBody>
          <a:bodyPr/>
          <a:lstStyle/>
          <a:p>
            <a:r>
              <a:rPr lang="en-US" dirty="0"/>
              <a:t>Embellishment and Recall / Memorability</a:t>
            </a:r>
          </a:p>
        </p:txBody>
      </p:sp>
      <p:sp>
        <p:nvSpPr>
          <p:cNvPr id="3" name="Content Placeholder 2">
            <a:extLst>
              <a:ext uri="{FF2B5EF4-FFF2-40B4-BE49-F238E27FC236}">
                <a16:creationId xmlns:a16="http://schemas.microsoft.com/office/drawing/2014/main" id="{D9C19B52-E28D-4005-8488-CE10A94D91F6}"/>
              </a:ext>
            </a:extLst>
          </p:cNvPr>
          <p:cNvSpPr>
            <a:spLocks noGrp="1"/>
          </p:cNvSpPr>
          <p:nvPr>
            <p:ph idx="1"/>
          </p:nvPr>
        </p:nvSpPr>
        <p:spPr>
          <a:xfrm>
            <a:off x="3640668" y="800670"/>
            <a:ext cx="7315200" cy="4601184"/>
          </a:xfrm>
        </p:spPr>
        <p:txBody>
          <a:bodyPr anchor="t">
            <a:normAutofit/>
          </a:bodyPr>
          <a:lstStyle/>
          <a:p>
            <a:pPr>
              <a:lnSpc>
                <a:spcPct val="100000"/>
              </a:lnSpc>
              <a:buClr>
                <a:srgbClr val="93A299"/>
              </a:buClr>
              <a:buSzPts val="2040"/>
              <a:defRPr/>
            </a:pPr>
            <a:r>
              <a:rPr kumimoji="0" lang="en-US" sz="2400" b="0" i="0" u="none" strike="noStrike" kern="0" cap="none" spc="0" normalizeH="0" baseline="0" noProof="0" dirty="0">
                <a:ln>
                  <a:noFill/>
                </a:ln>
                <a:effectLst/>
                <a:uLnTx/>
                <a:uFillTx/>
                <a:cs typeface="Arial"/>
                <a:sym typeface="Arial"/>
              </a:rPr>
              <a:t>Short-term recall  of chart subject, categories shown, and trend appears unaffected by embellishment  </a:t>
            </a:r>
          </a:p>
          <a:p>
            <a:pPr>
              <a:lnSpc>
                <a:spcPct val="100000"/>
              </a:lnSpc>
              <a:buClr>
                <a:srgbClr val="93A299"/>
              </a:buClr>
              <a:buSzPts val="2040"/>
              <a:defRPr/>
            </a:pPr>
            <a:r>
              <a:rPr lang="en-US" sz="2400" kern="0" dirty="0">
                <a:cs typeface="Arial"/>
                <a:sym typeface="Arial"/>
              </a:rPr>
              <a:t>Long-term recall of chart subject, categories shown, and trend appear affected by embellishment </a:t>
            </a:r>
          </a:p>
        </p:txBody>
      </p:sp>
      <p:pic>
        <p:nvPicPr>
          <p:cNvPr id="5" name="Picture 4">
            <a:extLst>
              <a:ext uri="{FF2B5EF4-FFF2-40B4-BE49-F238E27FC236}">
                <a16:creationId xmlns:a16="http://schemas.microsoft.com/office/drawing/2014/main" id="{36AC8B84-D96F-EC42-FAA8-0967D50120C8}"/>
              </a:ext>
            </a:extLst>
          </p:cNvPr>
          <p:cNvPicPr>
            <a:picLocks noChangeAspect="1"/>
          </p:cNvPicPr>
          <p:nvPr/>
        </p:nvPicPr>
        <p:blipFill>
          <a:blip r:embed="rId3"/>
          <a:stretch>
            <a:fillRect/>
          </a:stretch>
        </p:blipFill>
        <p:spPr>
          <a:xfrm>
            <a:off x="4028686" y="2696676"/>
            <a:ext cx="6539163" cy="3470787"/>
          </a:xfrm>
          <a:prstGeom prst="rect">
            <a:avLst/>
          </a:prstGeom>
        </p:spPr>
      </p:pic>
      <p:sp>
        <p:nvSpPr>
          <p:cNvPr id="6" name="TextBox 5">
            <a:extLst>
              <a:ext uri="{FF2B5EF4-FFF2-40B4-BE49-F238E27FC236}">
                <a16:creationId xmlns:a16="http://schemas.microsoft.com/office/drawing/2014/main" id="{1B2BEFA2-0868-6785-86A5-A6231C6A3431}"/>
              </a:ext>
            </a:extLst>
          </p:cNvPr>
          <p:cNvSpPr txBox="1"/>
          <p:nvPr/>
        </p:nvSpPr>
        <p:spPr>
          <a:xfrm>
            <a:off x="2487169" y="6366948"/>
            <a:ext cx="9704832" cy="461665"/>
          </a:xfrm>
          <a:prstGeom prst="rect">
            <a:avLst/>
          </a:prstGeom>
          <a:noFill/>
        </p:spPr>
        <p:txBody>
          <a:bodyPr wrap="square">
            <a:spAutoFit/>
          </a:bodyPr>
          <a:lstStyle/>
          <a:p>
            <a:pPr algn="r"/>
            <a:r>
              <a:rPr lang="en-US" sz="1200" b="0" i="0" dirty="0">
                <a:solidFill>
                  <a:srgbClr val="333333"/>
                </a:solidFill>
                <a:effectLst/>
                <a:latin typeface="+mj-lt"/>
              </a:rPr>
              <a:t>Scott Bateman, Regan L. Mandryk, Carl </a:t>
            </a:r>
            <a:r>
              <a:rPr lang="en-US" sz="1200" b="0" i="0" dirty="0" err="1">
                <a:solidFill>
                  <a:srgbClr val="333333"/>
                </a:solidFill>
                <a:effectLst/>
                <a:latin typeface="+mj-lt"/>
              </a:rPr>
              <a:t>Gutwin</a:t>
            </a:r>
            <a:r>
              <a:rPr lang="en-US" sz="1200" b="0" i="0" dirty="0">
                <a:solidFill>
                  <a:srgbClr val="333333"/>
                </a:solidFill>
                <a:effectLst/>
                <a:latin typeface="+mj-lt"/>
              </a:rPr>
              <a:t>, Aaron Genest, David </a:t>
            </a:r>
            <a:r>
              <a:rPr lang="en-US" sz="1200" b="0" i="0" dirty="0" err="1">
                <a:solidFill>
                  <a:srgbClr val="333333"/>
                </a:solidFill>
                <a:effectLst/>
                <a:latin typeface="+mj-lt"/>
              </a:rPr>
              <a:t>McDine</a:t>
            </a:r>
            <a:r>
              <a:rPr lang="en-US" sz="1200" b="0" i="0" dirty="0">
                <a:solidFill>
                  <a:srgbClr val="333333"/>
                </a:solidFill>
                <a:effectLst/>
                <a:latin typeface="+mj-lt"/>
              </a:rPr>
              <a:t>, and Christopher Brooks. 2010. Useful junk? the effects of visual embellishment on comprehension and memorability of charts. https://</a:t>
            </a:r>
            <a:r>
              <a:rPr lang="en-US" sz="1200" b="0" i="0" dirty="0" err="1">
                <a:solidFill>
                  <a:srgbClr val="333333"/>
                </a:solidFill>
                <a:effectLst/>
                <a:latin typeface="+mj-lt"/>
              </a:rPr>
              <a:t>doi.org</a:t>
            </a:r>
            <a:r>
              <a:rPr lang="en-US" sz="1200" b="0" i="0" dirty="0">
                <a:solidFill>
                  <a:srgbClr val="333333"/>
                </a:solidFill>
                <a:effectLst/>
                <a:latin typeface="+mj-lt"/>
              </a:rPr>
              <a:t>/10.1145/1753326.1753716</a:t>
            </a:r>
            <a:endParaRPr lang="en-US" sz="1200" dirty="0">
              <a:latin typeface="+mj-lt"/>
            </a:endParaRPr>
          </a:p>
        </p:txBody>
      </p:sp>
    </p:spTree>
    <p:extLst>
      <p:ext uri="{BB962C8B-B14F-4D97-AF65-F5344CB8AC3E}">
        <p14:creationId xmlns:p14="http://schemas.microsoft.com/office/powerpoint/2010/main" val="41696038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ACFAD-41DD-8803-8F87-A635EC1514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9353D8-CF7D-EAD9-1F12-581857FD4115}"/>
              </a:ext>
            </a:extLst>
          </p:cNvPr>
          <p:cNvSpPr>
            <a:spLocks noGrp="1"/>
          </p:cNvSpPr>
          <p:nvPr>
            <p:ph type="title"/>
          </p:nvPr>
        </p:nvSpPr>
        <p:spPr/>
        <p:txBody>
          <a:bodyPr/>
          <a:lstStyle/>
          <a:p>
            <a:r>
              <a:rPr lang="en-US" dirty="0"/>
              <a:t>Embellishment and Recall / Memorability</a:t>
            </a:r>
          </a:p>
        </p:txBody>
      </p:sp>
      <p:sp>
        <p:nvSpPr>
          <p:cNvPr id="3" name="Content Placeholder 2">
            <a:extLst>
              <a:ext uri="{FF2B5EF4-FFF2-40B4-BE49-F238E27FC236}">
                <a16:creationId xmlns:a16="http://schemas.microsoft.com/office/drawing/2014/main" id="{CABCE723-96E7-7F75-5CA4-8344FFCE17C9}"/>
              </a:ext>
            </a:extLst>
          </p:cNvPr>
          <p:cNvSpPr>
            <a:spLocks noGrp="1"/>
          </p:cNvSpPr>
          <p:nvPr>
            <p:ph idx="1"/>
          </p:nvPr>
        </p:nvSpPr>
        <p:spPr>
          <a:xfrm>
            <a:off x="3640668" y="800670"/>
            <a:ext cx="7315200" cy="4601184"/>
          </a:xfrm>
        </p:spPr>
        <p:txBody>
          <a:bodyPr anchor="t">
            <a:normAutofit/>
          </a:bodyPr>
          <a:lstStyle/>
          <a:p>
            <a:pPr>
              <a:lnSpc>
                <a:spcPct val="100000"/>
              </a:lnSpc>
              <a:buClr>
                <a:srgbClr val="93A299"/>
              </a:buClr>
              <a:buSzPts val="2040"/>
              <a:defRPr/>
            </a:pPr>
            <a:r>
              <a:rPr kumimoji="0" lang="en-US" sz="2400" b="0" i="0" u="none" strike="noStrike" kern="0" cap="none" spc="0" normalizeH="0" baseline="0" noProof="0" dirty="0">
                <a:ln>
                  <a:noFill/>
                </a:ln>
                <a:effectLst/>
                <a:uLnTx/>
                <a:uFillTx/>
                <a:cs typeface="Arial"/>
                <a:sym typeface="Arial"/>
              </a:rPr>
              <a:t>Short- and long-term recall of </a:t>
            </a:r>
            <a:r>
              <a:rPr lang="en-US" sz="2400" kern="0" dirty="0">
                <a:cs typeface="Arial"/>
                <a:sym typeface="Arial"/>
              </a:rPr>
              <a:t>a chart’s</a:t>
            </a:r>
            <a:r>
              <a:rPr kumimoji="0" lang="en-US" sz="2400" b="0" i="0" u="none" strike="noStrike" kern="0" cap="none" spc="0" normalizeH="0" baseline="0" noProof="0" dirty="0">
                <a:ln>
                  <a:noFill/>
                </a:ln>
                <a:effectLst/>
                <a:uLnTx/>
                <a:uFillTx/>
                <a:cs typeface="Arial"/>
                <a:sym typeface="Arial"/>
              </a:rPr>
              <a:t> </a:t>
            </a:r>
            <a:r>
              <a:rPr lang="en-US" sz="2400" kern="0" dirty="0">
                <a:cs typeface="Arial"/>
                <a:sym typeface="Arial"/>
              </a:rPr>
              <a:t>v</a:t>
            </a:r>
            <a:r>
              <a:rPr kumimoji="0" lang="en-US" sz="2400" b="0" i="0" u="none" strike="noStrike" kern="0" cap="none" spc="0" normalizeH="0" baseline="0" noProof="0" dirty="0" err="1">
                <a:ln>
                  <a:noFill/>
                </a:ln>
                <a:effectLst/>
                <a:uLnTx/>
                <a:uFillTx/>
                <a:cs typeface="Arial"/>
                <a:sym typeface="Arial"/>
              </a:rPr>
              <a:t>alue</a:t>
            </a:r>
            <a:r>
              <a:rPr kumimoji="0" lang="en-US" sz="2400" b="0" i="0" u="none" strike="noStrike" kern="0" cap="none" spc="0" normalizeH="0" baseline="0" noProof="0" dirty="0">
                <a:ln>
                  <a:noFill/>
                </a:ln>
                <a:effectLst/>
                <a:uLnTx/>
                <a:uFillTx/>
                <a:cs typeface="Arial"/>
                <a:sym typeface="Arial"/>
              </a:rPr>
              <a:t> message are affected by embellishment </a:t>
            </a:r>
          </a:p>
        </p:txBody>
      </p:sp>
      <p:pic>
        <p:nvPicPr>
          <p:cNvPr id="6" name="Picture 5">
            <a:extLst>
              <a:ext uri="{FF2B5EF4-FFF2-40B4-BE49-F238E27FC236}">
                <a16:creationId xmlns:a16="http://schemas.microsoft.com/office/drawing/2014/main" id="{EA95639F-0DDD-CDA3-845B-C187E47AE2E7}"/>
              </a:ext>
            </a:extLst>
          </p:cNvPr>
          <p:cNvPicPr>
            <a:picLocks noChangeAspect="1"/>
          </p:cNvPicPr>
          <p:nvPr/>
        </p:nvPicPr>
        <p:blipFill>
          <a:blip r:embed="rId3"/>
          <a:srcRect t="5310"/>
          <a:stretch>
            <a:fillRect/>
          </a:stretch>
        </p:blipFill>
        <p:spPr>
          <a:xfrm>
            <a:off x="4423623" y="2377440"/>
            <a:ext cx="5749290" cy="2649736"/>
          </a:xfrm>
          <a:prstGeom prst="rect">
            <a:avLst/>
          </a:prstGeom>
        </p:spPr>
      </p:pic>
      <p:sp>
        <p:nvSpPr>
          <p:cNvPr id="7" name="TextBox 6">
            <a:extLst>
              <a:ext uri="{FF2B5EF4-FFF2-40B4-BE49-F238E27FC236}">
                <a16:creationId xmlns:a16="http://schemas.microsoft.com/office/drawing/2014/main" id="{D3527C8D-93E6-0E8F-5C13-824E96C84328}"/>
              </a:ext>
            </a:extLst>
          </p:cNvPr>
          <p:cNvSpPr txBox="1"/>
          <p:nvPr/>
        </p:nvSpPr>
        <p:spPr>
          <a:xfrm>
            <a:off x="2487169" y="6366948"/>
            <a:ext cx="9704832" cy="461665"/>
          </a:xfrm>
          <a:prstGeom prst="rect">
            <a:avLst/>
          </a:prstGeom>
          <a:noFill/>
        </p:spPr>
        <p:txBody>
          <a:bodyPr wrap="square">
            <a:spAutoFit/>
          </a:bodyPr>
          <a:lstStyle/>
          <a:p>
            <a:pPr algn="r"/>
            <a:r>
              <a:rPr lang="en-US" sz="1200" b="0" i="0" dirty="0">
                <a:solidFill>
                  <a:srgbClr val="333333"/>
                </a:solidFill>
                <a:effectLst/>
                <a:latin typeface="+mj-lt"/>
              </a:rPr>
              <a:t>Scott Bateman, Regan L. Mandryk, Carl </a:t>
            </a:r>
            <a:r>
              <a:rPr lang="en-US" sz="1200" b="0" i="0" dirty="0" err="1">
                <a:solidFill>
                  <a:srgbClr val="333333"/>
                </a:solidFill>
                <a:effectLst/>
                <a:latin typeface="+mj-lt"/>
              </a:rPr>
              <a:t>Gutwin</a:t>
            </a:r>
            <a:r>
              <a:rPr lang="en-US" sz="1200" b="0" i="0" dirty="0">
                <a:solidFill>
                  <a:srgbClr val="333333"/>
                </a:solidFill>
                <a:effectLst/>
                <a:latin typeface="+mj-lt"/>
              </a:rPr>
              <a:t>, Aaron Genest, David </a:t>
            </a:r>
            <a:r>
              <a:rPr lang="en-US" sz="1200" b="0" i="0" dirty="0" err="1">
                <a:solidFill>
                  <a:srgbClr val="333333"/>
                </a:solidFill>
                <a:effectLst/>
                <a:latin typeface="+mj-lt"/>
              </a:rPr>
              <a:t>McDine</a:t>
            </a:r>
            <a:r>
              <a:rPr lang="en-US" sz="1200" b="0" i="0" dirty="0">
                <a:solidFill>
                  <a:srgbClr val="333333"/>
                </a:solidFill>
                <a:effectLst/>
                <a:latin typeface="+mj-lt"/>
              </a:rPr>
              <a:t>, and Christopher Brooks. 2010. Useful junk? the effects of visual embellishment on comprehension and memorability of charts. https://</a:t>
            </a:r>
            <a:r>
              <a:rPr lang="en-US" sz="1200" b="0" i="0" dirty="0" err="1">
                <a:solidFill>
                  <a:srgbClr val="333333"/>
                </a:solidFill>
                <a:effectLst/>
                <a:latin typeface="+mj-lt"/>
              </a:rPr>
              <a:t>doi.org</a:t>
            </a:r>
            <a:r>
              <a:rPr lang="en-US" sz="1200" b="0" i="0" dirty="0">
                <a:solidFill>
                  <a:srgbClr val="333333"/>
                </a:solidFill>
                <a:effectLst/>
                <a:latin typeface="+mj-lt"/>
              </a:rPr>
              <a:t>/10.1145/1753326.1753716</a:t>
            </a:r>
            <a:endParaRPr lang="en-US" sz="1200" dirty="0">
              <a:latin typeface="+mj-lt"/>
            </a:endParaRPr>
          </a:p>
        </p:txBody>
      </p:sp>
    </p:spTree>
    <p:extLst>
      <p:ext uri="{BB962C8B-B14F-4D97-AF65-F5344CB8AC3E}">
        <p14:creationId xmlns:p14="http://schemas.microsoft.com/office/powerpoint/2010/main" val="29525135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FAA00-45B6-111F-4A26-CE522C6DED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1A78EB-A85C-5691-CDB9-175C2DC3771F}"/>
              </a:ext>
            </a:extLst>
          </p:cNvPr>
          <p:cNvSpPr>
            <a:spLocks noGrp="1"/>
          </p:cNvSpPr>
          <p:nvPr>
            <p:ph type="title"/>
          </p:nvPr>
        </p:nvSpPr>
        <p:spPr/>
        <p:txBody>
          <a:bodyPr/>
          <a:lstStyle/>
          <a:p>
            <a:r>
              <a:rPr lang="en-US" dirty="0"/>
              <a:t>Embellishment and Recall / Memorability</a:t>
            </a:r>
          </a:p>
        </p:txBody>
      </p:sp>
      <p:sp>
        <p:nvSpPr>
          <p:cNvPr id="3" name="Content Placeholder 2">
            <a:extLst>
              <a:ext uri="{FF2B5EF4-FFF2-40B4-BE49-F238E27FC236}">
                <a16:creationId xmlns:a16="http://schemas.microsoft.com/office/drawing/2014/main" id="{A8BEF8F2-94E4-A9AA-885A-8BE91A36A796}"/>
              </a:ext>
            </a:extLst>
          </p:cNvPr>
          <p:cNvSpPr>
            <a:spLocks noGrp="1"/>
          </p:cNvSpPr>
          <p:nvPr>
            <p:ph idx="1"/>
          </p:nvPr>
        </p:nvSpPr>
        <p:spPr>
          <a:xfrm>
            <a:off x="3640668" y="800670"/>
            <a:ext cx="7315200" cy="4601184"/>
          </a:xfrm>
        </p:spPr>
        <p:txBody>
          <a:bodyPr anchor="t">
            <a:normAutofit lnSpcReduction="10000"/>
          </a:bodyPr>
          <a:lstStyle/>
          <a:p>
            <a:pPr>
              <a:lnSpc>
                <a:spcPct val="100000"/>
              </a:lnSpc>
              <a:buClr>
                <a:srgbClr val="93A299"/>
              </a:buClr>
              <a:buSzPts val="2040"/>
              <a:defRPr/>
            </a:pPr>
            <a:r>
              <a:rPr lang="en-US" sz="2400" dirty="0"/>
              <a:t>What readers recall about visualizations is not hindered by pictograms. In other words, with pictograms the message of the visualization is correctly recalled (and in fact, often better)</a:t>
            </a:r>
          </a:p>
          <a:p>
            <a:pPr>
              <a:lnSpc>
                <a:spcPct val="100000"/>
              </a:lnSpc>
              <a:buClr>
                <a:srgbClr val="93A299"/>
              </a:buClr>
              <a:buSzPts val="2040"/>
              <a:defRPr/>
            </a:pPr>
            <a:endParaRPr kumimoji="0" lang="en-US" sz="2400" b="0" i="0" u="none" strike="noStrike" kern="0" cap="none" spc="0" normalizeH="0" baseline="0" noProof="0" dirty="0">
              <a:ln>
                <a:noFill/>
              </a:ln>
              <a:effectLst/>
              <a:uLnTx/>
              <a:uFillTx/>
              <a:cs typeface="Arial"/>
              <a:sym typeface="Arial"/>
            </a:endParaRPr>
          </a:p>
          <a:p>
            <a:pPr>
              <a:lnSpc>
                <a:spcPct val="100000"/>
              </a:lnSpc>
              <a:buClr>
                <a:srgbClr val="93A299"/>
              </a:buClr>
              <a:buSzPts val="2040"/>
              <a:defRPr/>
            </a:pPr>
            <a:r>
              <a:rPr lang="en-US" sz="2400" dirty="0"/>
              <a:t>However, pictograms can hurt the understanding of a visualization. Any time people spend on a pictogram is time not spent on the data or the message (unless the pictogram contains part of the data or message), and if the link between the data/message and the pictogram is not clear, people may misunderstand and/or </a:t>
            </a:r>
            <a:r>
              <a:rPr lang="en-US" sz="2400" dirty="0" err="1"/>
              <a:t>misrecall</a:t>
            </a:r>
            <a:r>
              <a:rPr lang="en-US" sz="2400" dirty="0"/>
              <a:t> what the visualization was about</a:t>
            </a:r>
            <a:endParaRPr kumimoji="0" lang="en-US" sz="2400" b="0" i="0" u="none" strike="noStrike" kern="0" cap="none" spc="0" normalizeH="0" baseline="0" noProof="0" dirty="0">
              <a:ln>
                <a:noFill/>
              </a:ln>
              <a:effectLst/>
              <a:uLnTx/>
              <a:uFillTx/>
              <a:cs typeface="Arial"/>
              <a:sym typeface="Arial"/>
            </a:endParaRPr>
          </a:p>
        </p:txBody>
      </p:sp>
      <p:sp>
        <p:nvSpPr>
          <p:cNvPr id="7" name="TextBox 6">
            <a:extLst>
              <a:ext uri="{FF2B5EF4-FFF2-40B4-BE49-F238E27FC236}">
                <a16:creationId xmlns:a16="http://schemas.microsoft.com/office/drawing/2014/main" id="{7EC254E9-C6AE-5B61-465A-E4A4C8A516FE}"/>
              </a:ext>
            </a:extLst>
          </p:cNvPr>
          <p:cNvSpPr txBox="1"/>
          <p:nvPr/>
        </p:nvSpPr>
        <p:spPr>
          <a:xfrm>
            <a:off x="2445852" y="6273225"/>
            <a:ext cx="9704832" cy="584775"/>
          </a:xfrm>
          <a:prstGeom prst="rect">
            <a:avLst/>
          </a:prstGeom>
          <a:noFill/>
        </p:spPr>
        <p:txBody>
          <a:bodyPr wrap="square">
            <a:spAutoFit/>
          </a:bodyPr>
          <a:lstStyle/>
          <a:p>
            <a:pPr algn="r"/>
            <a:r>
              <a:rPr lang="en-US" sz="1600" dirty="0"/>
              <a:t>M. A. Borkin </a:t>
            </a:r>
            <a:r>
              <a:rPr lang="en-US" sz="1600" i="1" dirty="0"/>
              <a:t>et al</a:t>
            </a:r>
            <a:r>
              <a:rPr lang="en-US" sz="1600" dirty="0"/>
              <a:t>., "Beyond Memorability: Visualization Recognition and Recall," in </a:t>
            </a:r>
            <a:r>
              <a:rPr lang="en-US" sz="1600" i="1" dirty="0"/>
              <a:t>IEEE Transactions on Visualization and Computer Graphics</a:t>
            </a:r>
            <a:r>
              <a:rPr lang="en-US" sz="1600" dirty="0"/>
              <a:t>, vol. 22, no. 1, pp. 519-528, 31 Jan. 2016, </a:t>
            </a:r>
            <a:r>
              <a:rPr lang="en-US" sz="1600" dirty="0" err="1"/>
              <a:t>doi</a:t>
            </a:r>
            <a:r>
              <a:rPr lang="en-US" sz="1600" dirty="0"/>
              <a:t>: 10.1109/TVCG.2015.2467732</a:t>
            </a:r>
            <a:endParaRPr lang="en-US" sz="1100" dirty="0">
              <a:latin typeface="+mj-lt"/>
            </a:endParaRPr>
          </a:p>
        </p:txBody>
      </p:sp>
    </p:spTree>
    <p:extLst>
      <p:ext uri="{BB962C8B-B14F-4D97-AF65-F5344CB8AC3E}">
        <p14:creationId xmlns:p14="http://schemas.microsoft.com/office/powerpoint/2010/main" val="2053781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14874-EF03-3B31-61E2-46EE282F97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48CC8B-A5D5-5960-9DE0-A871D6583048}"/>
              </a:ext>
            </a:extLst>
          </p:cNvPr>
          <p:cNvSpPr>
            <a:spLocks noGrp="1"/>
          </p:cNvSpPr>
          <p:nvPr>
            <p:ph type="title"/>
          </p:nvPr>
        </p:nvSpPr>
        <p:spPr/>
        <p:txBody>
          <a:bodyPr/>
          <a:lstStyle/>
          <a:p>
            <a:r>
              <a:rPr lang="en-US" dirty="0"/>
              <a:t>Embellishment and Cognition</a:t>
            </a:r>
          </a:p>
        </p:txBody>
      </p:sp>
      <p:sp>
        <p:nvSpPr>
          <p:cNvPr id="3" name="Content Placeholder 2">
            <a:extLst>
              <a:ext uri="{FF2B5EF4-FFF2-40B4-BE49-F238E27FC236}">
                <a16:creationId xmlns:a16="http://schemas.microsoft.com/office/drawing/2014/main" id="{456E468E-D302-BE98-110B-E6765C65A424}"/>
              </a:ext>
            </a:extLst>
          </p:cNvPr>
          <p:cNvSpPr>
            <a:spLocks noGrp="1"/>
          </p:cNvSpPr>
          <p:nvPr>
            <p:ph idx="1"/>
          </p:nvPr>
        </p:nvSpPr>
        <p:spPr>
          <a:xfrm>
            <a:off x="3640668" y="800670"/>
            <a:ext cx="7315200" cy="4601184"/>
          </a:xfrm>
        </p:spPr>
        <p:txBody>
          <a:bodyPr anchor="t">
            <a:normAutofit/>
          </a:bodyPr>
          <a:lstStyle/>
          <a:p>
            <a:pPr>
              <a:lnSpc>
                <a:spcPct val="100000"/>
              </a:lnSpc>
              <a:buClr>
                <a:srgbClr val="93A299"/>
              </a:buClr>
              <a:buSzPts val="2040"/>
              <a:defRPr/>
            </a:pPr>
            <a:r>
              <a:rPr lang="en-US" sz="2400" dirty="0"/>
              <a:t>When visual embellishments relate to information to be remembered (ex. groups), they improve working memory</a:t>
            </a:r>
          </a:p>
          <a:p>
            <a:pPr>
              <a:lnSpc>
                <a:spcPct val="100000"/>
              </a:lnSpc>
              <a:buClr>
                <a:srgbClr val="93A299"/>
              </a:buClr>
              <a:buSzPts val="2040"/>
              <a:defRPr/>
            </a:pPr>
            <a:r>
              <a:rPr kumimoji="0" lang="en-US" sz="2400" b="0" i="0" u="none" strike="noStrike" kern="0" cap="none" spc="0" normalizeH="0" baseline="0" noProof="0" dirty="0">
                <a:ln>
                  <a:noFill/>
                </a:ln>
                <a:effectLst/>
                <a:uLnTx/>
                <a:uFillTx/>
                <a:cs typeface="Arial"/>
                <a:sym typeface="Arial"/>
              </a:rPr>
              <a:t>In other words, visual embellishments can help free up cognitive space for </a:t>
            </a:r>
            <a:r>
              <a:rPr kumimoji="0" lang="en-US" sz="2400" b="0" i="1" u="none" strike="noStrike" kern="0" cap="none" spc="0" normalizeH="0" baseline="0" noProof="0" dirty="0">
                <a:ln>
                  <a:noFill/>
                </a:ln>
                <a:effectLst/>
                <a:uLnTx/>
                <a:uFillTx/>
                <a:cs typeface="Arial"/>
                <a:sym typeface="Arial"/>
              </a:rPr>
              <a:t>other</a:t>
            </a:r>
            <a:r>
              <a:rPr kumimoji="0" lang="en-US" sz="2400" b="0" i="0" u="none" strike="noStrike" kern="0" cap="none" spc="0" normalizeH="0" baseline="0" noProof="0" dirty="0">
                <a:ln>
                  <a:noFill/>
                </a:ln>
                <a:effectLst/>
                <a:uLnTx/>
                <a:uFillTx/>
                <a:cs typeface="Arial"/>
                <a:sym typeface="Arial"/>
              </a:rPr>
              <a:t> tasks </a:t>
            </a:r>
          </a:p>
        </p:txBody>
      </p:sp>
      <p:sp>
        <p:nvSpPr>
          <p:cNvPr id="7" name="TextBox 6">
            <a:extLst>
              <a:ext uri="{FF2B5EF4-FFF2-40B4-BE49-F238E27FC236}">
                <a16:creationId xmlns:a16="http://schemas.microsoft.com/office/drawing/2014/main" id="{A1F56824-197E-19E2-3BE6-74C36759CAC8}"/>
              </a:ext>
            </a:extLst>
          </p:cNvPr>
          <p:cNvSpPr txBox="1"/>
          <p:nvPr/>
        </p:nvSpPr>
        <p:spPr>
          <a:xfrm>
            <a:off x="30996" y="5997846"/>
            <a:ext cx="12150684" cy="830997"/>
          </a:xfrm>
          <a:prstGeom prst="rect">
            <a:avLst/>
          </a:prstGeom>
          <a:noFill/>
        </p:spPr>
        <p:txBody>
          <a:bodyPr wrap="square">
            <a:spAutoFit/>
          </a:bodyPr>
          <a:lstStyle/>
          <a:p>
            <a:pPr algn="r"/>
            <a:r>
              <a:rPr lang="en-US" sz="1200" dirty="0"/>
              <a:t>R. Borgo </a:t>
            </a:r>
            <a:r>
              <a:rPr lang="en-US" sz="1200" i="1" dirty="0"/>
              <a:t>et al</a:t>
            </a:r>
            <a:r>
              <a:rPr lang="en-US" sz="1200" dirty="0"/>
              <a:t>., "An Empirical Study on Using Visual Embellishments in Visualization," in </a:t>
            </a:r>
            <a:r>
              <a:rPr lang="en-US" sz="1200" i="1" dirty="0"/>
              <a:t>IEEE Transactions on Visualization and Computer Graphics</a:t>
            </a:r>
            <a:r>
              <a:rPr lang="en-US" sz="1200" dirty="0"/>
              <a:t>, vol. 18, no. 12, pp. 2759-2768, Dec. 2012, </a:t>
            </a:r>
            <a:r>
              <a:rPr lang="en-US" sz="1200" dirty="0" err="1"/>
              <a:t>doi</a:t>
            </a:r>
            <a:r>
              <a:rPr lang="en-US" sz="1200" dirty="0"/>
              <a:t>: 10.1109/TVCG.2012.197.</a:t>
            </a:r>
            <a:endParaRPr lang="en-US" sz="1200" dirty="0">
              <a:latin typeface="+mj-lt"/>
            </a:endParaRPr>
          </a:p>
          <a:p>
            <a:pPr algn="r"/>
            <a:r>
              <a:rPr lang="en-US" sz="1200" dirty="0"/>
              <a:t>M. </a:t>
            </a:r>
            <a:r>
              <a:rPr lang="en-US" sz="1200" dirty="0" err="1"/>
              <a:t>Alebri</a:t>
            </a:r>
            <a:r>
              <a:rPr lang="en-US" sz="1200" dirty="0"/>
              <a:t>, E. Costanza, G. Panagiotidou and D. P. Brumby, "Embellishments Revisited: Perceptions of Embellished </a:t>
            </a:r>
            <a:r>
              <a:rPr lang="en-US" sz="1200" dirty="0" err="1"/>
              <a:t>Visualisations</a:t>
            </a:r>
            <a:r>
              <a:rPr lang="en-US" sz="1200" dirty="0"/>
              <a:t> Through the Viewer's Lens" in IEEE Transactions on Visualization &amp; Computer Graphics, vol. 30, no. 01, pp. 1424-1434, Jan. 2024, </a:t>
            </a:r>
            <a:r>
              <a:rPr lang="en-US" sz="1200" dirty="0" err="1"/>
              <a:t>doi</a:t>
            </a:r>
            <a:r>
              <a:rPr lang="en-US" sz="1200" dirty="0"/>
              <a:t>: 10.1109/TVCG.2023.3326914.</a:t>
            </a:r>
            <a:endParaRPr lang="en-US" sz="1200" dirty="0">
              <a:latin typeface="+mj-lt"/>
            </a:endParaRPr>
          </a:p>
        </p:txBody>
      </p:sp>
      <p:pic>
        <p:nvPicPr>
          <p:cNvPr id="5" name="Picture 4">
            <a:extLst>
              <a:ext uri="{FF2B5EF4-FFF2-40B4-BE49-F238E27FC236}">
                <a16:creationId xmlns:a16="http://schemas.microsoft.com/office/drawing/2014/main" id="{F0F2B40B-C5C3-A199-CAB6-AD441F79E8CE}"/>
              </a:ext>
            </a:extLst>
          </p:cNvPr>
          <p:cNvPicPr>
            <a:picLocks noChangeAspect="1"/>
          </p:cNvPicPr>
          <p:nvPr/>
        </p:nvPicPr>
        <p:blipFill>
          <a:blip r:embed="rId3"/>
          <a:srcRect b="50000"/>
          <a:stretch>
            <a:fillRect/>
          </a:stretch>
        </p:blipFill>
        <p:spPr>
          <a:xfrm>
            <a:off x="3640668" y="3240212"/>
            <a:ext cx="3581486" cy="2709847"/>
          </a:xfrm>
          <a:prstGeom prst="rect">
            <a:avLst/>
          </a:prstGeom>
        </p:spPr>
      </p:pic>
      <p:pic>
        <p:nvPicPr>
          <p:cNvPr id="6" name="Picture 5">
            <a:extLst>
              <a:ext uri="{FF2B5EF4-FFF2-40B4-BE49-F238E27FC236}">
                <a16:creationId xmlns:a16="http://schemas.microsoft.com/office/drawing/2014/main" id="{C664276B-2219-8D1E-271C-8EBFB67468F2}"/>
              </a:ext>
            </a:extLst>
          </p:cNvPr>
          <p:cNvPicPr>
            <a:picLocks noChangeAspect="1"/>
          </p:cNvPicPr>
          <p:nvPr/>
        </p:nvPicPr>
        <p:blipFill>
          <a:blip r:embed="rId3"/>
          <a:srcRect t="51503"/>
          <a:stretch>
            <a:fillRect/>
          </a:stretch>
        </p:blipFill>
        <p:spPr>
          <a:xfrm>
            <a:off x="7389330" y="3240212"/>
            <a:ext cx="3622263" cy="2658300"/>
          </a:xfrm>
          <a:prstGeom prst="rect">
            <a:avLst/>
          </a:prstGeom>
        </p:spPr>
      </p:pic>
    </p:spTree>
    <p:extLst>
      <p:ext uri="{BB962C8B-B14F-4D97-AF65-F5344CB8AC3E}">
        <p14:creationId xmlns:p14="http://schemas.microsoft.com/office/powerpoint/2010/main" val="23788301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F0AC5-AE78-58E5-A349-8C328DB314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22FD7C-495D-A258-B0B8-F5EF32BFA6A8}"/>
              </a:ext>
            </a:extLst>
          </p:cNvPr>
          <p:cNvSpPr>
            <a:spLocks noGrp="1"/>
          </p:cNvSpPr>
          <p:nvPr>
            <p:ph type="title"/>
          </p:nvPr>
        </p:nvSpPr>
        <p:spPr/>
        <p:txBody>
          <a:bodyPr/>
          <a:lstStyle/>
          <a:p>
            <a:r>
              <a:rPr lang="en-US" dirty="0"/>
              <a:t>Embellishment and Cognition</a:t>
            </a:r>
          </a:p>
        </p:txBody>
      </p:sp>
      <p:sp>
        <p:nvSpPr>
          <p:cNvPr id="3" name="Content Placeholder 2">
            <a:extLst>
              <a:ext uri="{FF2B5EF4-FFF2-40B4-BE49-F238E27FC236}">
                <a16:creationId xmlns:a16="http://schemas.microsoft.com/office/drawing/2014/main" id="{9AC47FF5-7A9F-E32F-C3DA-57F2439C8705}"/>
              </a:ext>
            </a:extLst>
          </p:cNvPr>
          <p:cNvSpPr>
            <a:spLocks noGrp="1"/>
          </p:cNvSpPr>
          <p:nvPr>
            <p:ph idx="1"/>
          </p:nvPr>
        </p:nvSpPr>
        <p:spPr>
          <a:xfrm>
            <a:off x="3640668" y="800670"/>
            <a:ext cx="7315200" cy="4601184"/>
          </a:xfrm>
        </p:spPr>
        <p:txBody>
          <a:bodyPr anchor="t">
            <a:normAutofit/>
          </a:bodyPr>
          <a:lstStyle/>
          <a:p>
            <a:pPr>
              <a:lnSpc>
                <a:spcPct val="100000"/>
              </a:lnSpc>
              <a:buClr>
                <a:srgbClr val="93A299"/>
              </a:buClr>
              <a:buSzPts val="2040"/>
              <a:defRPr/>
            </a:pPr>
            <a:r>
              <a:rPr lang="en-US" sz="2400" dirty="0"/>
              <a:t>Visual embellishment can negatively impact visual search, by distracting from the search target</a:t>
            </a:r>
            <a:endParaRPr kumimoji="0" lang="en-US" sz="2400" b="0" i="0" u="none" strike="noStrike" kern="0" cap="none" spc="0" normalizeH="0" baseline="0" noProof="0" dirty="0">
              <a:ln>
                <a:noFill/>
              </a:ln>
              <a:effectLst/>
              <a:uLnTx/>
              <a:uFillTx/>
              <a:cs typeface="Arial"/>
              <a:sym typeface="Arial"/>
            </a:endParaRPr>
          </a:p>
        </p:txBody>
      </p:sp>
      <p:pic>
        <p:nvPicPr>
          <p:cNvPr id="5" name="Picture 4">
            <a:extLst>
              <a:ext uri="{FF2B5EF4-FFF2-40B4-BE49-F238E27FC236}">
                <a16:creationId xmlns:a16="http://schemas.microsoft.com/office/drawing/2014/main" id="{FF744E83-02F8-BB4D-F47C-FBF6EEA90F70}"/>
              </a:ext>
            </a:extLst>
          </p:cNvPr>
          <p:cNvPicPr>
            <a:picLocks noChangeAspect="1"/>
          </p:cNvPicPr>
          <p:nvPr/>
        </p:nvPicPr>
        <p:blipFill>
          <a:blip r:embed="rId3"/>
          <a:srcRect b="49794"/>
          <a:stretch>
            <a:fillRect/>
          </a:stretch>
        </p:blipFill>
        <p:spPr>
          <a:xfrm>
            <a:off x="3666068" y="2239266"/>
            <a:ext cx="3644900" cy="3162588"/>
          </a:xfrm>
          <a:prstGeom prst="rect">
            <a:avLst/>
          </a:prstGeom>
        </p:spPr>
      </p:pic>
      <p:pic>
        <p:nvPicPr>
          <p:cNvPr id="6" name="Picture 5">
            <a:extLst>
              <a:ext uri="{FF2B5EF4-FFF2-40B4-BE49-F238E27FC236}">
                <a16:creationId xmlns:a16="http://schemas.microsoft.com/office/drawing/2014/main" id="{68A52C19-8BA3-B694-FFF7-FAD81C379F81}"/>
              </a:ext>
            </a:extLst>
          </p:cNvPr>
          <p:cNvPicPr>
            <a:picLocks noChangeAspect="1"/>
          </p:cNvPicPr>
          <p:nvPr/>
        </p:nvPicPr>
        <p:blipFill>
          <a:blip r:embed="rId3"/>
          <a:srcRect t="51625"/>
          <a:stretch>
            <a:fillRect/>
          </a:stretch>
        </p:blipFill>
        <p:spPr>
          <a:xfrm>
            <a:off x="7657106" y="2239266"/>
            <a:ext cx="3644900" cy="3047253"/>
          </a:xfrm>
          <a:prstGeom prst="rect">
            <a:avLst/>
          </a:prstGeom>
        </p:spPr>
      </p:pic>
      <p:sp>
        <p:nvSpPr>
          <p:cNvPr id="8" name="TextBox 7">
            <a:extLst>
              <a:ext uri="{FF2B5EF4-FFF2-40B4-BE49-F238E27FC236}">
                <a16:creationId xmlns:a16="http://schemas.microsoft.com/office/drawing/2014/main" id="{F17B82EA-E31A-6469-CA11-ADE1AC4D41F5}"/>
              </a:ext>
            </a:extLst>
          </p:cNvPr>
          <p:cNvSpPr txBox="1"/>
          <p:nvPr/>
        </p:nvSpPr>
        <p:spPr>
          <a:xfrm>
            <a:off x="2445852" y="6273225"/>
            <a:ext cx="9704832" cy="584775"/>
          </a:xfrm>
          <a:prstGeom prst="rect">
            <a:avLst/>
          </a:prstGeom>
          <a:noFill/>
        </p:spPr>
        <p:txBody>
          <a:bodyPr wrap="square">
            <a:spAutoFit/>
          </a:bodyPr>
          <a:lstStyle/>
          <a:p>
            <a:pPr algn="r"/>
            <a:r>
              <a:rPr lang="en-US" sz="1600" dirty="0"/>
              <a:t>R. Borgo </a:t>
            </a:r>
            <a:r>
              <a:rPr lang="en-US" sz="1600" i="1" dirty="0"/>
              <a:t>et al</a:t>
            </a:r>
            <a:r>
              <a:rPr lang="en-US" sz="1600" dirty="0"/>
              <a:t>., "An Empirical Study on Using Visual Embellishments in Visualization," in </a:t>
            </a:r>
            <a:r>
              <a:rPr lang="en-US" sz="1600" i="1" dirty="0"/>
              <a:t>IEEE Transactions on Visualization and Computer Graphics</a:t>
            </a:r>
            <a:r>
              <a:rPr lang="en-US" sz="1600" dirty="0"/>
              <a:t>, vol. 18, no. 12, pp. 2759-2768, Dec. 2012, </a:t>
            </a:r>
            <a:r>
              <a:rPr lang="en-US" sz="1600" dirty="0" err="1"/>
              <a:t>doi</a:t>
            </a:r>
            <a:r>
              <a:rPr lang="en-US" sz="1600" dirty="0"/>
              <a:t>: 10.1109/TVCG.2012.197.</a:t>
            </a:r>
            <a:endParaRPr lang="en-US" sz="1050" dirty="0">
              <a:latin typeface="+mj-lt"/>
            </a:endParaRPr>
          </a:p>
        </p:txBody>
      </p:sp>
    </p:spTree>
    <p:extLst>
      <p:ext uri="{BB962C8B-B14F-4D97-AF65-F5344CB8AC3E}">
        <p14:creationId xmlns:p14="http://schemas.microsoft.com/office/powerpoint/2010/main" val="24032141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A795A-BEAB-0619-95EB-0D77E17BFD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56E95D-297E-748C-99CA-C2141F73637A}"/>
              </a:ext>
            </a:extLst>
          </p:cNvPr>
          <p:cNvSpPr>
            <a:spLocks noGrp="1"/>
          </p:cNvSpPr>
          <p:nvPr>
            <p:ph type="title"/>
          </p:nvPr>
        </p:nvSpPr>
        <p:spPr/>
        <p:txBody>
          <a:bodyPr/>
          <a:lstStyle/>
          <a:p>
            <a:r>
              <a:rPr lang="en-US" dirty="0"/>
              <a:t>Embellishment and Reader Preference</a:t>
            </a:r>
          </a:p>
        </p:txBody>
      </p:sp>
      <p:sp>
        <p:nvSpPr>
          <p:cNvPr id="3" name="Content Placeholder 2">
            <a:extLst>
              <a:ext uri="{FF2B5EF4-FFF2-40B4-BE49-F238E27FC236}">
                <a16:creationId xmlns:a16="http://schemas.microsoft.com/office/drawing/2014/main" id="{E7D0A2A5-505C-411D-62EF-F6FEB1159FBE}"/>
              </a:ext>
            </a:extLst>
          </p:cNvPr>
          <p:cNvSpPr>
            <a:spLocks noGrp="1"/>
          </p:cNvSpPr>
          <p:nvPr>
            <p:ph idx="1"/>
          </p:nvPr>
        </p:nvSpPr>
        <p:spPr>
          <a:xfrm>
            <a:off x="3640668" y="800670"/>
            <a:ext cx="7315200" cy="4601184"/>
          </a:xfrm>
        </p:spPr>
        <p:txBody>
          <a:bodyPr anchor="t">
            <a:normAutofit/>
          </a:bodyPr>
          <a:lstStyle/>
          <a:p>
            <a:pPr>
              <a:lnSpc>
                <a:spcPct val="100000"/>
              </a:lnSpc>
              <a:buClr>
                <a:srgbClr val="93A299"/>
              </a:buClr>
              <a:buSzPts val="2040"/>
              <a:defRPr/>
            </a:pPr>
            <a:r>
              <a:rPr kumimoji="0" lang="en-US" sz="2400" b="0" i="0" u="none" strike="noStrike" kern="0" cap="none" spc="0" normalizeH="0" baseline="0" noProof="0" dirty="0">
                <a:ln>
                  <a:noFill/>
                </a:ln>
                <a:effectLst/>
                <a:uLnTx/>
                <a:uFillTx/>
                <a:cs typeface="Arial"/>
                <a:sym typeface="Arial"/>
              </a:rPr>
              <a:t>Readers tend to rate embellished charts as preferable</a:t>
            </a:r>
          </a:p>
        </p:txBody>
      </p:sp>
      <p:pic>
        <p:nvPicPr>
          <p:cNvPr id="8" name="Picture 7">
            <a:extLst>
              <a:ext uri="{FF2B5EF4-FFF2-40B4-BE49-F238E27FC236}">
                <a16:creationId xmlns:a16="http://schemas.microsoft.com/office/drawing/2014/main" id="{4BA00A39-2634-3709-5C31-3F477DBC1380}"/>
              </a:ext>
            </a:extLst>
          </p:cNvPr>
          <p:cNvPicPr>
            <a:picLocks noChangeAspect="1"/>
          </p:cNvPicPr>
          <p:nvPr/>
        </p:nvPicPr>
        <p:blipFill>
          <a:blip r:embed="rId3"/>
          <a:stretch>
            <a:fillRect/>
          </a:stretch>
        </p:blipFill>
        <p:spPr>
          <a:xfrm>
            <a:off x="4233800" y="1339911"/>
            <a:ext cx="6211570" cy="4981317"/>
          </a:xfrm>
          <a:prstGeom prst="rect">
            <a:avLst/>
          </a:prstGeom>
        </p:spPr>
      </p:pic>
      <p:sp>
        <p:nvSpPr>
          <p:cNvPr id="10" name="TextBox 9">
            <a:extLst>
              <a:ext uri="{FF2B5EF4-FFF2-40B4-BE49-F238E27FC236}">
                <a16:creationId xmlns:a16="http://schemas.microsoft.com/office/drawing/2014/main" id="{33E0D608-ABEA-80CC-EC4D-2341D326C865}"/>
              </a:ext>
            </a:extLst>
          </p:cNvPr>
          <p:cNvSpPr txBox="1"/>
          <p:nvPr/>
        </p:nvSpPr>
        <p:spPr>
          <a:xfrm>
            <a:off x="252919" y="6321228"/>
            <a:ext cx="11939081" cy="646331"/>
          </a:xfrm>
          <a:prstGeom prst="rect">
            <a:avLst/>
          </a:prstGeom>
          <a:noFill/>
        </p:spPr>
        <p:txBody>
          <a:bodyPr wrap="square">
            <a:spAutoFit/>
          </a:bodyPr>
          <a:lstStyle/>
          <a:p>
            <a:r>
              <a:rPr lang="en-US" sz="1200" b="0" i="0" dirty="0">
                <a:solidFill>
                  <a:srgbClr val="333333"/>
                </a:solidFill>
                <a:effectLst/>
                <a:latin typeface="+mj-lt"/>
              </a:rPr>
              <a:t>Tiffany Andry, Christophe Hurter, François </a:t>
            </a:r>
            <a:r>
              <a:rPr lang="en-US" sz="1200" b="0" i="0" dirty="0" err="1">
                <a:solidFill>
                  <a:srgbClr val="333333"/>
                </a:solidFill>
                <a:effectLst/>
                <a:latin typeface="+mj-lt"/>
              </a:rPr>
              <a:t>Lambotte</a:t>
            </a:r>
            <a:r>
              <a:rPr lang="en-US" sz="1200" b="0" i="0" dirty="0">
                <a:solidFill>
                  <a:srgbClr val="333333"/>
                </a:solidFill>
                <a:effectLst/>
                <a:latin typeface="+mj-lt"/>
              </a:rPr>
              <a:t>, Pierre </a:t>
            </a:r>
            <a:r>
              <a:rPr lang="en-US" sz="1200" b="0" i="0" dirty="0" err="1">
                <a:solidFill>
                  <a:srgbClr val="333333"/>
                </a:solidFill>
                <a:effectLst/>
                <a:latin typeface="+mj-lt"/>
              </a:rPr>
              <a:t>Fastrez</a:t>
            </a:r>
            <a:r>
              <a:rPr lang="en-US" sz="1200" b="0" i="0" dirty="0">
                <a:solidFill>
                  <a:srgbClr val="333333"/>
                </a:solidFill>
                <a:effectLst/>
                <a:latin typeface="+mj-lt"/>
              </a:rPr>
              <a:t>, and Alexandru </a:t>
            </a:r>
            <a:r>
              <a:rPr lang="en-US" sz="1200" b="0" i="0" dirty="0" err="1">
                <a:solidFill>
                  <a:srgbClr val="333333"/>
                </a:solidFill>
                <a:effectLst/>
                <a:latin typeface="+mj-lt"/>
              </a:rPr>
              <a:t>Telea</a:t>
            </a:r>
            <a:r>
              <a:rPr lang="en-US" sz="1200" b="0" i="0" dirty="0">
                <a:solidFill>
                  <a:srgbClr val="333333"/>
                </a:solidFill>
                <a:effectLst/>
                <a:latin typeface="+mj-lt"/>
              </a:rPr>
              <a:t>. 2021. Interpreting the Effect of Embellishment on Chart Visualizations. In Proceedings of the 2021 CHI Conference on Human Factors in Computing Systems (CHI '21). Association for Computing Machinery, New York, NY, USA, Article 613, 1–15. </a:t>
            </a:r>
            <a:r>
              <a:rPr lang="en-US" sz="1200" b="0" i="0" dirty="0">
                <a:solidFill>
                  <a:srgbClr val="333333"/>
                </a:solidFill>
                <a:effectLst/>
                <a:latin typeface="+mj-lt"/>
                <a:hlinkClick r:id="rId4"/>
              </a:rPr>
              <a:t>https://doi.org/10.1145/3411764.3445739</a:t>
            </a:r>
            <a:endParaRPr lang="en-US" sz="1200" b="0" i="0" dirty="0">
              <a:solidFill>
                <a:srgbClr val="333333"/>
              </a:solidFill>
              <a:effectLst/>
              <a:latin typeface="+mj-lt"/>
            </a:endParaRPr>
          </a:p>
          <a:p>
            <a:endParaRPr lang="en-US" sz="1200" dirty="0">
              <a:solidFill>
                <a:srgbClr val="333333"/>
              </a:solidFill>
              <a:highlight>
                <a:srgbClr val="FFFF00"/>
              </a:highlight>
              <a:latin typeface="+mj-lt"/>
            </a:endParaRPr>
          </a:p>
        </p:txBody>
      </p:sp>
    </p:spTree>
    <p:extLst>
      <p:ext uri="{BB962C8B-B14F-4D97-AF65-F5344CB8AC3E}">
        <p14:creationId xmlns:p14="http://schemas.microsoft.com/office/powerpoint/2010/main" val="25554590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5DF51-E779-D6DC-9498-1EBC6D0F4A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4A550A-A5C5-F17C-7D92-C148BD1E6FA0}"/>
              </a:ext>
            </a:extLst>
          </p:cNvPr>
          <p:cNvSpPr>
            <a:spLocks noGrp="1"/>
          </p:cNvSpPr>
          <p:nvPr>
            <p:ph type="title"/>
          </p:nvPr>
        </p:nvSpPr>
        <p:spPr/>
        <p:txBody>
          <a:bodyPr/>
          <a:lstStyle/>
          <a:p>
            <a:r>
              <a:rPr lang="en-US" dirty="0"/>
              <a:t>Embellishment and Time</a:t>
            </a:r>
          </a:p>
        </p:txBody>
      </p:sp>
      <p:sp>
        <p:nvSpPr>
          <p:cNvPr id="3" name="Content Placeholder 2">
            <a:extLst>
              <a:ext uri="{FF2B5EF4-FFF2-40B4-BE49-F238E27FC236}">
                <a16:creationId xmlns:a16="http://schemas.microsoft.com/office/drawing/2014/main" id="{9E2728A9-7F39-DC00-CB1D-C4B43F1A9ADC}"/>
              </a:ext>
            </a:extLst>
          </p:cNvPr>
          <p:cNvSpPr>
            <a:spLocks noGrp="1"/>
          </p:cNvSpPr>
          <p:nvPr>
            <p:ph idx="1"/>
          </p:nvPr>
        </p:nvSpPr>
        <p:spPr>
          <a:xfrm>
            <a:off x="3640668" y="800670"/>
            <a:ext cx="7315200" cy="4601184"/>
          </a:xfrm>
        </p:spPr>
        <p:txBody>
          <a:bodyPr anchor="t">
            <a:normAutofit/>
          </a:bodyPr>
          <a:lstStyle/>
          <a:p>
            <a:pPr>
              <a:lnSpc>
                <a:spcPct val="100000"/>
              </a:lnSpc>
              <a:buClr>
                <a:srgbClr val="93A299"/>
              </a:buClr>
              <a:buSzPts val="2040"/>
              <a:defRPr/>
            </a:pPr>
            <a:r>
              <a:rPr kumimoji="0" lang="en-US" sz="2400" b="0" i="0" u="none" strike="noStrike" kern="0" cap="none" spc="0" normalizeH="0" baseline="0" noProof="0" dirty="0">
                <a:ln>
                  <a:noFill/>
                </a:ln>
                <a:effectLst/>
                <a:uLnTx/>
                <a:uFillTx/>
                <a:cs typeface="Arial"/>
                <a:sym typeface="Arial"/>
              </a:rPr>
              <a:t>Embellishment affects response time</a:t>
            </a:r>
          </a:p>
        </p:txBody>
      </p:sp>
      <p:pic>
        <p:nvPicPr>
          <p:cNvPr id="9" name="Picture 8">
            <a:extLst>
              <a:ext uri="{FF2B5EF4-FFF2-40B4-BE49-F238E27FC236}">
                <a16:creationId xmlns:a16="http://schemas.microsoft.com/office/drawing/2014/main" id="{8D63418A-82A9-A1B8-DCD2-88C367DC10B2}"/>
              </a:ext>
            </a:extLst>
          </p:cNvPr>
          <p:cNvPicPr>
            <a:picLocks noChangeAspect="1"/>
          </p:cNvPicPr>
          <p:nvPr/>
        </p:nvPicPr>
        <p:blipFill>
          <a:blip r:embed="rId3"/>
          <a:stretch>
            <a:fillRect/>
          </a:stretch>
        </p:blipFill>
        <p:spPr>
          <a:xfrm>
            <a:off x="4226485" y="1456146"/>
            <a:ext cx="6616700" cy="3543300"/>
          </a:xfrm>
          <a:prstGeom prst="rect">
            <a:avLst/>
          </a:prstGeom>
        </p:spPr>
      </p:pic>
      <p:sp>
        <p:nvSpPr>
          <p:cNvPr id="10" name="TextBox 9">
            <a:extLst>
              <a:ext uri="{FF2B5EF4-FFF2-40B4-BE49-F238E27FC236}">
                <a16:creationId xmlns:a16="http://schemas.microsoft.com/office/drawing/2014/main" id="{07CD3F8F-4A87-7C11-D5D3-6C56D5E44D65}"/>
              </a:ext>
            </a:extLst>
          </p:cNvPr>
          <p:cNvSpPr txBox="1"/>
          <p:nvPr/>
        </p:nvSpPr>
        <p:spPr>
          <a:xfrm>
            <a:off x="2445852" y="6273225"/>
            <a:ext cx="9704832" cy="584775"/>
          </a:xfrm>
          <a:prstGeom prst="rect">
            <a:avLst/>
          </a:prstGeom>
          <a:noFill/>
        </p:spPr>
        <p:txBody>
          <a:bodyPr wrap="square">
            <a:spAutoFit/>
          </a:bodyPr>
          <a:lstStyle/>
          <a:p>
            <a:pPr algn="r"/>
            <a:r>
              <a:rPr lang="en-US" sz="1600" dirty="0"/>
              <a:t>R. Borgo </a:t>
            </a:r>
            <a:r>
              <a:rPr lang="en-US" sz="1600" i="1" dirty="0"/>
              <a:t>et al</a:t>
            </a:r>
            <a:r>
              <a:rPr lang="en-US" sz="1600" dirty="0"/>
              <a:t>., "An Empirical Study on Using Visual Embellishments in Visualization," in </a:t>
            </a:r>
            <a:r>
              <a:rPr lang="en-US" sz="1600" i="1" dirty="0"/>
              <a:t>IEEE Transactions on Visualization and Computer Graphics</a:t>
            </a:r>
            <a:r>
              <a:rPr lang="en-US" sz="1600" dirty="0"/>
              <a:t>, vol. 18, no. 12, pp. 2759-2768, Dec. 2012, </a:t>
            </a:r>
            <a:r>
              <a:rPr lang="en-US" sz="1600" dirty="0" err="1"/>
              <a:t>doi</a:t>
            </a:r>
            <a:r>
              <a:rPr lang="en-US" sz="1600" dirty="0"/>
              <a:t>: 10.1109/TVCG.2012.197.</a:t>
            </a:r>
            <a:endParaRPr lang="en-US" sz="1050" dirty="0">
              <a:latin typeface="+mj-lt"/>
            </a:endParaRPr>
          </a:p>
        </p:txBody>
      </p:sp>
      <p:sp>
        <p:nvSpPr>
          <p:cNvPr id="11" name="TextBox 10">
            <a:extLst>
              <a:ext uri="{FF2B5EF4-FFF2-40B4-BE49-F238E27FC236}">
                <a16:creationId xmlns:a16="http://schemas.microsoft.com/office/drawing/2014/main" id="{BB1A7EF4-9BA4-1732-37E5-E46933222955}"/>
              </a:ext>
            </a:extLst>
          </p:cNvPr>
          <p:cNvSpPr txBox="1"/>
          <p:nvPr/>
        </p:nvSpPr>
        <p:spPr>
          <a:xfrm>
            <a:off x="3751093" y="5372226"/>
            <a:ext cx="7645042" cy="461665"/>
          </a:xfrm>
          <a:prstGeom prst="rect">
            <a:avLst/>
          </a:prstGeom>
          <a:noFill/>
        </p:spPr>
        <p:txBody>
          <a:bodyPr wrap="none" rtlCol="0">
            <a:spAutoFit/>
          </a:bodyPr>
          <a:lstStyle/>
          <a:p>
            <a:r>
              <a:rPr lang="en-US" sz="2400" dirty="0"/>
              <a:t>When might longer response time be positive vs. negative?</a:t>
            </a:r>
          </a:p>
        </p:txBody>
      </p:sp>
    </p:spTree>
    <p:extLst>
      <p:ext uri="{BB962C8B-B14F-4D97-AF65-F5344CB8AC3E}">
        <p14:creationId xmlns:p14="http://schemas.microsoft.com/office/powerpoint/2010/main" val="1708629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1B17D-E87F-82B3-07E4-6E3DA0CD57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1F74F4-01E2-3D3F-DE6A-139E55393AE5}"/>
              </a:ext>
            </a:extLst>
          </p:cNvPr>
          <p:cNvSpPr>
            <a:spLocks noGrp="1"/>
          </p:cNvSpPr>
          <p:nvPr>
            <p:ph type="title"/>
          </p:nvPr>
        </p:nvSpPr>
        <p:spPr/>
        <p:txBody>
          <a:bodyPr/>
          <a:lstStyle/>
          <a:p>
            <a:r>
              <a:rPr lang="en-US" dirty="0"/>
              <a:t>Embellishment and Engagement</a:t>
            </a:r>
          </a:p>
        </p:txBody>
      </p:sp>
      <p:sp>
        <p:nvSpPr>
          <p:cNvPr id="3" name="Content Placeholder 2">
            <a:extLst>
              <a:ext uri="{FF2B5EF4-FFF2-40B4-BE49-F238E27FC236}">
                <a16:creationId xmlns:a16="http://schemas.microsoft.com/office/drawing/2014/main" id="{3158AC11-C904-B356-BC3A-1C6F5AA5DB6E}"/>
              </a:ext>
            </a:extLst>
          </p:cNvPr>
          <p:cNvSpPr>
            <a:spLocks noGrp="1"/>
          </p:cNvSpPr>
          <p:nvPr>
            <p:ph idx="1"/>
          </p:nvPr>
        </p:nvSpPr>
        <p:spPr>
          <a:xfrm>
            <a:off x="3640668" y="800670"/>
            <a:ext cx="7315200" cy="4601184"/>
          </a:xfrm>
        </p:spPr>
        <p:txBody>
          <a:bodyPr anchor="t">
            <a:normAutofit/>
          </a:bodyPr>
          <a:lstStyle/>
          <a:p>
            <a:pPr>
              <a:lnSpc>
                <a:spcPct val="100000"/>
              </a:lnSpc>
              <a:buClr>
                <a:srgbClr val="93A299"/>
              </a:buClr>
              <a:buSzPts val="2040"/>
              <a:defRPr/>
            </a:pPr>
            <a:r>
              <a:rPr kumimoji="0" lang="en-US" sz="2400" b="0" i="0" u="none" strike="noStrike" kern="0" cap="none" spc="0" normalizeH="0" baseline="0" noProof="0" dirty="0">
                <a:ln>
                  <a:noFill/>
                </a:ln>
                <a:effectLst/>
                <a:uLnTx/>
                <a:uFillTx/>
                <a:cs typeface="Arial"/>
                <a:sym typeface="Arial"/>
              </a:rPr>
              <a:t>When engagement is measured via insights, embellished and simple charts are found to have similar levels </a:t>
            </a:r>
          </a:p>
          <a:p>
            <a:pPr>
              <a:lnSpc>
                <a:spcPct val="100000"/>
              </a:lnSpc>
              <a:buClr>
                <a:srgbClr val="93A299"/>
              </a:buClr>
              <a:buSzPts val="2040"/>
              <a:defRPr/>
            </a:pPr>
            <a:r>
              <a:rPr lang="en-US" sz="2400" kern="0" dirty="0">
                <a:cs typeface="Arial"/>
                <a:sym typeface="Arial"/>
              </a:rPr>
              <a:t>Interviews show embellishment is associated with enticement, and people like visualizations that look “picture-like” </a:t>
            </a:r>
          </a:p>
          <a:p>
            <a:pPr>
              <a:lnSpc>
                <a:spcPct val="100000"/>
              </a:lnSpc>
              <a:buClr>
                <a:srgbClr val="93A299"/>
              </a:buClr>
              <a:buSzPts val="2040"/>
              <a:defRPr/>
            </a:pPr>
            <a:endParaRPr kumimoji="0" lang="en-US" sz="2400" b="0" i="0" u="none" strike="noStrike" kern="0" cap="none" spc="0" normalizeH="0" baseline="0" noProof="0" dirty="0">
              <a:ln>
                <a:noFill/>
              </a:ln>
              <a:effectLst/>
              <a:uLnTx/>
              <a:uFillTx/>
              <a:cs typeface="Arial"/>
              <a:sym typeface="Arial"/>
            </a:endParaRPr>
          </a:p>
        </p:txBody>
      </p:sp>
      <p:sp>
        <p:nvSpPr>
          <p:cNvPr id="4" name="TextBox 3">
            <a:extLst>
              <a:ext uri="{FF2B5EF4-FFF2-40B4-BE49-F238E27FC236}">
                <a16:creationId xmlns:a16="http://schemas.microsoft.com/office/drawing/2014/main" id="{44D241B4-41F5-A94A-84E1-D9FAB5AAAD2B}"/>
              </a:ext>
            </a:extLst>
          </p:cNvPr>
          <p:cNvSpPr txBox="1"/>
          <p:nvPr/>
        </p:nvSpPr>
        <p:spPr>
          <a:xfrm>
            <a:off x="3640668" y="5725020"/>
            <a:ext cx="8551332" cy="1015663"/>
          </a:xfrm>
          <a:prstGeom prst="rect">
            <a:avLst/>
          </a:prstGeom>
          <a:noFill/>
        </p:spPr>
        <p:txBody>
          <a:bodyPr wrap="square">
            <a:spAutoFit/>
          </a:bodyPr>
          <a:lstStyle/>
          <a:p>
            <a:pPr algn="r"/>
            <a:r>
              <a:rPr lang="en-US" sz="1200" dirty="0"/>
              <a:t>M. </a:t>
            </a:r>
            <a:r>
              <a:rPr lang="en-US" sz="1200" dirty="0" err="1"/>
              <a:t>Alebri</a:t>
            </a:r>
            <a:r>
              <a:rPr lang="en-US" sz="1200" dirty="0"/>
              <a:t>, E. Costanza, G. Panagiotidou and D. P. Brumby, "Embellishments Revisited: Perceptions of Embellished </a:t>
            </a:r>
            <a:r>
              <a:rPr lang="en-US" sz="1200" dirty="0" err="1"/>
              <a:t>Visualisations</a:t>
            </a:r>
            <a:r>
              <a:rPr lang="en-US" sz="1200" dirty="0"/>
              <a:t> Through the Viewer's Lens" in IEEE TVCG, vol. 30, no. 01, pp. 1424-1434, Jan. 2024, </a:t>
            </a:r>
            <a:r>
              <a:rPr lang="en-US" sz="1200" dirty="0" err="1"/>
              <a:t>doi</a:t>
            </a:r>
            <a:r>
              <a:rPr lang="en-US" sz="1200" dirty="0"/>
              <a:t>: 10.1109/TVCG.2023.3326914.</a:t>
            </a:r>
          </a:p>
          <a:p>
            <a:pPr algn="r"/>
            <a:r>
              <a:rPr lang="en-US" sz="1200" dirty="0"/>
              <a:t>V. Braun and Victoria Clarke. Thematic Analysis A Practical Guide. Sage, first ed., 2021. </a:t>
            </a:r>
            <a:r>
              <a:rPr lang="en-US" sz="1200" dirty="0" err="1"/>
              <a:t>doi</a:t>
            </a:r>
            <a:r>
              <a:rPr lang="en-US" sz="1200" dirty="0"/>
              <a:t>: 10.1177/1035719X21105825</a:t>
            </a:r>
          </a:p>
          <a:p>
            <a:pPr algn="r"/>
            <a:r>
              <a:rPr lang="en-US" sz="1200" dirty="0"/>
              <a:t>A. Vande </a:t>
            </a:r>
            <a:r>
              <a:rPr lang="en-US" sz="1200" dirty="0" err="1"/>
              <a:t>Moere</a:t>
            </a:r>
            <a:r>
              <a:rPr lang="en-US" sz="1200" dirty="0"/>
              <a:t>, M. </a:t>
            </a:r>
            <a:r>
              <a:rPr lang="en-US" sz="1200" dirty="0" err="1"/>
              <a:t>Tomitsch</a:t>
            </a:r>
            <a:r>
              <a:rPr lang="en-US" sz="1200" dirty="0"/>
              <a:t>, C. Wimmer, B. Christoph, and T. </a:t>
            </a:r>
            <a:r>
              <a:rPr lang="en-US" sz="1200" dirty="0" err="1"/>
              <a:t>Grechenig</a:t>
            </a:r>
            <a:r>
              <a:rPr lang="en-US" sz="1200" dirty="0"/>
              <a:t>. Evaluating the Effect of Style in Information Visualization. IEEE TVCG, 18(12):2739– 2748, 2012. </a:t>
            </a:r>
            <a:r>
              <a:rPr lang="en-US" sz="1200" dirty="0" err="1"/>
              <a:t>doi</a:t>
            </a:r>
            <a:r>
              <a:rPr lang="en-US" sz="1200" dirty="0"/>
              <a:t>: 10.1109/TVCG.2012.221 </a:t>
            </a:r>
            <a:endParaRPr lang="en-US" sz="1200" dirty="0">
              <a:latin typeface="+mj-lt"/>
            </a:endParaRPr>
          </a:p>
        </p:txBody>
      </p:sp>
      <p:pic>
        <p:nvPicPr>
          <p:cNvPr id="5" name="Picture 4">
            <a:extLst>
              <a:ext uri="{FF2B5EF4-FFF2-40B4-BE49-F238E27FC236}">
                <a16:creationId xmlns:a16="http://schemas.microsoft.com/office/drawing/2014/main" id="{4C8645D2-ECF0-8C57-A167-D9CC3C42A5E1}"/>
              </a:ext>
            </a:extLst>
          </p:cNvPr>
          <p:cNvPicPr>
            <a:picLocks noChangeAspect="1"/>
          </p:cNvPicPr>
          <p:nvPr/>
        </p:nvPicPr>
        <p:blipFill>
          <a:blip r:embed="rId3"/>
          <a:stretch>
            <a:fillRect/>
          </a:stretch>
        </p:blipFill>
        <p:spPr>
          <a:xfrm>
            <a:off x="3552270" y="3346723"/>
            <a:ext cx="2543730" cy="1873423"/>
          </a:xfrm>
          <a:prstGeom prst="rect">
            <a:avLst/>
          </a:prstGeom>
        </p:spPr>
      </p:pic>
      <p:pic>
        <p:nvPicPr>
          <p:cNvPr id="6" name="Picture 5">
            <a:extLst>
              <a:ext uri="{FF2B5EF4-FFF2-40B4-BE49-F238E27FC236}">
                <a16:creationId xmlns:a16="http://schemas.microsoft.com/office/drawing/2014/main" id="{E48C1C0A-F1B7-7E20-29E3-C30E195C9515}"/>
              </a:ext>
            </a:extLst>
          </p:cNvPr>
          <p:cNvPicPr>
            <a:picLocks noChangeAspect="1"/>
          </p:cNvPicPr>
          <p:nvPr/>
        </p:nvPicPr>
        <p:blipFill>
          <a:blip r:embed="rId4"/>
          <a:stretch>
            <a:fillRect/>
          </a:stretch>
        </p:blipFill>
        <p:spPr>
          <a:xfrm>
            <a:off x="9433411" y="3100809"/>
            <a:ext cx="2124573" cy="2365247"/>
          </a:xfrm>
          <a:prstGeom prst="rect">
            <a:avLst/>
          </a:prstGeom>
        </p:spPr>
      </p:pic>
      <p:pic>
        <p:nvPicPr>
          <p:cNvPr id="7" name="Picture 6">
            <a:extLst>
              <a:ext uri="{FF2B5EF4-FFF2-40B4-BE49-F238E27FC236}">
                <a16:creationId xmlns:a16="http://schemas.microsoft.com/office/drawing/2014/main" id="{4F540F86-B7AB-C119-57B0-05E69D2F7FC6}"/>
              </a:ext>
            </a:extLst>
          </p:cNvPr>
          <p:cNvPicPr>
            <a:picLocks noChangeAspect="1"/>
          </p:cNvPicPr>
          <p:nvPr/>
        </p:nvPicPr>
        <p:blipFill>
          <a:blip r:embed="rId5"/>
          <a:stretch>
            <a:fillRect/>
          </a:stretch>
        </p:blipFill>
        <p:spPr>
          <a:xfrm>
            <a:off x="6142684" y="3259290"/>
            <a:ext cx="3244043" cy="2048287"/>
          </a:xfrm>
          <a:prstGeom prst="rect">
            <a:avLst/>
          </a:prstGeom>
        </p:spPr>
      </p:pic>
    </p:spTree>
    <p:extLst>
      <p:ext uri="{BB962C8B-B14F-4D97-AF65-F5344CB8AC3E}">
        <p14:creationId xmlns:p14="http://schemas.microsoft.com/office/powerpoint/2010/main" val="30775884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F6761-A8C6-B96E-BC47-C45EB63C7A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B52B66-DC2C-5F3D-66DC-C7AFDC532A6A}"/>
              </a:ext>
            </a:extLst>
          </p:cNvPr>
          <p:cNvSpPr>
            <a:spLocks noGrp="1"/>
          </p:cNvSpPr>
          <p:nvPr>
            <p:ph type="title"/>
          </p:nvPr>
        </p:nvSpPr>
        <p:spPr/>
        <p:txBody>
          <a:bodyPr/>
          <a:lstStyle/>
          <a:p>
            <a:r>
              <a:rPr lang="en-US" dirty="0"/>
              <a:t>Embellishment and Seriousness</a:t>
            </a:r>
          </a:p>
        </p:txBody>
      </p:sp>
      <p:sp>
        <p:nvSpPr>
          <p:cNvPr id="3" name="Content Placeholder 2">
            <a:extLst>
              <a:ext uri="{FF2B5EF4-FFF2-40B4-BE49-F238E27FC236}">
                <a16:creationId xmlns:a16="http://schemas.microsoft.com/office/drawing/2014/main" id="{19E3E4AD-BD9B-B64A-D8CC-8EF26487C88D}"/>
              </a:ext>
            </a:extLst>
          </p:cNvPr>
          <p:cNvSpPr>
            <a:spLocks noGrp="1"/>
          </p:cNvSpPr>
          <p:nvPr>
            <p:ph idx="1"/>
          </p:nvPr>
        </p:nvSpPr>
        <p:spPr>
          <a:xfrm>
            <a:off x="3640668" y="800670"/>
            <a:ext cx="7315200" cy="4601184"/>
          </a:xfrm>
        </p:spPr>
        <p:txBody>
          <a:bodyPr anchor="t">
            <a:normAutofit/>
          </a:bodyPr>
          <a:lstStyle/>
          <a:p>
            <a:pPr>
              <a:lnSpc>
                <a:spcPct val="100000"/>
              </a:lnSpc>
              <a:buClr>
                <a:srgbClr val="93A299"/>
              </a:buClr>
              <a:buSzPts val="2040"/>
              <a:defRPr/>
            </a:pPr>
            <a:r>
              <a:rPr lang="en-US" sz="2400" kern="0" dirty="0">
                <a:cs typeface="Arial"/>
                <a:sym typeface="Arial"/>
              </a:rPr>
              <a:t>Some viewers feel that embellished visualizations underestimate their ability to read a visualization and are patronizing </a:t>
            </a:r>
          </a:p>
          <a:p>
            <a:pPr>
              <a:lnSpc>
                <a:spcPct val="100000"/>
              </a:lnSpc>
              <a:buClr>
                <a:srgbClr val="93A299"/>
              </a:buClr>
              <a:buSzPts val="2040"/>
              <a:defRPr/>
            </a:pPr>
            <a:endParaRPr lang="en-US" sz="2400" kern="0" dirty="0">
              <a:cs typeface="Arial"/>
              <a:sym typeface="Arial"/>
            </a:endParaRPr>
          </a:p>
        </p:txBody>
      </p:sp>
      <p:sp>
        <p:nvSpPr>
          <p:cNvPr id="10" name="TextBox 9">
            <a:extLst>
              <a:ext uri="{FF2B5EF4-FFF2-40B4-BE49-F238E27FC236}">
                <a16:creationId xmlns:a16="http://schemas.microsoft.com/office/drawing/2014/main" id="{9BAC4F3F-EEA6-1235-8C0A-9AAE6F5BD3CC}"/>
              </a:ext>
            </a:extLst>
          </p:cNvPr>
          <p:cNvSpPr txBox="1"/>
          <p:nvPr/>
        </p:nvSpPr>
        <p:spPr>
          <a:xfrm>
            <a:off x="2231757" y="6351153"/>
            <a:ext cx="9929247" cy="461665"/>
          </a:xfrm>
          <a:prstGeom prst="rect">
            <a:avLst/>
          </a:prstGeom>
          <a:noFill/>
        </p:spPr>
        <p:txBody>
          <a:bodyPr wrap="square">
            <a:spAutoFit/>
          </a:bodyPr>
          <a:lstStyle/>
          <a:p>
            <a:pPr algn="r"/>
            <a:r>
              <a:rPr lang="en-US" sz="1200" dirty="0"/>
              <a:t>M. </a:t>
            </a:r>
            <a:r>
              <a:rPr lang="en-US" sz="1200" dirty="0" err="1"/>
              <a:t>Alebri</a:t>
            </a:r>
            <a:r>
              <a:rPr lang="en-US" sz="1200" dirty="0"/>
              <a:t>, E. Costanza, G. Panagiotidou and D. P. Brumby, "Embellishments Revisited: Perceptions of Embellished </a:t>
            </a:r>
            <a:r>
              <a:rPr lang="en-US" sz="1200" dirty="0" err="1"/>
              <a:t>Visualisations</a:t>
            </a:r>
            <a:r>
              <a:rPr lang="en-US" sz="1200" dirty="0"/>
              <a:t> Through the Viewer's Lens" in IEEE Transactions on Visualization &amp; Computer Graphics, vol. 30, no. 01, pp. 1424-1434, Jan. 2024, </a:t>
            </a:r>
            <a:r>
              <a:rPr lang="en-US" sz="1200" dirty="0" err="1"/>
              <a:t>doi</a:t>
            </a:r>
            <a:r>
              <a:rPr lang="en-US" sz="1200" dirty="0"/>
              <a:t>: 10.1109/TVCG.2023.3326914.</a:t>
            </a:r>
            <a:endParaRPr lang="en-US" sz="1200" dirty="0">
              <a:latin typeface="+mj-lt"/>
            </a:endParaRPr>
          </a:p>
        </p:txBody>
      </p:sp>
      <p:pic>
        <p:nvPicPr>
          <p:cNvPr id="4" name="Picture 3">
            <a:extLst>
              <a:ext uri="{FF2B5EF4-FFF2-40B4-BE49-F238E27FC236}">
                <a16:creationId xmlns:a16="http://schemas.microsoft.com/office/drawing/2014/main" id="{0E050BF9-5440-C704-68E3-7CB40F362036}"/>
              </a:ext>
            </a:extLst>
          </p:cNvPr>
          <p:cNvPicPr>
            <a:picLocks noChangeAspect="1"/>
          </p:cNvPicPr>
          <p:nvPr/>
        </p:nvPicPr>
        <p:blipFill>
          <a:blip r:embed="rId3"/>
          <a:stretch>
            <a:fillRect/>
          </a:stretch>
        </p:blipFill>
        <p:spPr>
          <a:xfrm>
            <a:off x="3552270" y="2982040"/>
            <a:ext cx="2543730" cy="1873423"/>
          </a:xfrm>
          <a:prstGeom prst="rect">
            <a:avLst/>
          </a:prstGeom>
        </p:spPr>
      </p:pic>
      <p:pic>
        <p:nvPicPr>
          <p:cNvPr id="5" name="Picture 4">
            <a:extLst>
              <a:ext uri="{FF2B5EF4-FFF2-40B4-BE49-F238E27FC236}">
                <a16:creationId xmlns:a16="http://schemas.microsoft.com/office/drawing/2014/main" id="{0168D01C-BC60-B706-471C-7DBE808A71AD}"/>
              </a:ext>
            </a:extLst>
          </p:cNvPr>
          <p:cNvPicPr>
            <a:picLocks noChangeAspect="1"/>
          </p:cNvPicPr>
          <p:nvPr/>
        </p:nvPicPr>
        <p:blipFill>
          <a:blip r:embed="rId4"/>
          <a:stretch>
            <a:fillRect/>
          </a:stretch>
        </p:blipFill>
        <p:spPr>
          <a:xfrm>
            <a:off x="9433411" y="2736126"/>
            <a:ext cx="2124573" cy="2365247"/>
          </a:xfrm>
          <a:prstGeom prst="rect">
            <a:avLst/>
          </a:prstGeom>
        </p:spPr>
      </p:pic>
      <p:pic>
        <p:nvPicPr>
          <p:cNvPr id="6" name="Picture 5">
            <a:extLst>
              <a:ext uri="{FF2B5EF4-FFF2-40B4-BE49-F238E27FC236}">
                <a16:creationId xmlns:a16="http://schemas.microsoft.com/office/drawing/2014/main" id="{73E0A824-9581-947D-E846-B10CADAD9F15}"/>
              </a:ext>
            </a:extLst>
          </p:cNvPr>
          <p:cNvPicPr>
            <a:picLocks noChangeAspect="1"/>
          </p:cNvPicPr>
          <p:nvPr/>
        </p:nvPicPr>
        <p:blipFill>
          <a:blip r:embed="rId5"/>
          <a:stretch>
            <a:fillRect/>
          </a:stretch>
        </p:blipFill>
        <p:spPr>
          <a:xfrm>
            <a:off x="6142684" y="2894607"/>
            <a:ext cx="3244043" cy="2048287"/>
          </a:xfrm>
          <a:prstGeom prst="rect">
            <a:avLst/>
          </a:prstGeom>
        </p:spPr>
      </p:pic>
    </p:spTree>
    <p:extLst>
      <p:ext uri="{BB962C8B-B14F-4D97-AF65-F5344CB8AC3E}">
        <p14:creationId xmlns:p14="http://schemas.microsoft.com/office/powerpoint/2010/main" val="15597439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0ADEC-206E-B9E8-8CC9-E6540EF4E7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F01BB4-659C-1D34-7F16-50DE5A8E9124}"/>
              </a:ext>
            </a:extLst>
          </p:cNvPr>
          <p:cNvSpPr>
            <a:spLocks noGrp="1"/>
          </p:cNvSpPr>
          <p:nvPr>
            <p:ph type="title"/>
          </p:nvPr>
        </p:nvSpPr>
        <p:spPr/>
        <p:txBody>
          <a:bodyPr/>
          <a:lstStyle/>
          <a:p>
            <a:r>
              <a:rPr lang="en-US" dirty="0"/>
              <a:t>Embellishment and Trust</a:t>
            </a:r>
          </a:p>
        </p:txBody>
      </p:sp>
      <p:sp>
        <p:nvSpPr>
          <p:cNvPr id="3" name="Content Placeholder 2">
            <a:extLst>
              <a:ext uri="{FF2B5EF4-FFF2-40B4-BE49-F238E27FC236}">
                <a16:creationId xmlns:a16="http://schemas.microsoft.com/office/drawing/2014/main" id="{5E2C4739-931E-20EA-F722-1240082C9AD0}"/>
              </a:ext>
            </a:extLst>
          </p:cNvPr>
          <p:cNvSpPr>
            <a:spLocks noGrp="1"/>
          </p:cNvSpPr>
          <p:nvPr>
            <p:ph idx="1"/>
          </p:nvPr>
        </p:nvSpPr>
        <p:spPr>
          <a:xfrm>
            <a:off x="3640668" y="800670"/>
            <a:ext cx="7315200" cy="4601184"/>
          </a:xfrm>
        </p:spPr>
        <p:txBody>
          <a:bodyPr anchor="t">
            <a:normAutofit/>
          </a:bodyPr>
          <a:lstStyle/>
          <a:p>
            <a:pPr>
              <a:lnSpc>
                <a:spcPct val="100000"/>
              </a:lnSpc>
              <a:buClr>
                <a:srgbClr val="93A299"/>
              </a:buClr>
              <a:buSzPts val="2040"/>
              <a:defRPr/>
            </a:pPr>
            <a:r>
              <a:rPr lang="en-US" sz="2400" kern="0" dirty="0">
                <a:cs typeface="Arial"/>
                <a:sym typeface="Arial"/>
              </a:rPr>
              <a:t>Embellishment can erode trust; some viewers associate it with tabloid or sensational reporting </a:t>
            </a:r>
          </a:p>
        </p:txBody>
      </p:sp>
      <p:sp>
        <p:nvSpPr>
          <p:cNvPr id="10" name="TextBox 9">
            <a:extLst>
              <a:ext uri="{FF2B5EF4-FFF2-40B4-BE49-F238E27FC236}">
                <a16:creationId xmlns:a16="http://schemas.microsoft.com/office/drawing/2014/main" id="{87927F83-FB2F-D51E-C007-2FEE0065E412}"/>
              </a:ext>
            </a:extLst>
          </p:cNvPr>
          <p:cNvSpPr txBox="1"/>
          <p:nvPr/>
        </p:nvSpPr>
        <p:spPr>
          <a:xfrm>
            <a:off x="2231757" y="6351153"/>
            <a:ext cx="9929247" cy="461665"/>
          </a:xfrm>
          <a:prstGeom prst="rect">
            <a:avLst/>
          </a:prstGeom>
          <a:noFill/>
        </p:spPr>
        <p:txBody>
          <a:bodyPr wrap="square">
            <a:spAutoFit/>
          </a:bodyPr>
          <a:lstStyle/>
          <a:p>
            <a:pPr algn="r"/>
            <a:r>
              <a:rPr lang="en-US" sz="1200" dirty="0"/>
              <a:t>M. </a:t>
            </a:r>
            <a:r>
              <a:rPr lang="en-US" sz="1200" dirty="0" err="1"/>
              <a:t>Alebri</a:t>
            </a:r>
            <a:r>
              <a:rPr lang="en-US" sz="1200" dirty="0"/>
              <a:t>, E. Costanza, G. Panagiotidou and D. P. Brumby, "Embellishments Revisited: Perceptions of Embellished </a:t>
            </a:r>
            <a:r>
              <a:rPr lang="en-US" sz="1200" dirty="0" err="1"/>
              <a:t>Visualisations</a:t>
            </a:r>
            <a:r>
              <a:rPr lang="en-US" sz="1200" dirty="0"/>
              <a:t> Through the Viewer's Lens" in IEEE Transactions on Visualization &amp; Computer Graphics, vol. 30, no. 01, pp. 1424-1434, Jan. 2024, </a:t>
            </a:r>
            <a:r>
              <a:rPr lang="en-US" sz="1200" dirty="0" err="1"/>
              <a:t>doi</a:t>
            </a:r>
            <a:r>
              <a:rPr lang="en-US" sz="1200" dirty="0"/>
              <a:t>: 10.1109/TVCG.2023.3326914.</a:t>
            </a:r>
            <a:endParaRPr lang="en-US" sz="1200" dirty="0">
              <a:latin typeface="+mj-lt"/>
            </a:endParaRPr>
          </a:p>
        </p:txBody>
      </p:sp>
      <p:pic>
        <p:nvPicPr>
          <p:cNvPr id="5" name="Picture 4">
            <a:extLst>
              <a:ext uri="{FF2B5EF4-FFF2-40B4-BE49-F238E27FC236}">
                <a16:creationId xmlns:a16="http://schemas.microsoft.com/office/drawing/2014/main" id="{0C9F295A-A8DE-3A66-753F-30FA188FD5AA}"/>
              </a:ext>
            </a:extLst>
          </p:cNvPr>
          <p:cNvPicPr>
            <a:picLocks noChangeAspect="1"/>
          </p:cNvPicPr>
          <p:nvPr/>
        </p:nvPicPr>
        <p:blipFill>
          <a:blip r:embed="rId3"/>
          <a:stretch>
            <a:fillRect/>
          </a:stretch>
        </p:blipFill>
        <p:spPr>
          <a:xfrm>
            <a:off x="3200401" y="3436890"/>
            <a:ext cx="1879600" cy="1384300"/>
          </a:xfrm>
          <a:prstGeom prst="rect">
            <a:avLst/>
          </a:prstGeom>
        </p:spPr>
      </p:pic>
      <p:pic>
        <p:nvPicPr>
          <p:cNvPr id="7" name="Picture 6">
            <a:extLst>
              <a:ext uri="{FF2B5EF4-FFF2-40B4-BE49-F238E27FC236}">
                <a16:creationId xmlns:a16="http://schemas.microsoft.com/office/drawing/2014/main" id="{83BDA540-FAE5-4A13-6945-C18744704104}"/>
              </a:ext>
            </a:extLst>
          </p:cNvPr>
          <p:cNvPicPr>
            <a:picLocks noChangeAspect="1"/>
          </p:cNvPicPr>
          <p:nvPr/>
        </p:nvPicPr>
        <p:blipFill>
          <a:blip r:embed="rId4"/>
          <a:stretch>
            <a:fillRect/>
          </a:stretch>
        </p:blipFill>
        <p:spPr>
          <a:xfrm>
            <a:off x="5085144" y="3436890"/>
            <a:ext cx="1569879" cy="1747717"/>
          </a:xfrm>
          <a:prstGeom prst="rect">
            <a:avLst/>
          </a:prstGeom>
        </p:spPr>
      </p:pic>
      <p:pic>
        <p:nvPicPr>
          <p:cNvPr id="9" name="Picture 8">
            <a:extLst>
              <a:ext uri="{FF2B5EF4-FFF2-40B4-BE49-F238E27FC236}">
                <a16:creationId xmlns:a16="http://schemas.microsoft.com/office/drawing/2014/main" id="{3383CE48-892C-F55B-6456-E0BBEC1BE940}"/>
              </a:ext>
            </a:extLst>
          </p:cNvPr>
          <p:cNvPicPr>
            <a:picLocks noChangeAspect="1"/>
          </p:cNvPicPr>
          <p:nvPr/>
        </p:nvPicPr>
        <p:blipFill>
          <a:blip r:embed="rId5"/>
          <a:stretch>
            <a:fillRect/>
          </a:stretch>
        </p:blipFill>
        <p:spPr>
          <a:xfrm>
            <a:off x="3473011" y="1821336"/>
            <a:ext cx="2397072" cy="1513510"/>
          </a:xfrm>
          <a:prstGeom prst="rect">
            <a:avLst/>
          </a:prstGeom>
        </p:spPr>
      </p:pic>
      <p:pic>
        <p:nvPicPr>
          <p:cNvPr id="12" name="Picture 11">
            <a:extLst>
              <a:ext uri="{FF2B5EF4-FFF2-40B4-BE49-F238E27FC236}">
                <a16:creationId xmlns:a16="http://schemas.microsoft.com/office/drawing/2014/main" id="{4850B95E-FE2A-8FDB-03D9-A8F2FC69986E}"/>
              </a:ext>
            </a:extLst>
          </p:cNvPr>
          <p:cNvPicPr>
            <a:picLocks noChangeAspect="1"/>
          </p:cNvPicPr>
          <p:nvPr/>
        </p:nvPicPr>
        <p:blipFill>
          <a:blip r:embed="rId6"/>
          <a:stretch>
            <a:fillRect/>
          </a:stretch>
        </p:blipFill>
        <p:spPr>
          <a:xfrm>
            <a:off x="10100957" y="1871894"/>
            <a:ext cx="2000566" cy="1549400"/>
          </a:xfrm>
          <a:prstGeom prst="rect">
            <a:avLst/>
          </a:prstGeom>
        </p:spPr>
      </p:pic>
      <p:pic>
        <p:nvPicPr>
          <p:cNvPr id="14" name="Picture 13">
            <a:extLst>
              <a:ext uri="{FF2B5EF4-FFF2-40B4-BE49-F238E27FC236}">
                <a16:creationId xmlns:a16="http://schemas.microsoft.com/office/drawing/2014/main" id="{23439F06-C0F8-17F4-3A53-78FDC3065200}"/>
              </a:ext>
            </a:extLst>
          </p:cNvPr>
          <p:cNvPicPr>
            <a:picLocks noChangeAspect="1"/>
          </p:cNvPicPr>
          <p:nvPr/>
        </p:nvPicPr>
        <p:blipFill>
          <a:blip r:embed="rId7"/>
          <a:stretch>
            <a:fillRect/>
          </a:stretch>
        </p:blipFill>
        <p:spPr>
          <a:xfrm>
            <a:off x="10197906" y="3598686"/>
            <a:ext cx="1926239" cy="1384300"/>
          </a:xfrm>
          <a:prstGeom prst="rect">
            <a:avLst/>
          </a:prstGeom>
        </p:spPr>
      </p:pic>
      <p:pic>
        <p:nvPicPr>
          <p:cNvPr id="16" name="Picture 15">
            <a:extLst>
              <a:ext uri="{FF2B5EF4-FFF2-40B4-BE49-F238E27FC236}">
                <a16:creationId xmlns:a16="http://schemas.microsoft.com/office/drawing/2014/main" id="{91CD058B-6CA5-BBC3-ABAD-23CCF603C9AE}"/>
              </a:ext>
            </a:extLst>
          </p:cNvPr>
          <p:cNvPicPr>
            <a:picLocks noChangeAspect="1"/>
          </p:cNvPicPr>
          <p:nvPr/>
        </p:nvPicPr>
        <p:blipFill>
          <a:blip r:embed="rId8"/>
          <a:stretch>
            <a:fillRect/>
          </a:stretch>
        </p:blipFill>
        <p:spPr>
          <a:xfrm>
            <a:off x="7470332" y="3285943"/>
            <a:ext cx="1739900" cy="1752600"/>
          </a:xfrm>
          <a:prstGeom prst="rect">
            <a:avLst/>
          </a:prstGeom>
        </p:spPr>
      </p:pic>
      <p:pic>
        <p:nvPicPr>
          <p:cNvPr id="18" name="Picture 17">
            <a:extLst>
              <a:ext uri="{FF2B5EF4-FFF2-40B4-BE49-F238E27FC236}">
                <a16:creationId xmlns:a16="http://schemas.microsoft.com/office/drawing/2014/main" id="{A3F3AF02-CD2F-AC34-D07C-236BF7743B37}"/>
              </a:ext>
            </a:extLst>
          </p:cNvPr>
          <p:cNvPicPr>
            <a:picLocks noChangeAspect="1"/>
          </p:cNvPicPr>
          <p:nvPr/>
        </p:nvPicPr>
        <p:blipFill>
          <a:blip r:embed="rId9"/>
          <a:srcRect t="40371"/>
          <a:stretch>
            <a:fillRect/>
          </a:stretch>
        </p:blipFill>
        <p:spPr>
          <a:xfrm>
            <a:off x="7385596" y="1828644"/>
            <a:ext cx="2081736" cy="1384300"/>
          </a:xfrm>
          <a:prstGeom prst="rect">
            <a:avLst/>
          </a:prstGeom>
        </p:spPr>
      </p:pic>
      <p:sp>
        <p:nvSpPr>
          <p:cNvPr id="19" name="Left-Right Arrow 18">
            <a:extLst>
              <a:ext uri="{FF2B5EF4-FFF2-40B4-BE49-F238E27FC236}">
                <a16:creationId xmlns:a16="http://schemas.microsoft.com/office/drawing/2014/main" id="{7E22F063-B862-580D-9255-ABF67D744897}"/>
              </a:ext>
            </a:extLst>
          </p:cNvPr>
          <p:cNvSpPr/>
          <p:nvPr/>
        </p:nvSpPr>
        <p:spPr>
          <a:xfrm>
            <a:off x="4076055" y="5184607"/>
            <a:ext cx="7193179" cy="580492"/>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8508428-82D6-FBF5-D53A-B118C9D9D8CD}"/>
              </a:ext>
            </a:extLst>
          </p:cNvPr>
          <p:cNvSpPr txBox="1"/>
          <p:nvPr/>
        </p:nvSpPr>
        <p:spPr>
          <a:xfrm>
            <a:off x="9903417" y="5780200"/>
            <a:ext cx="1960793" cy="369332"/>
          </a:xfrm>
          <a:prstGeom prst="rect">
            <a:avLst/>
          </a:prstGeom>
          <a:noFill/>
        </p:spPr>
        <p:txBody>
          <a:bodyPr wrap="none" rtlCol="0">
            <a:spAutoFit/>
          </a:bodyPr>
          <a:lstStyle/>
          <a:p>
            <a:r>
              <a:rPr lang="en-US" b="1" dirty="0"/>
              <a:t>More Trustworthy</a:t>
            </a:r>
          </a:p>
        </p:txBody>
      </p:sp>
      <p:sp>
        <p:nvSpPr>
          <p:cNvPr id="21" name="TextBox 20">
            <a:extLst>
              <a:ext uri="{FF2B5EF4-FFF2-40B4-BE49-F238E27FC236}">
                <a16:creationId xmlns:a16="http://schemas.microsoft.com/office/drawing/2014/main" id="{D6AC2719-E721-6095-EF00-BE4F51CCF7D8}"/>
              </a:ext>
            </a:extLst>
          </p:cNvPr>
          <p:cNvSpPr txBox="1"/>
          <p:nvPr/>
        </p:nvSpPr>
        <p:spPr>
          <a:xfrm>
            <a:off x="3640668" y="5777733"/>
            <a:ext cx="1880643" cy="369332"/>
          </a:xfrm>
          <a:prstGeom prst="rect">
            <a:avLst/>
          </a:prstGeom>
          <a:noFill/>
        </p:spPr>
        <p:txBody>
          <a:bodyPr wrap="none" rtlCol="0">
            <a:spAutoFit/>
          </a:bodyPr>
          <a:lstStyle/>
          <a:p>
            <a:r>
              <a:rPr lang="en-US" b="1" dirty="0"/>
              <a:t>Less Trustworthy</a:t>
            </a:r>
          </a:p>
        </p:txBody>
      </p:sp>
    </p:spTree>
    <p:extLst>
      <p:ext uri="{BB962C8B-B14F-4D97-AF65-F5344CB8AC3E}">
        <p14:creationId xmlns:p14="http://schemas.microsoft.com/office/powerpoint/2010/main" val="36213558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6AAE6-2B47-B450-28F4-0A71E38408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BB0553-C62C-0F5D-5053-1A2BF0394D98}"/>
              </a:ext>
            </a:extLst>
          </p:cNvPr>
          <p:cNvSpPr>
            <a:spLocks noGrp="1"/>
          </p:cNvSpPr>
          <p:nvPr>
            <p:ph type="title"/>
          </p:nvPr>
        </p:nvSpPr>
        <p:spPr/>
        <p:txBody>
          <a:bodyPr/>
          <a:lstStyle/>
          <a:p>
            <a:r>
              <a:rPr lang="en-US" dirty="0"/>
              <a:t>Embellishment and Trust</a:t>
            </a:r>
          </a:p>
        </p:txBody>
      </p:sp>
      <p:sp>
        <p:nvSpPr>
          <p:cNvPr id="3" name="Content Placeholder 2">
            <a:extLst>
              <a:ext uri="{FF2B5EF4-FFF2-40B4-BE49-F238E27FC236}">
                <a16:creationId xmlns:a16="http://schemas.microsoft.com/office/drawing/2014/main" id="{900BFFEC-F419-20FD-61AD-CEFE18D3858B}"/>
              </a:ext>
            </a:extLst>
          </p:cNvPr>
          <p:cNvSpPr>
            <a:spLocks noGrp="1"/>
          </p:cNvSpPr>
          <p:nvPr>
            <p:ph idx="1"/>
          </p:nvPr>
        </p:nvSpPr>
        <p:spPr>
          <a:xfrm>
            <a:off x="3640668" y="800670"/>
            <a:ext cx="7315200" cy="4601184"/>
          </a:xfrm>
        </p:spPr>
        <p:txBody>
          <a:bodyPr anchor="t">
            <a:normAutofit/>
          </a:bodyPr>
          <a:lstStyle/>
          <a:p>
            <a:pPr>
              <a:lnSpc>
                <a:spcPct val="100000"/>
              </a:lnSpc>
              <a:buClr>
                <a:srgbClr val="93A299"/>
              </a:buClr>
              <a:buSzPts val="2040"/>
              <a:defRPr/>
            </a:pPr>
            <a:r>
              <a:rPr lang="en-US" sz="2400" dirty="0"/>
              <a:t>Comic-style visualizations perceived as less credible</a:t>
            </a:r>
          </a:p>
          <a:p>
            <a:pPr>
              <a:lnSpc>
                <a:spcPct val="100000"/>
              </a:lnSpc>
              <a:buClr>
                <a:srgbClr val="93A299"/>
              </a:buClr>
              <a:buSzPts val="2040"/>
              <a:defRPr/>
            </a:pPr>
            <a:r>
              <a:rPr lang="en-US" sz="2400" dirty="0"/>
              <a:t>Image-like visualizations were perceived as similarly credible compared to standard visualizations. </a:t>
            </a:r>
          </a:p>
          <a:p>
            <a:pPr>
              <a:lnSpc>
                <a:spcPct val="100000"/>
              </a:lnSpc>
              <a:buClr>
                <a:srgbClr val="93A299"/>
              </a:buClr>
              <a:buSzPts val="2040"/>
              <a:defRPr/>
            </a:pPr>
            <a:r>
              <a:rPr lang="en-US" sz="2400" dirty="0"/>
              <a:t>Plain bars in a bar chart perceived as more credible than cartoon-style bars, while both plain bars and image bars were perceived as similarly credible</a:t>
            </a:r>
            <a:endParaRPr lang="en-US" sz="2400" kern="0" dirty="0">
              <a:cs typeface="Arial"/>
              <a:sym typeface="Arial"/>
            </a:endParaRPr>
          </a:p>
        </p:txBody>
      </p:sp>
      <p:sp>
        <p:nvSpPr>
          <p:cNvPr id="10" name="TextBox 9">
            <a:extLst>
              <a:ext uri="{FF2B5EF4-FFF2-40B4-BE49-F238E27FC236}">
                <a16:creationId xmlns:a16="http://schemas.microsoft.com/office/drawing/2014/main" id="{360D1220-1D1F-EB52-CCB7-8CA9071BCC6D}"/>
              </a:ext>
            </a:extLst>
          </p:cNvPr>
          <p:cNvSpPr txBox="1"/>
          <p:nvPr/>
        </p:nvSpPr>
        <p:spPr>
          <a:xfrm>
            <a:off x="2262753" y="6261334"/>
            <a:ext cx="9929247" cy="523220"/>
          </a:xfrm>
          <a:prstGeom prst="rect">
            <a:avLst/>
          </a:prstGeom>
          <a:noFill/>
        </p:spPr>
        <p:txBody>
          <a:bodyPr wrap="square">
            <a:spAutoFit/>
          </a:bodyPr>
          <a:lstStyle/>
          <a:p>
            <a:pPr algn="r"/>
            <a:r>
              <a:rPr lang="en-US" sz="1400" dirty="0"/>
              <a:t>H. Song, A. Cho, C. X. Bearfield and J. Stasko, "Visualizing Trust: How Chart Embellishments Influence Perceptions of Credibility," in </a:t>
            </a:r>
            <a:r>
              <a:rPr lang="en-US" sz="1400" i="1" dirty="0"/>
              <a:t>IEEE Transactions on Visualization and Computer Graphics</a:t>
            </a:r>
            <a:r>
              <a:rPr lang="en-US" sz="1400" dirty="0"/>
              <a:t>, vol. 32, no. 1, pp. 1306-1316, Jan. 2026, </a:t>
            </a:r>
            <a:r>
              <a:rPr lang="en-US" sz="1400" dirty="0" err="1"/>
              <a:t>doi</a:t>
            </a:r>
            <a:r>
              <a:rPr lang="en-US" sz="1400" dirty="0"/>
              <a:t>: 10.1109/TVCG.2025.3634785</a:t>
            </a:r>
            <a:endParaRPr lang="en-US" sz="1050" dirty="0">
              <a:latin typeface="+mj-lt"/>
            </a:endParaRPr>
          </a:p>
        </p:txBody>
      </p:sp>
      <p:sp>
        <p:nvSpPr>
          <p:cNvPr id="19" name="Left-Right Arrow 18">
            <a:extLst>
              <a:ext uri="{FF2B5EF4-FFF2-40B4-BE49-F238E27FC236}">
                <a16:creationId xmlns:a16="http://schemas.microsoft.com/office/drawing/2014/main" id="{E36BA16B-708D-A436-52E0-9D34AF85962D}"/>
              </a:ext>
            </a:extLst>
          </p:cNvPr>
          <p:cNvSpPr/>
          <p:nvPr/>
        </p:nvSpPr>
        <p:spPr>
          <a:xfrm>
            <a:off x="4076055" y="5184607"/>
            <a:ext cx="7193179" cy="580492"/>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5176CCAC-A3EB-B8BE-678C-C7EC9F56E192}"/>
              </a:ext>
            </a:extLst>
          </p:cNvPr>
          <p:cNvSpPr txBox="1"/>
          <p:nvPr/>
        </p:nvSpPr>
        <p:spPr>
          <a:xfrm>
            <a:off x="9903417" y="5780200"/>
            <a:ext cx="1960793" cy="369332"/>
          </a:xfrm>
          <a:prstGeom prst="rect">
            <a:avLst/>
          </a:prstGeom>
          <a:noFill/>
        </p:spPr>
        <p:txBody>
          <a:bodyPr wrap="none" rtlCol="0">
            <a:spAutoFit/>
          </a:bodyPr>
          <a:lstStyle/>
          <a:p>
            <a:r>
              <a:rPr lang="en-US" b="1" dirty="0"/>
              <a:t>More Trustworthy</a:t>
            </a:r>
          </a:p>
        </p:txBody>
      </p:sp>
      <p:sp>
        <p:nvSpPr>
          <p:cNvPr id="21" name="TextBox 20">
            <a:extLst>
              <a:ext uri="{FF2B5EF4-FFF2-40B4-BE49-F238E27FC236}">
                <a16:creationId xmlns:a16="http://schemas.microsoft.com/office/drawing/2014/main" id="{71A6C12B-42DC-F40C-5948-BEB0B5DF6F6A}"/>
              </a:ext>
            </a:extLst>
          </p:cNvPr>
          <p:cNvSpPr txBox="1"/>
          <p:nvPr/>
        </p:nvSpPr>
        <p:spPr>
          <a:xfrm>
            <a:off x="3640668" y="5777733"/>
            <a:ext cx="1880643" cy="369332"/>
          </a:xfrm>
          <a:prstGeom prst="rect">
            <a:avLst/>
          </a:prstGeom>
          <a:noFill/>
        </p:spPr>
        <p:txBody>
          <a:bodyPr wrap="none" rtlCol="0">
            <a:spAutoFit/>
          </a:bodyPr>
          <a:lstStyle/>
          <a:p>
            <a:r>
              <a:rPr lang="en-US" b="1" dirty="0"/>
              <a:t>Less Trustworthy</a:t>
            </a:r>
          </a:p>
        </p:txBody>
      </p:sp>
      <p:pic>
        <p:nvPicPr>
          <p:cNvPr id="13" name="Picture 12">
            <a:extLst>
              <a:ext uri="{FF2B5EF4-FFF2-40B4-BE49-F238E27FC236}">
                <a16:creationId xmlns:a16="http://schemas.microsoft.com/office/drawing/2014/main" id="{35F38B4B-0C15-0FCA-746F-4DE1B74C4CF8}"/>
              </a:ext>
            </a:extLst>
          </p:cNvPr>
          <p:cNvPicPr>
            <a:picLocks noChangeAspect="1"/>
          </p:cNvPicPr>
          <p:nvPr/>
        </p:nvPicPr>
        <p:blipFill>
          <a:blip r:embed="rId3"/>
          <a:srcRect l="49958"/>
          <a:stretch>
            <a:fillRect/>
          </a:stretch>
        </p:blipFill>
        <p:spPr>
          <a:xfrm>
            <a:off x="8287044" y="3536485"/>
            <a:ext cx="3889458" cy="1558711"/>
          </a:xfrm>
          <a:prstGeom prst="rect">
            <a:avLst/>
          </a:prstGeom>
        </p:spPr>
      </p:pic>
      <p:pic>
        <p:nvPicPr>
          <p:cNvPr id="15" name="Picture 14">
            <a:extLst>
              <a:ext uri="{FF2B5EF4-FFF2-40B4-BE49-F238E27FC236}">
                <a16:creationId xmlns:a16="http://schemas.microsoft.com/office/drawing/2014/main" id="{716F0EBC-593E-6568-BCD7-E36D94B4588D}"/>
              </a:ext>
            </a:extLst>
          </p:cNvPr>
          <p:cNvPicPr>
            <a:picLocks noChangeAspect="1"/>
          </p:cNvPicPr>
          <p:nvPr/>
        </p:nvPicPr>
        <p:blipFill>
          <a:blip r:embed="rId3"/>
          <a:srcRect r="76843"/>
          <a:stretch>
            <a:fillRect/>
          </a:stretch>
        </p:blipFill>
        <p:spPr>
          <a:xfrm>
            <a:off x="3640668" y="3536486"/>
            <a:ext cx="1799827" cy="1558711"/>
          </a:xfrm>
          <a:prstGeom prst="rect">
            <a:avLst/>
          </a:prstGeom>
        </p:spPr>
      </p:pic>
    </p:spTree>
    <p:extLst>
      <p:ext uri="{BB962C8B-B14F-4D97-AF65-F5344CB8AC3E}">
        <p14:creationId xmlns:p14="http://schemas.microsoft.com/office/powerpoint/2010/main" val="7450060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C2311-EBA8-4D7A-E2FD-94EB840AB5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F902E9-EC04-1E3F-7EFD-8E7FA9B371C7}"/>
              </a:ext>
            </a:extLst>
          </p:cNvPr>
          <p:cNvSpPr>
            <a:spLocks noGrp="1"/>
          </p:cNvSpPr>
          <p:nvPr>
            <p:ph type="title"/>
          </p:nvPr>
        </p:nvSpPr>
        <p:spPr/>
        <p:txBody>
          <a:bodyPr/>
          <a:lstStyle/>
          <a:p>
            <a:r>
              <a:rPr lang="en-US" dirty="0"/>
              <a:t>Your Turn!</a:t>
            </a:r>
          </a:p>
        </p:txBody>
      </p:sp>
      <p:sp>
        <p:nvSpPr>
          <p:cNvPr id="3" name="Content Placeholder 2">
            <a:extLst>
              <a:ext uri="{FF2B5EF4-FFF2-40B4-BE49-F238E27FC236}">
                <a16:creationId xmlns:a16="http://schemas.microsoft.com/office/drawing/2014/main" id="{501633CD-295C-511C-6302-C2252F4EF61D}"/>
              </a:ext>
            </a:extLst>
          </p:cNvPr>
          <p:cNvSpPr>
            <a:spLocks noGrp="1"/>
          </p:cNvSpPr>
          <p:nvPr>
            <p:ph idx="1"/>
          </p:nvPr>
        </p:nvSpPr>
        <p:spPr>
          <a:xfrm>
            <a:off x="3640667" y="800670"/>
            <a:ext cx="7848967" cy="5351652"/>
          </a:xfrm>
        </p:spPr>
        <p:txBody>
          <a:bodyPr anchor="t">
            <a:normAutofit lnSpcReduction="10000"/>
          </a:bodyPr>
          <a:lstStyle/>
          <a:p>
            <a:pPr>
              <a:lnSpc>
                <a:spcPct val="100000"/>
              </a:lnSpc>
              <a:buClr>
                <a:srgbClr val="93A299"/>
              </a:buClr>
              <a:buSzPts val="2040"/>
              <a:defRPr/>
            </a:pPr>
            <a:r>
              <a:rPr lang="en-US" sz="2400" dirty="0"/>
              <a:t>Choose some subset of data from the Smith common dataset: </a:t>
            </a:r>
            <a:r>
              <a:rPr lang="en-US" sz="2400" dirty="0">
                <a:hlinkClick r:id="rId3"/>
              </a:rPr>
              <a:t>https://www.smith.edu/your-campus/offices-services/institutional-research/data-about-smith</a:t>
            </a:r>
            <a:r>
              <a:rPr lang="en-US" sz="2400" dirty="0"/>
              <a:t> </a:t>
            </a:r>
          </a:p>
          <a:p>
            <a:pPr>
              <a:lnSpc>
                <a:spcPct val="100000"/>
              </a:lnSpc>
              <a:buClr>
                <a:srgbClr val="93A299"/>
              </a:buClr>
              <a:buSzPts val="2040"/>
              <a:defRPr/>
            </a:pPr>
            <a:endParaRPr lang="en-US" sz="2400" kern="0" dirty="0">
              <a:cs typeface="Arial"/>
              <a:sym typeface="Arial"/>
            </a:endParaRPr>
          </a:p>
          <a:p>
            <a:pPr>
              <a:lnSpc>
                <a:spcPct val="100000"/>
              </a:lnSpc>
              <a:buClr>
                <a:srgbClr val="93A299"/>
              </a:buClr>
              <a:buSzPts val="2040"/>
              <a:defRPr/>
            </a:pPr>
            <a:r>
              <a:rPr lang="en-US" sz="2400" kern="0" dirty="0">
                <a:cs typeface="Arial"/>
                <a:sym typeface="Arial"/>
              </a:rPr>
              <a:t>Draw a plain / simple visualization</a:t>
            </a:r>
          </a:p>
          <a:p>
            <a:pPr>
              <a:lnSpc>
                <a:spcPct val="100000"/>
              </a:lnSpc>
              <a:buClr>
                <a:srgbClr val="93A299"/>
              </a:buClr>
              <a:buSzPts val="2040"/>
              <a:defRPr/>
            </a:pPr>
            <a:endParaRPr lang="en-US" sz="2400" kern="0" dirty="0">
              <a:cs typeface="Arial"/>
              <a:sym typeface="Arial"/>
            </a:endParaRPr>
          </a:p>
          <a:p>
            <a:pPr>
              <a:lnSpc>
                <a:spcPct val="100000"/>
              </a:lnSpc>
              <a:buClr>
                <a:srgbClr val="93A299"/>
              </a:buClr>
              <a:buSzPts val="2040"/>
              <a:defRPr/>
            </a:pPr>
            <a:r>
              <a:rPr lang="en-US" sz="2400" kern="0" dirty="0">
                <a:cs typeface="Arial"/>
                <a:sym typeface="Arial"/>
              </a:rPr>
              <a:t>Add embellishment to the visualization that you think will add memorability so prospective students remember Smith and apply </a:t>
            </a:r>
          </a:p>
          <a:p>
            <a:pPr>
              <a:lnSpc>
                <a:spcPct val="100000"/>
              </a:lnSpc>
              <a:buClr>
                <a:srgbClr val="93A299"/>
              </a:buClr>
              <a:buSzPts val="2040"/>
              <a:defRPr/>
            </a:pPr>
            <a:endParaRPr lang="en-US" sz="2400" kern="0" dirty="0">
              <a:cs typeface="Arial"/>
              <a:sym typeface="Arial"/>
            </a:endParaRPr>
          </a:p>
          <a:p>
            <a:pPr>
              <a:lnSpc>
                <a:spcPct val="100000"/>
              </a:lnSpc>
              <a:buClr>
                <a:srgbClr val="93A299"/>
              </a:buClr>
              <a:buSzPts val="2040"/>
              <a:defRPr/>
            </a:pPr>
            <a:r>
              <a:rPr lang="en-US" sz="2400" kern="0" dirty="0">
                <a:cs typeface="Arial"/>
                <a:sym typeface="Arial"/>
              </a:rPr>
              <a:t>Add embellishment to the visualization that you think will add memorability so readers remember specific data points from the visualization </a:t>
            </a:r>
          </a:p>
          <a:p>
            <a:pPr>
              <a:lnSpc>
                <a:spcPct val="100000"/>
              </a:lnSpc>
              <a:buClr>
                <a:srgbClr val="93A299"/>
              </a:buClr>
              <a:buSzPts val="2040"/>
              <a:defRPr/>
            </a:pPr>
            <a:endParaRPr lang="en-US" sz="2400" kern="0" dirty="0">
              <a:cs typeface="Arial"/>
              <a:sym typeface="Arial"/>
            </a:endParaRPr>
          </a:p>
        </p:txBody>
      </p:sp>
    </p:spTree>
    <p:extLst>
      <p:ext uri="{BB962C8B-B14F-4D97-AF65-F5344CB8AC3E}">
        <p14:creationId xmlns:p14="http://schemas.microsoft.com/office/powerpoint/2010/main" val="1858792773"/>
      </p:ext>
    </p:extLst>
  </p:cSld>
  <p:clrMapOvr>
    <a:masterClrMapping/>
  </p:clrMapOvr>
</p:sld>
</file>

<file path=ppt/theme/theme1.xml><?xml version="1.0" encoding="utf-8"?>
<a:theme xmlns:a="http://schemas.openxmlformats.org/drawingml/2006/main" name="Frame">
  <a:themeElements>
    <a:clrScheme name="Frame">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18A1B607-7BAE-46D6-8090-545AC7BDD7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2609</TotalTime>
  <Words>1868</Words>
  <Application>Microsoft Macintosh PowerPoint</Application>
  <PresentationFormat>Widescreen</PresentationFormat>
  <Paragraphs>196</Paragraphs>
  <Slides>27</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Corbel</vt:lpstr>
      <vt:lpstr>Wingdings 2</vt:lpstr>
      <vt:lpstr>Frame</vt:lpstr>
      <vt:lpstr>Communicating with Data – Embellishment </vt:lpstr>
      <vt:lpstr>Recall </vt:lpstr>
      <vt:lpstr>Plan for Today</vt:lpstr>
      <vt:lpstr>Brainstorm</vt:lpstr>
      <vt:lpstr>Brainstorm</vt:lpstr>
      <vt:lpstr>Brainstorm</vt:lpstr>
      <vt:lpstr>Chart Junk</vt:lpstr>
      <vt:lpstr>Chart Junk</vt:lpstr>
      <vt:lpstr>Chart Junk</vt:lpstr>
      <vt:lpstr>Chart Junk</vt:lpstr>
      <vt:lpstr>Chart Junk</vt:lpstr>
      <vt:lpstr>Chart Junk</vt:lpstr>
      <vt:lpstr>Chart Junk</vt:lpstr>
      <vt:lpstr>Chart Junk</vt:lpstr>
      <vt:lpstr>Definition</vt:lpstr>
      <vt:lpstr>Embellishment and Recall / Memorability</vt:lpstr>
      <vt:lpstr>Embellishment and Recall / Memorability</vt:lpstr>
      <vt:lpstr>Embellishment and Recall / Memorability</vt:lpstr>
      <vt:lpstr>Embellishment and Cognition</vt:lpstr>
      <vt:lpstr>Embellishment and Cognition</vt:lpstr>
      <vt:lpstr>Embellishment and Reader Preference</vt:lpstr>
      <vt:lpstr>Embellishment and Time</vt:lpstr>
      <vt:lpstr>Embellishment and Engagement</vt:lpstr>
      <vt:lpstr>Embellishment and Seriousness</vt:lpstr>
      <vt:lpstr>Embellishment and Trust</vt:lpstr>
      <vt:lpstr>Embellishment and Trust</vt:lpstr>
      <vt:lpstr>Your Turn!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for Everyone – Welcome!</dc:title>
  <dc:creator>Mosca, Ab</dc:creator>
  <cp:lastModifiedBy>Ab Mosca</cp:lastModifiedBy>
  <cp:revision>44</cp:revision>
  <dcterms:created xsi:type="dcterms:W3CDTF">2023-08-03T18:49:17Z</dcterms:created>
  <dcterms:modified xsi:type="dcterms:W3CDTF">2026-10-02T11:25:35Z</dcterms:modified>
</cp:coreProperties>
</file>